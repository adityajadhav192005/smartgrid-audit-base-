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sldIdLst>
    <p:sldId id="256" r:id="rId5"/>
    <p:sldId id="257" r:id="rId6"/>
    <p:sldId id="258" r:id="rId7"/>
    <p:sldId id="259" r:id="rId8"/>
    <p:sldId id="260" r:id="rId9"/>
    <p:sldId id="261" r:id="rId10"/>
    <p:sldId id="262" r:id="rId11"/>
    <p:sldId id="287" r:id="rId12"/>
    <p:sldId id="288" r:id="rId13"/>
    <p:sldId id="263" r:id="rId14"/>
    <p:sldId id="264" r:id="rId15"/>
    <p:sldId id="265" r:id="rId16"/>
    <p:sldId id="266" r:id="rId17"/>
    <p:sldId id="267" r:id="rId18"/>
    <p:sldId id="268" r:id="rId19"/>
    <p:sldId id="286" r:id="rId20"/>
    <p:sldId id="269" r:id="rId21"/>
    <p:sldId id="272" r:id="rId22"/>
    <p:sldId id="271"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Lst>
  <p:sldSz cx="16256000" cy="9144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86A8BF0-8C5C-44D7-9346-1DF6E160FB5F}" v="1" dt="2026-03-22T19:26:27.51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59" d="100"/>
          <a:sy n="59" d="100"/>
        </p:scale>
        <p:origin x="840" y="5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theme" Target="theme/theme1.xml"/><Relationship Id="rId21" Type="http://schemas.openxmlformats.org/officeDocument/2006/relationships/slide" Target="slides/slide17.xml"/><Relationship Id="rId34" Type="http://schemas.openxmlformats.org/officeDocument/2006/relationships/slide" Target="slides/slide30.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3/23/2026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3/23/2026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3/23/2026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3/23/2026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3/23/2026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3/23/2026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000000">
            <a:alpha val="0"/>
          </a:srgb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3/23/2026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8" Type="http://schemas.openxmlformats.org/officeDocument/2006/relationships/image" Target="../media/image22.png"/><Relationship Id="rId13" Type="http://schemas.openxmlformats.org/officeDocument/2006/relationships/image" Target="../media/image27.png"/><Relationship Id="rId18" Type="http://schemas.openxmlformats.org/officeDocument/2006/relationships/image" Target="../media/image32.png"/><Relationship Id="rId3" Type="http://schemas.openxmlformats.org/officeDocument/2006/relationships/image" Target="../media/image17.png"/><Relationship Id="rId7" Type="http://schemas.openxmlformats.org/officeDocument/2006/relationships/image" Target="../media/image21.png"/><Relationship Id="rId12" Type="http://schemas.openxmlformats.org/officeDocument/2006/relationships/image" Target="../media/image26.png"/><Relationship Id="rId17" Type="http://schemas.openxmlformats.org/officeDocument/2006/relationships/image" Target="../media/image31.png"/><Relationship Id="rId2" Type="http://schemas.openxmlformats.org/officeDocument/2006/relationships/image" Target="../media/image1.png"/><Relationship Id="rId16" Type="http://schemas.openxmlformats.org/officeDocument/2006/relationships/image" Target="../media/image30.png"/><Relationship Id="rId1" Type="http://schemas.openxmlformats.org/officeDocument/2006/relationships/slideLayout" Target="../slideLayouts/slideLayout7.xml"/><Relationship Id="rId6" Type="http://schemas.openxmlformats.org/officeDocument/2006/relationships/image" Target="../media/image20.png"/><Relationship Id="rId11" Type="http://schemas.openxmlformats.org/officeDocument/2006/relationships/image" Target="../media/image25.png"/><Relationship Id="rId5" Type="http://schemas.openxmlformats.org/officeDocument/2006/relationships/image" Target="../media/image19.png"/><Relationship Id="rId15" Type="http://schemas.openxmlformats.org/officeDocument/2006/relationships/image" Target="../media/image29.png"/><Relationship Id="rId10" Type="http://schemas.openxmlformats.org/officeDocument/2006/relationships/image" Target="../media/image24.png"/><Relationship Id="rId4" Type="http://schemas.openxmlformats.org/officeDocument/2006/relationships/image" Target="../media/image18.png"/><Relationship Id="rId9" Type="http://schemas.openxmlformats.org/officeDocument/2006/relationships/image" Target="../media/image23.png"/><Relationship Id="rId14" Type="http://schemas.openxmlformats.org/officeDocument/2006/relationships/image" Target="../media/image28.png"/></Relationships>
</file>

<file path=ppt/slides/_rels/slide21.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35.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34.png"/><Relationship Id="rId5" Type="http://schemas.openxmlformats.org/officeDocument/2006/relationships/image" Target="../media/image3.png"/><Relationship Id="rId4" Type="http://schemas.openxmlformats.org/officeDocument/2006/relationships/image" Target="../media/image33.png"/></Relationships>
</file>

<file path=ppt/slides/_rels/slide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9.png"/></Relationships>
</file>

<file path=ppt/slides/_rels/slide3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16256000" cy="9144000"/>
          </a:xfrm>
          <a:prstGeom prst="rect">
            <a:avLst/>
          </a:prstGeom>
          <a:solidFill>
            <a:srgbClr val="0D0A2C">
              <a:alpha val="74902"/>
            </a:srgbClr>
          </a:solidFill>
        </p:spPr>
      </p:sp>
      <p:pic>
        <p:nvPicPr>
          <p:cNvPr id="3" name="Picture 3"/>
          <p:cNvPicPr>
            <a:picLocks noChangeAspect="1"/>
          </p:cNvPicPr>
          <p:nvPr/>
        </p:nvPicPr>
        <p:blipFill>
          <a:blip r:embed="rId2"/>
          <a:srcRect t="56" b="56"/>
          <a:stretch>
            <a:fillRect/>
          </a:stretch>
        </p:blipFill>
        <p:spPr>
          <a:xfrm>
            <a:off x="0" y="0"/>
            <a:ext cx="16256000" cy="9144000"/>
          </a:xfrm>
          <a:prstGeom prst="rect">
            <a:avLst/>
          </a:prstGeom>
        </p:spPr>
      </p:pic>
      <p:pic>
        <p:nvPicPr>
          <p:cNvPr id="4" name="Picture 4"/>
          <p:cNvPicPr>
            <a:picLocks noChangeAspect="1"/>
          </p:cNvPicPr>
          <p:nvPr/>
        </p:nvPicPr>
        <p:blipFill>
          <a:blip r:embed="rId3"/>
          <a:srcRect t="56" b="56"/>
          <a:stretch>
            <a:fillRect/>
          </a:stretch>
        </p:blipFill>
        <p:spPr>
          <a:xfrm>
            <a:off x="0" y="0"/>
            <a:ext cx="16256000" cy="9144000"/>
          </a:xfrm>
          <a:prstGeom prst="roundRect">
            <a:avLst>
              <a:gd name="adj" fmla="val 2638"/>
            </a:avLst>
          </a:prstGeom>
        </p:spPr>
      </p:pic>
      <p:sp>
        <p:nvSpPr>
          <p:cNvPr id="5" name="AutoShape 5"/>
          <p:cNvSpPr/>
          <p:nvPr/>
        </p:nvSpPr>
        <p:spPr>
          <a:xfrm>
            <a:off x="0" y="0"/>
            <a:ext cx="16256000" cy="9144000"/>
          </a:xfrm>
          <a:prstGeom prst="roundRect">
            <a:avLst>
              <a:gd name="adj" fmla="val 2638"/>
            </a:avLst>
          </a:prstGeom>
          <a:solidFill>
            <a:srgbClr val="000000">
              <a:alpha val="0"/>
            </a:srgbClr>
          </a:solidFill>
        </p:spPr>
      </p:sp>
      <p:sp>
        <p:nvSpPr>
          <p:cNvPr id="6" name="TextBox 6"/>
          <p:cNvSpPr txBox="1"/>
          <p:nvPr/>
        </p:nvSpPr>
        <p:spPr>
          <a:xfrm>
            <a:off x="876300" y="3327400"/>
            <a:ext cx="14490700" cy="749300"/>
          </a:xfrm>
          <a:prstGeom prst="rect">
            <a:avLst/>
          </a:prstGeom>
          <a:solidFill>
            <a:srgbClr val="000000">
              <a:alpha val="0"/>
            </a:srgbClr>
          </a:solidFill>
        </p:spPr>
        <p:txBody>
          <a:bodyPr lIns="0" tIns="0" rIns="0" bIns="0" rtlCol="0" anchor="ctr"/>
          <a:lstStyle/>
          <a:p>
            <a:pPr indent="0" algn="ctr">
              <a:lnSpc>
                <a:spcPct val="160000"/>
              </a:lnSpc>
              <a:defRPr/>
            </a:pPr>
            <a:r>
              <a:rPr lang="en-US" sz="4900" b="1">
                <a:solidFill>
                  <a:srgbClr val="000000"/>
                </a:solidFill>
                <a:latin typeface="Ubuntu"/>
              </a:rPr>
              <a:t>SmartGrid AI Audit Framework</a:t>
            </a:r>
            <a:endParaRPr lang="en-US" sz="1100"/>
          </a:p>
        </p:txBody>
      </p:sp>
      <p:sp>
        <p:nvSpPr>
          <p:cNvPr id="7" name="TextBox 7"/>
          <p:cNvSpPr txBox="1"/>
          <p:nvPr/>
        </p:nvSpPr>
        <p:spPr>
          <a:xfrm>
            <a:off x="876300" y="4368800"/>
            <a:ext cx="14490700" cy="368300"/>
          </a:xfrm>
          <a:prstGeom prst="rect">
            <a:avLst/>
          </a:prstGeom>
          <a:solidFill>
            <a:srgbClr val="000000">
              <a:alpha val="0"/>
            </a:srgbClr>
          </a:solidFill>
        </p:spPr>
        <p:txBody>
          <a:bodyPr lIns="0" tIns="0" rIns="0" bIns="0" rtlCol="0" anchor="ctr"/>
          <a:lstStyle/>
          <a:p>
            <a:pPr indent="0" algn="ctr">
              <a:lnSpc>
                <a:spcPct val="150000"/>
              </a:lnSpc>
              <a:defRPr/>
            </a:pPr>
            <a:r>
              <a:rPr lang="en-US" sz="1900" b="1">
                <a:solidFill>
                  <a:srgbClr val="000000"/>
                </a:solidFill>
                <a:latin typeface="Poppins"/>
              </a:rPr>
              <a:t>Cyber-Physical Monitoring and Audit Intelligence for Modern Smart Grid Systems</a:t>
            </a:r>
            <a:endParaRPr lang="en-US" sz="1100"/>
          </a:p>
        </p:txBody>
      </p:sp>
      <p:sp>
        <p:nvSpPr>
          <p:cNvPr id="8" name="TextBox 8"/>
          <p:cNvSpPr txBox="1"/>
          <p:nvPr/>
        </p:nvSpPr>
        <p:spPr>
          <a:xfrm>
            <a:off x="876300" y="5029200"/>
            <a:ext cx="14490700" cy="469900"/>
          </a:xfrm>
          <a:prstGeom prst="rect">
            <a:avLst/>
          </a:prstGeom>
          <a:solidFill>
            <a:srgbClr val="000000">
              <a:alpha val="0"/>
            </a:srgbClr>
          </a:solidFill>
        </p:spPr>
        <p:txBody>
          <a:bodyPr lIns="0" tIns="0" rIns="0" bIns="0" rtlCol="0" anchor="ctr"/>
          <a:lstStyle/>
          <a:p>
            <a:pPr indent="0" algn="ctr">
              <a:lnSpc>
                <a:spcPct val="150000"/>
              </a:lnSpc>
              <a:defRPr/>
            </a:pPr>
            <a:r>
              <a:rPr lang="en-US" sz="2400" b="1">
                <a:solidFill>
                  <a:srgbClr val="000000"/>
                </a:solidFill>
                <a:latin typeface="Poppins"/>
              </a:rPr>
              <a:t>Aditya Sanjay Jadhav (242050010)</a:t>
            </a:r>
            <a:endParaRPr lang="en-US" sz="1100"/>
          </a:p>
        </p:txBody>
      </p:sp>
      <p:sp>
        <p:nvSpPr>
          <p:cNvPr id="9" name="TextBox 9"/>
          <p:cNvSpPr txBox="1"/>
          <p:nvPr/>
        </p:nvSpPr>
        <p:spPr>
          <a:xfrm>
            <a:off x="876300" y="5499100"/>
            <a:ext cx="14490700" cy="292100"/>
          </a:xfrm>
          <a:prstGeom prst="rect">
            <a:avLst/>
          </a:prstGeom>
          <a:solidFill>
            <a:srgbClr val="000000">
              <a:alpha val="0"/>
            </a:srgbClr>
          </a:solidFill>
        </p:spPr>
        <p:txBody>
          <a:bodyPr lIns="0" tIns="0" rIns="0" bIns="0" rtlCol="0" anchor="ctr"/>
          <a:lstStyle/>
          <a:p>
            <a:pPr indent="0" algn="ctr">
              <a:lnSpc>
                <a:spcPct val="150000"/>
              </a:lnSpc>
              <a:defRPr/>
            </a:pPr>
            <a:r>
              <a:rPr lang="en-US" sz="1500" b="1">
                <a:solidFill>
                  <a:srgbClr val="000000"/>
                </a:solidFill>
                <a:latin typeface="Poppins"/>
              </a:rPr>
              <a:t>Guide: Shrinivas Khedkar | Dept. of Computer Engineering &amp; IT, VJTI Mumbai</a:t>
            </a:r>
            <a:endParaRPr lang="en-US" sz="11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16256000" cy="9144000"/>
          </a:xfrm>
          <a:prstGeom prst="rect">
            <a:avLst/>
          </a:prstGeom>
          <a:solidFill>
            <a:srgbClr val="0D0A2C">
              <a:alpha val="74902"/>
            </a:srgbClr>
          </a:solidFill>
        </p:spPr>
      </p:sp>
      <p:pic>
        <p:nvPicPr>
          <p:cNvPr id="3" name="Picture 3"/>
          <p:cNvPicPr>
            <a:picLocks noChangeAspect="1"/>
          </p:cNvPicPr>
          <p:nvPr/>
        </p:nvPicPr>
        <p:blipFill>
          <a:blip r:embed="rId2"/>
          <a:srcRect t="56" b="56"/>
          <a:stretch>
            <a:fillRect/>
          </a:stretch>
        </p:blipFill>
        <p:spPr>
          <a:xfrm>
            <a:off x="0" y="0"/>
            <a:ext cx="16256000" cy="9144000"/>
          </a:xfrm>
          <a:prstGeom prst="rect">
            <a:avLst/>
          </a:prstGeom>
        </p:spPr>
      </p:pic>
      <p:sp>
        <p:nvSpPr>
          <p:cNvPr id="4" name="AutoShape 4"/>
          <p:cNvSpPr/>
          <p:nvPr/>
        </p:nvSpPr>
        <p:spPr>
          <a:xfrm>
            <a:off x="876300" y="2476500"/>
            <a:ext cx="14490700" cy="5664200"/>
          </a:xfrm>
          <a:prstGeom prst="rect">
            <a:avLst/>
          </a:prstGeom>
          <a:solidFill>
            <a:srgbClr val="000000">
              <a:alpha val="0"/>
            </a:srgbClr>
          </a:solidFill>
        </p:spPr>
      </p:sp>
      <p:sp>
        <p:nvSpPr>
          <p:cNvPr id="5" name="AutoShape 5"/>
          <p:cNvSpPr/>
          <p:nvPr/>
        </p:nvSpPr>
        <p:spPr>
          <a:xfrm>
            <a:off x="876300" y="2476500"/>
            <a:ext cx="3429000" cy="3873500"/>
          </a:xfrm>
          <a:prstGeom prst="roundRect">
            <a:avLst>
              <a:gd name="adj" fmla="val 2592"/>
            </a:avLst>
          </a:prstGeom>
          <a:solidFill>
            <a:srgbClr val="000000">
              <a:alpha val="0"/>
            </a:srgbClr>
          </a:solidFill>
          <a:ln w="12700">
            <a:solidFill>
              <a:srgbClr val="A1A1A1"/>
            </a:solidFill>
          </a:ln>
        </p:spPr>
      </p:sp>
      <p:sp>
        <p:nvSpPr>
          <p:cNvPr id="6" name="AutoShape 6"/>
          <p:cNvSpPr/>
          <p:nvPr/>
        </p:nvSpPr>
        <p:spPr>
          <a:xfrm>
            <a:off x="4559300" y="2476500"/>
            <a:ext cx="3429000" cy="3873500"/>
          </a:xfrm>
          <a:prstGeom prst="roundRect">
            <a:avLst>
              <a:gd name="adj" fmla="val 2592"/>
            </a:avLst>
          </a:prstGeom>
          <a:solidFill>
            <a:srgbClr val="000000">
              <a:alpha val="0"/>
            </a:srgbClr>
          </a:solidFill>
          <a:ln w="12700">
            <a:solidFill>
              <a:srgbClr val="A1A1A1"/>
            </a:solidFill>
          </a:ln>
        </p:spPr>
      </p:sp>
      <p:sp>
        <p:nvSpPr>
          <p:cNvPr id="7" name="AutoShape 7"/>
          <p:cNvSpPr/>
          <p:nvPr/>
        </p:nvSpPr>
        <p:spPr>
          <a:xfrm>
            <a:off x="8242300" y="2476500"/>
            <a:ext cx="3429000" cy="3873500"/>
          </a:xfrm>
          <a:prstGeom prst="roundRect">
            <a:avLst>
              <a:gd name="adj" fmla="val 2592"/>
            </a:avLst>
          </a:prstGeom>
          <a:solidFill>
            <a:srgbClr val="000000">
              <a:alpha val="0"/>
            </a:srgbClr>
          </a:solidFill>
          <a:ln w="12700">
            <a:solidFill>
              <a:srgbClr val="A1A1A1"/>
            </a:solidFill>
          </a:ln>
        </p:spPr>
      </p:sp>
      <p:sp>
        <p:nvSpPr>
          <p:cNvPr id="8" name="AutoShape 8"/>
          <p:cNvSpPr/>
          <p:nvPr/>
        </p:nvSpPr>
        <p:spPr>
          <a:xfrm>
            <a:off x="11938000" y="2476500"/>
            <a:ext cx="3429000" cy="3873500"/>
          </a:xfrm>
          <a:prstGeom prst="roundRect">
            <a:avLst>
              <a:gd name="adj" fmla="val 2592"/>
            </a:avLst>
          </a:prstGeom>
          <a:solidFill>
            <a:srgbClr val="000000">
              <a:alpha val="0"/>
            </a:srgbClr>
          </a:solidFill>
          <a:ln w="12700">
            <a:solidFill>
              <a:srgbClr val="A1A1A1"/>
            </a:solidFill>
          </a:ln>
        </p:spPr>
      </p:sp>
      <p:sp>
        <p:nvSpPr>
          <p:cNvPr id="9" name="AutoShape 9"/>
          <p:cNvSpPr/>
          <p:nvPr/>
        </p:nvSpPr>
        <p:spPr>
          <a:xfrm>
            <a:off x="876300" y="6604000"/>
            <a:ext cx="14490700" cy="1536700"/>
          </a:xfrm>
          <a:prstGeom prst="roundRect">
            <a:avLst>
              <a:gd name="adj" fmla="val 5785"/>
            </a:avLst>
          </a:prstGeom>
          <a:solidFill>
            <a:srgbClr val="000000">
              <a:alpha val="0"/>
            </a:srgbClr>
          </a:solidFill>
          <a:ln w="12700">
            <a:solidFill>
              <a:srgbClr val="A1A1A1"/>
            </a:solidFill>
          </a:ln>
        </p:spPr>
      </p:sp>
      <p:sp>
        <p:nvSpPr>
          <p:cNvPr id="10" name="TextBox 10"/>
          <p:cNvSpPr txBox="1"/>
          <p:nvPr/>
        </p:nvSpPr>
        <p:spPr>
          <a:xfrm>
            <a:off x="876300" y="977900"/>
            <a:ext cx="14490700" cy="1206500"/>
          </a:xfrm>
          <a:prstGeom prst="rect">
            <a:avLst/>
          </a:prstGeom>
          <a:solidFill>
            <a:srgbClr val="000000">
              <a:alpha val="0"/>
            </a:srgbClr>
          </a:solidFill>
        </p:spPr>
        <p:txBody>
          <a:bodyPr lIns="0" tIns="0" rIns="0" bIns="0" rtlCol="0" anchor="ctr"/>
          <a:lstStyle/>
          <a:p>
            <a:pPr indent="0" algn="l">
              <a:lnSpc>
                <a:spcPct val="120000"/>
              </a:lnSpc>
              <a:defRPr/>
            </a:pPr>
            <a:r>
              <a:rPr lang="en-US" sz="3900" b="1">
                <a:solidFill>
                  <a:srgbClr val="000000"/>
                </a:solidFill>
                <a:latin typeface="Ubuntu"/>
              </a:rPr>
              <a:t>Problem Statement: Insufficient Cyber-Physical Anomaly Detection in Smart Grids</a:t>
            </a:r>
            <a:endParaRPr lang="en-US" sz="1100"/>
          </a:p>
        </p:txBody>
      </p:sp>
      <p:sp>
        <p:nvSpPr>
          <p:cNvPr id="11" name="TextBox 11"/>
          <p:cNvSpPr txBox="1"/>
          <p:nvPr/>
        </p:nvSpPr>
        <p:spPr>
          <a:xfrm>
            <a:off x="1143000" y="2743200"/>
            <a:ext cx="2895600" cy="901700"/>
          </a:xfrm>
          <a:prstGeom prst="rect">
            <a:avLst/>
          </a:prstGeom>
          <a:solidFill>
            <a:srgbClr val="000000">
              <a:alpha val="0"/>
            </a:srgbClr>
          </a:solidFill>
        </p:spPr>
        <p:txBody>
          <a:bodyPr lIns="0" tIns="0" rIns="0" bIns="0" rtlCol="0" anchor="ctr"/>
          <a:lstStyle/>
          <a:p>
            <a:pPr indent="0" algn="l">
              <a:lnSpc>
                <a:spcPct val="120000"/>
              </a:lnSpc>
              <a:defRPr/>
            </a:pPr>
            <a:r>
              <a:rPr lang="en-US" sz="2900" b="1">
                <a:solidFill>
                  <a:srgbClr val="000000"/>
                </a:solidFill>
                <a:latin typeface="Ubuntu"/>
              </a:rPr>
              <a:t>Traditional Monitoring</a:t>
            </a:r>
            <a:endParaRPr lang="en-US" sz="1100"/>
          </a:p>
        </p:txBody>
      </p:sp>
      <p:sp>
        <p:nvSpPr>
          <p:cNvPr id="12" name="TextBox 12"/>
          <p:cNvSpPr txBox="1"/>
          <p:nvPr/>
        </p:nvSpPr>
        <p:spPr>
          <a:xfrm>
            <a:off x="4826000" y="2743200"/>
            <a:ext cx="2895600" cy="901700"/>
          </a:xfrm>
          <a:prstGeom prst="rect">
            <a:avLst/>
          </a:prstGeom>
          <a:solidFill>
            <a:srgbClr val="000000">
              <a:alpha val="0"/>
            </a:srgbClr>
          </a:solidFill>
        </p:spPr>
        <p:txBody>
          <a:bodyPr lIns="0" tIns="0" rIns="0" bIns="0" rtlCol="0" anchor="ctr"/>
          <a:lstStyle/>
          <a:p>
            <a:pPr indent="0" algn="l">
              <a:lnSpc>
                <a:spcPct val="120000"/>
              </a:lnSpc>
              <a:defRPr/>
            </a:pPr>
            <a:r>
              <a:rPr lang="en-US" sz="2900" b="1">
                <a:solidFill>
                  <a:srgbClr val="000000"/>
                </a:solidFill>
                <a:latin typeface="Ubuntu"/>
              </a:rPr>
              <a:t>Dual Vulnerabilities</a:t>
            </a:r>
            <a:endParaRPr lang="en-US" sz="1100"/>
          </a:p>
        </p:txBody>
      </p:sp>
      <p:sp>
        <p:nvSpPr>
          <p:cNvPr id="13" name="TextBox 13"/>
          <p:cNvSpPr txBox="1"/>
          <p:nvPr/>
        </p:nvSpPr>
        <p:spPr>
          <a:xfrm>
            <a:off x="8509000" y="2743200"/>
            <a:ext cx="2895600" cy="901700"/>
          </a:xfrm>
          <a:prstGeom prst="rect">
            <a:avLst/>
          </a:prstGeom>
          <a:solidFill>
            <a:srgbClr val="000000">
              <a:alpha val="0"/>
            </a:srgbClr>
          </a:solidFill>
        </p:spPr>
        <p:txBody>
          <a:bodyPr lIns="0" tIns="0" rIns="0" bIns="0" rtlCol="0" anchor="ctr"/>
          <a:lstStyle/>
          <a:p>
            <a:pPr indent="0" algn="l">
              <a:lnSpc>
                <a:spcPct val="120000"/>
              </a:lnSpc>
              <a:defRPr/>
            </a:pPr>
            <a:r>
              <a:rPr lang="en-US" sz="2900" b="1">
                <a:solidFill>
                  <a:srgbClr val="000000"/>
                </a:solidFill>
                <a:latin typeface="Ubuntu"/>
              </a:rPr>
              <a:t>Lack of Explainability</a:t>
            </a:r>
            <a:endParaRPr lang="en-US" sz="1100"/>
          </a:p>
        </p:txBody>
      </p:sp>
      <p:sp>
        <p:nvSpPr>
          <p:cNvPr id="14" name="TextBox 14"/>
          <p:cNvSpPr txBox="1"/>
          <p:nvPr/>
        </p:nvSpPr>
        <p:spPr>
          <a:xfrm>
            <a:off x="12204700" y="2743200"/>
            <a:ext cx="2895600" cy="901700"/>
          </a:xfrm>
          <a:prstGeom prst="rect">
            <a:avLst/>
          </a:prstGeom>
          <a:solidFill>
            <a:srgbClr val="000000">
              <a:alpha val="0"/>
            </a:srgbClr>
          </a:solidFill>
        </p:spPr>
        <p:txBody>
          <a:bodyPr lIns="0" tIns="0" rIns="0" bIns="0" rtlCol="0" anchor="ctr"/>
          <a:lstStyle/>
          <a:p>
            <a:pPr indent="0" algn="l">
              <a:lnSpc>
                <a:spcPct val="120000"/>
              </a:lnSpc>
              <a:defRPr/>
            </a:pPr>
            <a:r>
              <a:rPr lang="en-US" sz="2900" b="1">
                <a:solidFill>
                  <a:srgbClr val="000000"/>
                </a:solidFill>
                <a:latin typeface="Ubuntu"/>
              </a:rPr>
              <a:t>Resource Allocation Gap</a:t>
            </a:r>
            <a:endParaRPr lang="en-US" sz="1100"/>
          </a:p>
        </p:txBody>
      </p:sp>
      <p:sp>
        <p:nvSpPr>
          <p:cNvPr id="15" name="TextBox 15"/>
          <p:cNvSpPr txBox="1"/>
          <p:nvPr/>
        </p:nvSpPr>
        <p:spPr>
          <a:xfrm>
            <a:off x="1143000" y="6870700"/>
            <a:ext cx="13957300" cy="444500"/>
          </a:xfrm>
          <a:prstGeom prst="rect">
            <a:avLst/>
          </a:prstGeom>
          <a:solidFill>
            <a:srgbClr val="000000">
              <a:alpha val="0"/>
            </a:srgbClr>
          </a:solidFill>
        </p:spPr>
        <p:txBody>
          <a:bodyPr lIns="0" tIns="0" rIns="0" bIns="0" rtlCol="0" anchor="ctr"/>
          <a:lstStyle/>
          <a:p>
            <a:pPr indent="0" algn="l">
              <a:lnSpc>
                <a:spcPct val="120000"/>
              </a:lnSpc>
              <a:defRPr/>
            </a:pPr>
            <a:r>
              <a:rPr lang="en-US" sz="2900" b="1">
                <a:solidFill>
                  <a:srgbClr val="000000"/>
                </a:solidFill>
                <a:latin typeface="Ubuntu"/>
              </a:rPr>
              <a:t>Need for Real-Time Integration</a:t>
            </a:r>
            <a:endParaRPr lang="en-US" sz="1100"/>
          </a:p>
        </p:txBody>
      </p:sp>
      <p:sp>
        <p:nvSpPr>
          <p:cNvPr id="16" name="TextBox 16"/>
          <p:cNvSpPr txBox="1"/>
          <p:nvPr/>
        </p:nvSpPr>
        <p:spPr>
          <a:xfrm>
            <a:off x="1143000" y="3822700"/>
            <a:ext cx="2895600" cy="1511300"/>
          </a:xfrm>
          <a:prstGeom prst="rect">
            <a:avLst/>
          </a:prstGeom>
          <a:solidFill>
            <a:srgbClr val="000000">
              <a:alpha val="0"/>
            </a:srgbClr>
          </a:solidFill>
        </p:spPr>
        <p:txBody>
          <a:bodyPr lIns="0" tIns="0" rIns="0" bIns="0" rtlCol="0" anchor="ctr"/>
          <a:lstStyle/>
          <a:p>
            <a:pPr indent="0" algn="l">
              <a:lnSpc>
                <a:spcPct val="150000"/>
              </a:lnSpc>
              <a:defRPr/>
            </a:pPr>
            <a:r>
              <a:rPr lang="en-US" sz="1900" b="1">
                <a:solidFill>
                  <a:srgbClr val="000000"/>
                </a:solidFill>
                <a:latin typeface="Poppins"/>
              </a:rPr>
              <a:t>Traditional monitoring relies on static thresholds and periodic audits</a:t>
            </a:r>
            <a:endParaRPr lang="en-US" sz="1100"/>
          </a:p>
        </p:txBody>
      </p:sp>
      <p:sp>
        <p:nvSpPr>
          <p:cNvPr id="17" name="TextBox 17"/>
          <p:cNvSpPr txBox="1"/>
          <p:nvPr/>
        </p:nvSpPr>
        <p:spPr>
          <a:xfrm>
            <a:off x="4826000" y="3822700"/>
            <a:ext cx="2895600" cy="2260600"/>
          </a:xfrm>
          <a:prstGeom prst="rect">
            <a:avLst/>
          </a:prstGeom>
          <a:solidFill>
            <a:srgbClr val="000000">
              <a:alpha val="0"/>
            </a:srgbClr>
          </a:solidFill>
        </p:spPr>
        <p:txBody>
          <a:bodyPr lIns="0" tIns="0" rIns="0" bIns="0" rtlCol="0" anchor="ctr"/>
          <a:lstStyle/>
          <a:p>
            <a:pPr indent="0" algn="l">
              <a:lnSpc>
                <a:spcPct val="150000"/>
              </a:lnSpc>
              <a:defRPr/>
            </a:pPr>
            <a:r>
              <a:rPr lang="en-US" sz="1900" b="1">
                <a:solidFill>
                  <a:srgbClr val="000000"/>
                </a:solidFill>
                <a:latin typeface="Poppins"/>
              </a:rPr>
              <a:t>Cyber-physical systems expose electrical and communication vulnerabilities simultaneously</a:t>
            </a:r>
            <a:endParaRPr lang="en-US" sz="1100"/>
          </a:p>
        </p:txBody>
      </p:sp>
      <p:sp>
        <p:nvSpPr>
          <p:cNvPr id="18" name="TextBox 18"/>
          <p:cNvSpPr txBox="1"/>
          <p:nvPr/>
        </p:nvSpPr>
        <p:spPr>
          <a:xfrm>
            <a:off x="8509000" y="3822700"/>
            <a:ext cx="2895600" cy="1511300"/>
          </a:xfrm>
          <a:prstGeom prst="rect">
            <a:avLst/>
          </a:prstGeom>
          <a:solidFill>
            <a:srgbClr val="000000">
              <a:alpha val="0"/>
            </a:srgbClr>
          </a:solidFill>
        </p:spPr>
        <p:txBody>
          <a:bodyPr lIns="0" tIns="0" rIns="0" bIns="0" rtlCol="0" anchor="ctr"/>
          <a:lstStyle/>
          <a:p>
            <a:pPr indent="0" algn="l">
              <a:lnSpc>
                <a:spcPct val="150000"/>
              </a:lnSpc>
              <a:defRPr/>
            </a:pPr>
            <a:r>
              <a:rPr lang="en-US" sz="1900" b="1">
                <a:solidFill>
                  <a:srgbClr val="000000"/>
                </a:solidFill>
                <a:latin typeface="Poppins"/>
              </a:rPr>
              <a:t>Existing approaches lack operational decision support and explainability</a:t>
            </a:r>
            <a:endParaRPr lang="en-US" sz="1100"/>
          </a:p>
        </p:txBody>
      </p:sp>
      <p:sp>
        <p:nvSpPr>
          <p:cNvPr id="19" name="TextBox 19"/>
          <p:cNvSpPr txBox="1"/>
          <p:nvPr/>
        </p:nvSpPr>
        <p:spPr>
          <a:xfrm>
            <a:off x="12204700" y="3822700"/>
            <a:ext cx="2895600" cy="1511300"/>
          </a:xfrm>
          <a:prstGeom prst="rect">
            <a:avLst/>
          </a:prstGeom>
          <a:solidFill>
            <a:srgbClr val="000000">
              <a:alpha val="0"/>
            </a:srgbClr>
          </a:solidFill>
        </p:spPr>
        <p:txBody>
          <a:bodyPr lIns="0" tIns="0" rIns="0" bIns="0" rtlCol="0" anchor="ctr"/>
          <a:lstStyle/>
          <a:p>
            <a:pPr indent="0" algn="l">
              <a:lnSpc>
                <a:spcPct val="150000"/>
              </a:lnSpc>
              <a:defRPr/>
            </a:pPr>
            <a:r>
              <a:rPr lang="en-US" sz="1900" b="1">
                <a:solidFill>
                  <a:srgbClr val="000000"/>
                </a:solidFill>
                <a:latin typeface="Poppins"/>
              </a:rPr>
              <a:t>Gap between anomaly detection and audit resource allocation</a:t>
            </a:r>
            <a:endParaRPr lang="en-US" sz="1100"/>
          </a:p>
        </p:txBody>
      </p:sp>
      <p:sp>
        <p:nvSpPr>
          <p:cNvPr id="20" name="TextBox 20"/>
          <p:cNvSpPr txBox="1"/>
          <p:nvPr/>
        </p:nvSpPr>
        <p:spPr>
          <a:xfrm>
            <a:off x="1143000" y="7505700"/>
            <a:ext cx="13957300" cy="368300"/>
          </a:xfrm>
          <a:prstGeom prst="rect">
            <a:avLst/>
          </a:prstGeom>
          <a:solidFill>
            <a:srgbClr val="000000">
              <a:alpha val="0"/>
            </a:srgbClr>
          </a:solidFill>
        </p:spPr>
        <p:txBody>
          <a:bodyPr lIns="0" tIns="0" rIns="0" bIns="0" rtlCol="0" anchor="ctr"/>
          <a:lstStyle/>
          <a:p>
            <a:pPr indent="0" algn="l">
              <a:lnSpc>
                <a:spcPct val="150000"/>
              </a:lnSpc>
              <a:defRPr/>
            </a:pPr>
            <a:r>
              <a:rPr lang="en-US" sz="1900" b="1">
                <a:solidFill>
                  <a:srgbClr val="000000"/>
                </a:solidFill>
                <a:latin typeface="Poppins"/>
              </a:rPr>
              <a:t>Need for real-time SCADA-integrated monitoring with audit intelligence</a:t>
            </a:r>
            <a:endParaRPr lang="en-US" sz="11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16256000" cy="9144000"/>
          </a:xfrm>
          <a:prstGeom prst="rect">
            <a:avLst/>
          </a:prstGeom>
          <a:solidFill>
            <a:srgbClr val="0D0A2C">
              <a:alpha val="74902"/>
            </a:srgbClr>
          </a:solidFill>
        </p:spPr>
      </p:sp>
      <p:pic>
        <p:nvPicPr>
          <p:cNvPr id="3" name="Picture 3"/>
          <p:cNvPicPr>
            <a:picLocks noChangeAspect="1"/>
          </p:cNvPicPr>
          <p:nvPr/>
        </p:nvPicPr>
        <p:blipFill>
          <a:blip r:embed="rId2"/>
          <a:srcRect t="56" b="56"/>
          <a:stretch>
            <a:fillRect/>
          </a:stretch>
        </p:blipFill>
        <p:spPr>
          <a:xfrm>
            <a:off x="0" y="0"/>
            <a:ext cx="16256000" cy="9144000"/>
          </a:xfrm>
          <a:prstGeom prst="rect">
            <a:avLst/>
          </a:prstGeom>
        </p:spPr>
      </p:pic>
      <p:sp>
        <p:nvSpPr>
          <p:cNvPr id="4" name="AutoShape 4"/>
          <p:cNvSpPr/>
          <p:nvPr/>
        </p:nvSpPr>
        <p:spPr>
          <a:xfrm>
            <a:off x="876300" y="1955800"/>
            <a:ext cx="14490700" cy="6565900"/>
          </a:xfrm>
          <a:prstGeom prst="rect">
            <a:avLst/>
          </a:prstGeom>
          <a:solidFill>
            <a:srgbClr val="000000">
              <a:alpha val="0"/>
            </a:srgbClr>
          </a:solidFill>
        </p:spPr>
      </p:sp>
      <p:sp>
        <p:nvSpPr>
          <p:cNvPr id="5" name="AutoShape 5"/>
          <p:cNvSpPr/>
          <p:nvPr/>
        </p:nvSpPr>
        <p:spPr>
          <a:xfrm>
            <a:off x="876300" y="1955800"/>
            <a:ext cx="3429000" cy="4076700"/>
          </a:xfrm>
          <a:prstGeom prst="roundRect">
            <a:avLst>
              <a:gd name="adj" fmla="val 2222"/>
            </a:avLst>
          </a:prstGeom>
          <a:solidFill>
            <a:srgbClr val="D1D1D1">
              <a:alpha val="71765"/>
            </a:srgbClr>
          </a:solidFill>
        </p:spPr>
      </p:sp>
      <p:sp>
        <p:nvSpPr>
          <p:cNvPr id="6" name="AutoShape 6"/>
          <p:cNvSpPr/>
          <p:nvPr/>
        </p:nvSpPr>
        <p:spPr>
          <a:xfrm>
            <a:off x="1168400" y="2171700"/>
            <a:ext cx="673100" cy="673100"/>
          </a:xfrm>
          <a:prstGeom prst="roundRect">
            <a:avLst>
              <a:gd name="adj" fmla="val 49056"/>
            </a:avLst>
          </a:prstGeom>
          <a:solidFill>
            <a:srgbClr val="000000"/>
          </a:solidFill>
        </p:spPr>
      </p:sp>
      <p:sp>
        <p:nvSpPr>
          <p:cNvPr id="7" name="AutoShape 7"/>
          <p:cNvSpPr/>
          <p:nvPr/>
        </p:nvSpPr>
        <p:spPr>
          <a:xfrm>
            <a:off x="4559300" y="1955800"/>
            <a:ext cx="3429000" cy="4076700"/>
          </a:xfrm>
          <a:prstGeom prst="roundRect">
            <a:avLst>
              <a:gd name="adj" fmla="val 2222"/>
            </a:avLst>
          </a:prstGeom>
          <a:solidFill>
            <a:srgbClr val="D1D1D1">
              <a:alpha val="71765"/>
            </a:srgbClr>
          </a:solidFill>
        </p:spPr>
      </p:sp>
      <p:sp>
        <p:nvSpPr>
          <p:cNvPr id="8" name="AutoShape 8"/>
          <p:cNvSpPr/>
          <p:nvPr/>
        </p:nvSpPr>
        <p:spPr>
          <a:xfrm>
            <a:off x="4851400" y="2171700"/>
            <a:ext cx="673100" cy="673100"/>
          </a:xfrm>
          <a:prstGeom prst="roundRect">
            <a:avLst>
              <a:gd name="adj" fmla="val 49056"/>
            </a:avLst>
          </a:prstGeom>
          <a:solidFill>
            <a:srgbClr val="000000"/>
          </a:solidFill>
        </p:spPr>
      </p:sp>
      <p:sp>
        <p:nvSpPr>
          <p:cNvPr id="9" name="AutoShape 9"/>
          <p:cNvSpPr/>
          <p:nvPr/>
        </p:nvSpPr>
        <p:spPr>
          <a:xfrm>
            <a:off x="8242300" y="1955800"/>
            <a:ext cx="3429000" cy="4076700"/>
          </a:xfrm>
          <a:prstGeom prst="roundRect">
            <a:avLst>
              <a:gd name="adj" fmla="val 2222"/>
            </a:avLst>
          </a:prstGeom>
          <a:solidFill>
            <a:srgbClr val="D1D1D1">
              <a:alpha val="71765"/>
            </a:srgbClr>
          </a:solidFill>
        </p:spPr>
      </p:sp>
      <p:sp>
        <p:nvSpPr>
          <p:cNvPr id="10" name="AutoShape 10"/>
          <p:cNvSpPr/>
          <p:nvPr/>
        </p:nvSpPr>
        <p:spPr>
          <a:xfrm>
            <a:off x="8534400" y="2171700"/>
            <a:ext cx="673100" cy="673100"/>
          </a:xfrm>
          <a:prstGeom prst="roundRect">
            <a:avLst>
              <a:gd name="adj" fmla="val 49056"/>
            </a:avLst>
          </a:prstGeom>
          <a:solidFill>
            <a:srgbClr val="000000"/>
          </a:solidFill>
        </p:spPr>
      </p:sp>
      <p:sp>
        <p:nvSpPr>
          <p:cNvPr id="11" name="AutoShape 11"/>
          <p:cNvSpPr/>
          <p:nvPr/>
        </p:nvSpPr>
        <p:spPr>
          <a:xfrm>
            <a:off x="11938000" y="1955800"/>
            <a:ext cx="3429000" cy="4076700"/>
          </a:xfrm>
          <a:prstGeom prst="roundRect">
            <a:avLst>
              <a:gd name="adj" fmla="val 2222"/>
            </a:avLst>
          </a:prstGeom>
          <a:solidFill>
            <a:srgbClr val="D1D1D1">
              <a:alpha val="71765"/>
            </a:srgbClr>
          </a:solidFill>
        </p:spPr>
      </p:sp>
      <p:sp>
        <p:nvSpPr>
          <p:cNvPr id="12" name="AutoShape 12"/>
          <p:cNvSpPr/>
          <p:nvPr/>
        </p:nvSpPr>
        <p:spPr>
          <a:xfrm>
            <a:off x="12230100" y="2171700"/>
            <a:ext cx="673100" cy="673100"/>
          </a:xfrm>
          <a:prstGeom prst="roundRect">
            <a:avLst>
              <a:gd name="adj" fmla="val 49056"/>
            </a:avLst>
          </a:prstGeom>
          <a:solidFill>
            <a:srgbClr val="000000"/>
          </a:solidFill>
        </p:spPr>
      </p:sp>
      <p:sp>
        <p:nvSpPr>
          <p:cNvPr id="13" name="AutoShape 13"/>
          <p:cNvSpPr/>
          <p:nvPr/>
        </p:nvSpPr>
        <p:spPr>
          <a:xfrm>
            <a:off x="876300" y="6261100"/>
            <a:ext cx="14490700" cy="2247900"/>
          </a:xfrm>
          <a:prstGeom prst="roundRect">
            <a:avLst>
              <a:gd name="adj" fmla="val 3389"/>
            </a:avLst>
          </a:prstGeom>
          <a:solidFill>
            <a:srgbClr val="D1D1D1">
              <a:alpha val="71765"/>
            </a:srgbClr>
          </a:solidFill>
        </p:spPr>
      </p:sp>
      <p:sp>
        <p:nvSpPr>
          <p:cNvPr id="14" name="AutoShape 14"/>
          <p:cNvSpPr/>
          <p:nvPr/>
        </p:nvSpPr>
        <p:spPr>
          <a:xfrm>
            <a:off x="1168400" y="6489700"/>
            <a:ext cx="673100" cy="673100"/>
          </a:xfrm>
          <a:prstGeom prst="roundRect">
            <a:avLst>
              <a:gd name="adj" fmla="val 49056"/>
            </a:avLst>
          </a:prstGeom>
          <a:solidFill>
            <a:srgbClr val="000000"/>
          </a:solidFill>
        </p:spPr>
      </p:sp>
      <p:sp>
        <p:nvSpPr>
          <p:cNvPr id="15" name="TextBox 15"/>
          <p:cNvSpPr txBox="1"/>
          <p:nvPr/>
        </p:nvSpPr>
        <p:spPr>
          <a:xfrm>
            <a:off x="876300" y="609600"/>
            <a:ext cx="14490700" cy="1079500"/>
          </a:xfrm>
          <a:prstGeom prst="rect">
            <a:avLst/>
          </a:prstGeom>
          <a:solidFill>
            <a:srgbClr val="000000">
              <a:alpha val="0"/>
            </a:srgbClr>
          </a:solidFill>
        </p:spPr>
        <p:txBody>
          <a:bodyPr lIns="0" tIns="0" rIns="0" bIns="0" rtlCol="0" anchor="ctr"/>
          <a:lstStyle/>
          <a:p>
            <a:pPr indent="0" algn="l">
              <a:lnSpc>
                <a:spcPct val="120000"/>
              </a:lnSpc>
              <a:defRPr/>
            </a:pPr>
            <a:r>
              <a:rPr lang="en-US" sz="3500" b="1">
                <a:solidFill>
                  <a:srgbClr val="000000"/>
                </a:solidFill>
                <a:latin typeface="Ubuntu"/>
              </a:rPr>
              <a:t>Motivation: Dynamic Audit Intelligence for Distributed Grid Environments</a:t>
            </a:r>
            <a:endParaRPr lang="en-US" sz="1100"/>
          </a:p>
        </p:txBody>
      </p:sp>
      <p:sp>
        <p:nvSpPr>
          <p:cNvPr id="16" name="TextBox 16"/>
          <p:cNvSpPr txBox="1"/>
          <p:nvPr/>
        </p:nvSpPr>
        <p:spPr>
          <a:xfrm>
            <a:off x="1130300" y="3073400"/>
            <a:ext cx="2921000" cy="800100"/>
          </a:xfrm>
          <a:prstGeom prst="rect">
            <a:avLst/>
          </a:prstGeom>
          <a:solidFill>
            <a:srgbClr val="000000">
              <a:alpha val="0"/>
            </a:srgbClr>
          </a:solidFill>
        </p:spPr>
        <p:txBody>
          <a:bodyPr lIns="0" tIns="0" rIns="0" bIns="0" rtlCol="0" anchor="ctr"/>
          <a:lstStyle/>
          <a:p>
            <a:pPr indent="0" algn="l">
              <a:lnSpc>
                <a:spcPct val="120000"/>
              </a:lnSpc>
              <a:defRPr/>
            </a:pPr>
            <a:r>
              <a:rPr lang="en-US" sz="2600" b="1">
                <a:solidFill>
                  <a:srgbClr val="000000"/>
                </a:solidFill>
                <a:latin typeface="Ubuntu"/>
              </a:rPr>
              <a:t>Static auditing limits</a:t>
            </a:r>
            <a:endParaRPr lang="en-US" sz="1100"/>
          </a:p>
        </p:txBody>
      </p:sp>
      <p:sp>
        <p:nvSpPr>
          <p:cNvPr id="17" name="TextBox 17"/>
          <p:cNvSpPr txBox="1"/>
          <p:nvPr/>
        </p:nvSpPr>
        <p:spPr>
          <a:xfrm>
            <a:off x="4813300" y="3073400"/>
            <a:ext cx="2921000" cy="1206500"/>
          </a:xfrm>
          <a:prstGeom prst="rect">
            <a:avLst/>
          </a:prstGeom>
          <a:solidFill>
            <a:srgbClr val="000000">
              <a:alpha val="0"/>
            </a:srgbClr>
          </a:solidFill>
        </p:spPr>
        <p:txBody>
          <a:bodyPr lIns="0" tIns="0" rIns="0" bIns="0" rtlCol="0" anchor="ctr"/>
          <a:lstStyle/>
          <a:p>
            <a:pPr indent="0" algn="l">
              <a:lnSpc>
                <a:spcPct val="120000"/>
              </a:lnSpc>
              <a:defRPr/>
            </a:pPr>
            <a:r>
              <a:rPr lang="en-US" sz="2600" b="1">
                <a:solidFill>
                  <a:srgbClr val="000000"/>
                </a:solidFill>
                <a:latin typeface="Ubuntu"/>
              </a:rPr>
              <a:t>Actionable operator guidance</a:t>
            </a:r>
            <a:endParaRPr lang="en-US" sz="1100"/>
          </a:p>
        </p:txBody>
      </p:sp>
      <p:sp>
        <p:nvSpPr>
          <p:cNvPr id="18" name="TextBox 18"/>
          <p:cNvSpPr txBox="1"/>
          <p:nvPr/>
        </p:nvSpPr>
        <p:spPr>
          <a:xfrm>
            <a:off x="8496300" y="3073400"/>
            <a:ext cx="2921000" cy="800100"/>
          </a:xfrm>
          <a:prstGeom prst="rect">
            <a:avLst/>
          </a:prstGeom>
          <a:solidFill>
            <a:srgbClr val="000000">
              <a:alpha val="0"/>
            </a:srgbClr>
          </a:solidFill>
        </p:spPr>
        <p:txBody>
          <a:bodyPr lIns="0" tIns="0" rIns="0" bIns="0" rtlCol="0" anchor="ctr"/>
          <a:lstStyle/>
          <a:p>
            <a:pPr indent="0" algn="l">
              <a:lnSpc>
                <a:spcPct val="120000"/>
              </a:lnSpc>
              <a:defRPr/>
            </a:pPr>
            <a:r>
              <a:rPr lang="en-US" sz="2600" b="1">
                <a:solidFill>
                  <a:srgbClr val="000000"/>
                </a:solidFill>
                <a:latin typeface="Ubuntu"/>
              </a:rPr>
              <a:t>Prioritization for critical risks</a:t>
            </a:r>
            <a:endParaRPr lang="en-US" sz="1100"/>
          </a:p>
        </p:txBody>
      </p:sp>
      <p:sp>
        <p:nvSpPr>
          <p:cNvPr id="19" name="TextBox 19"/>
          <p:cNvSpPr txBox="1"/>
          <p:nvPr/>
        </p:nvSpPr>
        <p:spPr>
          <a:xfrm>
            <a:off x="12179300" y="3073400"/>
            <a:ext cx="2921000" cy="800100"/>
          </a:xfrm>
          <a:prstGeom prst="rect">
            <a:avLst/>
          </a:prstGeom>
          <a:solidFill>
            <a:srgbClr val="000000">
              <a:alpha val="0"/>
            </a:srgbClr>
          </a:solidFill>
        </p:spPr>
        <p:txBody>
          <a:bodyPr lIns="0" tIns="0" rIns="0" bIns="0" rtlCol="0" anchor="ctr"/>
          <a:lstStyle/>
          <a:p>
            <a:pPr indent="0" algn="l">
              <a:lnSpc>
                <a:spcPct val="120000"/>
              </a:lnSpc>
              <a:defRPr/>
            </a:pPr>
            <a:r>
              <a:rPr lang="en-US" sz="2600" b="1">
                <a:solidFill>
                  <a:srgbClr val="000000"/>
                </a:solidFill>
                <a:latin typeface="Ubuntu"/>
              </a:rPr>
              <a:t>Real-time integration</a:t>
            </a:r>
            <a:endParaRPr lang="en-US" sz="1100"/>
          </a:p>
        </p:txBody>
      </p:sp>
      <p:sp>
        <p:nvSpPr>
          <p:cNvPr id="20" name="TextBox 20"/>
          <p:cNvSpPr txBox="1"/>
          <p:nvPr/>
        </p:nvSpPr>
        <p:spPr>
          <a:xfrm>
            <a:off x="1130300" y="7391400"/>
            <a:ext cx="13982700" cy="393700"/>
          </a:xfrm>
          <a:prstGeom prst="rect">
            <a:avLst/>
          </a:prstGeom>
          <a:solidFill>
            <a:srgbClr val="000000">
              <a:alpha val="0"/>
            </a:srgbClr>
          </a:solidFill>
        </p:spPr>
        <p:txBody>
          <a:bodyPr lIns="0" tIns="0" rIns="0" bIns="0" rtlCol="0" anchor="ctr"/>
          <a:lstStyle/>
          <a:p>
            <a:pPr indent="0" algn="l">
              <a:lnSpc>
                <a:spcPct val="120000"/>
              </a:lnSpc>
              <a:defRPr/>
            </a:pPr>
            <a:r>
              <a:rPr lang="en-US" sz="2600" b="1">
                <a:solidFill>
                  <a:srgbClr val="000000"/>
                </a:solidFill>
                <a:latin typeface="Ubuntu"/>
              </a:rPr>
              <a:t>Explainability for trust</a:t>
            </a:r>
            <a:endParaRPr lang="en-US" sz="1100"/>
          </a:p>
        </p:txBody>
      </p:sp>
      <p:sp>
        <p:nvSpPr>
          <p:cNvPr id="21" name="TextBox 21"/>
          <p:cNvSpPr txBox="1"/>
          <p:nvPr/>
        </p:nvSpPr>
        <p:spPr>
          <a:xfrm>
            <a:off x="1130300" y="4051300"/>
            <a:ext cx="2921000" cy="1346200"/>
          </a:xfrm>
          <a:prstGeom prst="rect">
            <a:avLst/>
          </a:prstGeom>
          <a:solidFill>
            <a:srgbClr val="000000">
              <a:alpha val="0"/>
            </a:srgbClr>
          </a:solidFill>
        </p:spPr>
        <p:txBody>
          <a:bodyPr lIns="0" tIns="0" rIns="0" bIns="0" rtlCol="0" anchor="ctr"/>
          <a:lstStyle/>
          <a:p>
            <a:pPr indent="0" algn="l">
              <a:lnSpc>
                <a:spcPct val="150000"/>
              </a:lnSpc>
              <a:defRPr/>
            </a:pPr>
            <a:r>
              <a:rPr lang="en-US" sz="1700" b="1">
                <a:solidFill>
                  <a:srgbClr val="000000"/>
                </a:solidFill>
                <a:latin typeface="Poppins"/>
              </a:rPr>
              <a:t>Static auditing increases cost or leaves vulnerabilities undetected</a:t>
            </a:r>
            <a:endParaRPr lang="en-US" sz="1100"/>
          </a:p>
        </p:txBody>
      </p:sp>
      <p:sp>
        <p:nvSpPr>
          <p:cNvPr id="22" name="TextBox 22"/>
          <p:cNvSpPr txBox="1"/>
          <p:nvPr/>
        </p:nvSpPr>
        <p:spPr>
          <a:xfrm>
            <a:off x="4813300" y="4457700"/>
            <a:ext cx="2921000" cy="1346200"/>
          </a:xfrm>
          <a:prstGeom prst="rect">
            <a:avLst/>
          </a:prstGeom>
          <a:solidFill>
            <a:srgbClr val="000000">
              <a:alpha val="0"/>
            </a:srgbClr>
          </a:solidFill>
        </p:spPr>
        <p:txBody>
          <a:bodyPr lIns="0" tIns="0" rIns="0" bIns="0" rtlCol="0" anchor="ctr"/>
          <a:lstStyle/>
          <a:p>
            <a:pPr indent="0" algn="l">
              <a:lnSpc>
                <a:spcPct val="150000"/>
              </a:lnSpc>
              <a:defRPr/>
            </a:pPr>
            <a:r>
              <a:rPr lang="en-US" sz="1700" b="1">
                <a:solidFill>
                  <a:srgbClr val="000000"/>
                </a:solidFill>
                <a:latin typeface="Poppins"/>
              </a:rPr>
              <a:t>Operators require actionable guidance beyond classification accuracy</a:t>
            </a:r>
            <a:endParaRPr lang="en-US" sz="1100"/>
          </a:p>
        </p:txBody>
      </p:sp>
      <p:sp>
        <p:nvSpPr>
          <p:cNvPr id="23" name="TextBox 23"/>
          <p:cNvSpPr txBox="1"/>
          <p:nvPr/>
        </p:nvSpPr>
        <p:spPr>
          <a:xfrm>
            <a:off x="8496300" y="4051300"/>
            <a:ext cx="2921000" cy="1003300"/>
          </a:xfrm>
          <a:prstGeom prst="rect">
            <a:avLst/>
          </a:prstGeom>
          <a:solidFill>
            <a:srgbClr val="000000">
              <a:alpha val="0"/>
            </a:srgbClr>
          </a:solidFill>
        </p:spPr>
        <p:txBody>
          <a:bodyPr lIns="0" tIns="0" rIns="0" bIns="0" rtlCol="0" anchor="ctr"/>
          <a:lstStyle/>
          <a:p>
            <a:pPr indent="0" algn="l">
              <a:lnSpc>
                <a:spcPct val="150000"/>
              </a:lnSpc>
              <a:defRPr/>
            </a:pPr>
            <a:r>
              <a:rPr lang="en-US" sz="1700" b="1">
                <a:solidFill>
                  <a:srgbClr val="000000"/>
                </a:solidFill>
                <a:latin typeface="Poppins"/>
              </a:rPr>
              <a:t>Audit prioritization needed to address critical risks efficiently</a:t>
            </a:r>
            <a:endParaRPr lang="en-US" sz="1100"/>
          </a:p>
        </p:txBody>
      </p:sp>
      <p:sp>
        <p:nvSpPr>
          <p:cNvPr id="24" name="TextBox 24"/>
          <p:cNvSpPr txBox="1"/>
          <p:nvPr/>
        </p:nvSpPr>
        <p:spPr>
          <a:xfrm>
            <a:off x="12179300" y="4051300"/>
            <a:ext cx="2921000" cy="1346200"/>
          </a:xfrm>
          <a:prstGeom prst="rect">
            <a:avLst/>
          </a:prstGeom>
          <a:solidFill>
            <a:srgbClr val="000000">
              <a:alpha val="0"/>
            </a:srgbClr>
          </a:solidFill>
        </p:spPr>
        <p:txBody>
          <a:bodyPr lIns="0" tIns="0" rIns="0" bIns="0" rtlCol="0" anchor="ctr"/>
          <a:lstStyle/>
          <a:p>
            <a:pPr indent="0" algn="l">
              <a:lnSpc>
                <a:spcPct val="150000"/>
              </a:lnSpc>
              <a:defRPr/>
            </a:pPr>
            <a:r>
              <a:rPr lang="en-US" sz="1700" b="1">
                <a:solidFill>
                  <a:srgbClr val="000000"/>
                </a:solidFill>
                <a:latin typeface="Poppins"/>
              </a:rPr>
              <a:t>Real-time supervisory integration essential for operational deployment</a:t>
            </a:r>
            <a:endParaRPr lang="en-US" sz="1100"/>
          </a:p>
        </p:txBody>
      </p:sp>
      <p:sp>
        <p:nvSpPr>
          <p:cNvPr id="25" name="TextBox 25"/>
          <p:cNvSpPr txBox="1"/>
          <p:nvPr/>
        </p:nvSpPr>
        <p:spPr>
          <a:xfrm>
            <a:off x="1130300" y="7950200"/>
            <a:ext cx="13982700" cy="330200"/>
          </a:xfrm>
          <a:prstGeom prst="rect">
            <a:avLst/>
          </a:prstGeom>
          <a:solidFill>
            <a:srgbClr val="000000">
              <a:alpha val="0"/>
            </a:srgbClr>
          </a:solidFill>
        </p:spPr>
        <p:txBody>
          <a:bodyPr lIns="0" tIns="0" rIns="0" bIns="0" rtlCol="0" anchor="ctr"/>
          <a:lstStyle/>
          <a:p>
            <a:pPr indent="0" algn="l">
              <a:lnSpc>
                <a:spcPct val="150000"/>
              </a:lnSpc>
              <a:defRPr/>
            </a:pPr>
            <a:r>
              <a:rPr lang="en-US" sz="1700" b="1">
                <a:solidFill>
                  <a:srgbClr val="000000"/>
                </a:solidFill>
                <a:latin typeface="Poppins"/>
              </a:rPr>
              <a:t>Explainability critical for operator trust and decision transparency</a:t>
            </a:r>
            <a:endParaRPr lang="en-US" sz="1100"/>
          </a:p>
        </p:txBody>
      </p:sp>
      <p:pic>
        <p:nvPicPr>
          <p:cNvPr id="26" name="Picture 26"/>
          <p:cNvPicPr>
            <a:picLocks noChangeAspect="1"/>
          </p:cNvPicPr>
          <p:nvPr/>
        </p:nvPicPr>
        <p:blipFill>
          <a:blip r:embed="rId3"/>
          <a:stretch>
            <a:fillRect/>
          </a:stretch>
        </p:blipFill>
        <p:spPr>
          <a:xfrm>
            <a:off x="1397000" y="2400300"/>
            <a:ext cx="215900" cy="215900"/>
          </a:xfrm>
          <a:prstGeom prst="rect">
            <a:avLst/>
          </a:prstGeom>
        </p:spPr>
      </p:pic>
      <p:pic>
        <p:nvPicPr>
          <p:cNvPr id="27" name="Picture 27"/>
          <p:cNvPicPr>
            <a:picLocks noChangeAspect="1"/>
          </p:cNvPicPr>
          <p:nvPr/>
        </p:nvPicPr>
        <p:blipFill>
          <a:blip r:embed="rId3"/>
          <a:stretch>
            <a:fillRect/>
          </a:stretch>
        </p:blipFill>
        <p:spPr>
          <a:xfrm>
            <a:off x="5067300" y="2400300"/>
            <a:ext cx="215900" cy="215900"/>
          </a:xfrm>
          <a:prstGeom prst="rect">
            <a:avLst/>
          </a:prstGeom>
        </p:spPr>
      </p:pic>
      <p:pic>
        <p:nvPicPr>
          <p:cNvPr id="28" name="Picture 28"/>
          <p:cNvPicPr>
            <a:picLocks noChangeAspect="1"/>
          </p:cNvPicPr>
          <p:nvPr/>
        </p:nvPicPr>
        <p:blipFill>
          <a:blip r:embed="rId3"/>
          <a:stretch>
            <a:fillRect/>
          </a:stretch>
        </p:blipFill>
        <p:spPr>
          <a:xfrm>
            <a:off x="8763000" y="2400300"/>
            <a:ext cx="215900" cy="215900"/>
          </a:xfrm>
          <a:prstGeom prst="rect">
            <a:avLst/>
          </a:prstGeom>
        </p:spPr>
      </p:pic>
      <p:pic>
        <p:nvPicPr>
          <p:cNvPr id="29" name="Picture 29"/>
          <p:cNvPicPr>
            <a:picLocks noChangeAspect="1"/>
          </p:cNvPicPr>
          <p:nvPr/>
        </p:nvPicPr>
        <p:blipFill>
          <a:blip r:embed="rId4"/>
          <a:stretch>
            <a:fillRect/>
          </a:stretch>
        </p:blipFill>
        <p:spPr>
          <a:xfrm>
            <a:off x="12446000" y="2400300"/>
            <a:ext cx="215900" cy="215900"/>
          </a:xfrm>
          <a:prstGeom prst="rect">
            <a:avLst/>
          </a:prstGeom>
        </p:spPr>
      </p:pic>
      <p:pic>
        <p:nvPicPr>
          <p:cNvPr id="30" name="Picture 30"/>
          <p:cNvPicPr>
            <a:picLocks noChangeAspect="1"/>
          </p:cNvPicPr>
          <p:nvPr/>
        </p:nvPicPr>
        <p:blipFill>
          <a:blip r:embed="rId5"/>
          <a:stretch>
            <a:fillRect/>
          </a:stretch>
        </p:blipFill>
        <p:spPr>
          <a:xfrm>
            <a:off x="1409700" y="6731000"/>
            <a:ext cx="177800" cy="1778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16256000" cy="9144000"/>
          </a:xfrm>
          <a:prstGeom prst="rect">
            <a:avLst/>
          </a:prstGeom>
          <a:solidFill>
            <a:srgbClr val="0D0A2C">
              <a:alpha val="74902"/>
            </a:srgbClr>
          </a:solidFill>
        </p:spPr>
      </p:sp>
      <p:pic>
        <p:nvPicPr>
          <p:cNvPr id="3" name="Picture 3"/>
          <p:cNvPicPr>
            <a:picLocks noChangeAspect="1"/>
          </p:cNvPicPr>
          <p:nvPr/>
        </p:nvPicPr>
        <p:blipFill>
          <a:blip r:embed="rId2"/>
          <a:srcRect t="56" b="56"/>
          <a:stretch>
            <a:fillRect/>
          </a:stretch>
        </p:blipFill>
        <p:spPr>
          <a:xfrm>
            <a:off x="0" y="0"/>
            <a:ext cx="16256000" cy="9144000"/>
          </a:xfrm>
          <a:prstGeom prst="rect">
            <a:avLst/>
          </a:prstGeom>
        </p:spPr>
      </p:pic>
      <p:sp>
        <p:nvSpPr>
          <p:cNvPr id="4" name="AutoShape 4"/>
          <p:cNvSpPr/>
          <p:nvPr/>
        </p:nvSpPr>
        <p:spPr>
          <a:xfrm>
            <a:off x="876300" y="3530600"/>
            <a:ext cx="14490700" cy="3543300"/>
          </a:xfrm>
          <a:prstGeom prst="rect">
            <a:avLst/>
          </a:prstGeom>
          <a:solidFill>
            <a:srgbClr val="000000">
              <a:alpha val="0"/>
            </a:srgbClr>
          </a:solidFill>
        </p:spPr>
      </p:sp>
      <p:sp>
        <p:nvSpPr>
          <p:cNvPr id="5" name="AutoShape 5"/>
          <p:cNvSpPr/>
          <p:nvPr/>
        </p:nvSpPr>
        <p:spPr>
          <a:xfrm>
            <a:off x="876300" y="3530600"/>
            <a:ext cx="3378200" cy="2349500"/>
          </a:xfrm>
          <a:prstGeom prst="rect">
            <a:avLst/>
          </a:prstGeom>
          <a:solidFill>
            <a:srgbClr val="000000">
              <a:alpha val="0"/>
            </a:srgbClr>
          </a:solidFill>
        </p:spPr>
      </p:sp>
      <p:sp>
        <p:nvSpPr>
          <p:cNvPr id="6" name="AutoShape 6"/>
          <p:cNvSpPr/>
          <p:nvPr/>
        </p:nvSpPr>
        <p:spPr>
          <a:xfrm>
            <a:off x="876300" y="3530600"/>
            <a:ext cx="558800" cy="558800"/>
          </a:xfrm>
          <a:prstGeom prst="roundRect">
            <a:avLst>
              <a:gd name="adj" fmla="val 15909"/>
            </a:avLst>
          </a:prstGeom>
          <a:solidFill>
            <a:srgbClr val="D1D1D1"/>
          </a:solidFill>
        </p:spPr>
      </p:sp>
      <p:sp>
        <p:nvSpPr>
          <p:cNvPr id="7" name="AutoShape 7"/>
          <p:cNvSpPr/>
          <p:nvPr/>
        </p:nvSpPr>
        <p:spPr>
          <a:xfrm>
            <a:off x="4572000" y="3530600"/>
            <a:ext cx="3378200" cy="2349500"/>
          </a:xfrm>
          <a:prstGeom prst="rect">
            <a:avLst/>
          </a:prstGeom>
          <a:solidFill>
            <a:srgbClr val="000000">
              <a:alpha val="0"/>
            </a:srgbClr>
          </a:solidFill>
        </p:spPr>
      </p:sp>
      <p:sp>
        <p:nvSpPr>
          <p:cNvPr id="8" name="AutoShape 8"/>
          <p:cNvSpPr/>
          <p:nvPr/>
        </p:nvSpPr>
        <p:spPr>
          <a:xfrm>
            <a:off x="4572000" y="3530600"/>
            <a:ext cx="558800" cy="558800"/>
          </a:xfrm>
          <a:prstGeom prst="roundRect">
            <a:avLst>
              <a:gd name="adj" fmla="val 15909"/>
            </a:avLst>
          </a:prstGeom>
          <a:solidFill>
            <a:srgbClr val="D1D1D1"/>
          </a:solidFill>
        </p:spPr>
      </p:sp>
      <p:sp>
        <p:nvSpPr>
          <p:cNvPr id="9" name="AutoShape 9"/>
          <p:cNvSpPr/>
          <p:nvPr/>
        </p:nvSpPr>
        <p:spPr>
          <a:xfrm>
            <a:off x="8280400" y="3530600"/>
            <a:ext cx="3378200" cy="2349500"/>
          </a:xfrm>
          <a:prstGeom prst="rect">
            <a:avLst/>
          </a:prstGeom>
          <a:solidFill>
            <a:srgbClr val="000000">
              <a:alpha val="0"/>
            </a:srgbClr>
          </a:solidFill>
        </p:spPr>
      </p:sp>
      <p:sp>
        <p:nvSpPr>
          <p:cNvPr id="10" name="AutoShape 10"/>
          <p:cNvSpPr/>
          <p:nvPr/>
        </p:nvSpPr>
        <p:spPr>
          <a:xfrm>
            <a:off x="8280400" y="3530600"/>
            <a:ext cx="558800" cy="558800"/>
          </a:xfrm>
          <a:prstGeom prst="roundRect">
            <a:avLst>
              <a:gd name="adj" fmla="val 15909"/>
            </a:avLst>
          </a:prstGeom>
          <a:solidFill>
            <a:srgbClr val="D1D1D1"/>
          </a:solidFill>
        </p:spPr>
      </p:sp>
      <p:sp>
        <p:nvSpPr>
          <p:cNvPr id="11" name="AutoShape 11"/>
          <p:cNvSpPr/>
          <p:nvPr/>
        </p:nvSpPr>
        <p:spPr>
          <a:xfrm>
            <a:off x="11976100" y="3530600"/>
            <a:ext cx="3378200" cy="2349500"/>
          </a:xfrm>
          <a:prstGeom prst="rect">
            <a:avLst/>
          </a:prstGeom>
          <a:solidFill>
            <a:srgbClr val="000000">
              <a:alpha val="0"/>
            </a:srgbClr>
          </a:solidFill>
        </p:spPr>
      </p:sp>
      <p:sp>
        <p:nvSpPr>
          <p:cNvPr id="12" name="AutoShape 12"/>
          <p:cNvSpPr/>
          <p:nvPr/>
        </p:nvSpPr>
        <p:spPr>
          <a:xfrm>
            <a:off x="11976100" y="3530600"/>
            <a:ext cx="558800" cy="558800"/>
          </a:xfrm>
          <a:prstGeom prst="roundRect">
            <a:avLst>
              <a:gd name="adj" fmla="val 15909"/>
            </a:avLst>
          </a:prstGeom>
          <a:solidFill>
            <a:srgbClr val="D1D1D1"/>
          </a:solidFill>
        </p:spPr>
      </p:sp>
      <p:sp>
        <p:nvSpPr>
          <p:cNvPr id="13" name="AutoShape 13"/>
          <p:cNvSpPr/>
          <p:nvPr/>
        </p:nvSpPr>
        <p:spPr>
          <a:xfrm>
            <a:off x="876300" y="6515100"/>
            <a:ext cx="14490700" cy="558800"/>
          </a:xfrm>
          <a:prstGeom prst="rect">
            <a:avLst/>
          </a:prstGeom>
          <a:solidFill>
            <a:srgbClr val="000000">
              <a:alpha val="0"/>
            </a:srgbClr>
          </a:solidFill>
        </p:spPr>
      </p:sp>
      <p:sp>
        <p:nvSpPr>
          <p:cNvPr id="14" name="AutoShape 14"/>
          <p:cNvSpPr/>
          <p:nvPr/>
        </p:nvSpPr>
        <p:spPr>
          <a:xfrm>
            <a:off x="876300" y="6515100"/>
            <a:ext cx="558800" cy="558800"/>
          </a:xfrm>
          <a:prstGeom prst="roundRect">
            <a:avLst>
              <a:gd name="adj" fmla="val 15909"/>
            </a:avLst>
          </a:prstGeom>
          <a:solidFill>
            <a:srgbClr val="D1D1D1"/>
          </a:solidFill>
        </p:spPr>
      </p:sp>
      <p:sp>
        <p:nvSpPr>
          <p:cNvPr id="15" name="TextBox 15"/>
          <p:cNvSpPr txBox="1"/>
          <p:nvPr/>
        </p:nvSpPr>
        <p:spPr>
          <a:xfrm>
            <a:off x="876300" y="2044700"/>
            <a:ext cx="14490700" cy="1206500"/>
          </a:xfrm>
          <a:prstGeom prst="rect">
            <a:avLst/>
          </a:prstGeom>
          <a:solidFill>
            <a:srgbClr val="000000">
              <a:alpha val="0"/>
            </a:srgbClr>
          </a:solidFill>
        </p:spPr>
        <p:txBody>
          <a:bodyPr lIns="0" tIns="0" rIns="0" bIns="0" rtlCol="0" anchor="ctr"/>
          <a:lstStyle/>
          <a:p>
            <a:pPr indent="0" algn="l">
              <a:lnSpc>
                <a:spcPct val="120000"/>
              </a:lnSpc>
              <a:defRPr/>
            </a:pPr>
            <a:r>
              <a:rPr lang="en-US" sz="3900" b="1">
                <a:solidFill>
                  <a:srgbClr val="000000"/>
                </a:solidFill>
                <a:latin typeface="Ubuntu"/>
              </a:rPr>
              <a:t>Research Objectives: Building an Explainable SCADA-Integrated Audit Framework</a:t>
            </a:r>
            <a:endParaRPr lang="en-US" sz="1100"/>
          </a:p>
        </p:txBody>
      </p:sp>
      <p:sp>
        <p:nvSpPr>
          <p:cNvPr id="16" name="TextBox 16"/>
          <p:cNvSpPr txBox="1"/>
          <p:nvPr/>
        </p:nvSpPr>
        <p:spPr>
          <a:xfrm>
            <a:off x="1066800" y="3632200"/>
            <a:ext cx="304800" cy="368300"/>
          </a:xfrm>
          <a:prstGeom prst="rect">
            <a:avLst/>
          </a:prstGeom>
          <a:solidFill>
            <a:srgbClr val="000000">
              <a:alpha val="0"/>
            </a:srgbClr>
          </a:solidFill>
        </p:spPr>
        <p:txBody>
          <a:bodyPr lIns="0" tIns="0" rIns="0" bIns="0" rtlCol="0" anchor="ctr"/>
          <a:lstStyle/>
          <a:p>
            <a:pPr indent="0" algn="l">
              <a:lnSpc>
                <a:spcPct val="120000"/>
              </a:lnSpc>
              <a:defRPr/>
            </a:pPr>
            <a:r>
              <a:rPr lang="en-US" sz="2400" b="1">
                <a:solidFill>
                  <a:srgbClr val="000000"/>
                </a:solidFill>
                <a:highlight>
                  <a:srgbClr val="000000">
                    <a:alpha val="0"/>
                  </a:srgbClr>
                </a:highlight>
                <a:latin typeface="Ubuntu"/>
              </a:rPr>
              <a:t>1</a:t>
            </a:r>
            <a:endParaRPr lang="en-US" sz="1100"/>
          </a:p>
        </p:txBody>
      </p:sp>
      <p:sp>
        <p:nvSpPr>
          <p:cNvPr id="17" name="TextBox 17"/>
          <p:cNvSpPr txBox="1"/>
          <p:nvPr/>
        </p:nvSpPr>
        <p:spPr>
          <a:xfrm>
            <a:off x="4775200" y="3632200"/>
            <a:ext cx="304800" cy="368300"/>
          </a:xfrm>
          <a:prstGeom prst="rect">
            <a:avLst/>
          </a:prstGeom>
          <a:solidFill>
            <a:srgbClr val="000000">
              <a:alpha val="0"/>
            </a:srgbClr>
          </a:solidFill>
        </p:spPr>
        <p:txBody>
          <a:bodyPr lIns="0" tIns="0" rIns="0" bIns="0" rtlCol="0" anchor="ctr"/>
          <a:lstStyle/>
          <a:p>
            <a:pPr indent="0" algn="l">
              <a:lnSpc>
                <a:spcPct val="120000"/>
              </a:lnSpc>
              <a:defRPr/>
            </a:pPr>
            <a:r>
              <a:rPr lang="en-US" sz="2400" b="1">
                <a:solidFill>
                  <a:srgbClr val="000000"/>
                </a:solidFill>
                <a:highlight>
                  <a:srgbClr val="000000">
                    <a:alpha val="0"/>
                  </a:srgbClr>
                </a:highlight>
                <a:latin typeface="Ubuntu"/>
              </a:rPr>
              <a:t>2</a:t>
            </a:r>
            <a:endParaRPr lang="en-US" sz="1100"/>
          </a:p>
        </p:txBody>
      </p:sp>
      <p:sp>
        <p:nvSpPr>
          <p:cNvPr id="18" name="TextBox 18"/>
          <p:cNvSpPr txBox="1"/>
          <p:nvPr/>
        </p:nvSpPr>
        <p:spPr>
          <a:xfrm>
            <a:off x="8470900" y="3632200"/>
            <a:ext cx="304800" cy="368300"/>
          </a:xfrm>
          <a:prstGeom prst="rect">
            <a:avLst/>
          </a:prstGeom>
          <a:solidFill>
            <a:srgbClr val="000000">
              <a:alpha val="0"/>
            </a:srgbClr>
          </a:solidFill>
        </p:spPr>
        <p:txBody>
          <a:bodyPr lIns="0" tIns="0" rIns="0" bIns="0" rtlCol="0" anchor="ctr"/>
          <a:lstStyle/>
          <a:p>
            <a:pPr indent="0" algn="l">
              <a:lnSpc>
                <a:spcPct val="120000"/>
              </a:lnSpc>
              <a:defRPr/>
            </a:pPr>
            <a:r>
              <a:rPr lang="en-US" sz="2400" b="1">
                <a:solidFill>
                  <a:srgbClr val="000000"/>
                </a:solidFill>
                <a:highlight>
                  <a:srgbClr val="000000">
                    <a:alpha val="0"/>
                  </a:srgbClr>
                </a:highlight>
                <a:latin typeface="Ubuntu"/>
              </a:rPr>
              <a:t>3</a:t>
            </a:r>
            <a:endParaRPr lang="en-US" sz="1100"/>
          </a:p>
        </p:txBody>
      </p:sp>
      <p:sp>
        <p:nvSpPr>
          <p:cNvPr id="19" name="TextBox 19"/>
          <p:cNvSpPr txBox="1"/>
          <p:nvPr/>
        </p:nvSpPr>
        <p:spPr>
          <a:xfrm>
            <a:off x="12179300" y="3632200"/>
            <a:ext cx="304800" cy="368300"/>
          </a:xfrm>
          <a:prstGeom prst="rect">
            <a:avLst/>
          </a:prstGeom>
          <a:solidFill>
            <a:srgbClr val="000000">
              <a:alpha val="0"/>
            </a:srgbClr>
          </a:solidFill>
        </p:spPr>
        <p:txBody>
          <a:bodyPr lIns="0" tIns="0" rIns="0" bIns="0" rtlCol="0" anchor="ctr"/>
          <a:lstStyle/>
          <a:p>
            <a:pPr indent="0" algn="l">
              <a:lnSpc>
                <a:spcPct val="120000"/>
              </a:lnSpc>
              <a:defRPr/>
            </a:pPr>
            <a:r>
              <a:rPr lang="en-US" sz="2400" b="1">
                <a:solidFill>
                  <a:srgbClr val="000000"/>
                </a:solidFill>
                <a:highlight>
                  <a:srgbClr val="000000">
                    <a:alpha val="0"/>
                  </a:srgbClr>
                </a:highlight>
                <a:latin typeface="Ubuntu"/>
              </a:rPr>
              <a:t>4</a:t>
            </a:r>
            <a:endParaRPr lang="en-US" sz="1100"/>
          </a:p>
        </p:txBody>
      </p:sp>
      <p:sp>
        <p:nvSpPr>
          <p:cNvPr id="20" name="TextBox 20"/>
          <p:cNvSpPr txBox="1"/>
          <p:nvPr/>
        </p:nvSpPr>
        <p:spPr>
          <a:xfrm>
            <a:off x="1066800" y="6616700"/>
            <a:ext cx="304800" cy="368300"/>
          </a:xfrm>
          <a:prstGeom prst="rect">
            <a:avLst/>
          </a:prstGeom>
          <a:solidFill>
            <a:srgbClr val="000000">
              <a:alpha val="0"/>
            </a:srgbClr>
          </a:solidFill>
        </p:spPr>
        <p:txBody>
          <a:bodyPr lIns="0" tIns="0" rIns="0" bIns="0" rtlCol="0" anchor="ctr"/>
          <a:lstStyle/>
          <a:p>
            <a:pPr indent="0" algn="l">
              <a:lnSpc>
                <a:spcPct val="120000"/>
              </a:lnSpc>
              <a:defRPr/>
            </a:pPr>
            <a:r>
              <a:rPr lang="en-US" sz="2400" b="1">
                <a:solidFill>
                  <a:srgbClr val="000000"/>
                </a:solidFill>
                <a:highlight>
                  <a:srgbClr val="000000">
                    <a:alpha val="0"/>
                  </a:srgbClr>
                </a:highlight>
                <a:latin typeface="Ubuntu"/>
              </a:rPr>
              <a:t>5</a:t>
            </a:r>
            <a:endParaRPr lang="en-US" sz="1100"/>
          </a:p>
        </p:txBody>
      </p:sp>
      <p:sp>
        <p:nvSpPr>
          <p:cNvPr id="21" name="TextBox 21"/>
          <p:cNvSpPr txBox="1"/>
          <p:nvPr/>
        </p:nvSpPr>
        <p:spPr>
          <a:xfrm>
            <a:off x="1689100" y="3619500"/>
            <a:ext cx="2565400" cy="2260600"/>
          </a:xfrm>
          <a:prstGeom prst="rect">
            <a:avLst/>
          </a:prstGeom>
          <a:solidFill>
            <a:srgbClr val="000000">
              <a:alpha val="0"/>
            </a:srgbClr>
          </a:solidFill>
        </p:spPr>
        <p:txBody>
          <a:bodyPr lIns="0" tIns="0" rIns="0" bIns="0" rtlCol="0" anchor="ctr"/>
          <a:lstStyle/>
          <a:p>
            <a:pPr indent="0" algn="l">
              <a:lnSpc>
                <a:spcPct val="150000"/>
              </a:lnSpc>
              <a:defRPr/>
            </a:pPr>
            <a:r>
              <a:rPr lang="en-US" sz="1900" b="1">
                <a:solidFill>
                  <a:srgbClr val="000000"/>
                </a:solidFill>
                <a:latin typeface="Poppins"/>
              </a:rPr>
              <a:t>1. Design cyber-physical anomaly detection across electrical and communication features</a:t>
            </a:r>
            <a:endParaRPr lang="en-US" sz="1100"/>
          </a:p>
        </p:txBody>
      </p:sp>
      <p:sp>
        <p:nvSpPr>
          <p:cNvPr id="22" name="TextBox 22"/>
          <p:cNvSpPr txBox="1"/>
          <p:nvPr/>
        </p:nvSpPr>
        <p:spPr>
          <a:xfrm>
            <a:off x="5397500" y="3619500"/>
            <a:ext cx="2565400" cy="2260600"/>
          </a:xfrm>
          <a:prstGeom prst="rect">
            <a:avLst/>
          </a:prstGeom>
          <a:solidFill>
            <a:srgbClr val="000000">
              <a:alpha val="0"/>
            </a:srgbClr>
          </a:solidFill>
        </p:spPr>
        <p:txBody>
          <a:bodyPr lIns="0" tIns="0" rIns="0" bIns="0" rtlCol="0" anchor="ctr"/>
          <a:lstStyle/>
          <a:p>
            <a:pPr indent="0" algn="l">
              <a:lnSpc>
                <a:spcPct val="150000"/>
              </a:lnSpc>
              <a:defRPr/>
            </a:pPr>
            <a:r>
              <a:rPr lang="en-US" sz="1900" b="1">
                <a:solidFill>
                  <a:srgbClr val="000000"/>
                </a:solidFill>
                <a:latin typeface="Poppins"/>
              </a:rPr>
              <a:t>2. Implement explainable deviation-based scoring for transparent decisions</a:t>
            </a:r>
            <a:endParaRPr lang="en-US" sz="1100"/>
          </a:p>
        </p:txBody>
      </p:sp>
      <p:sp>
        <p:nvSpPr>
          <p:cNvPr id="23" name="TextBox 23"/>
          <p:cNvSpPr txBox="1"/>
          <p:nvPr/>
        </p:nvSpPr>
        <p:spPr>
          <a:xfrm>
            <a:off x="9093200" y="3619500"/>
            <a:ext cx="2565400" cy="1879600"/>
          </a:xfrm>
          <a:prstGeom prst="rect">
            <a:avLst/>
          </a:prstGeom>
          <a:solidFill>
            <a:srgbClr val="000000">
              <a:alpha val="0"/>
            </a:srgbClr>
          </a:solidFill>
        </p:spPr>
        <p:txBody>
          <a:bodyPr lIns="0" tIns="0" rIns="0" bIns="0" rtlCol="0" anchor="ctr"/>
          <a:lstStyle/>
          <a:p>
            <a:pPr indent="0" algn="l">
              <a:lnSpc>
                <a:spcPct val="150000"/>
              </a:lnSpc>
              <a:defRPr/>
            </a:pPr>
            <a:r>
              <a:rPr lang="en-US" sz="1900" b="1">
                <a:solidFill>
                  <a:srgbClr val="000000"/>
                </a:solidFill>
                <a:latin typeface="Poppins"/>
              </a:rPr>
              <a:t>3. Develop audit decision framework prioritizing high-risk assets under constraints</a:t>
            </a:r>
            <a:endParaRPr lang="en-US" sz="1100"/>
          </a:p>
        </p:txBody>
      </p:sp>
      <p:sp>
        <p:nvSpPr>
          <p:cNvPr id="24" name="TextBox 24"/>
          <p:cNvSpPr txBox="1"/>
          <p:nvPr/>
        </p:nvSpPr>
        <p:spPr>
          <a:xfrm>
            <a:off x="12801600" y="3619500"/>
            <a:ext cx="2565400" cy="1879600"/>
          </a:xfrm>
          <a:prstGeom prst="rect">
            <a:avLst/>
          </a:prstGeom>
          <a:solidFill>
            <a:srgbClr val="000000">
              <a:alpha val="0"/>
            </a:srgbClr>
          </a:solidFill>
        </p:spPr>
        <p:txBody>
          <a:bodyPr lIns="0" tIns="0" rIns="0" bIns="0" rtlCol="0" anchor="ctr"/>
          <a:lstStyle/>
          <a:p>
            <a:pPr indent="0" algn="l">
              <a:lnSpc>
                <a:spcPct val="150000"/>
              </a:lnSpc>
              <a:defRPr/>
            </a:pPr>
            <a:r>
              <a:rPr lang="en-US" sz="1900" b="1">
                <a:solidFill>
                  <a:srgbClr val="000000"/>
                </a:solidFill>
                <a:latin typeface="Poppins"/>
              </a:rPr>
              <a:t>4. Integrate Rapid SCADA as live telemetry source for real-time monitoring</a:t>
            </a:r>
            <a:endParaRPr lang="en-US" sz="1100"/>
          </a:p>
        </p:txBody>
      </p:sp>
      <p:sp>
        <p:nvSpPr>
          <p:cNvPr id="25" name="TextBox 25"/>
          <p:cNvSpPr txBox="1"/>
          <p:nvPr/>
        </p:nvSpPr>
        <p:spPr>
          <a:xfrm>
            <a:off x="1689100" y="6604000"/>
            <a:ext cx="13665200" cy="368300"/>
          </a:xfrm>
          <a:prstGeom prst="rect">
            <a:avLst/>
          </a:prstGeom>
          <a:solidFill>
            <a:srgbClr val="000000">
              <a:alpha val="0"/>
            </a:srgbClr>
          </a:solidFill>
        </p:spPr>
        <p:txBody>
          <a:bodyPr lIns="0" tIns="0" rIns="0" bIns="0" rtlCol="0" anchor="ctr"/>
          <a:lstStyle/>
          <a:p>
            <a:pPr indent="0" algn="l">
              <a:lnSpc>
                <a:spcPct val="150000"/>
              </a:lnSpc>
              <a:defRPr/>
            </a:pPr>
            <a:r>
              <a:rPr lang="en-US" sz="1900" b="1">
                <a:solidFill>
                  <a:srgbClr val="000000"/>
                </a:solidFill>
                <a:latin typeface="Poppins"/>
              </a:rPr>
              <a:t>5. Separate experiment evaluation from live operational monitoring for clarity</a:t>
            </a:r>
            <a:endParaRPr lang="en-US" sz="11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16256000" cy="9144000"/>
          </a:xfrm>
          <a:prstGeom prst="rect">
            <a:avLst/>
          </a:prstGeom>
          <a:solidFill>
            <a:srgbClr val="0D0A2C">
              <a:alpha val="74902"/>
            </a:srgbClr>
          </a:solidFill>
        </p:spPr>
      </p:sp>
      <p:pic>
        <p:nvPicPr>
          <p:cNvPr id="3" name="Picture 3"/>
          <p:cNvPicPr>
            <a:picLocks noChangeAspect="1"/>
          </p:cNvPicPr>
          <p:nvPr/>
        </p:nvPicPr>
        <p:blipFill>
          <a:blip r:embed="rId2"/>
          <a:srcRect t="56" b="56"/>
          <a:stretch>
            <a:fillRect/>
          </a:stretch>
        </p:blipFill>
        <p:spPr>
          <a:xfrm>
            <a:off x="0" y="0"/>
            <a:ext cx="16256000" cy="9144000"/>
          </a:xfrm>
          <a:prstGeom prst="rect">
            <a:avLst/>
          </a:prstGeom>
        </p:spPr>
      </p:pic>
      <p:sp>
        <p:nvSpPr>
          <p:cNvPr id="4" name="AutoShape 4"/>
          <p:cNvSpPr/>
          <p:nvPr/>
        </p:nvSpPr>
        <p:spPr>
          <a:xfrm>
            <a:off x="876300" y="2882900"/>
            <a:ext cx="14490700" cy="4851400"/>
          </a:xfrm>
          <a:prstGeom prst="rect">
            <a:avLst/>
          </a:prstGeom>
          <a:solidFill>
            <a:srgbClr val="000000">
              <a:alpha val="0"/>
            </a:srgbClr>
          </a:solidFill>
        </p:spPr>
      </p:sp>
      <p:sp>
        <p:nvSpPr>
          <p:cNvPr id="5" name="AutoShape 5"/>
          <p:cNvSpPr/>
          <p:nvPr/>
        </p:nvSpPr>
        <p:spPr>
          <a:xfrm>
            <a:off x="876300" y="2882900"/>
            <a:ext cx="3378200" cy="3124200"/>
          </a:xfrm>
          <a:prstGeom prst="rect">
            <a:avLst/>
          </a:prstGeom>
          <a:solidFill>
            <a:srgbClr val="000000">
              <a:alpha val="0"/>
            </a:srgbClr>
          </a:solidFill>
        </p:spPr>
      </p:sp>
      <p:sp>
        <p:nvSpPr>
          <p:cNvPr id="6" name="AutoShape 6"/>
          <p:cNvSpPr/>
          <p:nvPr/>
        </p:nvSpPr>
        <p:spPr>
          <a:xfrm>
            <a:off x="876300" y="2882900"/>
            <a:ext cx="558800" cy="558800"/>
          </a:xfrm>
          <a:prstGeom prst="roundRect">
            <a:avLst>
              <a:gd name="adj" fmla="val 15909"/>
            </a:avLst>
          </a:prstGeom>
          <a:solidFill>
            <a:srgbClr val="D1D1D1"/>
          </a:solidFill>
        </p:spPr>
      </p:sp>
      <p:sp>
        <p:nvSpPr>
          <p:cNvPr id="7" name="AutoShape 7"/>
          <p:cNvSpPr/>
          <p:nvPr/>
        </p:nvSpPr>
        <p:spPr>
          <a:xfrm>
            <a:off x="4572000" y="2882900"/>
            <a:ext cx="3378200" cy="3124200"/>
          </a:xfrm>
          <a:prstGeom prst="rect">
            <a:avLst/>
          </a:prstGeom>
          <a:solidFill>
            <a:srgbClr val="000000">
              <a:alpha val="0"/>
            </a:srgbClr>
          </a:solidFill>
        </p:spPr>
      </p:sp>
      <p:sp>
        <p:nvSpPr>
          <p:cNvPr id="8" name="AutoShape 8"/>
          <p:cNvSpPr/>
          <p:nvPr/>
        </p:nvSpPr>
        <p:spPr>
          <a:xfrm>
            <a:off x="4572000" y="2882900"/>
            <a:ext cx="558800" cy="558800"/>
          </a:xfrm>
          <a:prstGeom prst="roundRect">
            <a:avLst>
              <a:gd name="adj" fmla="val 15909"/>
            </a:avLst>
          </a:prstGeom>
          <a:solidFill>
            <a:srgbClr val="D1D1D1"/>
          </a:solidFill>
        </p:spPr>
      </p:sp>
      <p:sp>
        <p:nvSpPr>
          <p:cNvPr id="9" name="AutoShape 9"/>
          <p:cNvSpPr/>
          <p:nvPr/>
        </p:nvSpPr>
        <p:spPr>
          <a:xfrm>
            <a:off x="8280400" y="2882900"/>
            <a:ext cx="3378200" cy="3124200"/>
          </a:xfrm>
          <a:prstGeom prst="rect">
            <a:avLst/>
          </a:prstGeom>
          <a:solidFill>
            <a:srgbClr val="000000">
              <a:alpha val="0"/>
            </a:srgbClr>
          </a:solidFill>
        </p:spPr>
      </p:sp>
      <p:sp>
        <p:nvSpPr>
          <p:cNvPr id="10" name="AutoShape 10"/>
          <p:cNvSpPr/>
          <p:nvPr/>
        </p:nvSpPr>
        <p:spPr>
          <a:xfrm>
            <a:off x="8280400" y="2882900"/>
            <a:ext cx="558800" cy="558800"/>
          </a:xfrm>
          <a:prstGeom prst="roundRect">
            <a:avLst>
              <a:gd name="adj" fmla="val 15909"/>
            </a:avLst>
          </a:prstGeom>
          <a:solidFill>
            <a:srgbClr val="D1D1D1"/>
          </a:solidFill>
        </p:spPr>
      </p:sp>
      <p:sp>
        <p:nvSpPr>
          <p:cNvPr id="11" name="AutoShape 11"/>
          <p:cNvSpPr/>
          <p:nvPr/>
        </p:nvSpPr>
        <p:spPr>
          <a:xfrm>
            <a:off x="11976100" y="2882900"/>
            <a:ext cx="3378200" cy="3124200"/>
          </a:xfrm>
          <a:prstGeom prst="rect">
            <a:avLst/>
          </a:prstGeom>
          <a:solidFill>
            <a:srgbClr val="000000">
              <a:alpha val="0"/>
            </a:srgbClr>
          </a:solidFill>
        </p:spPr>
      </p:sp>
      <p:sp>
        <p:nvSpPr>
          <p:cNvPr id="12" name="AutoShape 12"/>
          <p:cNvSpPr/>
          <p:nvPr/>
        </p:nvSpPr>
        <p:spPr>
          <a:xfrm>
            <a:off x="11976100" y="2882900"/>
            <a:ext cx="558800" cy="558800"/>
          </a:xfrm>
          <a:prstGeom prst="roundRect">
            <a:avLst>
              <a:gd name="adj" fmla="val 15909"/>
            </a:avLst>
          </a:prstGeom>
          <a:solidFill>
            <a:srgbClr val="D1D1D1"/>
          </a:solidFill>
        </p:spPr>
      </p:sp>
      <p:sp>
        <p:nvSpPr>
          <p:cNvPr id="13" name="AutoShape 13"/>
          <p:cNvSpPr/>
          <p:nvPr/>
        </p:nvSpPr>
        <p:spPr>
          <a:xfrm>
            <a:off x="876300" y="6642100"/>
            <a:ext cx="14490700" cy="1092200"/>
          </a:xfrm>
          <a:prstGeom prst="rect">
            <a:avLst/>
          </a:prstGeom>
          <a:solidFill>
            <a:srgbClr val="000000">
              <a:alpha val="0"/>
            </a:srgbClr>
          </a:solidFill>
        </p:spPr>
      </p:sp>
      <p:sp>
        <p:nvSpPr>
          <p:cNvPr id="14" name="AutoShape 14"/>
          <p:cNvSpPr/>
          <p:nvPr/>
        </p:nvSpPr>
        <p:spPr>
          <a:xfrm>
            <a:off x="876300" y="6642100"/>
            <a:ext cx="558800" cy="558800"/>
          </a:xfrm>
          <a:prstGeom prst="roundRect">
            <a:avLst>
              <a:gd name="adj" fmla="val 15909"/>
            </a:avLst>
          </a:prstGeom>
          <a:solidFill>
            <a:srgbClr val="D1D1D1"/>
          </a:solidFill>
        </p:spPr>
      </p:sp>
      <p:sp>
        <p:nvSpPr>
          <p:cNvPr id="15" name="TextBox 15"/>
          <p:cNvSpPr txBox="1"/>
          <p:nvPr/>
        </p:nvSpPr>
        <p:spPr>
          <a:xfrm>
            <a:off x="876300" y="1384300"/>
            <a:ext cx="14490700" cy="1206500"/>
          </a:xfrm>
          <a:prstGeom prst="rect">
            <a:avLst/>
          </a:prstGeom>
          <a:solidFill>
            <a:srgbClr val="000000">
              <a:alpha val="0"/>
            </a:srgbClr>
          </a:solidFill>
        </p:spPr>
        <p:txBody>
          <a:bodyPr lIns="0" tIns="0" rIns="0" bIns="0" rtlCol="0" anchor="ctr"/>
          <a:lstStyle/>
          <a:p>
            <a:pPr indent="0" algn="l">
              <a:lnSpc>
                <a:spcPct val="120000"/>
              </a:lnSpc>
              <a:defRPr/>
            </a:pPr>
            <a:r>
              <a:rPr lang="en-US" sz="3900" b="1">
                <a:solidFill>
                  <a:srgbClr val="000000"/>
                </a:solidFill>
                <a:latin typeface="Ubuntu"/>
              </a:rPr>
              <a:t>Research Gap: From Conceptual Models to Operational Deployment</a:t>
            </a:r>
            <a:endParaRPr lang="en-US" sz="1100"/>
          </a:p>
        </p:txBody>
      </p:sp>
      <p:sp>
        <p:nvSpPr>
          <p:cNvPr id="16" name="TextBox 16"/>
          <p:cNvSpPr txBox="1"/>
          <p:nvPr/>
        </p:nvSpPr>
        <p:spPr>
          <a:xfrm>
            <a:off x="1066800" y="2971800"/>
            <a:ext cx="304800" cy="368300"/>
          </a:xfrm>
          <a:prstGeom prst="rect">
            <a:avLst/>
          </a:prstGeom>
          <a:solidFill>
            <a:srgbClr val="000000">
              <a:alpha val="0"/>
            </a:srgbClr>
          </a:solidFill>
        </p:spPr>
        <p:txBody>
          <a:bodyPr lIns="0" tIns="0" rIns="0" bIns="0" rtlCol="0" anchor="ctr"/>
          <a:lstStyle/>
          <a:p>
            <a:pPr indent="0" algn="l">
              <a:lnSpc>
                <a:spcPct val="120000"/>
              </a:lnSpc>
              <a:defRPr/>
            </a:pPr>
            <a:r>
              <a:rPr lang="en-US" sz="2400" b="1">
                <a:solidFill>
                  <a:srgbClr val="000000"/>
                </a:solidFill>
                <a:highlight>
                  <a:srgbClr val="000000">
                    <a:alpha val="0"/>
                  </a:srgbClr>
                </a:highlight>
                <a:latin typeface="Ubuntu"/>
              </a:rPr>
              <a:t>1</a:t>
            </a:r>
            <a:endParaRPr lang="en-US" sz="1100"/>
          </a:p>
        </p:txBody>
      </p:sp>
      <p:sp>
        <p:nvSpPr>
          <p:cNvPr id="17" name="TextBox 17"/>
          <p:cNvSpPr txBox="1"/>
          <p:nvPr/>
        </p:nvSpPr>
        <p:spPr>
          <a:xfrm>
            <a:off x="1689100" y="2971800"/>
            <a:ext cx="2565400" cy="901700"/>
          </a:xfrm>
          <a:prstGeom prst="rect">
            <a:avLst/>
          </a:prstGeom>
          <a:solidFill>
            <a:srgbClr val="000000">
              <a:alpha val="0"/>
            </a:srgbClr>
          </a:solidFill>
        </p:spPr>
        <p:txBody>
          <a:bodyPr lIns="0" tIns="0" rIns="0" bIns="0" rtlCol="0" anchor="ctr"/>
          <a:lstStyle/>
          <a:p>
            <a:pPr indent="0" algn="l">
              <a:lnSpc>
                <a:spcPct val="120000"/>
              </a:lnSpc>
              <a:defRPr/>
            </a:pPr>
            <a:r>
              <a:rPr lang="en-US" sz="2900" b="1">
                <a:solidFill>
                  <a:srgbClr val="000000"/>
                </a:solidFill>
                <a:latin typeface="Ubuntu"/>
              </a:rPr>
              <a:t>Detection vs. Audit</a:t>
            </a:r>
            <a:endParaRPr lang="en-US" sz="1100"/>
          </a:p>
        </p:txBody>
      </p:sp>
      <p:sp>
        <p:nvSpPr>
          <p:cNvPr id="18" name="TextBox 18"/>
          <p:cNvSpPr txBox="1"/>
          <p:nvPr/>
        </p:nvSpPr>
        <p:spPr>
          <a:xfrm>
            <a:off x="4775200" y="2971800"/>
            <a:ext cx="304800" cy="368300"/>
          </a:xfrm>
          <a:prstGeom prst="rect">
            <a:avLst/>
          </a:prstGeom>
          <a:solidFill>
            <a:srgbClr val="000000">
              <a:alpha val="0"/>
            </a:srgbClr>
          </a:solidFill>
        </p:spPr>
        <p:txBody>
          <a:bodyPr lIns="0" tIns="0" rIns="0" bIns="0" rtlCol="0" anchor="ctr"/>
          <a:lstStyle/>
          <a:p>
            <a:pPr indent="0" algn="l">
              <a:lnSpc>
                <a:spcPct val="120000"/>
              </a:lnSpc>
              <a:defRPr/>
            </a:pPr>
            <a:r>
              <a:rPr lang="en-US" sz="2400" b="1">
                <a:solidFill>
                  <a:srgbClr val="000000"/>
                </a:solidFill>
                <a:highlight>
                  <a:srgbClr val="000000">
                    <a:alpha val="0"/>
                  </a:srgbClr>
                </a:highlight>
                <a:latin typeface="Ubuntu"/>
              </a:rPr>
              <a:t>2</a:t>
            </a:r>
            <a:endParaRPr lang="en-US" sz="1100"/>
          </a:p>
        </p:txBody>
      </p:sp>
      <p:sp>
        <p:nvSpPr>
          <p:cNvPr id="19" name="TextBox 19"/>
          <p:cNvSpPr txBox="1"/>
          <p:nvPr/>
        </p:nvSpPr>
        <p:spPr>
          <a:xfrm>
            <a:off x="5397500" y="2971800"/>
            <a:ext cx="2565400" cy="901700"/>
          </a:xfrm>
          <a:prstGeom prst="rect">
            <a:avLst/>
          </a:prstGeom>
          <a:solidFill>
            <a:srgbClr val="000000">
              <a:alpha val="0"/>
            </a:srgbClr>
          </a:solidFill>
        </p:spPr>
        <p:txBody>
          <a:bodyPr lIns="0" tIns="0" rIns="0" bIns="0" rtlCol="0" anchor="ctr"/>
          <a:lstStyle/>
          <a:p>
            <a:pPr indent="0" algn="l">
              <a:lnSpc>
                <a:spcPct val="120000"/>
              </a:lnSpc>
              <a:defRPr/>
            </a:pPr>
            <a:r>
              <a:rPr lang="en-US" sz="2900" b="1">
                <a:solidFill>
                  <a:srgbClr val="000000"/>
                </a:solidFill>
                <a:latin typeface="Ubuntu"/>
              </a:rPr>
              <a:t>SCADA Integration</a:t>
            </a:r>
            <a:endParaRPr lang="en-US" sz="1100"/>
          </a:p>
        </p:txBody>
      </p:sp>
      <p:sp>
        <p:nvSpPr>
          <p:cNvPr id="20" name="TextBox 20"/>
          <p:cNvSpPr txBox="1"/>
          <p:nvPr/>
        </p:nvSpPr>
        <p:spPr>
          <a:xfrm>
            <a:off x="8470900" y="2971800"/>
            <a:ext cx="304800" cy="368300"/>
          </a:xfrm>
          <a:prstGeom prst="rect">
            <a:avLst/>
          </a:prstGeom>
          <a:solidFill>
            <a:srgbClr val="000000">
              <a:alpha val="0"/>
            </a:srgbClr>
          </a:solidFill>
        </p:spPr>
        <p:txBody>
          <a:bodyPr lIns="0" tIns="0" rIns="0" bIns="0" rtlCol="0" anchor="ctr"/>
          <a:lstStyle/>
          <a:p>
            <a:pPr indent="0" algn="l">
              <a:lnSpc>
                <a:spcPct val="120000"/>
              </a:lnSpc>
              <a:defRPr/>
            </a:pPr>
            <a:r>
              <a:rPr lang="en-US" sz="2400" b="1">
                <a:solidFill>
                  <a:srgbClr val="000000"/>
                </a:solidFill>
                <a:highlight>
                  <a:srgbClr val="000000">
                    <a:alpha val="0"/>
                  </a:srgbClr>
                </a:highlight>
                <a:latin typeface="Ubuntu"/>
              </a:rPr>
              <a:t>3</a:t>
            </a:r>
            <a:endParaRPr lang="en-US" sz="1100"/>
          </a:p>
        </p:txBody>
      </p:sp>
      <p:sp>
        <p:nvSpPr>
          <p:cNvPr id="21" name="TextBox 21"/>
          <p:cNvSpPr txBox="1"/>
          <p:nvPr/>
        </p:nvSpPr>
        <p:spPr>
          <a:xfrm>
            <a:off x="9093200" y="2971800"/>
            <a:ext cx="2565400" cy="901700"/>
          </a:xfrm>
          <a:prstGeom prst="rect">
            <a:avLst/>
          </a:prstGeom>
          <a:solidFill>
            <a:srgbClr val="000000">
              <a:alpha val="0"/>
            </a:srgbClr>
          </a:solidFill>
        </p:spPr>
        <p:txBody>
          <a:bodyPr lIns="0" tIns="0" rIns="0" bIns="0" rtlCol="0" anchor="ctr"/>
          <a:lstStyle/>
          <a:p>
            <a:pPr indent="0" algn="l">
              <a:lnSpc>
                <a:spcPct val="120000"/>
              </a:lnSpc>
              <a:defRPr/>
            </a:pPr>
            <a:r>
              <a:rPr lang="en-US" sz="2900" b="1">
                <a:solidFill>
                  <a:srgbClr val="000000"/>
                </a:solidFill>
                <a:latin typeface="Ubuntu"/>
              </a:rPr>
              <a:t>Operator Visualization</a:t>
            </a:r>
            <a:endParaRPr lang="en-US" sz="1100"/>
          </a:p>
        </p:txBody>
      </p:sp>
      <p:sp>
        <p:nvSpPr>
          <p:cNvPr id="22" name="TextBox 22"/>
          <p:cNvSpPr txBox="1"/>
          <p:nvPr/>
        </p:nvSpPr>
        <p:spPr>
          <a:xfrm>
            <a:off x="12179300" y="2971800"/>
            <a:ext cx="304800" cy="368300"/>
          </a:xfrm>
          <a:prstGeom prst="rect">
            <a:avLst/>
          </a:prstGeom>
          <a:solidFill>
            <a:srgbClr val="000000">
              <a:alpha val="0"/>
            </a:srgbClr>
          </a:solidFill>
        </p:spPr>
        <p:txBody>
          <a:bodyPr lIns="0" tIns="0" rIns="0" bIns="0" rtlCol="0" anchor="ctr"/>
          <a:lstStyle/>
          <a:p>
            <a:pPr indent="0" algn="l">
              <a:lnSpc>
                <a:spcPct val="120000"/>
              </a:lnSpc>
              <a:defRPr/>
            </a:pPr>
            <a:r>
              <a:rPr lang="en-US" sz="2400" b="1">
                <a:solidFill>
                  <a:srgbClr val="000000"/>
                </a:solidFill>
                <a:highlight>
                  <a:srgbClr val="000000">
                    <a:alpha val="0"/>
                  </a:srgbClr>
                </a:highlight>
                <a:latin typeface="Ubuntu"/>
              </a:rPr>
              <a:t>4</a:t>
            </a:r>
            <a:endParaRPr lang="en-US" sz="1100"/>
          </a:p>
        </p:txBody>
      </p:sp>
      <p:sp>
        <p:nvSpPr>
          <p:cNvPr id="23" name="TextBox 23"/>
          <p:cNvSpPr txBox="1"/>
          <p:nvPr/>
        </p:nvSpPr>
        <p:spPr>
          <a:xfrm>
            <a:off x="12801600" y="2971800"/>
            <a:ext cx="2565400" cy="1358900"/>
          </a:xfrm>
          <a:prstGeom prst="rect">
            <a:avLst/>
          </a:prstGeom>
          <a:solidFill>
            <a:srgbClr val="000000">
              <a:alpha val="0"/>
            </a:srgbClr>
          </a:solidFill>
        </p:spPr>
        <p:txBody>
          <a:bodyPr lIns="0" tIns="0" rIns="0" bIns="0" rtlCol="0" anchor="ctr"/>
          <a:lstStyle/>
          <a:p>
            <a:pPr indent="0" algn="l">
              <a:lnSpc>
                <a:spcPct val="120000"/>
              </a:lnSpc>
              <a:defRPr/>
            </a:pPr>
            <a:r>
              <a:rPr lang="en-US" sz="2900" b="1">
                <a:solidFill>
                  <a:srgbClr val="000000"/>
                </a:solidFill>
                <a:latin typeface="Ubuntu"/>
              </a:rPr>
              <a:t>Experimental vs Operational</a:t>
            </a:r>
            <a:endParaRPr lang="en-US" sz="1100"/>
          </a:p>
        </p:txBody>
      </p:sp>
      <p:sp>
        <p:nvSpPr>
          <p:cNvPr id="24" name="TextBox 24"/>
          <p:cNvSpPr txBox="1"/>
          <p:nvPr/>
        </p:nvSpPr>
        <p:spPr>
          <a:xfrm>
            <a:off x="1066800" y="6743700"/>
            <a:ext cx="304800" cy="368300"/>
          </a:xfrm>
          <a:prstGeom prst="rect">
            <a:avLst/>
          </a:prstGeom>
          <a:solidFill>
            <a:srgbClr val="000000">
              <a:alpha val="0"/>
            </a:srgbClr>
          </a:solidFill>
        </p:spPr>
        <p:txBody>
          <a:bodyPr lIns="0" tIns="0" rIns="0" bIns="0" rtlCol="0" anchor="ctr"/>
          <a:lstStyle/>
          <a:p>
            <a:pPr indent="0" algn="l">
              <a:lnSpc>
                <a:spcPct val="120000"/>
              </a:lnSpc>
              <a:defRPr/>
            </a:pPr>
            <a:r>
              <a:rPr lang="en-US" sz="2400" b="1">
                <a:solidFill>
                  <a:srgbClr val="000000"/>
                </a:solidFill>
                <a:highlight>
                  <a:srgbClr val="000000">
                    <a:alpha val="0"/>
                  </a:srgbClr>
                </a:highlight>
                <a:latin typeface="Ubuntu"/>
              </a:rPr>
              <a:t>5</a:t>
            </a:r>
            <a:endParaRPr lang="en-US" sz="1100"/>
          </a:p>
        </p:txBody>
      </p:sp>
      <p:sp>
        <p:nvSpPr>
          <p:cNvPr id="25" name="TextBox 25"/>
          <p:cNvSpPr txBox="1"/>
          <p:nvPr/>
        </p:nvSpPr>
        <p:spPr>
          <a:xfrm>
            <a:off x="1689100" y="6731000"/>
            <a:ext cx="13665200" cy="444500"/>
          </a:xfrm>
          <a:prstGeom prst="rect">
            <a:avLst/>
          </a:prstGeom>
          <a:solidFill>
            <a:srgbClr val="000000">
              <a:alpha val="0"/>
            </a:srgbClr>
          </a:solidFill>
        </p:spPr>
        <p:txBody>
          <a:bodyPr lIns="0" tIns="0" rIns="0" bIns="0" rtlCol="0" anchor="ctr"/>
          <a:lstStyle/>
          <a:p>
            <a:pPr indent="0" algn="l">
              <a:lnSpc>
                <a:spcPct val="120000"/>
              </a:lnSpc>
              <a:defRPr/>
            </a:pPr>
            <a:r>
              <a:rPr lang="en-US" sz="2900" b="1">
                <a:solidFill>
                  <a:srgbClr val="000000"/>
                </a:solidFill>
                <a:latin typeface="Ubuntu"/>
              </a:rPr>
              <a:t>Deployment Engineering</a:t>
            </a:r>
            <a:endParaRPr lang="en-US" sz="1100"/>
          </a:p>
        </p:txBody>
      </p:sp>
      <p:sp>
        <p:nvSpPr>
          <p:cNvPr id="26" name="TextBox 26"/>
          <p:cNvSpPr txBox="1"/>
          <p:nvPr/>
        </p:nvSpPr>
        <p:spPr>
          <a:xfrm>
            <a:off x="1689100" y="4051300"/>
            <a:ext cx="2565400" cy="1511300"/>
          </a:xfrm>
          <a:prstGeom prst="rect">
            <a:avLst/>
          </a:prstGeom>
          <a:solidFill>
            <a:srgbClr val="000000">
              <a:alpha val="0"/>
            </a:srgbClr>
          </a:solidFill>
        </p:spPr>
        <p:txBody>
          <a:bodyPr lIns="0" tIns="0" rIns="0" bIns="0" rtlCol="0" anchor="ctr"/>
          <a:lstStyle/>
          <a:p>
            <a:pPr indent="0" algn="l">
              <a:lnSpc>
                <a:spcPct val="150000"/>
              </a:lnSpc>
              <a:defRPr/>
            </a:pPr>
            <a:r>
              <a:rPr lang="en-US" sz="1900" b="1">
                <a:solidFill>
                  <a:srgbClr val="000000"/>
                </a:solidFill>
                <a:latin typeface="Poppins"/>
              </a:rPr>
              <a:t>Most works focus on detection accuracy without audit allocation</a:t>
            </a:r>
            <a:endParaRPr lang="en-US" sz="1100"/>
          </a:p>
        </p:txBody>
      </p:sp>
      <p:sp>
        <p:nvSpPr>
          <p:cNvPr id="27" name="TextBox 27"/>
          <p:cNvSpPr txBox="1"/>
          <p:nvPr/>
        </p:nvSpPr>
        <p:spPr>
          <a:xfrm>
            <a:off x="5397500" y="4051300"/>
            <a:ext cx="2565400" cy="1130300"/>
          </a:xfrm>
          <a:prstGeom prst="rect">
            <a:avLst/>
          </a:prstGeom>
          <a:solidFill>
            <a:srgbClr val="000000">
              <a:alpha val="0"/>
            </a:srgbClr>
          </a:solidFill>
        </p:spPr>
        <p:txBody>
          <a:bodyPr lIns="0" tIns="0" rIns="0" bIns="0" rtlCol="0" anchor="ctr"/>
          <a:lstStyle/>
          <a:p>
            <a:pPr indent="0" algn="l">
              <a:lnSpc>
                <a:spcPct val="150000"/>
              </a:lnSpc>
              <a:defRPr/>
            </a:pPr>
            <a:r>
              <a:rPr lang="en-US" sz="1900" b="1">
                <a:solidFill>
                  <a:srgbClr val="000000"/>
                </a:solidFill>
                <a:latin typeface="Poppins"/>
              </a:rPr>
              <a:t>Limited live SCADA integration in existing frameworks</a:t>
            </a:r>
            <a:endParaRPr lang="en-US" sz="1100"/>
          </a:p>
        </p:txBody>
      </p:sp>
      <p:sp>
        <p:nvSpPr>
          <p:cNvPr id="28" name="TextBox 28"/>
          <p:cNvSpPr txBox="1"/>
          <p:nvPr/>
        </p:nvSpPr>
        <p:spPr>
          <a:xfrm>
            <a:off x="9093200" y="4051300"/>
            <a:ext cx="2565400" cy="1511300"/>
          </a:xfrm>
          <a:prstGeom prst="rect">
            <a:avLst/>
          </a:prstGeom>
          <a:solidFill>
            <a:srgbClr val="000000">
              <a:alpha val="0"/>
            </a:srgbClr>
          </a:solidFill>
        </p:spPr>
        <p:txBody>
          <a:bodyPr lIns="0" tIns="0" rIns="0" bIns="0" rtlCol="0" anchor="ctr"/>
          <a:lstStyle/>
          <a:p>
            <a:pPr indent="0" algn="l">
              <a:lnSpc>
                <a:spcPct val="150000"/>
              </a:lnSpc>
              <a:defRPr/>
            </a:pPr>
            <a:r>
              <a:rPr lang="en-US" sz="1900" b="1">
                <a:solidFill>
                  <a:srgbClr val="000000"/>
                </a:solidFill>
                <a:latin typeface="Poppins"/>
              </a:rPr>
              <a:t>Insufficient operator-facing visualization and explainability</a:t>
            </a:r>
            <a:endParaRPr lang="en-US" sz="1100"/>
          </a:p>
        </p:txBody>
      </p:sp>
      <p:sp>
        <p:nvSpPr>
          <p:cNvPr id="29" name="TextBox 29"/>
          <p:cNvSpPr txBox="1"/>
          <p:nvPr/>
        </p:nvSpPr>
        <p:spPr>
          <a:xfrm>
            <a:off x="12801600" y="4508500"/>
            <a:ext cx="2565400" cy="1511300"/>
          </a:xfrm>
          <a:prstGeom prst="rect">
            <a:avLst/>
          </a:prstGeom>
          <a:solidFill>
            <a:srgbClr val="000000">
              <a:alpha val="0"/>
            </a:srgbClr>
          </a:solidFill>
        </p:spPr>
        <p:txBody>
          <a:bodyPr lIns="0" tIns="0" rIns="0" bIns="0" rtlCol="0" anchor="ctr"/>
          <a:lstStyle/>
          <a:p>
            <a:pPr indent="0" algn="l">
              <a:lnSpc>
                <a:spcPct val="150000"/>
              </a:lnSpc>
              <a:defRPr/>
            </a:pPr>
            <a:r>
              <a:rPr lang="en-US" sz="1900" b="1">
                <a:solidFill>
                  <a:srgbClr val="000000"/>
                </a:solidFill>
                <a:latin typeface="Poppins"/>
              </a:rPr>
              <a:t>Lack of separation between experimental and operational modes</a:t>
            </a:r>
            <a:endParaRPr lang="en-US" sz="1100"/>
          </a:p>
        </p:txBody>
      </p:sp>
      <p:sp>
        <p:nvSpPr>
          <p:cNvPr id="30" name="TextBox 30"/>
          <p:cNvSpPr txBox="1"/>
          <p:nvPr/>
        </p:nvSpPr>
        <p:spPr>
          <a:xfrm>
            <a:off x="1689100" y="7366000"/>
            <a:ext cx="13665200" cy="368300"/>
          </a:xfrm>
          <a:prstGeom prst="rect">
            <a:avLst/>
          </a:prstGeom>
          <a:solidFill>
            <a:srgbClr val="000000">
              <a:alpha val="0"/>
            </a:srgbClr>
          </a:solidFill>
        </p:spPr>
        <p:txBody>
          <a:bodyPr lIns="0" tIns="0" rIns="0" bIns="0" rtlCol="0" anchor="ctr"/>
          <a:lstStyle/>
          <a:p>
            <a:pPr indent="0" algn="l">
              <a:lnSpc>
                <a:spcPct val="150000"/>
              </a:lnSpc>
              <a:defRPr/>
            </a:pPr>
            <a:r>
              <a:rPr lang="en-US" sz="1900" b="1">
                <a:solidFill>
                  <a:srgbClr val="000000"/>
                </a:solidFill>
                <a:latin typeface="Poppins"/>
              </a:rPr>
              <a:t>Need for deployment-oriented engineering with honest telemetry provenance</a:t>
            </a:r>
            <a:endParaRPr lang="en-US" sz="11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16256000" cy="9144000"/>
          </a:xfrm>
          <a:prstGeom prst="rect">
            <a:avLst/>
          </a:prstGeom>
          <a:solidFill>
            <a:srgbClr val="0D0A2C">
              <a:alpha val="74902"/>
            </a:srgbClr>
          </a:solidFill>
        </p:spPr>
      </p:sp>
      <p:pic>
        <p:nvPicPr>
          <p:cNvPr id="3" name="Picture 3"/>
          <p:cNvPicPr>
            <a:picLocks noChangeAspect="1"/>
          </p:cNvPicPr>
          <p:nvPr/>
        </p:nvPicPr>
        <p:blipFill>
          <a:blip r:embed="rId2"/>
          <a:srcRect t="56" b="56"/>
          <a:stretch>
            <a:fillRect/>
          </a:stretch>
        </p:blipFill>
        <p:spPr>
          <a:xfrm>
            <a:off x="0" y="0"/>
            <a:ext cx="16256000" cy="9144000"/>
          </a:xfrm>
          <a:prstGeom prst="rect">
            <a:avLst/>
          </a:prstGeom>
        </p:spPr>
      </p:pic>
      <p:sp>
        <p:nvSpPr>
          <p:cNvPr id="4" name="AutoShape 4"/>
          <p:cNvSpPr/>
          <p:nvPr/>
        </p:nvSpPr>
        <p:spPr>
          <a:xfrm>
            <a:off x="876300" y="1930400"/>
            <a:ext cx="14490700" cy="6578600"/>
          </a:xfrm>
          <a:prstGeom prst="rect">
            <a:avLst/>
          </a:prstGeom>
          <a:solidFill>
            <a:srgbClr val="000000">
              <a:alpha val="0"/>
            </a:srgbClr>
          </a:solidFill>
        </p:spPr>
      </p:sp>
      <p:sp>
        <p:nvSpPr>
          <p:cNvPr id="5" name="AutoShape 5"/>
          <p:cNvSpPr/>
          <p:nvPr/>
        </p:nvSpPr>
        <p:spPr>
          <a:xfrm>
            <a:off x="876300" y="1930400"/>
            <a:ext cx="4660900" cy="3683000"/>
          </a:xfrm>
          <a:prstGeom prst="roundRect">
            <a:avLst>
              <a:gd name="adj" fmla="val 2068"/>
            </a:avLst>
          </a:prstGeom>
          <a:solidFill>
            <a:srgbClr val="D1D1D1">
              <a:alpha val="71765"/>
            </a:srgbClr>
          </a:solidFill>
        </p:spPr>
      </p:sp>
      <p:sp>
        <p:nvSpPr>
          <p:cNvPr id="6" name="AutoShape 6"/>
          <p:cNvSpPr/>
          <p:nvPr/>
        </p:nvSpPr>
        <p:spPr>
          <a:xfrm>
            <a:off x="5791200" y="1930400"/>
            <a:ext cx="4660900" cy="3683000"/>
          </a:xfrm>
          <a:prstGeom prst="roundRect">
            <a:avLst>
              <a:gd name="adj" fmla="val 2068"/>
            </a:avLst>
          </a:prstGeom>
          <a:solidFill>
            <a:srgbClr val="D1D1D1">
              <a:alpha val="71765"/>
            </a:srgbClr>
          </a:solidFill>
        </p:spPr>
      </p:sp>
      <p:sp>
        <p:nvSpPr>
          <p:cNvPr id="7" name="AutoShape 7"/>
          <p:cNvSpPr/>
          <p:nvPr/>
        </p:nvSpPr>
        <p:spPr>
          <a:xfrm>
            <a:off x="10706100" y="1930400"/>
            <a:ext cx="4660900" cy="3683000"/>
          </a:xfrm>
          <a:prstGeom prst="roundRect">
            <a:avLst>
              <a:gd name="adj" fmla="val 2068"/>
            </a:avLst>
          </a:prstGeom>
          <a:solidFill>
            <a:srgbClr val="D1D1D1">
              <a:alpha val="71765"/>
            </a:srgbClr>
          </a:solidFill>
        </p:spPr>
      </p:sp>
      <p:sp>
        <p:nvSpPr>
          <p:cNvPr id="8" name="AutoShape 8"/>
          <p:cNvSpPr/>
          <p:nvPr/>
        </p:nvSpPr>
        <p:spPr>
          <a:xfrm>
            <a:off x="876300" y="5842000"/>
            <a:ext cx="7112000" cy="2679700"/>
          </a:xfrm>
          <a:prstGeom prst="roundRect">
            <a:avLst>
              <a:gd name="adj" fmla="val 2843"/>
            </a:avLst>
          </a:prstGeom>
          <a:solidFill>
            <a:srgbClr val="D1D1D1">
              <a:alpha val="71765"/>
            </a:srgbClr>
          </a:solidFill>
        </p:spPr>
      </p:sp>
      <p:sp>
        <p:nvSpPr>
          <p:cNvPr id="9" name="AutoShape 9"/>
          <p:cNvSpPr/>
          <p:nvPr/>
        </p:nvSpPr>
        <p:spPr>
          <a:xfrm>
            <a:off x="8242300" y="5842000"/>
            <a:ext cx="7112000" cy="2679700"/>
          </a:xfrm>
          <a:prstGeom prst="roundRect">
            <a:avLst>
              <a:gd name="adj" fmla="val 2843"/>
            </a:avLst>
          </a:prstGeom>
          <a:solidFill>
            <a:srgbClr val="D1D1D1">
              <a:alpha val="71765"/>
            </a:srgbClr>
          </a:solidFill>
        </p:spPr>
      </p:sp>
      <p:sp>
        <p:nvSpPr>
          <p:cNvPr id="10" name="TextBox 10"/>
          <p:cNvSpPr txBox="1"/>
          <p:nvPr/>
        </p:nvSpPr>
        <p:spPr>
          <a:xfrm>
            <a:off x="876300" y="609600"/>
            <a:ext cx="14490700" cy="1066800"/>
          </a:xfrm>
          <a:prstGeom prst="rect">
            <a:avLst/>
          </a:prstGeom>
          <a:solidFill>
            <a:srgbClr val="000000">
              <a:alpha val="0"/>
            </a:srgbClr>
          </a:solidFill>
        </p:spPr>
        <p:txBody>
          <a:bodyPr lIns="0" tIns="0" rIns="0" bIns="0" rtlCol="0" anchor="ctr"/>
          <a:lstStyle/>
          <a:p>
            <a:pPr indent="0" algn="l">
              <a:lnSpc>
                <a:spcPct val="120000"/>
              </a:lnSpc>
              <a:defRPr/>
            </a:pPr>
            <a:r>
              <a:rPr lang="en-US" sz="3500" b="1">
                <a:solidFill>
                  <a:srgbClr val="000000"/>
                </a:solidFill>
                <a:latin typeface="Ubuntu"/>
              </a:rPr>
              <a:t>Base Paper: AI-Driven Audit Framework for Distributed Smart Grids</a:t>
            </a:r>
            <a:endParaRPr lang="en-US" sz="1100"/>
          </a:p>
        </p:txBody>
      </p:sp>
      <p:sp>
        <p:nvSpPr>
          <p:cNvPr id="11" name="TextBox 11"/>
          <p:cNvSpPr txBox="1"/>
          <p:nvPr/>
        </p:nvSpPr>
        <p:spPr>
          <a:xfrm>
            <a:off x="1130300" y="2159000"/>
            <a:ext cx="4152900" cy="393700"/>
          </a:xfrm>
          <a:prstGeom prst="rect">
            <a:avLst/>
          </a:prstGeom>
          <a:solidFill>
            <a:srgbClr val="000000">
              <a:alpha val="0"/>
            </a:srgbClr>
          </a:solidFill>
        </p:spPr>
        <p:txBody>
          <a:bodyPr lIns="0" tIns="0" rIns="0" bIns="0" rtlCol="0" anchor="ctr"/>
          <a:lstStyle/>
          <a:p>
            <a:pPr indent="0" algn="l">
              <a:lnSpc>
                <a:spcPct val="120000"/>
              </a:lnSpc>
              <a:defRPr/>
            </a:pPr>
            <a:r>
              <a:rPr lang="en-US" sz="2600" b="1">
                <a:solidFill>
                  <a:srgbClr val="000000"/>
                </a:solidFill>
                <a:latin typeface="Ubuntu"/>
              </a:rPr>
              <a:t>Priyadarsini (2025)</a:t>
            </a:r>
            <a:endParaRPr lang="en-US" sz="1100"/>
          </a:p>
        </p:txBody>
      </p:sp>
      <p:sp>
        <p:nvSpPr>
          <p:cNvPr id="12" name="TextBox 12"/>
          <p:cNvSpPr txBox="1"/>
          <p:nvPr/>
        </p:nvSpPr>
        <p:spPr>
          <a:xfrm>
            <a:off x="6045200" y="2159000"/>
            <a:ext cx="4152900" cy="393700"/>
          </a:xfrm>
          <a:prstGeom prst="rect">
            <a:avLst/>
          </a:prstGeom>
          <a:solidFill>
            <a:srgbClr val="000000">
              <a:alpha val="0"/>
            </a:srgbClr>
          </a:solidFill>
        </p:spPr>
        <p:txBody>
          <a:bodyPr lIns="0" tIns="0" rIns="0" bIns="0" rtlCol="0" anchor="ctr"/>
          <a:lstStyle/>
          <a:p>
            <a:pPr indent="0" algn="l">
              <a:lnSpc>
                <a:spcPct val="120000"/>
              </a:lnSpc>
              <a:defRPr/>
            </a:pPr>
            <a:r>
              <a:rPr lang="en-US" sz="2600" b="1">
                <a:solidFill>
                  <a:srgbClr val="000000"/>
                </a:solidFill>
                <a:latin typeface="Ubuntu"/>
              </a:rPr>
              <a:t>Multi-Agent Grid</a:t>
            </a:r>
            <a:endParaRPr lang="en-US" sz="1100"/>
          </a:p>
        </p:txBody>
      </p:sp>
      <p:sp>
        <p:nvSpPr>
          <p:cNvPr id="13" name="TextBox 13"/>
          <p:cNvSpPr txBox="1"/>
          <p:nvPr/>
        </p:nvSpPr>
        <p:spPr>
          <a:xfrm>
            <a:off x="10960100" y="2159000"/>
            <a:ext cx="4152900" cy="393700"/>
          </a:xfrm>
          <a:prstGeom prst="rect">
            <a:avLst/>
          </a:prstGeom>
          <a:solidFill>
            <a:srgbClr val="000000">
              <a:alpha val="0"/>
            </a:srgbClr>
          </a:solidFill>
        </p:spPr>
        <p:txBody>
          <a:bodyPr lIns="0" tIns="0" rIns="0" bIns="0" rtlCol="0" anchor="ctr"/>
          <a:lstStyle/>
          <a:p>
            <a:pPr indent="0" algn="l">
              <a:lnSpc>
                <a:spcPct val="120000"/>
              </a:lnSpc>
              <a:defRPr/>
            </a:pPr>
            <a:r>
              <a:rPr lang="en-US" sz="2600" b="1">
                <a:solidFill>
                  <a:srgbClr val="000000"/>
                </a:solidFill>
                <a:latin typeface="Ubuntu"/>
              </a:rPr>
              <a:t>Reported Metrics</a:t>
            </a:r>
            <a:endParaRPr lang="en-US" sz="1100"/>
          </a:p>
        </p:txBody>
      </p:sp>
      <p:sp>
        <p:nvSpPr>
          <p:cNvPr id="14" name="TextBox 14"/>
          <p:cNvSpPr txBox="1"/>
          <p:nvPr/>
        </p:nvSpPr>
        <p:spPr>
          <a:xfrm>
            <a:off x="1130300" y="6070600"/>
            <a:ext cx="6604000" cy="393700"/>
          </a:xfrm>
          <a:prstGeom prst="rect">
            <a:avLst/>
          </a:prstGeom>
          <a:solidFill>
            <a:srgbClr val="000000">
              <a:alpha val="0"/>
            </a:srgbClr>
          </a:solidFill>
        </p:spPr>
        <p:txBody>
          <a:bodyPr lIns="0" tIns="0" rIns="0" bIns="0" rtlCol="0" anchor="ctr"/>
          <a:lstStyle/>
          <a:p>
            <a:pPr indent="0" algn="l">
              <a:lnSpc>
                <a:spcPct val="120000"/>
              </a:lnSpc>
              <a:defRPr/>
            </a:pPr>
            <a:r>
              <a:rPr lang="en-US" sz="2600" b="1">
                <a:solidFill>
                  <a:srgbClr val="000000"/>
                </a:solidFill>
                <a:latin typeface="Ubuntu"/>
              </a:rPr>
              <a:t>Conceptual Foundation</a:t>
            </a:r>
            <a:endParaRPr lang="en-US" sz="1100"/>
          </a:p>
        </p:txBody>
      </p:sp>
      <p:sp>
        <p:nvSpPr>
          <p:cNvPr id="15" name="TextBox 15"/>
          <p:cNvSpPr txBox="1"/>
          <p:nvPr/>
        </p:nvSpPr>
        <p:spPr>
          <a:xfrm>
            <a:off x="8496300" y="6070600"/>
            <a:ext cx="6604000" cy="393700"/>
          </a:xfrm>
          <a:prstGeom prst="rect">
            <a:avLst/>
          </a:prstGeom>
          <a:solidFill>
            <a:srgbClr val="000000">
              <a:alpha val="0"/>
            </a:srgbClr>
          </a:solidFill>
        </p:spPr>
        <p:txBody>
          <a:bodyPr lIns="0" tIns="0" rIns="0" bIns="0" rtlCol="0" anchor="ctr"/>
          <a:lstStyle/>
          <a:p>
            <a:pPr indent="0" algn="l">
              <a:lnSpc>
                <a:spcPct val="120000"/>
              </a:lnSpc>
              <a:defRPr/>
            </a:pPr>
            <a:r>
              <a:rPr lang="en-US" sz="2600" b="1">
                <a:solidFill>
                  <a:srgbClr val="000000"/>
                </a:solidFill>
                <a:latin typeface="Ubuntu"/>
              </a:rPr>
              <a:t>Simulation Focus</a:t>
            </a:r>
            <a:endParaRPr lang="en-US" sz="1100"/>
          </a:p>
        </p:txBody>
      </p:sp>
      <p:sp>
        <p:nvSpPr>
          <p:cNvPr id="16" name="TextBox 16"/>
          <p:cNvSpPr txBox="1"/>
          <p:nvPr/>
        </p:nvSpPr>
        <p:spPr>
          <a:xfrm>
            <a:off x="1130300" y="2717800"/>
            <a:ext cx="4152900" cy="2679700"/>
          </a:xfrm>
          <a:prstGeom prst="rect">
            <a:avLst/>
          </a:prstGeom>
          <a:solidFill>
            <a:srgbClr val="000000">
              <a:alpha val="0"/>
            </a:srgbClr>
          </a:solidFill>
        </p:spPr>
        <p:txBody>
          <a:bodyPr lIns="0" tIns="0" rIns="0" bIns="0" rtlCol="0" anchor="ctr"/>
          <a:lstStyle/>
          <a:p>
            <a:pPr indent="0" algn="l">
              <a:lnSpc>
                <a:spcPct val="150000"/>
              </a:lnSpc>
              <a:defRPr/>
            </a:pPr>
            <a:r>
              <a:rPr lang="en-US" sz="1700" b="1">
                <a:solidFill>
                  <a:srgbClr val="000000"/>
                </a:solidFill>
                <a:latin typeface="Poppins"/>
              </a:rPr>
              <a:t>The paper by Priyadarsini (2025) establishes a clear linkage between anomaly detection outputs and subsequent audit optimization, proposing algorithms that translate detections into prioritized audit tasks.</a:t>
            </a:r>
            <a:endParaRPr lang="en-US" sz="1100"/>
          </a:p>
        </p:txBody>
      </p:sp>
      <p:sp>
        <p:nvSpPr>
          <p:cNvPr id="17" name="TextBox 17"/>
          <p:cNvSpPr txBox="1"/>
          <p:nvPr/>
        </p:nvSpPr>
        <p:spPr>
          <a:xfrm>
            <a:off x="6045200" y="2717800"/>
            <a:ext cx="4152900" cy="2336800"/>
          </a:xfrm>
          <a:prstGeom prst="rect">
            <a:avLst/>
          </a:prstGeom>
          <a:solidFill>
            <a:srgbClr val="000000">
              <a:alpha val="0"/>
            </a:srgbClr>
          </a:solidFill>
        </p:spPr>
        <p:txBody>
          <a:bodyPr lIns="0" tIns="0" rIns="0" bIns="0" rtlCol="0" anchor="ctr"/>
          <a:lstStyle/>
          <a:p>
            <a:pPr indent="0" algn="l">
              <a:lnSpc>
                <a:spcPct val="150000"/>
              </a:lnSpc>
              <a:defRPr/>
            </a:pPr>
            <a:r>
              <a:rPr lang="en-US" sz="1700" b="1">
                <a:solidFill>
                  <a:srgbClr val="000000"/>
                </a:solidFill>
                <a:latin typeface="Poppins"/>
              </a:rPr>
              <a:t>Describes a multi-agent smart grid architecture that supports dynamic adjustment of audit resources, enabling agents to reallocate inspections in response to evolving anomaly likelihoods and constraints.</a:t>
            </a:r>
            <a:endParaRPr lang="en-US" sz="1100"/>
          </a:p>
        </p:txBody>
      </p:sp>
      <p:sp>
        <p:nvSpPr>
          <p:cNvPr id="18" name="TextBox 18"/>
          <p:cNvSpPr txBox="1"/>
          <p:nvPr/>
        </p:nvSpPr>
        <p:spPr>
          <a:xfrm>
            <a:off x="10960100" y="2717800"/>
            <a:ext cx="4152900" cy="2336800"/>
          </a:xfrm>
          <a:prstGeom prst="rect">
            <a:avLst/>
          </a:prstGeom>
          <a:solidFill>
            <a:srgbClr val="000000">
              <a:alpha val="0"/>
            </a:srgbClr>
          </a:solidFill>
        </p:spPr>
        <p:txBody>
          <a:bodyPr lIns="0" tIns="0" rIns="0" bIns="0" rtlCol="0" anchor="ctr"/>
          <a:lstStyle/>
          <a:p>
            <a:pPr indent="0" algn="l">
              <a:lnSpc>
                <a:spcPct val="150000"/>
              </a:lnSpc>
              <a:defRPr/>
            </a:pPr>
            <a:r>
              <a:rPr lang="en-US" sz="1700" b="1">
                <a:solidFill>
                  <a:srgbClr val="000000"/>
                </a:solidFill>
                <a:latin typeface="Poppins"/>
              </a:rPr>
              <a:t>Key reported performance metrics include Cost at 42.5%, Coverage at 93.8%, Accuracy at 98.4%, and Risk Mitigation at 87.9%, demonstrating strong simulated effectiveness across objectives.</a:t>
            </a:r>
            <a:endParaRPr lang="en-US" sz="1100"/>
          </a:p>
        </p:txBody>
      </p:sp>
      <p:sp>
        <p:nvSpPr>
          <p:cNvPr id="19" name="TextBox 19"/>
          <p:cNvSpPr txBox="1"/>
          <p:nvPr/>
        </p:nvSpPr>
        <p:spPr>
          <a:xfrm>
            <a:off x="1130300" y="6629400"/>
            <a:ext cx="6604000" cy="1663700"/>
          </a:xfrm>
          <a:prstGeom prst="rect">
            <a:avLst/>
          </a:prstGeom>
          <a:solidFill>
            <a:srgbClr val="000000">
              <a:alpha val="0"/>
            </a:srgbClr>
          </a:solidFill>
        </p:spPr>
        <p:txBody>
          <a:bodyPr lIns="0" tIns="0" rIns="0" bIns="0" rtlCol="0" anchor="ctr"/>
          <a:lstStyle/>
          <a:p>
            <a:pPr indent="0" algn="l">
              <a:lnSpc>
                <a:spcPct val="150000"/>
              </a:lnSpc>
              <a:defRPr/>
            </a:pPr>
            <a:r>
              <a:rPr lang="en-US" sz="1700" b="1">
                <a:solidFill>
                  <a:srgbClr val="000000"/>
                </a:solidFill>
                <a:latin typeface="Poppins"/>
              </a:rPr>
              <a:t>Presents a strong conceptual foundation that systematically connects anomaly detection signals with audit planning decisions, offering theoretical justification and formal mappings between components.</a:t>
            </a:r>
            <a:endParaRPr lang="en-US" sz="1100"/>
          </a:p>
        </p:txBody>
      </p:sp>
      <p:sp>
        <p:nvSpPr>
          <p:cNvPr id="20" name="TextBox 20"/>
          <p:cNvSpPr txBox="1"/>
          <p:nvPr/>
        </p:nvSpPr>
        <p:spPr>
          <a:xfrm>
            <a:off x="8496300" y="6629400"/>
            <a:ext cx="6604000" cy="1333500"/>
          </a:xfrm>
          <a:prstGeom prst="rect">
            <a:avLst/>
          </a:prstGeom>
          <a:solidFill>
            <a:srgbClr val="000000">
              <a:alpha val="0"/>
            </a:srgbClr>
          </a:solidFill>
        </p:spPr>
        <p:txBody>
          <a:bodyPr lIns="0" tIns="0" rIns="0" bIns="0" rtlCol="0" anchor="ctr"/>
          <a:lstStyle/>
          <a:p>
            <a:pPr indent="0" algn="l">
              <a:lnSpc>
                <a:spcPct val="150000"/>
              </a:lnSpc>
              <a:defRPr/>
            </a:pPr>
            <a:r>
              <a:rPr lang="en-US" sz="1700" b="1">
                <a:solidFill>
                  <a:srgbClr val="000000"/>
                </a:solidFill>
                <a:latin typeface="Poppins"/>
              </a:rPr>
              <a:t>The work is primarily simulation-oriented and does not include deployment with live SCADA systems, emphasizing modeling and synthetic experiments rather than field implementation.</a:t>
            </a:r>
            <a:endParaRPr lang="en-US" sz="11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16256000" cy="9144000"/>
          </a:xfrm>
          <a:prstGeom prst="rect">
            <a:avLst/>
          </a:prstGeom>
          <a:solidFill>
            <a:srgbClr val="0D0A2C">
              <a:alpha val="74902"/>
            </a:srgbClr>
          </a:solidFill>
        </p:spPr>
      </p:sp>
      <p:pic>
        <p:nvPicPr>
          <p:cNvPr id="3" name="Picture 3"/>
          <p:cNvPicPr>
            <a:picLocks noChangeAspect="1"/>
          </p:cNvPicPr>
          <p:nvPr/>
        </p:nvPicPr>
        <p:blipFill>
          <a:blip r:embed="rId2"/>
          <a:srcRect t="56" b="56"/>
          <a:stretch>
            <a:fillRect/>
          </a:stretch>
        </p:blipFill>
        <p:spPr>
          <a:xfrm>
            <a:off x="0" y="0"/>
            <a:ext cx="16256000" cy="9144000"/>
          </a:xfrm>
          <a:prstGeom prst="rect">
            <a:avLst/>
          </a:prstGeom>
        </p:spPr>
      </p:pic>
      <p:sp>
        <p:nvSpPr>
          <p:cNvPr id="4" name="AutoShape 4"/>
          <p:cNvSpPr/>
          <p:nvPr/>
        </p:nvSpPr>
        <p:spPr>
          <a:xfrm>
            <a:off x="876300" y="2070100"/>
            <a:ext cx="14490700" cy="6400800"/>
          </a:xfrm>
          <a:prstGeom prst="rect">
            <a:avLst/>
          </a:prstGeom>
          <a:solidFill>
            <a:srgbClr val="000000">
              <a:alpha val="0"/>
            </a:srgbClr>
          </a:solidFill>
        </p:spPr>
      </p:sp>
      <p:sp>
        <p:nvSpPr>
          <p:cNvPr id="5" name="AutoShape 5"/>
          <p:cNvSpPr/>
          <p:nvPr/>
        </p:nvSpPr>
        <p:spPr>
          <a:xfrm>
            <a:off x="876300" y="2070100"/>
            <a:ext cx="3429000" cy="4330700"/>
          </a:xfrm>
          <a:prstGeom prst="roundRect">
            <a:avLst>
              <a:gd name="adj" fmla="val 2592"/>
            </a:avLst>
          </a:prstGeom>
          <a:solidFill>
            <a:srgbClr val="000000">
              <a:alpha val="0"/>
            </a:srgbClr>
          </a:solidFill>
          <a:ln w="12700">
            <a:solidFill>
              <a:srgbClr val="A1A1A1"/>
            </a:solidFill>
          </a:ln>
        </p:spPr>
      </p:sp>
      <p:sp>
        <p:nvSpPr>
          <p:cNvPr id="6" name="AutoShape 6"/>
          <p:cNvSpPr/>
          <p:nvPr/>
        </p:nvSpPr>
        <p:spPr>
          <a:xfrm>
            <a:off x="4559300" y="2070100"/>
            <a:ext cx="3429000" cy="4330700"/>
          </a:xfrm>
          <a:prstGeom prst="roundRect">
            <a:avLst>
              <a:gd name="adj" fmla="val 2592"/>
            </a:avLst>
          </a:prstGeom>
          <a:solidFill>
            <a:srgbClr val="000000">
              <a:alpha val="0"/>
            </a:srgbClr>
          </a:solidFill>
          <a:ln w="12700">
            <a:solidFill>
              <a:srgbClr val="A1A1A1"/>
            </a:solidFill>
          </a:ln>
        </p:spPr>
      </p:sp>
      <p:sp>
        <p:nvSpPr>
          <p:cNvPr id="7" name="AutoShape 7"/>
          <p:cNvSpPr/>
          <p:nvPr/>
        </p:nvSpPr>
        <p:spPr>
          <a:xfrm>
            <a:off x="8242300" y="2070100"/>
            <a:ext cx="3429000" cy="4330700"/>
          </a:xfrm>
          <a:prstGeom prst="roundRect">
            <a:avLst>
              <a:gd name="adj" fmla="val 2592"/>
            </a:avLst>
          </a:prstGeom>
          <a:solidFill>
            <a:srgbClr val="000000">
              <a:alpha val="0"/>
            </a:srgbClr>
          </a:solidFill>
          <a:ln w="12700">
            <a:solidFill>
              <a:srgbClr val="A1A1A1"/>
            </a:solidFill>
          </a:ln>
        </p:spPr>
      </p:sp>
      <p:sp>
        <p:nvSpPr>
          <p:cNvPr id="8" name="AutoShape 8"/>
          <p:cNvSpPr/>
          <p:nvPr/>
        </p:nvSpPr>
        <p:spPr>
          <a:xfrm>
            <a:off x="11938000" y="2070100"/>
            <a:ext cx="3429000" cy="4330700"/>
          </a:xfrm>
          <a:prstGeom prst="roundRect">
            <a:avLst>
              <a:gd name="adj" fmla="val 2592"/>
            </a:avLst>
          </a:prstGeom>
          <a:solidFill>
            <a:srgbClr val="000000">
              <a:alpha val="0"/>
            </a:srgbClr>
          </a:solidFill>
          <a:ln w="12700">
            <a:solidFill>
              <a:srgbClr val="A1A1A1"/>
            </a:solidFill>
          </a:ln>
        </p:spPr>
      </p:sp>
      <p:sp>
        <p:nvSpPr>
          <p:cNvPr id="9" name="AutoShape 9"/>
          <p:cNvSpPr/>
          <p:nvPr/>
        </p:nvSpPr>
        <p:spPr>
          <a:xfrm>
            <a:off x="876300" y="6654800"/>
            <a:ext cx="14490700" cy="1816100"/>
          </a:xfrm>
          <a:prstGeom prst="roundRect">
            <a:avLst>
              <a:gd name="adj" fmla="val 4895"/>
            </a:avLst>
          </a:prstGeom>
          <a:solidFill>
            <a:srgbClr val="000000">
              <a:alpha val="0"/>
            </a:srgbClr>
          </a:solidFill>
          <a:ln w="12700">
            <a:solidFill>
              <a:srgbClr val="A1A1A1"/>
            </a:solidFill>
          </a:ln>
        </p:spPr>
      </p:sp>
      <p:sp>
        <p:nvSpPr>
          <p:cNvPr id="10" name="TextBox 10"/>
          <p:cNvSpPr txBox="1"/>
          <p:nvPr/>
        </p:nvSpPr>
        <p:spPr>
          <a:xfrm>
            <a:off x="876300" y="647700"/>
            <a:ext cx="14490700" cy="1143000"/>
          </a:xfrm>
          <a:prstGeom prst="rect">
            <a:avLst/>
          </a:prstGeom>
          <a:solidFill>
            <a:srgbClr val="000000">
              <a:alpha val="0"/>
            </a:srgbClr>
          </a:solidFill>
        </p:spPr>
        <p:txBody>
          <a:bodyPr lIns="0" tIns="0" rIns="0" bIns="0" rtlCol="0" anchor="ctr"/>
          <a:lstStyle/>
          <a:p>
            <a:pPr indent="0" algn="l">
              <a:lnSpc>
                <a:spcPct val="120000"/>
              </a:lnSpc>
              <a:defRPr/>
            </a:pPr>
            <a:r>
              <a:rPr lang="en-US" sz="3700" b="1">
                <a:solidFill>
                  <a:srgbClr val="000000"/>
                </a:solidFill>
                <a:latin typeface="Ubuntu"/>
              </a:rPr>
              <a:t>Base Paper Limitations: Implementation and Integration Gaps</a:t>
            </a:r>
            <a:endParaRPr lang="en-US" sz="1100"/>
          </a:p>
        </p:txBody>
      </p:sp>
      <p:sp>
        <p:nvSpPr>
          <p:cNvPr id="11" name="TextBox 11"/>
          <p:cNvSpPr txBox="1"/>
          <p:nvPr/>
        </p:nvSpPr>
        <p:spPr>
          <a:xfrm>
            <a:off x="1143000" y="2324100"/>
            <a:ext cx="2895600" cy="419100"/>
          </a:xfrm>
          <a:prstGeom prst="rect">
            <a:avLst/>
          </a:prstGeom>
          <a:solidFill>
            <a:srgbClr val="000000">
              <a:alpha val="0"/>
            </a:srgbClr>
          </a:solidFill>
        </p:spPr>
        <p:txBody>
          <a:bodyPr lIns="0" tIns="0" rIns="0" bIns="0" rtlCol="0" anchor="ctr"/>
          <a:lstStyle/>
          <a:p>
            <a:pPr indent="0" algn="l">
              <a:lnSpc>
                <a:spcPct val="120000"/>
              </a:lnSpc>
              <a:defRPr/>
            </a:pPr>
            <a:r>
              <a:rPr lang="en-US" sz="2800" b="1">
                <a:solidFill>
                  <a:srgbClr val="000000"/>
                </a:solidFill>
                <a:latin typeface="Ubuntu"/>
              </a:rPr>
              <a:t>Limitation 1</a:t>
            </a:r>
            <a:endParaRPr lang="en-US" sz="1100"/>
          </a:p>
        </p:txBody>
      </p:sp>
      <p:sp>
        <p:nvSpPr>
          <p:cNvPr id="12" name="TextBox 12"/>
          <p:cNvSpPr txBox="1"/>
          <p:nvPr/>
        </p:nvSpPr>
        <p:spPr>
          <a:xfrm>
            <a:off x="4826000" y="2324100"/>
            <a:ext cx="2895600" cy="419100"/>
          </a:xfrm>
          <a:prstGeom prst="rect">
            <a:avLst/>
          </a:prstGeom>
          <a:solidFill>
            <a:srgbClr val="000000">
              <a:alpha val="0"/>
            </a:srgbClr>
          </a:solidFill>
        </p:spPr>
        <p:txBody>
          <a:bodyPr lIns="0" tIns="0" rIns="0" bIns="0" rtlCol="0" anchor="ctr"/>
          <a:lstStyle/>
          <a:p>
            <a:pPr indent="0" algn="l">
              <a:lnSpc>
                <a:spcPct val="120000"/>
              </a:lnSpc>
              <a:defRPr/>
            </a:pPr>
            <a:r>
              <a:rPr lang="en-US" sz="2800" b="1">
                <a:solidFill>
                  <a:srgbClr val="000000"/>
                </a:solidFill>
                <a:latin typeface="Ubuntu"/>
              </a:rPr>
              <a:t>Limitation 2</a:t>
            </a:r>
            <a:endParaRPr lang="en-US" sz="1100"/>
          </a:p>
        </p:txBody>
      </p:sp>
      <p:sp>
        <p:nvSpPr>
          <p:cNvPr id="13" name="TextBox 13"/>
          <p:cNvSpPr txBox="1"/>
          <p:nvPr/>
        </p:nvSpPr>
        <p:spPr>
          <a:xfrm>
            <a:off x="8509000" y="2324100"/>
            <a:ext cx="2895600" cy="419100"/>
          </a:xfrm>
          <a:prstGeom prst="rect">
            <a:avLst/>
          </a:prstGeom>
          <a:solidFill>
            <a:srgbClr val="000000">
              <a:alpha val="0"/>
            </a:srgbClr>
          </a:solidFill>
        </p:spPr>
        <p:txBody>
          <a:bodyPr lIns="0" tIns="0" rIns="0" bIns="0" rtlCol="0" anchor="ctr"/>
          <a:lstStyle/>
          <a:p>
            <a:pPr indent="0" algn="l">
              <a:lnSpc>
                <a:spcPct val="120000"/>
              </a:lnSpc>
              <a:defRPr/>
            </a:pPr>
            <a:r>
              <a:rPr lang="en-US" sz="2800" b="1">
                <a:solidFill>
                  <a:srgbClr val="000000"/>
                </a:solidFill>
                <a:latin typeface="Ubuntu"/>
              </a:rPr>
              <a:t>Limitation 3</a:t>
            </a:r>
            <a:endParaRPr lang="en-US" sz="1100"/>
          </a:p>
        </p:txBody>
      </p:sp>
      <p:sp>
        <p:nvSpPr>
          <p:cNvPr id="14" name="TextBox 14"/>
          <p:cNvSpPr txBox="1"/>
          <p:nvPr/>
        </p:nvSpPr>
        <p:spPr>
          <a:xfrm>
            <a:off x="12204700" y="2324100"/>
            <a:ext cx="2895600" cy="419100"/>
          </a:xfrm>
          <a:prstGeom prst="rect">
            <a:avLst/>
          </a:prstGeom>
          <a:solidFill>
            <a:srgbClr val="000000">
              <a:alpha val="0"/>
            </a:srgbClr>
          </a:solidFill>
        </p:spPr>
        <p:txBody>
          <a:bodyPr lIns="0" tIns="0" rIns="0" bIns="0" rtlCol="0" anchor="ctr"/>
          <a:lstStyle/>
          <a:p>
            <a:pPr indent="0" algn="l">
              <a:lnSpc>
                <a:spcPct val="120000"/>
              </a:lnSpc>
              <a:defRPr/>
            </a:pPr>
            <a:r>
              <a:rPr lang="en-US" sz="2800" b="1">
                <a:solidFill>
                  <a:srgbClr val="000000"/>
                </a:solidFill>
                <a:latin typeface="Ubuntu"/>
              </a:rPr>
              <a:t>Limitation 4</a:t>
            </a:r>
            <a:endParaRPr lang="en-US" sz="1100"/>
          </a:p>
        </p:txBody>
      </p:sp>
      <p:sp>
        <p:nvSpPr>
          <p:cNvPr id="15" name="TextBox 15"/>
          <p:cNvSpPr txBox="1"/>
          <p:nvPr/>
        </p:nvSpPr>
        <p:spPr>
          <a:xfrm>
            <a:off x="1143000" y="6908800"/>
            <a:ext cx="13957300" cy="419100"/>
          </a:xfrm>
          <a:prstGeom prst="rect">
            <a:avLst/>
          </a:prstGeom>
          <a:solidFill>
            <a:srgbClr val="000000">
              <a:alpha val="0"/>
            </a:srgbClr>
          </a:solidFill>
        </p:spPr>
        <p:txBody>
          <a:bodyPr lIns="0" tIns="0" rIns="0" bIns="0" rtlCol="0" anchor="ctr"/>
          <a:lstStyle/>
          <a:p>
            <a:pPr indent="0" algn="l">
              <a:lnSpc>
                <a:spcPct val="120000"/>
              </a:lnSpc>
              <a:defRPr/>
            </a:pPr>
            <a:r>
              <a:rPr lang="en-US" sz="2800" b="1">
                <a:solidFill>
                  <a:srgbClr val="000000"/>
                </a:solidFill>
                <a:latin typeface="Ubuntu"/>
              </a:rPr>
              <a:t>Limitation 5</a:t>
            </a:r>
            <a:endParaRPr lang="en-US" sz="1100"/>
          </a:p>
        </p:txBody>
      </p:sp>
      <p:sp>
        <p:nvSpPr>
          <p:cNvPr id="16" name="TextBox 16"/>
          <p:cNvSpPr txBox="1"/>
          <p:nvPr/>
        </p:nvSpPr>
        <p:spPr>
          <a:xfrm>
            <a:off x="1143000" y="2921000"/>
            <a:ext cx="2895600" cy="3225800"/>
          </a:xfrm>
          <a:prstGeom prst="rect">
            <a:avLst/>
          </a:prstGeom>
          <a:solidFill>
            <a:srgbClr val="000000">
              <a:alpha val="0"/>
            </a:srgbClr>
          </a:solidFill>
        </p:spPr>
        <p:txBody>
          <a:bodyPr lIns="0" tIns="0" rIns="0" bIns="0" rtlCol="0" anchor="ctr"/>
          <a:lstStyle/>
          <a:p>
            <a:pPr indent="0" algn="l">
              <a:lnSpc>
                <a:spcPct val="150000"/>
              </a:lnSpc>
              <a:defRPr/>
            </a:pPr>
            <a:r>
              <a:rPr lang="en-US" sz="1800" b="1">
                <a:solidFill>
                  <a:srgbClr val="000000"/>
                </a:solidFill>
                <a:latin typeface="Poppins"/>
              </a:rPr>
              <a:t>Absence of live SCADA integration and real-time telemetry handling, preventing continuous operational data ingestion and immediate responsiveness.</a:t>
            </a:r>
            <a:endParaRPr lang="en-US" sz="1100"/>
          </a:p>
        </p:txBody>
      </p:sp>
      <p:sp>
        <p:nvSpPr>
          <p:cNvPr id="17" name="TextBox 17"/>
          <p:cNvSpPr txBox="1"/>
          <p:nvPr/>
        </p:nvSpPr>
        <p:spPr>
          <a:xfrm>
            <a:off x="4826000" y="2921000"/>
            <a:ext cx="2895600" cy="3225800"/>
          </a:xfrm>
          <a:prstGeom prst="rect">
            <a:avLst/>
          </a:prstGeom>
          <a:solidFill>
            <a:srgbClr val="000000">
              <a:alpha val="0"/>
            </a:srgbClr>
          </a:solidFill>
        </p:spPr>
        <p:txBody>
          <a:bodyPr lIns="0" tIns="0" rIns="0" bIns="0" rtlCol="0" anchor="ctr"/>
          <a:lstStyle/>
          <a:p>
            <a:pPr indent="0" algn="l">
              <a:lnSpc>
                <a:spcPct val="150000"/>
              </a:lnSpc>
              <a:defRPr/>
            </a:pPr>
            <a:r>
              <a:rPr lang="en-US" sz="1800" b="1">
                <a:solidFill>
                  <a:srgbClr val="000000"/>
                </a:solidFill>
                <a:latin typeface="Poppins"/>
              </a:rPr>
              <a:t>Limited deployment-oriented system architecture and engineering detail, lacking concrete guidance for production-grade implementation and scaling.</a:t>
            </a:r>
            <a:endParaRPr lang="en-US" sz="1100"/>
          </a:p>
        </p:txBody>
      </p:sp>
      <p:sp>
        <p:nvSpPr>
          <p:cNvPr id="18" name="TextBox 18"/>
          <p:cNvSpPr txBox="1"/>
          <p:nvPr/>
        </p:nvSpPr>
        <p:spPr>
          <a:xfrm>
            <a:off x="8509000" y="2921000"/>
            <a:ext cx="2895600" cy="2870200"/>
          </a:xfrm>
          <a:prstGeom prst="rect">
            <a:avLst/>
          </a:prstGeom>
          <a:solidFill>
            <a:srgbClr val="000000">
              <a:alpha val="0"/>
            </a:srgbClr>
          </a:solidFill>
        </p:spPr>
        <p:txBody>
          <a:bodyPr lIns="0" tIns="0" rIns="0" bIns="0" rtlCol="0" anchor="ctr"/>
          <a:lstStyle/>
          <a:p>
            <a:pPr indent="0" algn="l">
              <a:lnSpc>
                <a:spcPct val="150000"/>
              </a:lnSpc>
              <a:defRPr/>
            </a:pPr>
            <a:r>
              <a:rPr lang="en-US" sz="1800" b="1">
                <a:solidFill>
                  <a:srgbClr val="000000"/>
                </a:solidFill>
                <a:latin typeface="Poppins"/>
              </a:rPr>
              <a:t>No explicit separation between experiment evaluation and operational monitoring, which risks mixing offline validation with live decision workflows.</a:t>
            </a:r>
            <a:endParaRPr lang="en-US" sz="1100"/>
          </a:p>
        </p:txBody>
      </p:sp>
      <p:sp>
        <p:nvSpPr>
          <p:cNvPr id="19" name="TextBox 19"/>
          <p:cNvSpPr txBox="1"/>
          <p:nvPr/>
        </p:nvSpPr>
        <p:spPr>
          <a:xfrm>
            <a:off x="12204700" y="2921000"/>
            <a:ext cx="2895600" cy="2870200"/>
          </a:xfrm>
          <a:prstGeom prst="rect">
            <a:avLst/>
          </a:prstGeom>
          <a:solidFill>
            <a:srgbClr val="000000">
              <a:alpha val="0"/>
            </a:srgbClr>
          </a:solidFill>
        </p:spPr>
        <p:txBody>
          <a:bodyPr lIns="0" tIns="0" rIns="0" bIns="0" rtlCol="0" anchor="ctr"/>
          <a:lstStyle/>
          <a:p>
            <a:pPr indent="0" algn="l">
              <a:lnSpc>
                <a:spcPct val="150000"/>
              </a:lnSpc>
              <a:defRPr/>
            </a:pPr>
            <a:r>
              <a:rPr lang="en-US" sz="1800" b="1">
                <a:solidFill>
                  <a:srgbClr val="000000"/>
                </a:solidFill>
                <a:latin typeface="Poppins"/>
              </a:rPr>
              <a:t>Insufficient operator-facing visualization and workflow support, reducing situational awareness and hindering effective human-in-the-loop operations.</a:t>
            </a:r>
            <a:endParaRPr lang="en-US" sz="1100"/>
          </a:p>
        </p:txBody>
      </p:sp>
      <p:sp>
        <p:nvSpPr>
          <p:cNvPr id="20" name="TextBox 20"/>
          <p:cNvSpPr txBox="1"/>
          <p:nvPr/>
        </p:nvSpPr>
        <p:spPr>
          <a:xfrm>
            <a:off x="1143000" y="7505700"/>
            <a:ext cx="13957300" cy="711200"/>
          </a:xfrm>
          <a:prstGeom prst="rect">
            <a:avLst/>
          </a:prstGeom>
          <a:solidFill>
            <a:srgbClr val="000000">
              <a:alpha val="0"/>
            </a:srgbClr>
          </a:solidFill>
        </p:spPr>
        <p:txBody>
          <a:bodyPr lIns="0" tIns="0" rIns="0" bIns="0" rtlCol="0" anchor="ctr"/>
          <a:lstStyle/>
          <a:p>
            <a:pPr indent="0" algn="l">
              <a:lnSpc>
                <a:spcPct val="150000"/>
              </a:lnSpc>
              <a:defRPr/>
            </a:pPr>
            <a:r>
              <a:rPr lang="en-US" sz="1800" b="1">
                <a:solidFill>
                  <a:srgbClr val="000000"/>
                </a:solidFill>
                <a:latin typeface="Poppins"/>
              </a:rPr>
              <a:t>Limited emphasis on explainability in live decision pathways, making it difficult to trace, justify, and audit automated operational actions.</a:t>
            </a:r>
            <a:endParaRPr lang="en-US" sz="11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16256000" cy="9144000"/>
          </a:xfrm>
          <a:prstGeom prst="rect">
            <a:avLst/>
          </a:prstGeom>
          <a:solidFill>
            <a:srgbClr val="0D0A2C">
              <a:alpha val="74902"/>
            </a:srgbClr>
          </a:solidFill>
        </p:spPr>
      </p:sp>
      <p:pic>
        <p:nvPicPr>
          <p:cNvPr id="3" name="Picture 3"/>
          <p:cNvPicPr>
            <a:picLocks noChangeAspect="1"/>
          </p:cNvPicPr>
          <p:nvPr/>
        </p:nvPicPr>
        <p:blipFill>
          <a:blip r:embed="rId2"/>
          <a:srcRect t="56" b="56"/>
          <a:stretch>
            <a:fillRect/>
          </a:stretch>
        </p:blipFill>
        <p:spPr>
          <a:xfrm>
            <a:off x="0" y="0"/>
            <a:ext cx="16256000" cy="9144000"/>
          </a:xfrm>
          <a:prstGeom prst="rect">
            <a:avLst/>
          </a:prstGeom>
        </p:spPr>
      </p:pic>
      <p:sp>
        <p:nvSpPr>
          <p:cNvPr id="4" name="AutoShape 4"/>
          <p:cNvSpPr/>
          <p:nvPr/>
        </p:nvSpPr>
        <p:spPr>
          <a:xfrm>
            <a:off x="876300" y="1765300"/>
            <a:ext cx="14490700" cy="5435600"/>
          </a:xfrm>
          <a:prstGeom prst="rect">
            <a:avLst/>
          </a:prstGeom>
          <a:solidFill>
            <a:srgbClr val="000000">
              <a:alpha val="0"/>
            </a:srgbClr>
          </a:solidFill>
        </p:spPr>
      </p:sp>
      <p:sp>
        <p:nvSpPr>
          <p:cNvPr id="5" name="AutoShape 5"/>
          <p:cNvSpPr/>
          <p:nvPr/>
        </p:nvSpPr>
        <p:spPr>
          <a:xfrm>
            <a:off x="876300" y="1765300"/>
            <a:ext cx="3429000" cy="5435600"/>
          </a:xfrm>
          <a:prstGeom prst="roundRect">
            <a:avLst>
              <a:gd name="adj" fmla="val 2592"/>
            </a:avLst>
          </a:prstGeom>
          <a:solidFill>
            <a:srgbClr val="D1D1D1">
              <a:alpha val="71765"/>
            </a:srgbClr>
          </a:solidFill>
        </p:spPr>
      </p:sp>
      <p:sp>
        <p:nvSpPr>
          <p:cNvPr id="6" name="AutoShape 6"/>
          <p:cNvSpPr/>
          <p:nvPr/>
        </p:nvSpPr>
        <p:spPr>
          <a:xfrm>
            <a:off x="4559300" y="1765300"/>
            <a:ext cx="3429000" cy="5435600"/>
          </a:xfrm>
          <a:prstGeom prst="roundRect">
            <a:avLst>
              <a:gd name="adj" fmla="val 2592"/>
            </a:avLst>
          </a:prstGeom>
          <a:solidFill>
            <a:srgbClr val="D1D1D1">
              <a:alpha val="71765"/>
            </a:srgbClr>
          </a:solidFill>
        </p:spPr>
      </p:sp>
      <p:sp>
        <p:nvSpPr>
          <p:cNvPr id="7" name="AutoShape 7"/>
          <p:cNvSpPr/>
          <p:nvPr/>
        </p:nvSpPr>
        <p:spPr>
          <a:xfrm>
            <a:off x="8242300" y="1765300"/>
            <a:ext cx="3429000" cy="5435600"/>
          </a:xfrm>
          <a:prstGeom prst="roundRect">
            <a:avLst>
              <a:gd name="adj" fmla="val 2592"/>
            </a:avLst>
          </a:prstGeom>
          <a:solidFill>
            <a:srgbClr val="D1D1D1">
              <a:alpha val="71765"/>
            </a:srgbClr>
          </a:solidFill>
        </p:spPr>
      </p:sp>
      <p:sp>
        <p:nvSpPr>
          <p:cNvPr id="8" name="AutoShape 8"/>
          <p:cNvSpPr/>
          <p:nvPr/>
        </p:nvSpPr>
        <p:spPr>
          <a:xfrm>
            <a:off x="11938000" y="1765300"/>
            <a:ext cx="3429000" cy="5435600"/>
          </a:xfrm>
          <a:prstGeom prst="roundRect">
            <a:avLst>
              <a:gd name="adj" fmla="val 2592"/>
            </a:avLst>
          </a:prstGeom>
          <a:solidFill>
            <a:srgbClr val="D1D1D1">
              <a:alpha val="71765"/>
            </a:srgbClr>
          </a:solidFill>
        </p:spPr>
      </p:sp>
      <p:sp>
        <p:nvSpPr>
          <p:cNvPr id="9" name="TextBox 9"/>
          <p:cNvSpPr txBox="1"/>
          <p:nvPr/>
        </p:nvSpPr>
        <p:spPr>
          <a:xfrm>
            <a:off x="876300" y="876300"/>
            <a:ext cx="14490700" cy="596900"/>
          </a:xfrm>
          <a:prstGeom prst="rect">
            <a:avLst/>
          </a:prstGeom>
          <a:solidFill>
            <a:srgbClr val="000000">
              <a:alpha val="0"/>
            </a:srgbClr>
          </a:solidFill>
        </p:spPr>
        <p:txBody>
          <a:bodyPr lIns="0" tIns="0" rIns="0" bIns="0" rtlCol="0" anchor="ctr"/>
          <a:lstStyle/>
          <a:p>
            <a:pPr indent="0" algn="l">
              <a:lnSpc>
                <a:spcPct val="120000"/>
              </a:lnSpc>
              <a:defRPr/>
            </a:pPr>
            <a:r>
              <a:rPr lang="en-US" sz="3900" b="1">
                <a:solidFill>
                  <a:srgbClr val="000000"/>
                </a:solidFill>
                <a:latin typeface="Ubuntu"/>
              </a:rPr>
              <a:t>Capability Comparison: Base Paper vs Proposed Framework</a:t>
            </a:r>
            <a:endParaRPr lang="en-US" sz="11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16256000" cy="9144000"/>
          </a:xfrm>
          <a:prstGeom prst="rect">
            <a:avLst/>
          </a:prstGeom>
          <a:solidFill>
            <a:srgbClr val="0D0A2C">
              <a:alpha val="74902"/>
            </a:srgbClr>
          </a:solidFill>
        </p:spPr>
      </p:sp>
      <p:pic>
        <p:nvPicPr>
          <p:cNvPr id="3" name="Picture 3"/>
          <p:cNvPicPr>
            <a:picLocks noChangeAspect="1"/>
          </p:cNvPicPr>
          <p:nvPr/>
        </p:nvPicPr>
        <p:blipFill>
          <a:blip r:embed="rId2"/>
          <a:srcRect t="56" b="56"/>
          <a:stretch>
            <a:fillRect/>
          </a:stretch>
        </p:blipFill>
        <p:spPr>
          <a:xfrm>
            <a:off x="0" y="0"/>
            <a:ext cx="16256000" cy="9144000"/>
          </a:xfrm>
          <a:prstGeom prst="rect">
            <a:avLst/>
          </a:prstGeom>
        </p:spPr>
      </p:pic>
      <p:sp>
        <p:nvSpPr>
          <p:cNvPr id="4" name="AutoShape 4"/>
          <p:cNvSpPr/>
          <p:nvPr/>
        </p:nvSpPr>
        <p:spPr>
          <a:xfrm>
            <a:off x="876300" y="1765300"/>
            <a:ext cx="14490700" cy="5435600"/>
          </a:xfrm>
          <a:prstGeom prst="rect">
            <a:avLst/>
          </a:prstGeom>
          <a:solidFill>
            <a:srgbClr val="000000">
              <a:alpha val="0"/>
            </a:srgbClr>
          </a:solidFill>
        </p:spPr>
      </p:sp>
      <p:sp>
        <p:nvSpPr>
          <p:cNvPr id="5" name="AutoShape 5"/>
          <p:cNvSpPr/>
          <p:nvPr/>
        </p:nvSpPr>
        <p:spPr>
          <a:xfrm>
            <a:off x="876300" y="1765300"/>
            <a:ext cx="3429000" cy="5435600"/>
          </a:xfrm>
          <a:prstGeom prst="roundRect">
            <a:avLst>
              <a:gd name="adj" fmla="val 2592"/>
            </a:avLst>
          </a:prstGeom>
          <a:solidFill>
            <a:srgbClr val="D1D1D1">
              <a:alpha val="71765"/>
            </a:srgbClr>
          </a:solidFill>
        </p:spPr>
      </p:sp>
      <p:sp>
        <p:nvSpPr>
          <p:cNvPr id="6" name="AutoShape 6"/>
          <p:cNvSpPr/>
          <p:nvPr/>
        </p:nvSpPr>
        <p:spPr>
          <a:xfrm>
            <a:off x="4559300" y="1765300"/>
            <a:ext cx="3429000" cy="5435600"/>
          </a:xfrm>
          <a:prstGeom prst="roundRect">
            <a:avLst>
              <a:gd name="adj" fmla="val 2592"/>
            </a:avLst>
          </a:prstGeom>
          <a:solidFill>
            <a:srgbClr val="D1D1D1">
              <a:alpha val="71765"/>
            </a:srgbClr>
          </a:solidFill>
        </p:spPr>
      </p:sp>
      <p:sp>
        <p:nvSpPr>
          <p:cNvPr id="7" name="AutoShape 7"/>
          <p:cNvSpPr/>
          <p:nvPr/>
        </p:nvSpPr>
        <p:spPr>
          <a:xfrm>
            <a:off x="8242300" y="1765300"/>
            <a:ext cx="3429000" cy="5435600"/>
          </a:xfrm>
          <a:prstGeom prst="roundRect">
            <a:avLst>
              <a:gd name="adj" fmla="val 2592"/>
            </a:avLst>
          </a:prstGeom>
          <a:solidFill>
            <a:srgbClr val="D1D1D1">
              <a:alpha val="71765"/>
            </a:srgbClr>
          </a:solidFill>
        </p:spPr>
      </p:sp>
      <p:sp>
        <p:nvSpPr>
          <p:cNvPr id="8" name="AutoShape 8"/>
          <p:cNvSpPr/>
          <p:nvPr/>
        </p:nvSpPr>
        <p:spPr>
          <a:xfrm>
            <a:off x="11938000" y="1765300"/>
            <a:ext cx="3429000" cy="5435600"/>
          </a:xfrm>
          <a:prstGeom prst="roundRect">
            <a:avLst>
              <a:gd name="adj" fmla="val 2592"/>
            </a:avLst>
          </a:prstGeom>
          <a:solidFill>
            <a:srgbClr val="D1D1D1">
              <a:alpha val="71765"/>
            </a:srgbClr>
          </a:solidFill>
        </p:spPr>
      </p:sp>
      <p:sp>
        <p:nvSpPr>
          <p:cNvPr id="9" name="TextBox 9"/>
          <p:cNvSpPr txBox="1"/>
          <p:nvPr/>
        </p:nvSpPr>
        <p:spPr>
          <a:xfrm>
            <a:off x="876300" y="876300"/>
            <a:ext cx="14490700" cy="596900"/>
          </a:xfrm>
          <a:prstGeom prst="rect">
            <a:avLst/>
          </a:prstGeom>
          <a:solidFill>
            <a:srgbClr val="000000">
              <a:alpha val="0"/>
            </a:srgbClr>
          </a:solidFill>
        </p:spPr>
        <p:txBody>
          <a:bodyPr lIns="0" tIns="0" rIns="0" bIns="0" rtlCol="0" anchor="ctr"/>
          <a:lstStyle/>
          <a:p>
            <a:pPr indent="0" algn="l">
              <a:lnSpc>
                <a:spcPct val="120000"/>
              </a:lnSpc>
              <a:defRPr/>
            </a:pPr>
            <a:r>
              <a:rPr lang="en-US" sz="3900" b="1">
                <a:solidFill>
                  <a:srgbClr val="000000"/>
                </a:solidFill>
                <a:latin typeface="Ubuntu"/>
              </a:rPr>
              <a:t>Development Progress of the SmartGrid AI Audit Framework</a:t>
            </a:r>
            <a:endParaRPr lang="en-US" sz="11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16256000" cy="9144000"/>
          </a:xfrm>
          <a:prstGeom prst="rect">
            <a:avLst/>
          </a:prstGeom>
          <a:solidFill>
            <a:srgbClr val="0D0A2C">
              <a:alpha val="74902"/>
            </a:srgbClr>
          </a:solidFill>
        </p:spPr>
      </p:sp>
      <p:pic>
        <p:nvPicPr>
          <p:cNvPr id="3" name="Picture 3"/>
          <p:cNvPicPr>
            <a:picLocks noChangeAspect="1"/>
          </p:cNvPicPr>
          <p:nvPr/>
        </p:nvPicPr>
        <p:blipFill>
          <a:blip r:embed="rId2"/>
          <a:srcRect t="56" b="56"/>
          <a:stretch>
            <a:fillRect/>
          </a:stretch>
        </p:blipFill>
        <p:spPr>
          <a:xfrm>
            <a:off x="0" y="0"/>
            <a:ext cx="16256000" cy="9144000"/>
          </a:xfrm>
          <a:prstGeom prst="rect">
            <a:avLst/>
          </a:prstGeom>
        </p:spPr>
      </p:pic>
      <p:sp>
        <p:nvSpPr>
          <p:cNvPr id="4" name="AutoShape 4"/>
          <p:cNvSpPr/>
          <p:nvPr/>
        </p:nvSpPr>
        <p:spPr>
          <a:xfrm>
            <a:off x="876300" y="1701800"/>
            <a:ext cx="14490700" cy="6896100"/>
          </a:xfrm>
          <a:prstGeom prst="rect">
            <a:avLst/>
          </a:prstGeom>
          <a:solidFill>
            <a:srgbClr val="000000">
              <a:alpha val="0"/>
            </a:srgbClr>
          </a:solidFill>
        </p:spPr>
      </p:sp>
      <p:sp>
        <p:nvSpPr>
          <p:cNvPr id="5" name="AutoShape 5"/>
          <p:cNvSpPr/>
          <p:nvPr/>
        </p:nvSpPr>
        <p:spPr>
          <a:xfrm>
            <a:off x="876300" y="1701800"/>
            <a:ext cx="3429000" cy="4432300"/>
          </a:xfrm>
          <a:prstGeom prst="roundRect">
            <a:avLst>
              <a:gd name="adj" fmla="val 1851"/>
            </a:avLst>
          </a:prstGeom>
          <a:solidFill>
            <a:srgbClr val="D1D1D1">
              <a:alpha val="71765"/>
            </a:srgbClr>
          </a:solidFill>
        </p:spPr>
      </p:sp>
      <p:sp>
        <p:nvSpPr>
          <p:cNvPr id="6" name="AutoShape 6"/>
          <p:cNvSpPr/>
          <p:nvPr/>
        </p:nvSpPr>
        <p:spPr>
          <a:xfrm>
            <a:off x="1206500" y="1892300"/>
            <a:ext cx="584200" cy="584200"/>
          </a:xfrm>
          <a:prstGeom prst="roundRect">
            <a:avLst>
              <a:gd name="adj" fmla="val 50000"/>
            </a:avLst>
          </a:prstGeom>
          <a:solidFill>
            <a:srgbClr val="000000"/>
          </a:solidFill>
        </p:spPr>
      </p:sp>
      <p:sp>
        <p:nvSpPr>
          <p:cNvPr id="7" name="AutoShape 7"/>
          <p:cNvSpPr/>
          <p:nvPr/>
        </p:nvSpPr>
        <p:spPr>
          <a:xfrm>
            <a:off x="4559300" y="1701800"/>
            <a:ext cx="3429000" cy="4432300"/>
          </a:xfrm>
          <a:prstGeom prst="roundRect">
            <a:avLst>
              <a:gd name="adj" fmla="val 1851"/>
            </a:avLst>
          </a:prstGeom>
          <a:solidFill>
            <a:srgbClr val="D1D1D1">
              <a:alpha val="71765"/>
            </a:srgbClr>
          </a:solidFill>
        </p:spPr>
      </p:sp>
      <p:sp>
        <p:nvSpPr>
          <p:cNvPr id="8" name="AutoShape 8"/>
          <p:cNvSpPr/>
          <p:nvPr/>
        </p:nvSpPr>
        <p:spPr>
          <a:xfrm>
            <a:off x="4902200" y="1892300"/>
            <a:ext cx="584200" cy="584200"/>
          </a:xfrm>
          <a:prstGeom prst="roundRect">
            <a:avLst>
              <a:gd name="adj" fmla="val 50000"/>
            </a:avLst>
          </a:prstGeom>
          <a:solidFill>
            <a:srgbClr val="000000"/>
          </a:solidFill>
        </p:spPr>
      </p:sp>
      <p:sp>
        <p:nvSpPr>
          <p:cNvPr id="9" name="AutoShape 9"/>
          <p:cNvSpPr/>
          <p:nvPr/>
        </p:nvSpPr>
        <p:spPr>
          <a:xfrm>
            <a:off x="8242300" y="1701800"/>
            <a:ext cx="3429000" cy="4432300"/>
          </a:xfrm>
          <a:prstGeom prst="roundRect">
            <a:avLst>
              <a:gd name="adj" fmla="val 1851"/>
            </a:avLst>
          </a:prstGeom>
          <a:solidFill>
            <a:srgbClr val="D1D1D1">
              <a:alpha val="71765"/>
            </a:srgbClr>
          </a:solidFill>
        </p:spPr>
      </p:sp>
      <p:sp>
        <p:nvSpPr>
          <p:cNvPr id="10" name="AutoShape 10"/>
          <p:cNvSpPr/>
          <p:nvPr/>
        </p:nvSpPr>
        <p:spPr>
          <a:xfrm>
            <a:off x="8585200" y="1892300"/>
            <a:ext cx="584200" cy="584200"/>
          </a:xfrm>
          <a:prstGeom prst="roundRect">
            <a:avLst>
              <a:gd name="adj" fmla="val 50000"/>
            </a:avLst>
          </a:prstGeom>
          <a:solidFill>
            <a:srgbClr val="000000"/>
          </a:solidFill>
        </p:spPr>
      </p:sp>
      <p:sp>
        <p:nvSpPr>
          <p:cNvPr id="11" name="AutoShape 11"/>
          <p:cNvSpPr/>
          <p:nvPr/>
        </p:nvSpPr>
        <p:spPr>
          <a:xfrm>
            <a:off x="11938000" y="1701800"/>
            <a:ext cx="3429000" cy="4432300"/>
          </a:xfrm>
          <a:prstGeom prst="roundRect">
            <a:avLst>
              <a:gd name="adj" fmla="val 1851"/>
            </a:avLst>
          </a:prstGeom>
          <a:solidFill>
            <a:srgbClr val="D1D1D1">
              <a:alpha val="71765"/>
            </a:srgbClr>
          </a:solidFill>
        </p:spPr>
      </p:sp>
      <p:sp>
        <p:nvSpPr>
          <p:cNvPr id="12" name="AutoShape 12"/>
          <p:cNvSpPr/>
          <p:nvPr/>
        </p:nvSpPr>
        <p:spPr>
          <a:xfrm>
            <a:off x="12268200" y="1892300"/>
            <a:ext cx="584200" cy="584200"/>
          </a:xfrm>
          <a:prstGeom prst="roundRect">
            <a:avLst>
              <a:gd name="adj" fmla="val 50000"/>
            </a:avLst>
          </a:prstGeom>
          <a:solidFill>
            <a:srgbClr val="000000"/>
          </a:solidFill>
        </p:spPr>
      </p:sp>
      <p:sp>
        <p:nvSpPr>
          <p:cNvPr id="13" name="AutoShape 13"/>
          <p:cNvSpPr/>
          <p:nvPr/>
        </p:nvSpPr>
        <p:spPr>
          <a:xfrm>
            <a:off x="876300" y="6337300"/>
            <a:ext cx="14490700" cy="2247900"/>
          </a:xfrm>
          <a:prstGeom prst="roundRect">
            <a:avLst>
              <a:gd name="adj" fmla="val 2824"/>
            </a:avLst>
          </a:prstGeom>
          <a:solidFill>
            <a:srgbClr val="D1D1D1">
              <a:alpha val="71765"/>
            </a:srgbClr>
          </a:solidFill>
        </p:spPr>
      </p:sp>
      <p:sp>
        <p:nvSpPr>
          <p:cNvPr id="14" name="AutoShape 14"/>
          <p:cNvSpPr/>
          <p:nvPr/>
        </p:nvSpPr>
        <p:spPr>
          <a:xfrm>
            <a:off x="1206500" y="6527800"/>
            <a:ext cx="584200" cy="584200"/>
          </a:xfrm>
          <a:prstGeom prst="roundRect">
            <a:avLst>
              <a:gd name="adj" fmla="val 50000"/>
            </a:avLst>
          </a:prstGeom>
          <a:solidFill>
            <a:srgbClr val="000000"/>
          </a:solidFill>
        </p:spPr>
      </p:sp>
      <p:sp>
        <p:nvSpPr>
          <p:cNvPr id="15" name="TextBox 15"/>
          <p:cNvSpPr txBox="1"/>
          <p:nvPr/>
        </p:nvSpPr>
        <p:spPr>
          <a:xfrm>
            <a:off x="876300" y="533400"/>
            <a:ext cx="14490700" cy="939800"/>
          </a:xfrm>
          <a:prstGeom prst="rect">
            <a:avLst/>
          </a:prstGeom>
          <a:solidFill>
            <a:srgbClr val="000000">
              <a:alpha val="0"/>
            </a:srgbClr>
          </a:solidFill>
        </p:spPr>
        <p:txBody>
          <a:bodyPr lIns="0" tIns="0" rIns="0" bIns="0" rtlCol="0" anchor="ctr"/>
          <a:lstStyle/>
          <a:p>
            <a:pPr indent="0" algn="l">
              <a:lnSpc>
                <a:spcPct val="120000"/>
              </a:lnSpc>
              <a:defRPr/>
            </a:pPr>
            <a:r>
              <a:rPr lang="en-US" sz="3000" b="1">
                <a:solidFill>
                  <a:srgbClr val="000000"/>
                </a:solidFill>
                <a:latin typeface="Ubuntu"/>
              </a:rPr>
              <a:t>Proposed System Overview: Explainable Cyber-Physical Audit Platform</a:t>
            </a:r>
            <a:endParaRPr lang="en-US" sz="1100"/>
          </a:p>
        </p:txBody>
      </p:sp>
      <p:sp>
        <p:nvSpPr>
          <p:cNvPr id="16" name="TextBox 16"/>
          <p:cNvSpPr txBox="1"/>
          <p:nvPr/>
        </p:nvSpPr>
        <p:spPr>
          <a:xfrm>
            <a:off x="1130300" y="2679700"/>
            <a:ext cx="2921000" cy="698500"/>
          </a:xfrm>
          <a:prstGeom prst="rect">
            <a:avLst/>
          </a:prstGeom>
          <a:solidFill>
            <a:srgbClr val="000000">
              <a:alpha val="0"/>
            </a:srgbClr>
          </a:solidFill>
        </p:spPr>
        <p:txBody>
          <a:bodyPr lIns="0" tIns="0" rIns="0" bIns="0" rtlCol="0" anchor="ctr"/>
          <a:lstStyle/>
          <a:p>
            <a:pPr indent="0" algn="l">
              <a:lnSpc>
                <a:spcPct val="120000"/>
              </a:lnSpc>
              <a:defRPr/>
            </a:pPr>
            <a:r>
              <a:rPr lang="en-US" sz="2300" b="1">
                <a:solidFill>
                  <a:srgbClr val="000000"/>
                </a:solidFill>
                <a:latin typeface="Ubuntu"/>
              </a:rPr>
              <a:t>Unified Framework</a:t>
            </a:r>
            <a:endParaRPr lang="en-US" sz="1100"/>
          </a:p>
        </p:txBody>
      </p:sp>
      <p:sp>
        <p:nvSpPr>
          <p:cNvPr id="17" name="TextBox 17"/>
          <p:cNvSpPr txBox="1"/>
          <p:nvPr/>
        </p:nvSpPr>
        <p:spPr>
          <a:xfrm>
            <a:off x="4813300" y="2679700"/>
            <a:ext cx="2921000" cy="1054100"/>
          </a:xfrm>
          <a:prstGeom prst="rect">
            <a:avLst/>
          </a:prstGeom>
          <a:solidFill>
            <a:srgbClr val="000000">
              <a:alpha val="0"/>
            </a:srgbClr>
          </a:solidFill>
        </p:spPr>
        <p:txBody>
          <a:bodyPr lIns="0" tIns="0" rIns="0" bIns="0" rtlCol="0" anchor="ctr"/>
          <a:lstStyle/>
          <a:p>
            <a:pPr indent="0" algn="l">
              <a:lnSpc>
                <a:spcPct val="120000"/>
              </a:lnSpc>
              <a:defRPr/>
            </a:pPr>
            <a:r>
              <a:rPr lang="en-US" sz="2300" b="1">
                <a:solidFill>
                  <a:srgbClr val="000000"/>
                </a:solidFill>
                <a:latin typeface="Ubuntu"/>
              </a:rPr>
              <a:t>Two Operational Workspaces</a:t>
            </a:r>
            <a:endParaRPr lang="en-US" sz="1100"/>
          </a:p>
        </p:txBody>
      </p:sp>
      <p:sp>
        <p:nvSpPr>
          <p:cNvPr id="18" name="TextBox 18"/>
          <p:cNvSpPr txBox="1"/>
          <p:nvPr/>
        </p:nvSpPr>
        <p:spPr>
          <a:xfrm>
            <a:off x="8496300" y="2679700"/>
            <a:ext cx="2921000" cy="698500"/>
          </a:xfrm>
          <a:prstGeom prst="rect">
            <a:avLst/>
          </a:prstGeom>
          <a:solidFill>
            <a:srgbClr val="000000">
              <a:alpha val="0"/>
            </a:srgbClr>
          </a:solidFill>
        </p:spPr>
        <p:txBody>
          <a:bodyPr lIns="0" tIns="0" rIns="0" bIns="0" rtlCol="0" anchor="ctr"/>
          <a:lstStyle/>
          <a:p>
            <a:pPr indent="0" algn="l">
              <a:lnSpc>
                <a:spcPct val="120000"/>
              </a:lnSpc>
              <a:defRPr/>
            </a:pPr>
            <a:r>
              <a:rPr lang="en-US" sz="2300" b="1">
                <a:solidFill>
                  <a:srgbClr val="000000"/>
                </a:solidFill>
                <a:latin typeface="Ubuntu"/>
              </a:rPr>
              <a:t>Deviation-Based Scoring</a:t>
            </a:r>
            <a:endParaRPr lang="en-US" sz="1100"/>
          </a:p>
        </p:txBody>
      </p:sp>
      <p:sp>
        <p:nvSpPr>
          <p:cNvPr id="19" name="TextBox 19"/>
          <p:cNvSpPr txBox="1"/>
          <p:nvPr/>
        </p:nvSpPr>
        <p:spPr>
          <a:xfrm>
            <a:off x="12179300" y="2679700"/>
            <a:ext cx="2921000" cy="698500"/>
          </a:xfrm>
          <a:prstGeom prst="rect">
            <a:avLst/>
          </a:prstGeom>
          <a:solidFill>
            <a:srgbClr val="000000">
              <a:alpha val="0"/>
            </a:srgbClr>
          </a:solidFill>
        </p:spPr>
        <p:txBody>
          <a:bodyPr lIns="0" tIns="0" rIns="0" bIns="0" rtlCol="0" anchor="ctr"/>
          <a:lstStyle/>
          <a:p>
            <a:pPr indent="0" algn="l">
              <a:lnSpc>
                <a:spcPct val="120000"/>
              </a:lnSpc>
              <a:defRPr/>
            </a:pPr>
            <a:r>
              <a:rPr lang="en-US" sz="2300" b="1">
                <a:solidFill>
                  <a:srgbClr val="000000"/>
                </a:solidFill>
                <a:latin typeface="Ubuntu"/>
              </a:rPr>
              <a:t>Live Telemetry Pipeline</a:t>
            </a:r>
            <a:endParaRPr lang="en-US" sz="1100"/>
          </a:p>
        </p:txBody>
      </p:sp>
      <p:sp>
        <p:nvSpPr>
          <p:cNvPr id="20" name="TextBox 20"/>
          <p:cNvSpPr txBox="1"/>
          <p:nvPr/>
        </p:nvSpPr>
        <p:spPr>
          <a:xfrm>
            <a:off x="1130300" y="7315200"/>
            <a:ext cx="13982700" cy="342900"/>
          </a:xfrm>
          <a:prstGeom prst="rect">
            <a:avLst/>
          </a:prstGeom>
          <a:solidFill>
            <a:srgbClr val="000000">
              <a:alpha val="0"/>
            </a:srgbClr>
          </a:solidFill>
        </p:spPr>
        <p:txBody>
          <a:bodyPr lIns="0" tIns="0" rIns="0" bIns="0" rtlCol="0" anchor="ctr"/>
          <a:lstStyle/>
          <a:p>
            <a:pPr indent="0" algn="l">
              <a:lnSpc>
                <a:spcPct val="120000"/>
              </a:lnSpc>
              <a:defRPr/>
            </a:pPr>
            <a:r>
              <a:rPr lang="en-US" sz="2300" b="1">
                <a:solidFill>
                  <a:srgbClr val="000000"/>
                </a:solidFill>
                <a:latin typeface="Ubuntu"/>
              </a:rPr>
              <a:t>Operator-Facing Dashboard</a:t>
            </a:r>
            <a:endParaRPr lang="en-US" sz="1100"/>
          </a:p>
        </p:txBody>
      </p:sp>
      <p:sp>
        <p:nvSpPr>
          <p:cNvPr id="21" name="TextBox 21"/>
          <p:cNvSpPr txBox="1"/>
          <p:nvPr/>
        </p:nvSpPr>
        <p:spPr>
          <a:xfrm>
            <a:off x="1130300" y="3530600"/>
            <a:ext cx="2921000" cy="2349500"/>
          </a:xfrm>
          <a:prstGeom prst="rect">
            <a:avLst/>
          </a:prstGeom>
          <a:solidFill>
            <a:srgbClr val="000000">
              <a:alpha val="0"/>
            </a:srgbClr>
          </a:solidFill>
        </p:spPr>
        <p:txBody>
          <a:bodyPr lIns="0" tIns="0" rIns="0" bIns="0" rtlCol="0" anchor="ctr"/>
          <a:lstStyle/>
          <a:p>
            <a:pPr indent="0" algn="l">
              <a:lnSpc>
                <a:spcPct val="150000"/>
              </a:lnSpc>
              <a:defRPr/>
            </a:pPr>
            <a:r>
              <a:rPr lang="en-US" sz="1500" b="1">
                <a:solidFill>
                  <a:srgbClr val="000000"/>
                </a:solidFill>
                <a:latin typeface="Poppins"/>
              </a:rPr>
              <a:t>Combines anomaly detection, audit intelligence, and SCADA monitoring into a single cohesive platform for end-to-end cyber-physical assurance.</a:t>
            </a:r>
            <a:endParaRPr lang="en-US" sz="1100"/>
          </a:p>
        </p:txBody>
      </p:sp>
      <p:sp>
        <p:nvSpPr>
          <p:cNvPr id="22" name="TextBox 22"/>
          <p:cNvSpPr txBox="1"/>
          <p:nvPr/>
        </p:nvSpPr>
        <p:spPr>
          <a:xfrm>
            <a:off x="4813300" y="3886200"/>
            <a:ext cx="2921000" cy="2057400"/>
          </a:xfrm>
          <a:prstGeom prst="rect">
            <a:avLst/>
          </a:prstGeom>
          <a:solidFill>
            <a:srgbClr val="000000">
              <a:alpha val="0"/>
            </a:srgbClr>
          </a:solidFill>
        </p:spPr>
        <p:txBody>
          <a:bodyPr lIns="0" tIns="0" rIns="0" bIns="0" rtlCol="0" anchor="ctr"/>
          <a:lstStyle/>
          <a:p>
            <a:pPr indent="0" algn="l">
              <a:lnSpc>
                <a:spcPct val="150000"/>
              </a:lnSpc>
              <a:defRPr/>
            </a:pPr>
            <a:r>
              <a:rPr lang="en-US" sz="1500" b="1">
                <a:solidFill>
                  <a:srgbClr val="000000"/>
                </a:solidFill>
                <a:latin typeface="Poppins"/>
              </a:rPr>
              <a:t>Provides Experiment Running for controlled tests and Rapid SCADA Live for real-time operational monitoring and intervention.</a:t>
            </a:r>
            <a:endParaRPr lang="en-US" sz="1100"/>
          </a:p>
        </p:txBody>
      </p:sp>
      <p:sp>
        <p:nvSpPr>
          <p:cNvPr id="23" name="TextBox 23"/>
          <p:cNvSpPr txBox="1"/>
          <p:nvPr/>
        </p:nvSpPr>
        <p:spPr>
          <a:xfrm>
            <a:off x="8496300" y="3530600"/>
            <a:ext cx="2921000" cy="2349500"/>
          </a:xfrm>
          <a:prstGeom prst="rect">
            <a:avLst/>
          </a:prstGeom>
          <a:solidFill>
            <a:srgbClr val="000000">
              <a:alpha val="0"/>
            </a:srgbClr>
          </a:solidFill>
        </p:spPr>
        <p:txBody>
          <a:bodyPr lIns="0" tIns="0" rIns="0" bIns="0" rtlCol="0" anchor="ctr"/>
          <a:lstStyle/>
          <a:p>
            <a:pPr indent="0" algn="l">
              <a:lnSpc>
                <a:spcPct val="150000"/>
              </a:lnSpc>
              <a:defRPr/>
            </a:pPr>
            <a:r>
              <a:rPr lang="en-US" sz="1500" b="1">
                <a:solidFill>
                  <a:srgbClr val="000000"/>
                </a:solidFill>
                <a:latin typeface="Poppins"/>
              </a:rPr>
              <a:t>Calculates anomaly scores based on deviations and offers feature-level explainability to pinpoint root causes and contributing signals.</a:t>
            </a:r>
            <a:endParaRPr lang="en-US" sz="1100"/>
          </a:p>
        </p:txBody>
      </p:sp>
      <p:sp>
        <p:nvSpPr>
          <p:cNvPr id="24" name="TextBox 24"/>
          <p:cNvSpPr txBox="1"/>
          <p:nvPr/>
        </p:nvSpPr>
        <p:spPr>
          <a:xfrm>
            <a:off x="12179300" y="3530600"/>
            <a:ext cx="2921000" cy="2057400"/>
          </a:xfrm>
          <a:prstGeom prst="rect">
            <a:avLst/>
          </a:prstGeom>
          <a:solidFill>
            <a:srgbClr val="000000">
              <a:alpha val="0"/>
            </a:srgbClr>
          </a:solidFill>
        </p:spPr>
        <p:txBody>
          <a:bodyPr lIns="0" tIns="0" rIns="0" bIns="0" rtlCol="0" anchor="ctr"/>
          <a:lstStyle/>
          <a:p>
            <a:pPr indent="0" algn="l">
              <a:lnSpc>
                <a:spcPct val="150000"/>
              </a:lnSpc>
              <a:defRPr/>
            </a:pPr>
            <a:r>
              <a:rPr lang="en-US" sz="1500" b="1">
                <a:solidFill>
                  <a:srgbClr val="000000"/>
                </a:solidFill>
                <a:latin typeface="Poppins"/>
              </a:rPr>
              <a:t>Streams real-time data through Rapid SCADA Web API integration to ensure low-latency ingestion and continuous observability.</a:t>
            </a:r>
            <a:endParaRPr lang="en-US" sz="1100"/>
          </a:p>
        </p:txBody>
      </p:sp>
      <p:sp>
        <p:nvSpPr>
          <p:cNvPr id="25" name="TextBox 25"/>
          <p:cNvSpPr txBox="1"/>
          <p:nvPr/>
        </p:nvSpPr>
        <p:spPr>
          <a:xfrm>
            <a:off x="1130300" y="7810500"/>
            <a:ext cx="13982700" cy="584200"/>
          </a:xfrm>
          <a:prstGeom prst="rect">
            <a:avLst/>
          </a:prstGeom>
          <a:solidFill>
            <a:srgbClr val="000000">
              <a:alpha val="0"/>
            </a:srgbClr>
          </a:solidFill>
        </p:spPr>
        <p:txBody>
          <a:bodyPr lIns="0" tIns="0" rIns="0" bIns="0" rtlCol="0" anchor="ctr"/>
          <a:lstStyle/>
          <a:p>
            <a:pPr indent="0" algn="l">
              <a:lnSpc>
                <a:spcPct val="150000"/>
              </a:lnSpc>
              <a:defRPr/>
            </a:pPr>
            <a:r>
              <a:rPr lang="en-US" sz="1500" b="1">
                <a:solidFill>
                  <a:srgbClr val="000000"/>
                </a:solidFill>
                <a:latin typeface="Poppins"/>
              </a:rPr>
              <a:t>Separates experimental views from live operational displays, enabling operators to switch contexts without data overlap.</a:t>
            </a:r>
            <a:endParaRPr lang="en-US" sz="1100"/>
          </a:p>
        </p:txBody>
      </p:sp>
      <p:pic>
        <p:nvPicPr>
          <p:cNvPr id="26" name="Picture 26"/>
          <p:cNvPicPr>
            <a:picLocks noChangeAspect="1"/>
          </p:cNvPicPr>
          <p:nvPr/>
        </p:nvPicPr>
        <p:blipFill>
          <a:blip r:embed="rId3"/>
          <a:stretch>
            <a:fillRect/>
          </a:stretch>
        </p:blipFill>
        <p:spPr>
          <a:xfrm>
            <a:off x="1397000" y="2095500"/>
            <a:ext cx="190500" cy="190500"/>
          </a:xfrm>
          <a:prstGeom prst="rect">
            <a:avLst/>
          </a:prstGeom>
        </p:spPr>
      </p:pic>
      <p:pic>
        <p:nvPicPr>
          <p:cNvPr id="27" name="Picture 27"/>
          <p:cNvPicPr>
            <a:picLocks noChangeAspect="1"/>
          </p:cNvPicPr>
          <p:nvPr/>
        </p:nvPicPr>
        <p:blipFill>
          <a:blip r:embed="rId4"/>
          <a:stretch>
            <a:fillRect/>
          </a:stretch>
        </p:blipFill>
        <p:spPr>
          <a:xfrm>
            <a:off x="5092700" y="2095500"/>
            <a:ext cx="190500" cy="190500"/>
          </a:xfrm>
          <a:prstGeom prst="rect">
            <a:avLst/>
          </a:prstGeom>
        </p:spPr>
      </p:pic>
      <p:pic>
        <p:nvPicPr>
          <p:cNvPr id="28" name="Picture 28"/>
          <p:cNvPicPr>
            <a:picLocks noChangeAspect="1"/>
          </p:cNvPicPr>
          <p:nvPr/>
        </p:nvPicPr>
        <p:blipFill>
          <a:blip r:embed="rId5"/>
          <a:stretch>
            <a:fillRect/>
          </a:stretch>
        </p:blipFill>
        <p:spPr>
          <a:xfrm>
            <a:off x="8775700" y="2095500"/>
            <a:ext cx="190500" cy="190500"/>
          </a:xfrm>
          <a:prstGeom prst="rect">
            <a:avLst/>
          </a:prstGeom>
        </p:spPr>
      </p:pic>
      <p:pic>
        <p:nvPicPr>
          <p:cNvPr id="29" name="Picture 29"/>
          <p:cNvPicPr>
            <a:picLocks noChangeAspect="1"/>
          </p:cNvPicPr>
          <p:nvPr/>
        </p:nvPicPr>
        <p:blipFill>
          <a:blip r:embed="rId6"/>
          <a:stretch>
            <a:fillRect/>
          </a:stretch>
        </p:blipFill>
        <p:spPr>
          <a:xfrm>
            <a:off x="12458700" y="2095500"/>
            <a:ext cx="190500" cy="190500"/>
          </a:xfrm>
          <a:prstGeom prst="rect">
            <a:avLst/>
          </a:prstGeom>
        </p:spPr>
      </p:pic>
      <p:pic>
        <p:nvPicPr>
          <p:cNvPr id="30" name="Picture 30"/>
          <p:cNvPicPr>
            <a:picLocks noChangeAspect="1"/>
          </p:cNvPicPr>
          <p:nvPr/>
        </p:nvPicPr>
        <p:blipFill>
          <a:blip r:embed="rId7"/>
          <a:stretch>
            <a:fillRect/>
          </a:stretch>
        </p:blipFill>
        <p:spPr>
          <a:xfrm>
            <a:off x="1409700" y="6731000"/>
            <a:ext cx="190500" cy="1905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16256000" cy="9144000"/>
          </a:xfrm>
          <a:prstGeom prst="rect">
            <a:avLst/>
          </a:prstGeom>
          <a:solidFill>
            <a:srgbClr val="0D0A2C">
              <a:alpha val="74902"/>
            </a:srgbClr>
          </a:solidFill>
        </p:spPr>
      </p:sp>
      <p:pic>
        <p:nvPicPr>
          <p:cNvPr id="3" name="Picture 3"/>
          <p:cNvPicPr>
            <a:picLocks noChangeAspect="1"/>
          </p:cNvPicPr>
          <p:nvPr/>
        </p:nvPicPr>
        <p:blipFill>
          <a:blip r:embed="rId2"/>
          <a:srcRect t="56" b="56"/>
          <a:stretch>
            <a:fillRect/>
          </a:stretch>
        </p:blipFill>
        <p:spPr>
          <a:xfrm>
            <a:off x="0" y="0"/>
            <a:ext cx="16256000" cy="9144000"/>
          </a:xfrm>
          <a:prstGeom prst="rect">
            <a:avLst/>
          </a:prstGeom>
        </p:spPr>
      </p:pic>
      <p:sp>
        <p:nvSpPr>
          <p:cNvPr id="4" name="AutoShape 4"/>
          <p:cNvSpPr/>
          <p:nvPr/>
        </p:nvSpPr>
        <p:spPr>
          <a:xfrm>
            <a:off x="876300" y="1765300"/>
            <a:ext cx="14490700" cy="5435600"/>
          </a:xfrm>
          <a:prstGeom prst="rect">
            <a:avLst/>
          </a:prstGeom>
          <a:solidFill>
            <a:srgbClr val="000000">
              <a:alpha val="0"/>
            </a:srgbClr>
          </a:solidFill>
        </p:spPr>
      </p:sp>
      <p:sp>
        <p:nvSpPr>
          <p:cNvPr id="5" name="AutoShape 5"/>
          <p:cNvSpPr/>
          <p:nvPr/>
        </p:nvSpPr>
        <p:spPr>
          <a:xfrm>
            <a:off x="876300" y="1765300"/>
            <a:ext cx="3429000" cy="5435600"/>
          </a:xfrm>
          <a:prstGeom prst="roundRect">
            <a:avLst>
              <a:gd name="adj" fmla="val 2592"/>
            </a:avLst>
          </a:prstGeom>
          <a:solidFill>
            <a:srgbClr val="D1D1D1">
              <a:alpha val="71765"/>
            </a:srgbClr>
          </a:solidFill>
        </p:spPr>
      </p:sp>
      <p:sp>
        <p:nvSpPr>
          <p:cNvPr id="6" name="AutoShape 6"/>
          <p:cNvSpPr/>
          <p:nvPr/>
        </p:nvSpPr>
        <p:spPr>
          <a:xfrm>
            <a:off x="4559300" y="1765300"/>
            <a:ext cx="3429000" cy="5435600"/>
          </a:xfrm>
          <a:prstGeom prst="roundRect">
            <a:avLst>
              <a:gd name="adj" fmla="val 2592"/>
            </a:avLst>
          </a:prstGeom>
          <a:solidFill>
            <a:srgbClr val="D1D1D1">
              <a:alpha val="71765"/>
            </a:srgbClr>
          </a:solidFill>
        </p:spPr>
      </p:sp>
      <p:sp>
        <p:nvSpPr>
          <p:cNvPr id="7" name="AutoShape 7"/>
          <p:cNvSpPr/>
          <p:nvPr/>
        </p:nvSpPr>
        <p:spPr>
          <a:xfrm>
            <a:off x="8242300" y="1765300"/>
            <a:ext cx="3429000" cy="5435600"/>
          </a:xfrm>
          <a:prstGeom prst="roundRect">
            <a:avLst>
              <a:gd name="adj" fmla="val 2592"/>
            </a:avLst>
          </a:prstGeom>
          <a:solidFill>
            <a:srgbClr val="D1D1D1">
              <a:alpha val="71765"/>
            </a:srgbClr>
          </a:solidFill>
        </p:spPr>
      </p:sp>
      <p:sp>
        <p:nvSpPr>
          <p:cNvPr id="8" name="AutoShape 8"/>
          <p:cNvSpPr/>
          <p:nvPr/>
        </p:nvSpPr>
        <p:spPr>
          <a:xfrm>
            <a:off x="11938000" y="1765300"/>
            <a:ext cx="3429000" cy="5435600"/>
          </a:xfrm>
          <a:prstGeom prst="roundRect">
            <a:avLst>
              <a:gd name="adj" fmla="val 2592"/>
            </a:avLst>
          </a:prstGeom>
          <a:solidFill>
            <a:srgbClr val="D1D1D1">
              <a:alpha val="71765"/>
            </a:srgbClr>
          </a:solidFill>
        </p:spPr>
      </p:sp>
      <p:sp>
        <p:nvSpPr>
          <p:cNvPr id="9" name="TextBox 9"/>
          <p:cNvSpPr txBox="1"/>
          <p:nvPr/>
        </p:nvSpPr>
        <p:spPr>
          <a:xfrm>
            <a:off x="876300" y="876300"/>
            <a:ext cx="14490700" cy="596900"/>
          </a:xfrm>
          <a:prstGeom prst="rect">
            <a:avLst/>
          </a:prstGeom>
          <a:solidFill>
            <a:srgbClr val="000000">
              <a:alpha val="0"/>
            </a:srgbClr>
          </a:solidFill>
        </p:spPr>
        <p:txBody>
          <a:bodyPr lIns="0" tIns="0" rIns="0" bIns="0" rtlCol="0" anchor="ctr"/>
          <a:lstStyle/>
          <a:p>
            <a:pPr indent="0" algn="l">
              <a:lnSpc>
                <a:spcPct val="120000"/>
              </a:lnSpc>
              <a:defRPr/>
            </a:pPr>
            <a:r>
              <a:rPr lang="en-US" sz="3900" b="1">
                <a:solidFill>
                  <a:srgbClr val="000000"/>
                </a:solidFill>
                <a:latin typeface="Ubuntu"/>
              </a:rPr>
              <a:t>System Architecture: Four-Tier Modular Design</a:t>
            </a:r>
            <a:endParaRPr lang="en-US" sz="1100"/>
          </a:p>
        </p:txBody>
      </p:sp>
      <p:sp>
        <p:nvSpPr>
          <p:cNvPr id="10" name="TextBox 10"/>
          <p:cNvSpPr txBox="1"/>
          <p:nvPr/>
        </p:nvSpPr>
        <p:spPr>
          <a:xfrm>
            <a:off x="1130300" y="2019300"/>
            <a:ext cx="2921000" cy="901700"/>
          </a:xfrm>
          <a:prstGeom prst="rect">
            <a:avLst/>
          </a:prstGeom>
          <a:solidFill>
            <a:srgbClr val="000000">
              <a:alpha val="0"/>
            </a:srgbClr>
          </a:solidFill>
        </p:spPr>
        <p:txBody>
          <a:bodyPr lIns="0" tIns="0" rIns="0" bIns="0" rtlCol="0" anchor="ctr"/>
          <a:lstStyle/>
          <a:p>
            <a:pPr indent="0" algn="l">
              <a:lnSpc>
                <a:spcPct val="120000"/>
              </a:lnSpc>
              <a:defRPr/>
            </a:pPr>
            <a:r>
              <a:rPr lang="en-US" sz="2900" b="1">
                <a:solidFill>
                  <a:srgbClr val="000000"/>
                </a:solidFill>
                <a:latin typeface="Ubuntu"/>
              </a:rPr>
              <a:t>Tier 1 — Data Ingestion</a:t>
            </a:r>
            <a:endParaRPr lang="en-US" sz="1100"/>
          </a:p>
        </p:txBody>
      </p:sp>
      <p:sp>
        <p:nvSpPr>
          <p:cNvPr id="11" name="TextBox 11"/>
          <p:cNvSpPr txBox="1"/>
          <p:nvPr/>
        </p:nvSpPr>
        <p:spPr>
          <a:xfrm>
            <a:off x="4813300" y="2019300"/>
            <a:ext cx="2921000" cy="1358900"/>
          </a:xfrm>
          <a:prstGeom prst="rect">
            <a:avLst/>
          </a:prstGeom>
          <a:solidFill>
            <a:srgbClr val="000000">
              <a:alpha val="0"/>
            </a:srgbClr>
          </a:solidFill>
        </p:spPr>
        <p:txBody>
          <a:bodyPr lIns="0" tIns="0" rIns="0" bIns="0" rtlCol="0" anchor="ctr"/>
          <a:lstStyle/>
          <a:p>
            <a:pPr indent="0" algn="l">
              <a:lnSpc>
                <a:spcPct val="120000"/>
              </a:lnSpc>
              <a:defRPr/>
            </a:pPr>
            <a:r>
              <a:rPr lang="en-US" sz="2900" b="1">
                <a:solidFill>
                  <a:srgbClr val="000000"/>
                </a:solidFill>
                <a:latin typeface="Ubuntu"/>
              </a:rPr>
              <a:t>Tier 2 — Feature Processing</a:t>
            </a:r>
            <a:endParaRPr lang="en-US" sz="1100"/>
          </a:p>
        </p:txBody>
      </p:sp>
      <p:sp>
        <p:nvSpPr>
          <p:cNvPr id="12" name="TextBox 12"/>
          <p:cNvSpPr txBox="1"/>
          <p:nvPr/>
        </p:nvSpPr>
        <p:spPr>
          <a:xfrm>
            <a:off x="8496300" y="2019300"/>
            <a:ext cx="2921000" cy="901700"/>
          </a:xfrm>
          <a:prstGeom prst="rect">
            <a:avLst/>
          </a:prstGeom>
          <a:solidFill>
            <a:srgbClr val="000000">
              <a:alpha val="0"/>
            </a:srgbClr>
          </a:solidFill>
        </p:spPr>
        <p:txBody>
          <a:bodyPr lIns="0" tIns="0" rIns="0" bIns="0" rtlCol="0" anchor="ctr"/>
          <a:lstStyle/>
          <a:p>
            <a:pPr indent="0" algn="l">
              <a:lnSpc>
                <a:spcPct val="120000"/>
              </a:lnSpc>
              <a:defRPr/>
            </a:pPr>
            <a:r>
              <a:rPr lang="en-US" sz="2900" b="1">
                <a:solidFill>
                  <a:srgbClr val="000000"/>
                </a:solidFill>
                <a:latin typeface="Ubuntu"/>
              </a:rPr>
              <a:t>Tier 3 — Anomaly &amp; Risk</a:t>
            </a:r>
            <a:endParaRPr lang="en-US" sz="1100"/>
          </a:p>
        </p:txBody>
      </p:sp>
      <p:sp>
        <p:nvSpPr>
          <p:cNvPr id="13" name="TextBox 13"/>
          <p:cNvSpPr txBox="1"/>
          <p:nvPr/>
        </p:nvSpPr>
        <p:spPr>
          <a:xfrm>
            <a:off x="12179300" y="2019300"/>
            <a:ext cx="2921000" cy="1358900"/>
          </a:xfrm>
          <a:prstGeom prst="rect">
            <a:avLst/>
          </a:prstGeom>
          <a:solidFill>
            <a:srgbClr val="000000">
              <a:alpha val="0"/>
            </a:srgbClr>
          </a:solidFill>
        </p:spPr>
        <p:txBody>
          <a:bodyPr lIns="0" tIns="0" rIns="0" bIns="0" rtlCol="0" anchor="ctr"/>
          <a:lstStyle/>
          <a:p>
            <a:pPr indent="0" algn="l">
              <a:lnSpc>
                <a:spcPct val="120000"/>
              </a:lnSpc>
              <a:defRPr/>
            </a:pPr>
            <a:r>
              <a:rPr lang="en-US" sz="2900" b="1">
                <a:solidFill>
                  <a:srgbClr val="000000"/>
                </a:solidFill>
                <a:latin typeface="Ubuntu"/>
              </a:rPr>
              <a:t>Tier 4 — Operator Interface</a:t>
            </a:r>
            <a:endParaRPr lang="en-US" sz="1100"/>
          </a:p>
        </p:txBody>
      </p:sp>
      <p:sp>
        <p:nvSpPr>
          <p:cNvPr id="14" name="TextBox 14"/>
          <p:cNvSpPr txBox="1"/>
          <p:nvPr/>
        </p:nvSpPr>
        <p:spPr>
          <a:xfrm>
            <a:off x="1130300" y="3098800"/>
            <a:ext cx="2921000" cy="3771900"/>
          </a:xfrm>
          <a:prstGeom prst="rect">
            <a:avLst/>
          </a:prstGeom>
          <a:solidFill>
            <a:srgbClr val="000000">
              <a:alpha val="0"/>
            </a:srgbClr>
          </a:solidFill>
        </p:spPr>
        <p:txBody>
          <a:bodyPr lIns="0" tIns="0" rIns="0" bIns="0" rtlCol="0" anchor="ctr"/>
          <a:lstStyle/>
          <a:p>
            <a:pPr indent="0" algn="l">
              <a:lnSpc>
                <a:spcPct val="150000"/>
              </a:lnSpc>
              <a:defRPr/>
            </a:pPr>
            <a:r>
              <a:rPr lang="en-US" sz="1900" b="1">
                <a:solidFill>
                  <a:srgbClr val="000000"/>
                </a:solidFill>
                <a:latin typeface="Poppins"/>
              </a:rPr>
              <a:t>Collects raw telemetry from the experiment workspace and Rapid SCADA live streams, ensuring reliable, timestamped ingestion and initial validation for downstream processing.</a:t>
            </a:r>
            <a:endParaRPr lang="en-US" sz="1100"/>
          </a:p>
        </p:txBody>
      </p:sp>
      <p:sp>
        <p:nvSpPr>
          <p:cNvPr id="15" name="TextBox 15"/>
          <p:cNvSpPr txBox="1"/>
          <p:nvPr/>
        </p:nvSpPr>
        <p:spPr>
          <a:xfrm>
            <a:off x="4813300" y="3556000"/>
            <a:ext cx="2921000" cy="3390900"/>
          </a:xfrm>
          <a:prstGeom prst="rect">
            <a:avLst/>
          </a:prstGeom>
          <a:solidFill>
            <a:srgbClr val="000000">
              <a:alpha val="0"/>
            </a:srgbClr>
          </a:solidFill>
        </p:spPr>
        <p:txBody>
          <a:bodyPr lIns="0" tIns="0" rIns="0" bIns="0" rtlCol="0" anchor="ctr"/>
          <a:lstStyle/>
          <a:p>
            <a:pPr indent="0" algn="l">
              <a:lnSpc>
                <a:spcPct val="150000"/>
              </a:lnSpc>
              <a:defRPr/>
            </a:pPr>
            <a:r>
              <a:rPr lang="en-US" sz="1900" b="1">
                <a:solidFill>
                  <a:srgbClr val="000000"/>
                </a:solidFill>
                <a:latin typeface="Poppins"/>
              </a:rPr>
              <a:t>Processes sensor and operational data to extract features, mapping physical measurements to cyber baselines and normal behavior profiles for context-aware analysis.</a:t>
            </a:r>
            <a:endParaRPr lang="en-US" sz="1100"/>
          </a:p>
        </p:txBody>
      </p:sp>
      <p:sp>
        <p:nvSpPr>
          <p:cNvPr id="16" name="TextBox 16"/>
          <p:cNvSpPr txBox="1"/>
          <p:nvPr/>
        </p:nvSpPr>
        <p:spPr>
          <a:xfrm>
            <a:off x="8496300" y="3098800"/>
            <a:ext cx="2921000" cy="3390900"/>
          </a:xfrm>
          <a:prstGeom prst="rect">
            <a:avLst/>
          </a:prstGeom>
          <a:solidFill>
            <a:srgbClr val="000000">
              <a:alpha val="0"/>
            </a:srgbClr>
          </a:solidFill>
        </p:spPr>
        <p:txBody>
          <a:bodyPr lIns="0" tIns="0" rIns="0" bIns="0" rtlCol="0" anchor="ctr"/>
          <a:lstStyle/>
          <a:p>
            <a:pPr indent="0" algn="l">
              <a:lnSpc>
                <a:spcPct val="150000"/>
              </a:lnSpc>
              <a:defRPr/>
            </a:pPr>
            <a:r>
              <a:rPr lang="en-US" sz="1900" b="1">
                <a:solidFill>
                  <a:srgbClr val="000000"/>
                </a:solidFill>
                <a:latin typeface="Poppins"/>
              </a:rPr>
              <a:t>Performs anomaly scoring, risk assessment, and audit decision logic using statistical and ML models to prioritize incidents and generate forensic evidence traces.</a:t>
            </a:r>
            <a:endParaRPr lang="en-US" sz="1100"/>
          </a:p>
        </p:txBody>
      </p:sp>
      <p:sp>
        <p:nvSpPr>
          <p:cNvPr id="17" name="TextBox 17"/>
          <p:cNvSpPr txBox="1"/>
          <p:nvPr/>
        </p:nvSpPr>
        <p:spPr>
          <a:xfrm>
            <a:off x="12179300" y="3556000"/>
            <a:ext cx="2921000" cy="3022600"/>
          </a:xfrm>
          <a:prstGeom prst="rect">
            <a:avLst/>
          </a:prstGeom>
          <a:solidFill>
            <a:srgbClr val="000000">
              <a:alpha val="0"/>
            </a:srgbClr>
          </a:solidFill>
        </p:spPr>
        <p:txBody>
          <a:bodyPr lIns="0" tIns="0" rIns="0" bIns="0" rtlCol="0" anchor="ctr"/>
          <a:lstStyle/>
          <a:p>
            <a:pPr indent="0" algn="l">
              <a:lnSpc>
                <a:spcPct val="150000"/>
              </a:lnSpc>
              <a:defRPr/>
            </a:pPr>
            <a:r>
              <a:rPr lang="en-US" sz="1900" b="1">
                <a:solidFill>
                  <a:srgbClr val="000000"/>
                </a:solidFill>
                <a:latin typeface="Poppins"/>
              </a:rPr>
              <a:t>Provides dashboard visualization, alerts, and explainability tools for operators, enabling interactive investigation, drill-downs, and audit reporting.</a:t>
            </a:r>
            <a:endParaRPr lang="en-US" sz="1100"/>
          </a:p>
        </p:txBody>
      </p:sp>
      <p:sp>
        <p:nvSpPr>
          <p:cNvPr id="18" name="TextBox 18"/>
          <p:cNvSpPr txBox="1"/>
          <p:nvPr/>
        </p:nvSpPr>
        <p:spPr>
          <a:xfrm>
            <a:off x="876300" y="7493000"/>
            <a:ext cx="14490700" cy="749300"/>
          </a:xfrm>
          <a:prstGeom prst="rect">
            <a:avLst/>
          </a:prstGeom>
          <a:solidFill>
            <a:srgbClr val="000000">
              <a:alpha val="0"/>
            </a:srgbClr>
          </a:solidFill>
        </p:spPr>
        <p:txBody>
          <a:bodyPr lIns="0" tIns="0" rIns="0" bIns="0" rtlCol="0" anchor="ctr"/>
          <a:lstStyle/>
          <a:p>
            <a:pPr indent="0" algn="l">
              <a:lnSpc>
                <a:spcPct val="150000"/>
              </a:lnSpc>
              <a:defRPr/>
            </a:pPr>
            <a:r>
              <a:rPr lang="en-US" sz="1900" b="1">
                <a:solidFill>
                  <a:srgbClr val="000000"/>
                </a:solidFill>
                <a:latin typeface="Poppins"/>
              </a:rPr>
              <a:t>The right-side illustration represents the end-to-end SmartGrid AI Audit Framework, showing data flow from SCADA through processing tiers to the operator dashboard.</a:t>
            </a:r>
            <a:endParaRPr lang="en-US" sz="11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16256000" cy="9144000"/>
          </a:xfrm>
          <a:prstGeom prst="rect">
            <a:avLst/>
          </a:prstGeom>
          <a:solidFill>
            <a:srgbClr val="0D0A2C">
              <a:alpha val="74902"/>
            </a:srgbClr>
          </a:solidFill>
        </p:spPr>
      </p:sp>
      <p:pic>
        <p:nvPicPr>
          <p:cNvPr id="3" name="Picture 3"/>
          <p:cNvPicPr>
            <a:picLocks noChangeAspect="1"/>
          </p:cNvPicPr>
          <p:nvPr/>
        </p:nvPicPr>
        <p:blipFill>
          <a:blip r:embed="rId2"/>
          <a:srcRect t="56" b="56"/>
          <a:stretch>
            <a:fillRect/>
          </a:stretch>
        </p:blipFill>
        <p:spPr>
          <a:xfrm>
            <a:off x="0" y="0"/>
            <a:ext cx="16256000" cy="9144000"/>
          </a:xfrm>
          <a:prstGeom prst="rect">
            <a:avLst/>
          </a:prstGeom>
        </p:spPr>
      </p:pic>
      <p:sp>
        <p:nvSpPr>
          <p:cNvPr id="4" name="AutoShape 4"/>
          <p:cNvSpPr/>
          <p:nvPr/>
        </p:nvSpPr>
        <p:spPr>
          <a:xfrm>
            <a:off x="876300" y="2120900"/>
            <a:ext cx="14490700" cy="6337300"/>
          </a:xfrm>
          <a:prstGeom prst="rect">
            <a:avLst/>
          </a:prstGeom>
          <a:solidFill>
            <a:srgbClr val="000000">
              <a:alpha val="0"/>
            </a:srgbClr>
          </a:solidFill>
        </p:spPr>
      </p:sp>
      <p:sp>
        <p:nvSpPr>
          <p:cNvPr id="5" name="AutoShape 5"/>
          <p:cNvSpPr/>
          <p:nvPr/>
        </p:nvSpPr>
        <p:spPr>
          <a:xfrm>
            <a:off x="876300" y="2120900"/>
            <a:ext cx="3619500" cy="6337300"/>
          </a:xfrm>
          <a:prstGeom prst="rect">
            <a:avLst/>
          </a:prstGeom>
          <a:solidFill>
            <a:srgbClr val="000000">
              <a:alpha val="0"/>
            </a:srgbClr>
          </a:solidFill>
        </p:spPr>
      </p:sp>
      <p:sp>
        <p:nvSpPr>
          <p:cNvPr id="6" name="AutoShape 6"/>
          <p:cNvSpPr/>
          <p:nvPr/>
        </p:nvSpPr>
        <p:spPr>
          <a:xfrm>
            <a:off x="876300" y="2120900"/>
            <a:ext cx="3619500" cy="977900"/>
          </a:xfrm>
          <a:prstGeom prst="rect">
            <a:avLst/>
          </a:prstGeom>
          <a:solidFill>
            <a:srgbClr val="000000">
              <a:alpha val="0"/>
            </a:srgbClr>
          </a:solidFill>
        </p:spPr>
      </p:sp>
      <p:sp>
        <p:nvSpPr>
          <p:cNvPr id="7" name="AutoShape 7"/>
          <p:cNvSpPr/>
          <p:nvPr/>
        </p:nvSpPr>
        <p:spPr>
          <a:xfrm>
            <a:off x="4495800" y="2120900"/>
            <a:ext cx="3619500" cy="6337300"/>
          </a:xfrm>
          <a:prstGeom prst="rect">
            <a:avLst/>
          </a:prstGeom>
          <a:solidFill>
            <a:srgbClr val="000000">
              <a:alpha val="0"/>
            </a:srgbClr>
          </a:solidFill>
        </p:spPr>
      </p:sp>
      <p:sp>
        <p:nvSpPr>
          <p:cNvPr id="8" name="AutoShape 8"/>
          <p:cNvSpPr/>
          <p:nvPr/>
        </p:nvSpPr>
        <p:spPr>
          <a:xfrm>
            <a:off x="4495800" y="2120900"/>
            <a:ext cx="3619500" cy="977900"/>
          </a:xfrm>
          <a:prstGeom prst="rect">
            <a:avLst/>
          </a:prstGeom>
          <a:solidFill>
            <a:srgbClr val="000000">
              <a:alpha val="0"/>
            </a:srgbClr>
          </a:solidFill>
        </p:spPr>
      </p:sp>
      <p:sp>
        <p:nvSpPr>
          <p:cNvPr id="9" name="AutoShape 9"/>
          <p:cNvSpPr/>
          <p:nvPr/>
        </p:nvSpPr>
        <p:spPr>
          <a:xfrm>
            <a:off x="8115300" y="2120900"/>
            <a:ext cx="3619500" cy="6337300"/>
          </a:xfrm>
          <a:prstGeom prst="rect">
            <a:avLst/>
          </a:prstGeom>
          <a:solidFill>
            <a:srgbClr val="000000">
              <a:alpha val="0"/>
            </a:srgbClr>
          </a:solidFill>
        </p:spPr>
      </p:sp>
      <p:sp>
        <p:nvSpPr>
          <p:cNvPr id="10" name="AutoShape 10"/>
          <p:cNvSpPr/>
          <p:nvPr/>
        </p:nvSpPr>
        <p:spPr>
          <a:xfrm>
            <a:off x="8115300" y="2120900"/>
            <a:ext cx="3619500" cy="977900"/>
          </a:xfrm>
          <a:prstGeom prst="rect">
            <a:avLst/>
          </a:prstGeom>
          <a:solidFill>
            <a:srgbClr val="000000">
              <a:alpha val="0"/>
            </a:srgbClr>
          </a:solidFill>
        </p:spPr>
      </p:sp>
      <p:sp>
        <p:nvSpPr>
          <p:cNvPr id="11" name="AutoShape 11"/>
          <p:cNvSpPr/>
          <p:nvPr/>
        </p:nvSpPr>
        <p:spPr>
          <a:xfrm>
            <a:off x="11747500" y="2120900"/>
            <a:ext cx="3619500" cy="6337300"/>
          </a:xfrm>
          <a:prstGeom prst="rect">
            <a:avLst/>
          </a:prstGeom>
          <a:solidFill>
            <a:srgbClr val="000000">
              <a:alpha val="0"/>
            </a:srgbClr>
          </a:solidFill>
        </p:spPr>
      </p:sp>
      <p:sp>
        <p:nvSpPr>
          <p:cNvPr id="12" name="AutoShape 12"/>
          <p:cNvSpPr/>
          <p:nvPr/>
        </p:nvSpPr>
        <p:spPr>
          <a:xfrm>
            <a:off x="11747500" y="2120900"/>
            <a:ext cx="3619500" cy="977900"/>
          </a:xfrm>
          <a:prstGeom prst="rect">
            <a:avLst/>
          </a:prstGeom>
          <a:solidFill>
            <a:srgbClr val="000000">
              <a:alpha val="0"/>
            </a:srgbClr>
          </a:solidFill>
        </p:spPr>
      </p:sp>
      <p:pic>
        <p:nvPicPr>
          <p:cNvPr id="13" name="Picture 13"/>
          <p:cNvPicPr>
            <a:picLocks noChangeAspect="1"/>
          </p:cNvPicPr>
          <p:nvPr/>
        </p:nvPicPr>
        <p:blipFill>
          <a:blip r:embed="rId3"/>
          <a:stretch>
            <a:fillRect/>
          </a:stretch>
        </p:blipFill>
        <p:spPr>
          <a:xfrm>
            <a:off x="901700" y="2120900"/>
            <a:ext cx="3543300" cy="977900"/>
          </a:xfrm>
          <a:prstGeom prst="rect">
            <a:avLst/>
          </a:prstGeom>
        </p:spPr>
      </p:pic>
      <p:pic>
        <p:nvPicPr>
          <p:cNvPr id="14" name="Picture 14"/>
          <p:cNvPicPr>
            <a:picLocks noChangeAspect="1"/>
          </p:cNvPicPr>
          <p:nvPr/>
        </p:nvPicPr>
        <p:blipFill>
          <a:blip r:embed="rId3"/>
          <a:stretch>
            <a:fillRect/>
          </a:stretch>
        </p:blipFill>
        <p:spPr>
          <a:xfrm>
            <a:off x="4521200" y="2120900"/>
            <a:ext cx="3543300" cy="977900"/>
          </a:xfrm>
          <a:prstGeom prst="rect">
            <a:avLst/>
          </a:prstGeom>
        </p:spPr>
      </p:pic>
      <p:pic>
        <p:nvPicPr>
          <p:cNvPr id="15" name="Picture 15"/>
          <p:cNvPicPr>
            <a:picLocks noChangeAspect="1"/>
          </p:cNvPicPr>
          <p:nvPr/>
        </p:nvPicPr>
        <p:blipFill>
          <a:blip r:embed="rId3"/>
          <a:stretch>
            <a:fillRect/>
          </a:stretch>
        </p:blipFill>
        <p:spPr>
          <a:xfrm>
            <a:off x="8140700" y="2120900"/>
            <a:ext cx="3543300" cy="977900"/>
          </a:xfrm>
          <a:prstGeom prst="rect">
            <a:avLst/>
          </a:prstGeom>
        </p:spPr>
      </p:pic>
      <p:pic>
        <p:nvPicPr>
          <p:cNvPr id="16" name="Picture 16"/>
          <p:cNvPicPr>
            <a:picLocks noChangeAspect="1"/>
          </p:cNvPicPr>
          <p:nvPr/>
        </p:nvPicPr>
        <p:blipFill>
          <a:blip r:embed="rId3"/>
          <a:stretch>
            <a:fillRect/>
          </a:stretch>
        </p:blipFill>
        <p:spPr>
          <a:xfrm>
            <a:off x="11772900" y="2120900"/>
            <a:ext cx="3543300" cy="977900"/>
          </a:xfrm>
          <a:prstGeom prst="rect">
            <a:avLst/>
          </a:prstGeom>
        </p:spPr>
      </p:pic>
      <p:sp>
        <p:nvSpPr>
          <p:cNvPr id="17" name="TextBox 17"/>
          <p:cNvSpPr txBox="1"/>
          <p:nvPr/>
        </p:nvSpPr>
        <p:spPr>
          <a:xfrm>
            <a:off x="876300" y="673100"/>
            <a:ext cx="14490700" cy="1168400"/>
          </a:xfrm>
          <a:prstGeom prst="rect">
            <a:avLst/>
          </a:prstGeom>
          <a:solidFill>
            <a:srgbClr val="000000">
              <a:alpha val="0"/>
            </a:srgbClr>
          </a:solidFill>
        </p:spPr>
        <p:txBody>
          <a:bodyPr lIns="0" tIns="0" rIns="0" bIns="0" rtlCol="0" anchor="ctr"/>
          <a:lstStyle/>
          <a:p>
            <a:pPr indent="0" algn="l">
              <a:lnSpc>
                <a:spcPct val="120000"/>
              </a:lnSpc>
              <a:defRPr/>
            </a:pPr>
            <a:r>
              <a:rPr lang="en-US" sz="3800" b="1">
                <a:solidFill>
                  <a:srgbClr val="000000"/>
                </a:solidFill>
                <a:latin typeface="Ubuntu"/>
              </a:rPr>
              <a:t>Two-Workspace Design: Separation of Experiment and Operational Contexts</a:t>
            </a:r>
            <a:endParaRPr lang="en-US" sz="1100"/>
          </a:p>
        </p:txBody>
      </p:sp>
      <p:sp>
        <p:nvSpPr>
          <p:cNvPr id="18" name="TextBox 18"/>
          <p:cNvSpPr txBox="1"/>
          <p:nvPr/>
        </p:nvSpPr>
        <p:spPr>
          <a:xfrm>
            <a:off x="876300" y="2463800"/>
            <a:ext cx="3619500" cy="292100"/>
          </a:xfrm>
          <a:prstGeom prst="rect">
            <a:avLst/>
          </a:prstGeom>
          <a:solidFill>
            <a:srgbClr val="000000">
              <a:alpha val="0"/>
            </a:srgbClr>
          </a:solidFill>
        </p:spPr>
        <p:txBody>
          <a:bodyPr lIns="0" tIns="0" rIns="0" bIns="0" rtlCol="0" anchor="ctr"/>
          <a:lstStyle/>
          <a:p>
            <a:pPr indent="0" algn="ctr">
              <a:lnSpc>
                <a:spcPct val="120000"/>
              </a:lnSpc>
              <a:defRPr/>
            </a:pPr>
            <a:r>
              <a:rPr lang="en-US" sz="1900" b="1">
                <a:solidFill>
                  <a:srgbClr val="000000"/>
                </a:solidFill>
                <a:highlight>
                  <a:srgbClr val="000000">
                    <a:alpha val="0"/>
                  </a:srgbClr>
                </a:highlight>
                <a:latin typeface="Ubuntu"/>
              </a:rPr>
              <a:t>1</a:t>
            </a:r>
            <a:endParaRPr lang="en-US" sz="1100"/>
          </a:p>
        </p:txBody>
      </p:sp>
      <p:sp>
        <p:nvSpPr>
          <p:cNvPr id="19" name="TextBox 19"/>
          <p:cNvSpPr txBox="1"/>
          <p:nvPr/>
        </p:nvSpPr>
        <p:spPr>
          <a:xfrm>
            <a:off x="1130300" y="3403600"/>
            <a:ext cx="3111500" cy="1320800"/>
          </a:xfrm>
          <a:prstGeom prst="rect">
            <a:avLst/>
          </a:prstGeom>
          <a:solidFill>
            <a:srgbClr val="000000">
              <a:alpha val="0"/>
            </a:srgbClr>
          </a:solidFill>
        </p:spPr>
        <p:txBody>
          <a:bodyPr lIns="0" tIns="0" rIns="0" bIns="0" rtlCol="0" anchor="ctr"/>
          <a:lstStyle/>
          <a:p>
            <a:pPr indent="0" algn="l">
              <a:lnSpc>
                <a:spcPct val="120000"/>
              </a:lnSpc>
              <a:defRPr/>
            </a:pPr>
            <a:r>
              <a:rPr lang="en-US" sz="2900" b="1">
                <a:solidFill>
                  <a:srgbClr val="000000"/>
                </a:solidFill>
                <a:latin typeface="Ubuntu"/>
              </a:rPr>
              <a:t>Experiment Running Workspace</a:t>
            </a:r>
            <a:endParaRPr lang="en-US" sz="1100"/>
          </a:p>
        </p:txBody>
      </p:sp>
      <p:sp>
        <p:nvSpPr>
          <p:cNvPr id="20" name="TextBox 20"/>
          <p:cNvSpPr txBox="1"/>
          <p:nvPr/>
        </p:nvSpPr>
        <p:spPr>
          <a:xfrm>
            <a:off x="4495800" y="2463800"/>
            <a:ext cx="3619500" cy="292100"/>
          </a:xfrm>
          <a:prstGeom prst="rect">
            <a:avLst/>
          </a:prstGeom>
          <a:solidFill>
            <a:srgbClr val="000000">
              <a:alpha val="0"/>
            </a:srgbClr>
          </a:solidFill>
        </p:spPr>
        <p:txBody>
          <a:bodyPr lIns="0" tIns="0" rIns="0" bIns="0" rtlCol="0" anchor="ctr"/>
          <a:lstStyle/>
          <a:p>
            <a:pPr indent="0" algn="ctr">
              <a:lnSpc>
                <a:spcPct val="120000"/>
              </a:lnSpc>
              <a:defRPr/>
            </a:pPr>
            <a:r>
              <a:rPr lang="en-US" sz="1900" b="1">
                <a:solidFill>
                  <a:srgbClr val="000000"/>
                </a:solidFill>
                <a:highlight>
                  <a:srgbClr val="000000">
                    <a:alpha val="0"/>
                  </a:srgbClr>
                </a:highlight>
                <a:latin typeface="Ubuntu"/>
              </a:rPr>
              <a:t>2</a:t>
            </a:r>
            <a:endParaRPr lang="en-US" sz="1100"/>
          </a:p>
        </p:txBody>
      </p:sp>
      <p:sp>
        <p:nvSpPr>
          <p:cNvPr id="21" name="TextBox 21"/>
          <p:cNvSpPr txBox="1"/>
          <p:nvPr/>
        </p:nvSpPr>
        <p:spPr>
          <a:xfrm>
            <a:off x="4749800" y="3403600"/>
            <a:ext cx="3111500" cy="876300"/>
          </a:xfrm>
          <a:prstGeom prst="rect">
            <a:avLst/>
          </a:prstGeom>
          <a:solidFill>
            <a:srgbClr val="000000">
              <a:alpha val="0"/>
            </a:srgbClr>
          </a:solidFill>
        </p:spPr>
        <p:txBody>
          <a:bodyPr lIns="0" tIns="0" rIns="0" bIns="0" rtlCol="0" anchor="ctr"/>
          <a:lstStyle/>
          <a:p>
            <a:pPr indent="0" algn="l">
              <a:lnSpc>
                <a:spcPct val="120000"/>
              </a:lnSpc>
              <a:defRPr/>
            </a:pPr>
            <a:r>
              <a:rPr lang="en-US" sz="2900" b="1">
                <a:solidFill>
                  <a:srgbClr val="000000"/>
                </a:solidFill>
                <a:latin typeface="Ubuntu"/>
              </a:rPr>
              <a:t>Rapid SCADA Live Workspace</a:t>
            </a:r>
            <a:endParaRPr lang="en-US" sz="1100"/>
          </a:p>
        </p:txBody>
      </p:sp>
      <p:sp>
        <p:nvSpPr>
          <p:cNvPr id="22" name="TextBox 22"/>
          <p:cNvSpPr txBox="1"/>
          <p:nvPr/>
        </p:nvSpPr>
        <p:spPr>
          <a:xfrm>
            <a:off x="8115300" y="2463800"/>
            <a:ext cx="3619500" cy="292100"/>
          </a:xfrm>
          <a:prstGeom prst="rect">
            <a:avLst/>
          </a:prstGeom>
          <a:solidFill>
            <a:srgbClr val="000000">
              <a:alpha val="0"/>
            </a:srgbClr>
          </a:solidFill>
        </p:spPr>
        <p:txBody>
          <a:bodyPr lIns="0" tIns="0" rIns="0" bIns="0" rtlCol="0" anchor="ctr"/>
          <a:lstStyle/>
          <a:p>
            <a:pPr indent="0" algn="ctr">
              <a:lnSpc>
                <a:spcPct val="120000"/>
              </a:lnSpc>
              <a:defRPr/>
            </a:pPr>
            <a:r>
              <a:rPr lang="en-US" sz="1900" b="1">
                <a:solidFill>
                  <a:srgbClr val="000000"/>
                </a:solidFill>
                <a:highlight>
                  <a:srgbClr val="000000">
                    <a:alpha val="0"/>
                  </a:srgbClr>
                </a:highlight>
                <a:latin typeface="Ubuntu"/>
              </a:rPr>
              <a:t>3</a:t>
            </a:r>
            <a:endParaRPr lang="en-US" sz="1100"/>
          </a:p>
        </p:txBody>
      </p:sp>
      <p:sp>
        <p:nvSpPr>
          <p:cNvPr id="23" name="TextBox 23"/>
          <p:cNvSpPr txBox="1"/>
          <p:nvPr/>
        </p:nvSpPr>
        <p:spPr>
          <a:xfrm>
            <a:off x="8369300" y="3403600"/>
            <a:ext cx="3111500" cy="1320800"/>
          </a:xfrm>
          <a:prstGeom prst="rect">
            <a:avLst/>
          </a:prstGeom>
          <a:solidFill>
            <a:srgbClr val="000000">
              <a:alpha val="0"/>
            </a:srgbClr>
          </a:solidFill>
        </p:spPr>
        <p:txBody>
          <a:bodyPr lIns="0" tIns="0" rIns="0" bIns="0" rtlCol="0" anchor="ctr"/>
          <a:lstStyle/>
          <a:p>
            <a:pPr indent="0" algn="l">
              <a:lnSpc>
                <a:spcPct val="120000"/>
              </a:lnSpc>
              <a:defRPr/>
            </a:pPr>
            <a:r>
              <a:rPr lang="en-US" sz="2900" b="1">
                <a:solidFill>
                  <a:srgbClr val="000000"/>
                </a:solidFill>
                <a:latin typeface="Ubuntu"/>
              </a:rPr>
              <a:t>Isolation of Experimental Outputs</a:t>
            </a:r>
            <a:endParaRPr lang="en-US" sz="1100"/>
          </a:p>
        </p:txBody>
      </p:sp>
      <p:sp>
        <p:nvSpPr>
          <p:cNvPr id="24" name="TextBox 24"/>
          <p:cNvSpPr txBox="1"/>
          <p:nvPr/>
        </p:nvSpPr>
        <p:spPr>
          <a:xfrm>
            <a:off x="11747500" y="2463800"/>
            <a:ext cx="3619500" cy="292100"/>
          </a:xfrm>
          <a:prstGeom prst="rect">
            <a:avLst/>
          </a:prstGeom>
          <a:solidFill>
            <a:srgbClr val="000000">
              <a:alpha val="0"/>
            </a:srgbClr>
          </a:solidFill>
        </p:spPr>
        <p:txBody>
          <a:bodyPr lIns="0" tIns="0" rIns="0" bIns="0" rtlCol="0" anchor="ctr"/>
          <a:lstStyle/>
          <a:p>
            <a:pPr indent="0" algn="ctr">
              <a:lnSpc>
                <a:spcPct val="120000"/>
              </a:lnSpc>
              <a:defRPr/>
            </a:pPr>
            <a:r>
              <a:rPr lang="en-US" sz="1900" b="1">
                <a:solidFill>
                  <a:srgbClr val="000000"/>
                </a:solidFill>
                <a:highlight>
                  <a:srgbClr val="000000">
                    <a:alpha val="0"/>
                  </a:srgbClr>
                </a:highlight>
                <a:latin typeface="Ubuntu"/>
              </a:rPr>
              <a:t>4</a:t>
            </a:r>
            <a:endParaRPr lang="en-US" sz="1100"/>
          </a:p>
        </p:txBody>
      </p:sp>
      <p:sp>
        <p:nvSpPr>
          <p:cNvPr id="25" name="TextBox 25"/>
          <p:cNvSpPr txBox="1"/>
          <p:nvPr/>
        </p:nvSpPr>
        <p:spPr>
          <a:xfrm>
            <a:off x="12001500" y="3403600"/>
            <a:ext cx="3111500" cy="876300"/>
          </a:xfrm>
          <a:prstGeom prst="rect">
            <a:avLst/>
          </a:prstGeom>
          <a:solidFill>
            <a:srgbClr val="000000">
              <a:alpha val="0"/>
            </a:srgbClr>
          </a:solidFill>
        </p:spPr>
        <p:txBody>
          <a:bodyPr lIns="0" tIns="0" rIns="0" bIns="0" rtlCol="0" anchor="ctr"/>
          <a:lstStyle/>
          <a:p>
            <a:pPr indent="0" algn="l">
              <a:lnSpc>
                <a:spcPct val="120000"/>
              </a:lnSpc>
              <a:defRPr/>
            </a:pPr>
            <a:r>
              <a:rPr lang="en-US" sz="2900" b="1">
                <a:solidFill>
                  <a:srgbClr val="000000"/>
                </a:solidFill>
                <a:latin typeface="Ubuntu"/>
              </a:rPr>
              <a:t>Technical Interpretability</a:t>
            </a:r>
            <a:endParaRPr lang="en-US" sz="1100"/>
          </a:p>
        </p:txBody>
      </p:sp>
      <p:sp>
        <p:nvSpPr>
          <p:cNvPr id="26" name="TextBox 26"/>
          <p:cNvSpPr txBox="1"/>
          <p:nvPr/>
        </p:nvSpPr>
        <p:spPr>
          <a:xfrm>
            <a:off x="1130300" y="4902200"/>
            <a:ext cx="3111500" cy="3314700"/>
          </a:xfrm>
          <a:prstGeom prst="rect">
            <a:avLst/>
          </a:prstGeom>
          <a:solidFill>
            <a:srgbClr val="000000">
              <a:alpha val="0"/>
            </a:srgbClr>
          </a:solidFill>
        </p:spPr>
        <p:txBody>
          <a:bodyPr lIns="0" tIns="0" rIns="0" bIns="0" rtlCol="0" anchor="ctr"/>
          <a:lstStyle/>
          <a:p>
            <a:pPr indent="0" algn="l">
              <a:lnSpc>
                <a:spcPct val="150000"/>
              </a:lnSpc>
              <a:defRPr/>
            </a:pPr>
            <a:r>
              <a:rPr lang="en-US" sz="1900" b="1">
                <a:solidFill>
                  <a:srgbClr val="000000"/>
                </a:solidFill>
                <a:latin typeface="Poppins"/>
              </a:rPr>
              <a:t>Simulation, benchmarking, and ablation analysis conducted across varied grid sizes to evaluate models and configurations in an isolated experimental environment.</a:t>
            </a:r>
            <a:endParaRPr lang="en-US" sz="1100"/>
          </a:p>
        </p:txBody>
      </p:sp>
      <p:sp>
        <p:nvSpPr>
          <p:cNvPr id="27" name="TextBox 27"/>
          <p:cNvSpPr txBox="1"/>
          <p:nvPr/>
        </p:nvSpPr>
        <p:spPr>
          <a:xfrm>
            <a:off x="4749800" y="4457700"/>
            <a:ext cx="3111500" cy="2578100"/>
          </a:xfrm>
          <a:prstGeom prst="rect">
            <a:avLst/>
          </a:prstGeom>
          <a:solidFill>
            <a:srgbClr val="000000">
              <a:alpha val="0"/>
            </a:srgbClr>
          </a:solidFill>
        </p:spPr>
        <p:txBody>
          <a:bodyPr lIns="0" tIns="0" rIns="0" bIns="0" rtlCol="0" anchor="ctr"/>
          <a:lstStyle/>
          <a:p>
            <a:pPr indent="0" algn="l">
              <a:lnSpc>
                <a:spcPct val="150000"/>
              </a:lnSpc>
              <a:defRPr/>
            </a:pPr>
            <a:r>
              <a:rPr lang="en-US" sz="1900" b="1">
                <a:solidFill>
                  <a:srgbClr val="000000"/>
                </a:solidFill>
                <a:latin typeface="Poppins"/>
              </a:rPr>
              <a:t>Real-time monitoring of operational systems with anomaly scoring and audit support to ensure continuous visibility and rapid response in production.</a:t>
            </a:r>
            <a:endParaRPr lang="en-US" sz="1100"/>
          </a:p>
        </p:txBody>
      </p:sp>
      <p:sp>
        <p:nvSpPr>
          <p:cNvPr id="28" name="TextBox 28"/>
          <p:cNvSpPr txBox="1"/>
          <p:nvPr/>
        </p:nvSpPr>
        <p:spPr>
          <a:xfrm>
            <a:off x="8369300" y="4902200"/>
            <a:ext cx="3111500" cy="2578100"/>
          </a:xfrm>
          <a:prstGeom prst="rect">
            <a:avLst/>
          </a:prstGeom>
          <a:solidFill>
            <a:srgbClr val="000000">
              <a:alpha val="0"/>
            </a:srgbClr>
          </a:solidFill>
        </p:spPr>
        <p:txBody>
          <a:bodyPr lIns="0" tIns="0" rIns="0" bIns="0" rtlCol="0" anchor="ctr"/>
          <a:lstStyle/>
          <a:p>
            <a:pPr indent="0" algn="l">
              <a:lnSpc>
                <a:spcPct val="150000"/>
              </a:lnSpc>
              <a:defRPr/>
            </a:pPr>
            <a:r>
              <a:rPr lang="en-US" sz="1900" b="1">
                <a:solidFill>
                  <a:srgbClr val="000000"/>
                </a:solidFill>
                <a:latin typeface="Poppins"/>
              </a:rPr>
              <a:t>Prevents experimental outputs from interfering with live operational data by enforcing strict separation and controlled data flows between environments.</a:t>
            </a:r>
            <a:endParaRPr lang="en-US" sz="1100"/>
          </a:p>
        </p:txBody>
      </p:sp>
      <p:sp>
        <p:nvSpPr>
          <p:cNvPr id="29" name="TextBox 29"/>
          <p:cNvSpPr txBox="1"/>
          <p:nvPr/>
        </p:nvSpPr>
        <p:spPr>
          <a:xfrm>
            <a:off x="12001500" y="4457700"/>
            <a:ext cx="3111500" cy="2578100"/>
          </a:xfrm>
          <a:prstGeom prst="rect">
            <a:avLst/>
          </a:prstGeom>
          <a:solidFill>
            <a:srgbClr val="000000">
              <a:alpha val="0"/>
            </a:srgbClr>
          </a:solidFill>
        </p:spPr>
        <p:txBody>
          <a:bodyPr lIns="0" tIns="0" rIns="0" bIns="0" rtlCol="0" anchor="ctr"/>
          <a:lstStyle/>
          <a:p>
            <a:pPr indent="0" algn="l">
              <a:lnSpc>
                <a:spcPct val="150000"/>
              </a:lnSpc>
              <a:defRPr/>
            </a:pPr>
            <a:r>
              <a:rPr lang="en-US" sz="1900" b="1">
                <a:solidFill>
                  <a:srgbClr val="000000"/>
                </a:solidFill>
                <a:latin typeface="Poppins"/>
              </a:rPr>
              <a:t>Ensures interpretability for both evaluation and monitoring use cases through consistent logging, metrics, and explainability tools across workspaces.</a:t>
            </a:r>
            <a:endParaRPr lang="en-US" sz="11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16256000" cy="9144000"/>
          </a:xfrm>
          <a:prstGeom prst="rect">
            <a:avLst/>
          </a:prstGeom>
          <a:solidFill>
            <a:srgbClr val="0D0A2C">
              <a:alpha val="74902"/>
            </a:srgbClr>
          </a:solidFill>
        </p:spPr>
      </p:sp>
      <p:pic>
        <p:nvPicPr>
          <p:cNvPr id="3" name="Picture 3"/>
          <p:cNvPicPr>
            <a:picLocks noChangeAspect="1"/>
          </p:cNvPicPr>
          <p:nvPr/>
        </p:nvPicPr>
        <p:blipFill>
          <a:blip r:embed="rId2"/>
          <a:srcRect t="56" b="56"/>
          <a:stretch>
            <a:fillRect/>
          </a:stretch>
        </p:blipFill>
        <p:spPr>
          <a:xfrm>
            <a:off x="0" y="0"/>
            <a:ext cx="16256000" cy="9144000"/>
          </a:xfrm>
          <a:prstGeom prst="rect">
            <a:avLst/>
          </a:prstGeom>
        </p:spPr>
      </p:pic>
      <p:sp>
        <p:nvSpPr>
          <p:cNvPr id="4" name="AutoShape 4"/>
          <p:cNvSpPr/>
          <p:nvPr/>
        </p:nvSpPr>
        <p:spPr>
          <a:xfrm>
            <a:off x="876300" y="1536700"/>
            <a:ext cx="14490700" cy="7112000"/>
          </a:xfrm>
          <a:prstGeom prst="rect">
            <a:avLst/>
          </a:prstGeom>
          <a:solidFill>
            <a:srgbClr val="000000">
              <a:alpha val="0"/>
            </a:srgbClr>
          </a:solidFill>
        </p:spPr>
      </p:sp>
      <p:sp>
        <p:nvSpPr>
          <p:cNvPr id="5" name="AutoShape 5"/>
          <p:cNvSpPr/>
          <p:nvPr/>
        </p:nvSpPr>
        <p:spPr>
          <a:xfrm>
            <a:off x="876300" y="1536700"/>
            <a:ext cx="14490700" cy="1066800"/>
          </a:xfrm>
          <a:prstGeom prst="rect">
            <a:avLst/>
          </a:prstGeom>
          <a:solidFill>
            <a:srgbClr val="000000">
              <a:alpha val="0"/>
            </a:srgbClr>
          </a:solidFill>
        </p:spPr>
      </p:sp>
      <p:sp>
        <p:nvSpPr>
          <p:cNvPr id="6" name="AutoShape 6"/>
          <p:cNvSpPr/>
          <p:nvPr/>
        </p:nvSpPr>
        <p:spPr>
          <a:xfrm>
            <a:off x="876300" y="1536700"/>
            <a:ext cx="14490700" cy="1066800"/>
          </a:xfrm>
          <a:prstGeom prst="roundRect">
            <a:avLst>
              <a:gd name="adj" fmla="val 4761"/>
            </a:avLst>
          </a:prstGeom>
          <a:solidFill>
            <a:srgbClr val="000000">
              <a:alpha val="0"/>
            </a:srgbClr>
          </a:solidFill>
        </p:spPr>
      </p:sp>
      <p:sp>
        <p:nvSpPr>
          <p:cNvPr id="7" name="AutoShape 7"/>
          <p:cNvSpPr/>
          <p:nvPr/>
        </p:nvSpPr>
        <p:spPr>
          <a:xfrm>
            <a:off x="876300" y="1536700"/>
            <a:ext cx="241300" cy="1066800"/>
          </a:xfrm>
          <a:prstGeom prst="roundRect">
            <a:avLst>
              <a:gd name="adj" fmla="val 26315"/>
            </a:avLst>
          </a:prstGeom>
          <a:solidFill>
            <a:srgbClr val="D1D1D1"/>
          </a:solidFill>
        </p:spPr>
      </p:sp>
      <p:sp>
        <p:nvSpPr>
          <p:cNvPr id="8" name="AutoShape 8"/>
          <p:cNvSpPr/>
          <p:nvPr/>
        </p:nvSpPr>
        <p:spPr>
          <a:xfrm>
            <a:off x="1257300" y="3048000"/>
            <a:ext cx="14109700" cy="1066800"/>
          </a:xfrm>
          <a:prstGeom prst="rect">
            <a:avLst/>
          </a:prstGeom>
          <a:solidFill>
            <a:srgbClr val="000000">
              <a:alpha val="0"/>
            </a:srgbClr>
          </a:solidFill>
        </p:spPr>
      </p:sp>
      <p:sp>
        <p:nvSpPr>
          <p:cNvPr id="9" name="AutoShape 9"/>
          <p:cNvSpPr/>
          <p:nvPr/>
        </p:nvSpPr>
        <p:spPr>
          <a:xfrm>
            <a:off x="1257300" y="3048000"/>
            <a:ext cx="14109700" cy="1066800"/>
          </a:xfrm>
          <a:prstGeom prst="roundRect">
            <a:avLst>
              <a:gd name="adj" fmla="val 4761"/>
            </a:avLst>
          </a:prstGeom>
          <a:solidFill>
            <a:srgbClr val="000000">
              <a:alpha val="0"/>
            </a:srgbClr>
          </a:solidFill>
        </p:spPr>
      </p:sp>
      <p:sp>
        <p:nvSpPr>
          <p:cNvPr id="10" name="AutoShape 10"/>
          <p:cNvSpPr/>
          <p:nvPr/>
        </p:nvSpPr>
        <p:spPr>
          <a:xfrm>
            <a:off x="1257300" y="3048000"/>
            <a:ext cx="241300" cy="1066800"/>
          </a:xfrm>
          <a:prstGeom prst="roundRect">
            <a:avLst>
              <a:gd name="adj" fmla="val 26315"/>
            </a:avLst>
          </a:prstGeom>
          <a:solidFill>
            <a:srgbClr val="D1D1D1"/>
          </a:solidFill>
        </p:spPr>
      </p:sp>
      <p:sp>
        <p:nvSpPr>
          <p:cNvPr id="11" name="AutoShape 11"/>
          <p:cNvSpPr/>
          <p:nvPr/>
        </p:nvSpPr>
        <p:spPr>
          <a:xfrm>
            <a:off x="1625600" y="4559300"/>
            <a:ext cx="13728700" cy="1066800"/>
          </a:xfrm>
          <a:prstGeom prst="rect">
            <a:avLst/>
          </a:prstGeom>
          <a:solidFill>
            <a:srgbClr val="000000">
              <a:alpha val="0"/>
            </a:srgbClr>
          </a:solidFill>
        </p:spPr>
      </p:sp>
      <p:sp>
        <p:nvSpPr>
          <p:cNvPr id="12" name="AutoShape 12"/>
          <p:cNvSpPr/>
          <p:nvPr/>
        </p:nvSpPr>
        <p:spPr>
          <a:xfrm>
            <a:off x="1625600" y="4559300"/>
            <a:ext cx="13728700" cy="1066800"/>
          </a:xfrm>
          <a:prstGeom prst="roundRect">
            <a:avLst>
              <a:gd name="adj" fmla="val 4761"/>
            </a:avLst>
          </a:prstGeom>
          <a:solidFill>
            <a:srgbClr val="000000">
              <a:alpha val="0"/>
            </a:srgbClr>
          </a:solidFill>
        </p:spPr>
      </p:sp>
      <p:sp>
        <p:nvSpPr>
          <p:cNvPr id="13" name="AutoShape 13"/>
          <p:cNvSpPr/>
          <p:nvPr/>
        </p:nvSpPr>
        <p:spPr>
          <a:xfrm>
            <a:off x="1625600" y="4559300"/>
            <a:ext cx="241300" cy="1066800"/>
          </a:xfrm>
          <a:prstGeom prst="roundRect">
            <a:avLst>
              <a:gd name="adj" fmla="val 26315"/>
            </a:avLst>
          </a:prstGeom>
          <a:solidFill>
            <a:srgbClr val="D1D1D1"/>
          </a:solidFill>
        </p:spPr>
      </p:sp>
      <p:sp>
        <p:nvSpPr>
          <p:cNvPr id="14" name="AutoShape 14"/>
          <p:cNvSpPr/>
          <p:nvPr/>
        </p:nvSpPr>
        <p:spPr>
          <a:xfrm>
            <a:off x="2006600" y="6070600"/>
            <a:ext cx="13347700" cy="1066800"/>
          </a:xfrm>
          <a:prstGeom prst="rect">
            <a:avLst/>
          </a:prstGeom>
          <a:solidFill>
            <a:srgbClr val="000000">
              <a:alpha val="0"/>
            </a:srgbClr>
          </a:solidFill>
        </p:spPr>
      </p:sp>
      <p:sp>
        <p:nvSpPr>
          <p:cNvPr id="15" name="AutoShape 15"/>
          <p:cNvSpPr/>
          <p:nvPr/>
        </p:nvSpPr>
        <p:spPr>
          <a:xfrm>
            <a:off x="2006600" y="6070600"/>
            <a:ext cx="13347700" cy="1066800"/>
          </a:xfrm>
          <a:prstGeom prst="roundRect">
            <a:avLst>
              <a:gd name="adj" fmla="val 4761"/>
            </a:avLst>
          </a:prstGeom>
          <a:solidFill>
            <a:srgbClr val="000000">
              <a:alpha val="0"/>
            </a:srgbClr>
          </a:solidFill>
        </p:spPr>
      </p:sp>
      <p:sp>
        <p:nvSpPr>
          <p:cNvPr id="16" name="AutoShape 16"/>
          <p:cNvSpPr/>
          <p:nvPr/>
        </p:nvSpPr>
        <p:spPr>
          <a:xfrm>
            <a:off x="2006600" y="6070600"/>
            <a:ext cx="241300" cy="1066800"/>
          </a:xfrm>
          <a:prstGeom prst="roundRect">
            <a:avLst>
              <a:gd name="adj" fmla="val 26315"/>
            </a:avLst>
          </a:prstGeom>
          <a:solidFill>
            <a:srgbClr val="D1D1D1"/>
          </a:solidFill>
        </p:spPr>
      </p:sp>
      <p:sp>
        <p:nvSpPr>
          <p:cNvPr id="17" name="AutoShape 17"/>
          <p:cNvSpPr/>
          <p:nvPr/>
        </p:nvSpPr>
        <p:spPr>
          <a:xfrm>
            <a:off x="1625600" y="7581900"/>
            <a:ext cx="13728700" cy="1066800"/>
          </a:xfrm>
          <a:prstGeom prst="rect">
            <a:avLst/>
          </a:prstGeom>
          <a:solidFill>
            <a:srgbClr val="000000">
              <a:alpha val="0"/>
            </a:srgbClr>
          </a:solidFill>
        </p:spPr>
      </p:sp>
      <p:sp>
        <p:nvSpPr>
          <p:cNvPr id="18" name="AutoShape 18"/>
          <p:cNvSpPr/>
          <p:nvPr/>
        </p:nvSpPr>
        <p:spPr>
          <a:xfrm>
            <a:off x="1625600" y="7581900"/>
            <a:ext cx="13728700" cy="1066800"/>
          </a:xfrm>
          <a:prstGeom prst="roundRect">
            <a:avLst>
              <a:gd name="adj" fmla="val 4761"/>
            </a:avLst>
          </a:prstGeom>
          <a:solidFill>
            <a:srgbClr val="000000">
              <a:alpha val="0"/>
            </a:srgbClr>
          </a:solidFill>
        </p:spPr>
      </p:sp>
      <p:sp>
        <p:nvSpPr>
          <p:cNvPr id="19" name="AutoShape 19"/>
          <p:cNvSpPr/>
          <p:nvPr/>
        </p:nvSpPr>
        <p:spPr>
          <a:xfrm>
            <a:off x="1625600" y="7581900"/>
            <a:ext cx="241300" cy="1066800"/>
          </a:xfrm>
          <a:prstGeom prst="roundRect">
            <a:avLst>
              <a:gd name="adj" fmla="val 26315"/>
            </a:avLst>
          </a:prstGeom>
          <a:solidFill>
            <a:srgbClr val="D1D1D1"/>
          </a:solidFill>
        </p:spPr>
      </p:sp>
      <p:sp>
        <p:nvSpPr>
          <p:cNvPr id="20" name="TextBox 20"/>
          <p:cNvSpPr txBox="1"/>
          <p:nvPr/>
        </p:nvSpPr>
        <p:spPr>
          <a:xfrm>
            <a:off x="876300" y="482600"/>
            <a:ext cx="14490700" cy="850900"/>
          </a:xfrm>
          <a:prstGeom prst="rect">
            <a:avLst/>
          </a:prstGeom>
          <a:solidFill>
            <a:srgbClr val="000000">
              <a:alpha val="0"/>
            </a:srgbClr>
          </a:solidFill>
        </p:spPr>
        <p:txBody>
          <a:bodyPr lIns="0" tIns="0" rIns="0" bIns="0" rtlCol="0" anchor="ctr"/>
          <a:lstStyle/>
          <a:p>
            <a:pPr indent="0" algn="l">
              <a:lnSpc>
                <a:spcPct val="120000"/>
              </a:lnSpc>
              <a:defRPr/>
            </a:pPr>
            <a:r>
              <a:rPr lang="en-US" sz="2800" b="1">
                <a:solidFill>
                  <a:srgbClr val="000000"/>
                </a:solidFill>
                <a:latin typeface="Ubuntu"/>
              </a:rPr>
              <a:t>Rapid SCADA Integration: Live Supervisory Telemetry Pipeline</a:t>
            </a:r>
            <a:endParaRPr lang="en-US" sz="1100"/>
          </a:p>
        </p:txBody>
      </p:sp>
      <p:sp>
        <p:nvSpPr>
          <p:cNvPr id="21" name="TextBox 21"/>
          <p:cNvSpPr txBox="1"/>
          <p:nvPr/>
        </p:nvSpPr>
        <p:spPr>
          <a:xfrm>
            <a:off x="1384300" y="1714500"/>
            <a:ext cx="13982700" cy="317500"/>
          </a:xfrm>
          <a:prstGeom prst="rect">
            <a:avLst/>
          </a:prstGeom>
          <a:solidFill>
            <a:srgbClr val="000000">
              <a:alpha val="0"/>
            </a:srgbClr>
          </a:solidFill>
        </p:spPr>
        <p:txBody>
          <a:bodyPr lIns="0" tIns="0" rIns="0" bIns="0" rtlCol="0" anchor="ctr"/>
          <a:lstStyle/>
          <a:p>
            <a:pPr indent="0" algn="l">
              <a:lnSpc>
                <a:spcPct val="120000"/>
              </a:lnSpc>
              <a:defRPr/>
            </a:pPr>
            <a:r>
              <a:rPr lang="en-US" sz="2100" b="1">
                <a:solidFill>
                  <a:srgbClr val="000000"/>
                </a:solidFill>
                <a:latin typeface="Ubuntu"/>
              </a:rPr>
              <a:t>Rapid SCADA Webstation</a:t>
            </a:r>
            <a:endParaRPr lang="en-US" sz="1100"/>
          </a:p>
        </p:txBody>
      </p:sp>
      <p:sp>
        <p:nvSpPr>
          <p:cNvPr id="22" name="TextBox 22"/>
          <p:cNvSpPr txBox="1"/>
          <p:nvPr/>
        </p:nvSpPr>
        <p:spPr>
          <a:xfrm>
            <a:off x="1752600" y="3225800"/>
            <a:ext cx="13601700" cy="317500"/>
          </a:xfrm>
          <a:prstGeom prst="rect">
            <a:avLst/>
          </a:prstGeom>
          <a:solidFill>
            <a:srgbClr val="000000">
              <a:alpha val="0"/>
            </a:srgbClr>
          </a:solidFill>
        </p:spPr>
        <p:txBody>
          <a:bodyPr lIns="0" tIns="0" rIns="0" bIns="0" rtlCol="0" anchor="ctr"/>
          <a:lstStyle/>
          <a:p>
            <a:pPr indent="0" algn="l">
              <a:lnSpc>
                <a:spcPct val="120000"/>
              </a:lnSpc>
              <a:defRPr/>
            </a:pPr>
            <a:r>
              <a:rPr lang="en-US" sz="2100" b="1">
                <a:solidFill>
                  <a:srgbClr val="000000"/>
                </a:solidFill>
                <a:latin typeface="Ubuntu"/>
              </a:rPr>
              <a:t>PowerShell Bridge</a:t>
            </a:r>
            <a:endParaRPr lang="en-US" sz="1100"/>
          </a:p>
        </p:txBody>
      </p:sp>
      <p:sp>
        <p:nvSpPr>
          <p:cNvPr id="23" name="TextBox 23"/>
          <p:cNvSpPr txBox="1"/>
          <p:nvPr/>
        </p:nvSpPr>
        <p:spPr>
          <a:xfrm>
            <a:off x="2133600" y="4737100"/>
            <a:ext cx="13220700" cy="317500"/>
          </a:xfrm>
          <a:prstGeom prst="rect">
            <a:avLst/>
          </a:prstGeom>
          <a:solidFill>
            <a:srgbClr val="000000">
              <a:alpha val="0"/>
            </a:srgbClr>
          </a:solidFill>
        </p:spPr>
        <p:txBody>
          <a:bodyPr lIns="0" tIns="0" rIns="0" bIns="0" rtlCol="0" anchor="ctr"/>
          <a:lstStyle/>
          <a:p>
            <a:pPr indent="0" algn="l">
              <a:lnSpc>
                <a:spcPct val="120000"/>
              </a:lnSpc>
              <a:defRPr/>
            </a:pPr>
            <a:r>
              <a:rPr lang="en-US" sz="2100" b="1">
                <a:solidFill>
                  <a:srgbClr val="000000"/>
                </a:solidFill>
                <a:latin typeface="Ubuntu"/>
              </a:rPr>
              <a:t>Batched Ingest Design</a:t>
            </a:r>
            <a:endParaRPr lang="en-US" sz="1100"/>
          </a:p>
        </p:txBody>
      </p:sp>
      <p:sp>
        <p:nvSpPr>
          <p:cNvPr id="24" name="TextBox 24"/>
          <p:cNvSpPr txBox="1"/>
          <p:nvPr/>
        </p:nvSpPr>
        <p:spPr>
          <a:xfrm>
            <a:off x="2514600" y="6248400"/>
            <a:ext cx="12852400" cy="317500"/>
          </a:xfrm>
          <a:prstGeom prst="rect">
            <a:avLst/>
          </a:prstGeom>
          <a:solidFill>
            <a:srgbClr val="000000">
              <a:alpha val="0"/>
            </a:srgbClr>
          </a:solidFill>
        </p:spPr>
        <p:txBody>
          <a:bodyPr lIns="0" tIns="0" rIns="0" bIns="0" rtlCol="0" anchor="ctr"/>
          <a:lstStyle/>
          <a:p>
            <a:pPr indent="0" algn="l">
              <a:lnSpc>
                <a:spcPct val="120000"/>
              </a:lnSpc>
              <a:defRPr/>
            </a:pPr>
            <a:r>
              <a:rPr lang="en-US" sz="2100" b="1">
                <a:solidFill>
                  <a:srgbClr val="000000"/>
                </a:solidFill>
                <a:latin typeface="Ubuntu"/>
              </a:rPr>
              <a:t>FastAPI Backend</a:t>
            </a:r>
            <a:endParaRPr lang="en-US" sz="1100"/>
          </a:p>
        </p:txBody>
      </p:sp>
      <p:sp>
        <p:nvSpPr>
          <p:cNvPr id="25" name="TextBox 25"/>
          <p:cNvSpPr txBox="1"/>
          <p:nvPr/>
        </p:nvSpPr>
        <p:spPr>
          <a:xfrm>
            <a:off x="2133600" y="7759700"/>
            <a:ext cx="13220700" cy="317500"/>
          </a:xfrm>
          <a:prstGeom prst="rect">
            <a:avLst/>
          </a:prstGeom>
          <a:solidFill>
            <a:srgbClr val="000000">
              <a:alpha val="0"/>
            </a:srgbClr>
          </a:solidFill>
        </p:spPr>
        <p:txBody>
          <a:bodyPr lIns="0" tIns="0" rIns="0" bIns="0" rtlCol="0" anchor="ctr"/>
          <a:lstStyle/>
          <a:p>
            <a:pPr indent="0" algn="l">
              <a:lnSpc>
                <a:spcPct val="120000"/>
              </a:lnSpc>
              <a:defRPr/>
            </a:pPr>
            <a:r>
              <a:rPr lang="en-US" sz="2100" b="1">
                <a:solidFill>
                  <a:srgbClr val="000000"/>
                </a:solidFill>
                <a:latin typeface="Ubuntu"/>
              </a:rPr>
              <a:t>Calculated Telemetry</a:t>
            </a:r>
            <a:endParaRPr lang="en-US" sz="1100"/>
          </a:p>
        </p:txBody>
      </p:sp>
      <p:sp>
        <p:nvSpPr>
          <p:cNvPr id="26" name="TextBox 26"/>
          <p:cNvSpPr txBox="1"/>
          <p:nvPr/>
        </p:nvSpPr>
        <p:spPr>
          <a:xfrm>
            <a:off x="1384300" y="2159000"/>
            <a:ext cx="13982700" cy="254000"/>
          </a:xfrm>
          <a:prstGeom prst="rect">
            <a:avLst/>
          </a:prstGeom>
          <a:solidFill>
            <a:srgbClr val="000000">
              <a:alpha val="0"/>
            </a:srgbClr>
          </a:solidFill>
        </p:spPr>
        <p:txBody>
          <a:bodyPr lIns="0" tIns="0" rIns="0" bIns="0" rtlCol="0" anchor="ctr"/>
          <a:lstStyle/>
          <a:p>
            <a:pPr indent="0" algn="l">
              <a:lnSpc>
                <a:spcPct val="150000"/>
              </a:lnSpc>
              <a:defRPr/>
            </a:pPr>
            <a:r>
              <a:rPr lang="en-US" sz="1400" b="1">
                <a:solidFill>
                  <a:srgbClr val="000000"/>
                </a:solidFill>
                <a:latin typeface="Poppins"/>
              </a:rPr>
              <a:t>Rapid SCADA Webstation at 127.0.0.1:10109 as supervisory telemetry layer</a:t>
            </a:r>
            <a:endParaRPr lang="en-US" sz="1100"/>
          </a:p>
        </p:txBody>
      </p:sp>
      <p:sp>
        <p:nvSpPr>
          <p:cNvPr id="27" name="TextBox 27"/>
          <p:cNvSpPr txBox="1"/>
          <p:nvPr/>
        </p:nvSpPr>
        <p:spPr>
          <a:xfrm>
            <a:off x="1752600" y="3670300"/>
            <a:ext cx="13601700" cy="254000"/>
          </a:xfrm>
          <a:prstGeom prst="rect">
            <a:avLst/>
          </a:prstGeom>
          <a:solidFill>
            <a:srgbClr val="000000">
              <a:alpha val="0"/>
            </a:srgbClr>
          </a:solidFill>
        </p:spPr>
        <p:txBody>
          <a:bodyPr lIns="0" tIns="0" rIns="0" bIns="0" rtlCol="0" anchor="ctr"/>
          <a:lstStyle/>
          <a:p>
            <a:pPr indent="0" algn="l">
              <a:lnSpc>
                <a:spcPct val="150000"/>
              </a:lnSpc>
              <a:defRPr/>
            </a:pPr>
            <a:r>
              <a:rPr lang="en-US" sz="1400" b="1">
                <a:solidFill>
                  <a:srgbClr val="000000"/>
                </a:solidFill>
                <a:latin typeface="Poppins"/>
              </a:rPr>
              <a:t>PowerShell bridge retrieves channel data via authenticated Web API access</a:t>
            </a:r>
            <a:endParaRPr lang="en-US" sz="1100"/>
          </a:p>
        </p:txBody>
      </p:sp>
      <p:sp>
        <p:nvSpPr>
          <p:cNvPr id="28" name="TextBox 28"/>
          <p:cNvSpPr txBox="1"/>
          <p:nvPr/>
        </p:nvSpPr>
        <p:spPr>
          <a:xfrm>
            <a:off x="2133600" y="5181600"/>
            <a:ext cx="13220700" cy="254000"/>
          </a:xfrm>
          <a:prstGeom prst="rect">
            <a:avLst/>
          </a:prstGeom>
          <a:solidFill>
            <a:srgbClr val="000000">
              <a:alpha val="0"/>
            </a:srgbClr>
          </a:solidFill>
        </p:spPr>
        <p:txBody>
          <a:bodyPr lIns="0" tIns="0" rIns="0" bIns="0" rtlCol="0" anchor="ctr"/>
          <a:lstStyle/>
          <a:p>
            <a:pPr indent="0" algn="l">
              <a:lnSpc>
                <a:spcPct val="150000"/>
              </a:lnSpc>
              <a:defRPr/>
            </a:pPr>
            <a:r>
              <a:rPr lang="en-US" sz="1400" b="1">
                <a:solidFill>
                  <a:srgbClr val="000000"/>
                </a:solidFill>
                <a:latin typeface="Poppins"/>
              </a:rPr>
              <a:t>Batched ingest design to avoid rate-limit instability from per-agent posting</a:t>
            </a:r>
            <a:endParaRPr lang="en-US" sz="1100"/>
          </a:p>
        </p:txBody>
      </p:sp>
      <p:sp>
        <p:nvSpPr>
          <p:cNvPr id="29" name="TextBox 29"/>
          <p:cNvSpPr txBox="1"/>
          <p:nvPr/>
        </p:nvSpPr>
        <p:spPr>
          <a:xfrm>
            <a:off x="2514600" y="6692900"/>
            <a:ext cx="12852400" cy="254000"/>
          </a:xfrm>
          <a:prstGeom prst="rect">
            <a:avLst/>
          </a:prstGeom>
          <a:solidFill>
            <a:srgbClr val="000000">
              <a:alpha val="0"/>
            </a:srgbClr>
          </a:solidFill>
        </p:spPr>
        <p:txBody>
          <a:bodyPr lIns="0" tIns="0" rIns="0" bIns="0" rtlCol="0" anchor="ctr"/>
          <a:lstStyle/>
          <a:p>
            <a:pPr indent="0" algn="l">
              <a:lnSpc>
                <a:spcPct val="150000"/>
              </a:lnSpc>
              <a:defRPr/>
            </a:pPr>
            <a:r>
              <a:rPr lang="en-US" sz="1400" b="1">
                <a:solidFill>
                  <a:srgbClr val="000000"/>
                </a:solidFill>
                <a:latin typeface="Poppins"/>
              </a:rPr>
              <a:t>FastAPI backend processes SCADA data through anomaly and audit pipeline</a:t>
            </a:r>
            <a:endParaRPr lang="en-US" sz="1100"/>
          </a:p>
        </p:txBody>
      </p:sp>
      <p:sp>
        <p:nvSpPr>
          <p:cNvPr id="30" name="TextBox 30"/>
          <p:cNvSpPr txBox="1"/>
          <p:nvPr/>
        </p:nvSpPr>
        <p:spPr>
          <a:xfrm>
            <a:off x="2133600" y="8204200"/>
            <a:ext cx="13220700" cy="254000"/>
          </a:xfrm>
          <a:prstGeom prst="rect">
            <a:avLst/>
          </a:prstGeom>
          <a:solidFill>
            <a:srgbClr val="000000">
              <a:alpha val="0"/>
            </a:srgbClr>
          </a:solidFill>
        </p:spPr>
        <p:txBody>
          <a:bodyPr lIns="0" tIns="0" rIns="0" bIns="0" rtlCol="0" anchor="ctr"/>
          <a:lstStyle/>
          <a:p>
            <a:pPr indent="0" algn="l">
              <a:lnSpc>
                <a:spcPct val="150000"/>
              </a:lnSpc>
              <a:defRPr/>
            </a:pPr>
            <a:r>
              <a:rPr lang="en-US" sz="1400" b="1">
                <a:solidFill>
                  <a:srgbClr val="000000"/>
                </a:solidFill>
                <a:latin typeface="Poppins"/>
              </a:rPr>
              <a:t>Current telemetry generated via calculated channels within SCADA (not physical field devices)</a:t>
            </a:r>
            <a:endParaRPr lang="en-US" sz="11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16256000" cy="9144000"/>
          </a:xfrm>
          <a:prstGeom prst="rect">
            <a:avLst/>
          </a:prstGeom>
          <a:solidFill>
            <a:srgbClr val="0D0A2C">
              <a:alpha val="74902"/>
            </a:srgbClr>
          </a:solidFill>
        </p:spPr>
      </p:sp>
      <p:pic>
        <p:nvPicPr>
          <p:cNvPr id="3" name="Picture 3"/>
          <p:cNvPicPr>
            <a:picLocks noChangeAspect="1"/>
          </p:cNvPicPr>
          <p:nvPr/>
        </p:nvPicPr>
        <p:blipFill>
          <a:blip r:embed="rId2"/>
          <a:srcRect t="56" b="56"/>
          <a:stretch>
            <a:fillRect/>
          </a:stretch>
        </p:blipFill>
        <p:spPr>
          <a:xfrm>
            <a:off x="0" y="0"/>
            <a:ext cx="16256000" cy="9144000"/>
          </a:xfrm>
          <a:prstGeom prst="rect">
            <a:avLst/>
          </a:prstGeom>
        </p:spPr>
      </p:pic>
      <p:sp>
        <p:nvSpPr>
          <p:cNvPr id="4" name="AutoShape 4"/>
          <p:cNvSpPr/>
          <p:nvPr/>
        </p:nvSpPr>
        <p:spPr>
          <a:xfrm>
            <a:off x="876300" y="2400300"/>
            <a:ext cx="14490700" cy="4775200"/>
          </a:xfrm>
          <a:prstGeom prst="rect">
            <a:avLst/>
          </a:prstGeom>
          <a:solidFill>
            <a:srgbClr val="000000">
              <a:alpha val="0"/>
            </a:srgbClr>
          </a:solidFill>
        </p:spPr>
      </p:sp>
      <p:sp>
        <p:nvSpPr>
          <p:cNvPr id="5" name="AutoShape 5"/>
          <p:cNvSpPr/>
          <p:nvPr/>
        </p:nvSpPr>
        <p:spPr>
          <a:xfrm>
            <a:off x="876300" y="2400300"/>
            <a:ext cx="3429000" cy="4775200"/>
          </a:xfrm>
          <a:prstGeom prst="roundRect">
            <a:avLst>
              <a:gd name="adj" fmla="val 2592"/>
            </a:avLst>
          </a:prstGeom>
          <a:solidFill>
            <a:srgbClr val="D1D1D1">
              <a:alpha val="71765"/>
            </a:srgbClr>
          </a:solidFill>
        </p:spPr>
      </p:sp>
      <p:sp>
        <p:nvSpPr>
          <p:cNvPr id="6" name="AutoShape 6"/>
          <p:cNvSpPr/>
          <p:nvPr/>
        </p:nvSpPr>
        <p:spPr>
          <a:xfrm>
            <a:off x="1130300" y="2654300"/>
            <a:ext cx="749300" cy="749300"/>
          </a:xfrm>
          <a:prstGeom prst="roundRect">
            <a:avLst>
              <a:gd name="adj" fmla="val 49152"/>
            </a:avLst>
          </a:prstGeom>
          <a:solidFill>
            <a:srgbClr val="000000"/>
          </a:solidFill>
        </p:spPr>
      </p:sp>
      <p:sp>
        <p:nvSpPr>
          <p:cNvPr id="7" name="AutoShape 7"/>
          <p:cNvSpPr/>
          <p:nvPr/>
        </p:nvSpPr>
        <p:spPr>
          <a:xfrm>
            <a:off x="4559300" y="2400300"/>
            <a:ext cx="3429000" cy="4775200"/>
          </a:xfrm>
          <a:prstGeom prst="roundRect">
            <a:avLst>
              <a:gd name="adj" fmla="val 2592"/>
            </a:avLst>
          </a:prstGeom>
          <a:solidFill>
            <a:srgbClr val="D1D1D1">
              <a:alpha val="71765"/>
            </a:srgbClr>
          </a:solidFill>
        </p:spPr>
      </p:sp>
      <p:sp>
        <p:nvSpPr>
          <p:cNvPr id="8" name="AutoShape 8"/>
          <p:cNvSpPr/>
          <p:nvPr/>
        </p:nvSpPr>
        <p:spPr>
          <a:xfrm>
            <a:off x="4813300" y="2654300"/>
            <a:ext cx="749300" cy="749300"/>
          </a:xfrm>
          <a:prstGeom prst="roundRect">
            <a:avLst>
              <a:gd name="adj" fmla="val 49152"/>
            </a:avLst>
          </a:prstGeom>
          <a:solidFill>
            <a:srgbClr val="000000"/>
          </a:solidFill>
        </p:spPr>
      </p:sp>
      <p:sp>
        <p:nvSpPr>
          <p:cNvPr id="9" name="AutoShape 9"/>
          <p:cNvSpPr/>
          <p:nvPr/>
        </p:nvSpPr>
        <p:spPr>
          <a:xfrm>
            <a:off x="8242300" y="2400300"/>
            <a:ext cx="3429000" cy="4775200"/>
          </a:xfrm>
          <a:prstGeom prst="roundRect">
            <a:avLst>
              <a:gd name="adj" fmla="val 2592"/>
            </a:avLst>
          </a:prstGeom>
          <a:solidFill>
            <a:srgbClr val="D1D1D1">
              <a:alpha val="71765"/>
            </a:srgbClr>
          </a:solidFill>
        </p:spPr>
      </p:sp>
      <p:sp>
        <p:nvSpPr>
          <p:cNvPr id="10" name="AutoShape 10"/>
          <p:cNvSpPr/>
          <p:nvPr/>
        </p:nvSpPr>
        <p:spPr>
          <a:xfrm>
            <a:off x="8496300" y="2654300"/>
            <a:ext cx="749300" cy="749300"/>
          </a:xfrm>
          <a:prstGeom prst="roundRect">
            <a:avLst>
              <a:gd name="adj" fmla="val 49152"/>
            </a:avLst>
          </a:prstGeom>
          <a:solidFill>
            <a:srgbClr val="000000"/>
          </a:solidFill>
        </p:spPr>
      </p:sp>
      <p:sp>
        <p:nvSpPr>
          <p:cNvPr id="11" name="AutoShape 11"/>
          <p:cNvSpPr/>
          <p:nvPr/>
        </p:nvSpPr>
        <p:spPr>
          <a:xfrm>
            <a:off x="11938000" y="2400300"/>
            <a:ext cx="3429000" cy="4775200"/>
          </a:xfrm>
          <a:prstGeom prst="roundRect">
            <a:avLst>
              <a:gd name="adj" fmla="val 2592"/>
            </a:avLst>
          </a:prstGeom>
          <a:solidFill>
            <a:srgbClr val="D1D1D1">
              <a:alpha val="71765"/>
            </a:srgbClr>
          </a:solidFill>
        </p:spPr>
      </p:sp>
      <p:sp>
        <p:nvSpPr>
          <p:cNvPr id="12" name="AutoShape 12"/>
          <p:cNvSpPr/>
          <p:nvPr/>
        </p:nvSpPr>
        <p:spPr>
          <a:xfrm>
            <a:off x="12179300" y="2654300"/>
            <a:ext cx="749300" cy="749300"/>
          </a:xfrm>
          <a:prstGeom prst="roundRect">
            <a:avLst>
              <a:gd name="adj" fmla="val 49152"/>
            </a:avLst>
          </a:prstGeom>
          <a:solidFill>
            <a:srgbClr val="000000"/>
          </a:solidFill>
        </p:spPr>
      </p:sp>
      <p:sp>
        <p:nvSpPr>
          <p:cNvPr id="13" name="TextBox 13"/>
          <p:cNvSpPr txBox="1"/>
          <p:nvPr/>
        </p:nvSpPr>
        <p:spPr>
          <a:xfrm>
            <a:off x="876300" y="901700"/>
            <a:ext cx="14490700" cy="1206500"/>
          </a:xfrm>
          <a:prstGeom prst="rect">
            <a:avLst/>
          </a:prstGeom>
          <a:solidFill>
            <a:srgbClr val="000000">
              <a:alpha val="0"/>
            </a:srgbClr>
          </a:solidFill>
        </p:spPr>
        <p:txBody>
          <a:bodyPr lIns="0" tIns="0" rIns="0" bIns="0" rtlCol="0" anchor="ctr"/>
          <a:lstStyle/>
          <a:p>
            <a:pPr indent="0" algn="l">
              <a:lnSpc>
                <a:spcPct val="120000"/>
              </a:lnSpc>
              <a:defRPr/>
            </a:pPr>
            <a:r>
              <a:rPr lang="en-US" sz="3900" b="1">
                <a:solidFill>
                  <a:srgbClr val="000000"/>
                </a:solidFill>
                <a:latin typeface="Ubuntu"/>
              </a:rPr>
              <a:t>100-Agent SCADA Grid: Fixed Asset Topology for Live Monitoring</a:t>
            </a:r>
            <a:endParaRPr lang="en-US" sz="1100"/>
          </a:p>
        </p:txBody>
      </p:sp>
      <p:sp>
        <p:nvSpPr>
          <p:cNvPr id="14" name="TextBox 14"/>
          <p:cNvSpPr txBox="1"/>
          <p:nvPr/>
        </p:nvSpPr>
        <p:spPr>
          <a:xfrm>
            <a:off x="1130300" y="3657600"/>
            <a:ext cx="2921000" cy="444500"/>
          </a:xfrm>
          <a:prstGeom prst="rect">
            <a:avLst/>
          </a:prstGeom>
          <a:solidFill>
            <a:srgbClr val="000000">
              <a:alpha val="0"/>
            </a:srgbClr>
          </a:solidFill>
        </p:spPr>
        <p:txBody>
          <a:bodyPr lIns="0" tIns="0" rIns="0" bIns="0" rtlCol="0" anchor="ctr"/>
          <a:lstStyle/>
          <a:p>
            <a:pPr indent="0" algn="l">
              <a:lnSpc>
                <a:spcPct val="120000"/>
              </a:lnSpc>
              <a:defRPr/>
            </a:pPr>
            <a:r>
              <a:rPr lang="en-US" sz="2900" b="1">
                <a:solidFill>
                  <a:srgbClr val="000000"/>
                </a:solidFill>
                <a:latin typeface="Ubuntu"/>
              </a:rPr>
              <a:t>Generators</a:t>
            </a:r>
            <a:endParaRPr lang="en-US" sz="1100"/>
          </a:p>
        </p:txBody>
      </p:sp>
      <p:sp>
        <p:nvSpPr>
          <p:cNvPr id="15" name="TextBox 15"/>
          <p:cNvSpPr txBox="1"/>
          <p:nvPr/>
        </p:nvSpPr>
        <p:spPr>
          <a:xfrm>
            <a:off x="4813300" y="3657600"/>
            <a:ext cx="2921000" cy="444500"/>
          </a:xfrm>
          <a:prstGeom prst="rect">
            <a:avLst/>
          </a:prstGeom>
          <a:solidFill>
            <a:srgbClr val="000000">
              <a:alpha val="0"/>
            </a:srgbClr>
          </a:solidFill>
        </p:spPr>
        <p:txBody>
          <a:bodyPr lIns="0" tIns="0" rIns="0" bIns="0" rtlCol="0" anchor="ctr"/>
          <a:lstStyle/>
          <a:p>
            <a:pPr indent="0" algn="l">
              <a:lnSpc>
                <a:spcPct val="120000"/>
              </a:lnSpc>
              <a:defRPr/>
            </a:pPr>
            <a:r>
              <a:rPr lang="en-US" sz="2900" b="1">
                <a:solidFill>
                  <a:srgbClr val="000000"/>
                </a:solidFill>
                <a:latin typeface="Ubuntu"/>
              </a:rPr>
              <a:t>Substations</a:t>
            </a:r>
            <a:endParaRPr lang="en-US" sz="1100"/>
          </a:p>
        </p:txBody>
      </p:sp>
      <p:sp>
        <p:nvSpPr>
          <p:cNvPr id="16" name="TextBox 16"/>
          <p:cNvSpPr txBox="1"/>
          <p:nvPr/>
        </p:nvSpPr>
        <p:spPr>
          <a:xfrm>
            <a:off x="8496300" y="3657600"/>
            <a:ext cx="2921000" cy="444500"/>
          </a:xfrm>
          <a:prstGeom prst="rect">
            <a:avLst/>
          </a:prstGeom>
          <a:solidFill>
            <a:srgbClr val="000000">
              <a:alpha val="0"/>
            </a:srgbClr>
          </a:solidFill>
        </p:spPr>
        <p:txBody>
          <a:bodyPr lIns="0" tIns="0" rIns="0" bIns="0" rtlCol="0" anchor="ctr"/>
          <a:lstStyle/>
          <a:p>
            <a:pPr indent="0" algn="l">
              <a:lnSpc>
                <a:spcPct val="120000"/>
              </a:lnSpc>
              <a:defRPr/>
            </a:pPr>
            <a:r>
              <a:rPr lang="en-US" sz="2900" b="1">
                <a:solidFill>
                  <a:srgbClr val="000000"/>
                </a:solidFill>
                <a:latin typeface="Ubuntu"/>
              </a:rPr>
              <a:t>PMUs</a:t>
            </a:r>
            <a:endParaRPr lang="en-US" sz="1100"/>
          </a:p>
        </p:txBody>
      </p:sp>
      <p:sp>
        <p:nvSpPr>
          <p:cNvPr id="17" name="TextBox 17"/>
          <p:cNvSpPr txBox="1"/>
          <p:nvPr/>
        </p:nvSpPr>
        <p:spPr>
          <a:xfrm>
            <a:off x="12179300" y="3657600"/>
            <a:ext cx="2921000" cy="444500"/>
          </a:xfrm>
          <a:prstGeom prst="rect">
            <a:avLst/>
          </a:prstGeom>
          <a:solidFill>
            <a:srgbClr val="000000">
              <a:alpha val="0"/>
            </a:srgbClr>
          </a:solidFill>
        </p:spPr>
        <p:txBody>
          <a:bodyPr lIns="0" tIns="0" rIns="0" bIns="0" rtlCol="0" anchor="ctr"/>
          <a:lstStyle/>
          <a:p>
            <a:pPr indent="0" algn="l">
              <a:lnSpc>
                <a:spcPct val="120000"/>
              </a:lnSpc>
              <a:defRPr/>
            </a:pPr>
            <a:r>
              <a:rPr lang="en-US" sz="2900" b="1">
                <a:solidFill>
                  <a:srgbClr val="000000"/>
                </a:solidFill>
                <a:latin typeface="Ubuntu"/>
              </a:rPr>
              <a:t>Breakers</a:t>
            </a:r>
            <a:endParaRPr lang="en-US" sz="1100"/>
          </a:p>
        </p:txBody>
      </p:sp>
      <p:sp>
        <p:nvSpPr>
          <p:cNvPr id="18" name="TextBox 18"/>
          <p:cNvSpPr txBox="1"/>
          <p:nvPr/>
        </p:nvSpPr>
        <p:spPr>
          <a:xfrm>
            <a:off x="1130300" y="4292600"/>
            <a:ext cx="2921000" cy="2260600"/>
          </a:xfrm>
          <a:prstGeom prst="rect">
            <a:avLst/>
          </a:prstGeom>
          <a:solidFill>
            <a:srgbClr val="000000">
              <a:alpha val="0"/>
            </a:srgbClr>
          </a:solidFill>
        </p:spPr>
        <p:txBody>
          <a:bodyPr lIns="0" tIns="0" rIns="0" bIns="0" rtlCol="0" anchor="ctr"/>
          <a:lstStyle/>
          <a:p>
            <a:pPr indent="0" algn="l">
              <a:lnSpc>
                <a:spcPct val="150000"/>
              </a:lnSpc>
              <a:defRPr/>
            </a:pPr>
            <a:r>
              <a:rPr lang="en-US" sz="1900" b="1">
                <a:solidFill>
                  <a:srgbClr val="000000"/>
                </a:solidFill>
                <a:latin typeface="Poppins"/>
              </a:rPr>
              <a:t>GEN-01 to GEN-20 — Twenty distributed generation units forming the primary power sources in the topology.</a:t>
            </a:r>
            <a:endParaRPr lang="en-US" sz="1100"/>
          </a:p>
        </p:txBody>
      </p:sp>
      <p:sp>
        <p:nvSpPr>
          <p:cNvPr id="19" name="TextBox 19"/>
          <p:cNvSpPr txBox="1"/>
          <p:nvPr/>
        </p:nvSpPr>
        <p:spPr>
          <a:xfrm>
            <a:off x="4813300" y="4292600"/>
            <a:ext cx="2921000" cy="1879600"/>
          </a:xfrm>
          <a:prstGeom prst="rect">
            <a:avLst/>
          </a:prstGeom>
          <a:solidFill>
            <a:srgbClr val="000000">
              <a:alpha val="0"/>
            </a:srgbClr>
          </a:solidFill>
        </p:spPr>
        <p:txBody>
          <a:bodyPr lIns="0" tIns="0" rIns="0" bIns="0" rtlCol="0" anchor="ctr"/>
          <a:lstStyle/>
          <a:p>
            <a:pPr indent="0" algn="l">
              <a:lnSpc>
                <a:spcPct val="150000"/>
              </a:lnSpc>
              <a:defRPr/>
            </a:pPr>
            <a:r>
              <a:rPr lang="en-US" sz="1900" b="1">
                <a:solidFill>
                  <a:srgbClr val="000000"/>
                </a:solidFill>
                <a:latin typeface="Poppins"/>
              </a:rPr>
              <a:t>SUB-21 to SUB-50 — Thirty substations handling stepping, routing, and protection across the grid.</a:t>
            </a:r>
            <a:endParaRPr lang="en-US" sz="1100"/>
          </a:p>
        </p:txBody>
      </p:sp>
      <p:sp>
        <p:nvSpPr>
          <p:cNvPr id="20" name="TextBox 20"/>
          <p:cNvSpPr txBox="1"/>
          <p:nvPr/>
        </p:nvSpPr>
        <p:spPr>
          <a:xfrm>
            <a:off x="8496300" y="4292600"/>
            <a:ext cx="2921000" cy="2641600"/>
          </a:xfrm>
          <a:prstGeom prst="rect">
            <a:avLst/>
          </a:prstGeom>
          <a:solidFill>
            <a:srgbClr val="000000">
              <a:alpha val="0"/>
            </a:srgbClr>
          </a:solidFill>
        </p:spPr>
        <p:txBody>
          <a:bodyPr lIns="0" tIns="0" rIns="0" bIns="0" rtlCol="0" anchor="ctr"/>
          <a:lstStyle/>
          <a:p>
            <a:pPr indent="0" algn="l">
              <a:lnSpc>
                <a:spcPct val="150000"/>
              </a:lnSpc>
              <a:defRPr/>
            </a:pPr>
            <a:r>
              <a:rPr lang="en-US" sz="1900" b="1">
                <a:solidFill>
                  <a:srgbClr val="000000"/>
                </a:solidFill>
                <a:latin typeface="Poppins"/>
              </a:rPr>
              <a:t>PMU-51 to PMU-75 — Twenty-five phasor measurement units providing synchronized measurement points for state estimation.</a:t>
            </a:r>
            <a:endParaRPr lang="en-US" sz="1100"/>
          </a:p>
        </p:txBody>
      </p:sp>
      <p:sp>
        <p:nvSpPr>
          <p:cNvPr id="21" name="TextBox 21"/>
          <p:cNvSpPr txBox="1"/>
          <p:nvPr/>
        </p:nvSpPr>
        <p:spPr>
          <a:xfrm>
            <a:off x="12179300" y="4292600"/>
            <a:ext cx="2921000" cy="2260600"/>
          </a:xfrm>
          <a:prstGeom prst="rect">
            <a:avLst/>
          </a:prstGeom>
          <a:solidFill>
            <a:srgbClr val="000000">
              <a:alpha val="0"/>
            </a:srgbClr>
          </a:solidFill>
        </p:spPr>
        <p:txBody>
          <a:bodyPr lIns="0" tIns="0" rIns="0" bIns="0" rtlCol="0" anchor="ctr"/>
          <a:lstStyle/>
          <a:p>
            <a:pPr indent="0" algn="l">
              <a:lnSpc>
                <a:spcPct val="150000"/>
              </a:lnSpc>
              <a:defRPr/>
            </a:pPr>
            <a:r>
              <a:rPr lang="en-US" sz="1900" b="1">
                <a:solidFill>
                  <a:srgbClr val="000000"/>
                </a:solidFill>
                <a:latin typeface="Poppins"/>
              </a:rPr>
              <a:t>BRK-76 to BRK-100 — Twenty-five breakers managing sectionalization and fault isolation within the grid.</a:t>
            </a:r>
            <a:endParaRPr lang="en-US" sz="1100"/>
          </a:p>
        </p:txBody>
      </p:sp>
      <p:sp>
        <p:nvSpPr>
          <p:cNvPr id="22" name="TextBox 22"/>
          <p:cNvSpPr txBox="1"/>
          <p:nvPr/>
        </p:nvSpPr>
        <p:spPr>
          <a:xfrm>
            <a:off x="876300" y="7467600"/>
            <a:ext cx="14490700" cy="749300"/>
          </a:xfrm>
          <a:prstGeom prst="rect">
            <a:avLst/>
          </a:prstGeom>
          <a:solidFill>
            <a:srgbClr val="000000">
              <a:alpha val="0"/>
            </a:srgbClr>
          </a:solidFill>
        </p:spPr>
        <p:txBody>
          <a:bodyPr lIns="0" tIns="0" rIns="0" bIns="0" rtlCol="0" anchor="ctr"/>
          <a:lstStyle/>
          <a:p>
            <a:pPr indent="0" algn="l">
              <a:lnSpc>
                <a:spcPct val="150000"/>
              </a:lnSpc>
              <a:defRPr/>
            </a:pPr>
            <a:r>
              <a:rPr lang="en-US" sz="1900" b="1">
                <a:solidFill>
                  <a:srgbClr val="000000"/>
                </a:solidFill>
                <a:latin typeface="Poppins"/>
              </a:rPr>
              <a:t>Implementation note: Implemented as a 300-channel Rapid SCADA model using calculated channels to aggregate and compute derived states for live monitoring and control.</a:t>
            </a:r>
            <a:endParaRPr lang="en-US" sz="1100"/>
          </a:p>
        </p:txBody>
      </p:sp>
      <p:pic>
        <p:nvPicPr>
          <p:cNvPr id="23" name="Picture 23"/>
          <p:cNvPicPr>
            <a:picLocks noChangeAspect="1"/>
          </p:cNvPicPr>
          <p:nvPr/>
        </p:nvPicPr>
        <p:blipFill>
          <a:blip r:embed="rId3"/>
          <a:stretch>
            <a:fillRect/>
          </a:stretch>
        </p:blipFill>
        <p:spPr>
          <a:xfrm>
            <a:off x="1397000" y="2921000"/>
            <a:ext cx="215900" cy="215900"/>
          </a:xfrm>
          <a:prstGeom prst="rect">
            <a:avLst/>
          </a:prstGeom>
        </p:spPr>
      </p:pic>
      <p:pic>
        <p:nvPicPr>
          <p:cNvPr id="24" name="Picture 24"/>
          <p:cNvPicPr>
            <a:picLocks noChangeAspect="1"/>
          </p:cNvPicPr>
          <p:nvPr/>
        </p:nvPicPr>
        <p:blipFill>
          <a:blip r:embed="rId4"/>
          <a:stretch>
            <a:fillRect/>
          </a:stretch>
        </p:blipFill>
        <p:spPr>
          <a:xfrm>
            <a:off x="5067300" y="2908300"/>
            <a:ext cx="241300" cy="241300"/>
          </a:xfrm>
          <a:prstGeom prst="rect">
            <a:avLst/>
          </a:prstGeom>
        </p:spPr>
      </p:pic>
      <p:pic>
        <p:nvPicPr>
          <p:cNvPr id="25" name="Picture 25"/>
          <p:cNvPicPr>
            <a:picLocks noChangeAspect="1"/>
          </p:cNvPicPr>
          <p:nvPr/>
        </p:nvPicPr>
        <p:blipFill>
          <a:blip r:embed="rId5"/>
          <a:stretch>
            <a:fillRect/>
          </a:stretch>
        </p:blipFill>
        <p:spPr>
          <a:xfrm>
            <a:off x="8750300" y="2908300"/>
            <a:ext cx="241300" cy="241300"/>
          </a:xfrm>
          <a:prstGeom prst="rect">
            <a:avLst/>
          </a:prstGeom>
        </p:spPr>
      </p:pic>
      <p:pic>
        <p:nvPicPr>
          <p:cNvPr id="26" name="Picture 26"/>
          <p:cNvPicPr>
            <a:picLocks noChangeAspect="1"/>
          </p:cNvPicPr>
          <p:nvPr/>
        </p:nvPicPr>
        <p:blipFill>
          <a:blip r:embed="rId6"/>
          <a:stretch>
            <a:fillRect/>
          </a:stretch>
        </p:blipFill>
        <p:spPr>
          <a:xfrm>
            <a:off x="12433300" y="2908300"/>
            <a:ext cx="241300" cy="2413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16256000" cy="9144000"/>
          </a:xfrm>
          <a:prstGeom prst="rect">
            <a:avLst/>
          </a:prstGeom>
          <a:solidFill>
            <a:srgbClr val="0D0A2C">
              <a:alpha val="74902"/>
            </a:srgbClr>
          </a:solidFill>
        </p:spPr>
      </p:sp>
      <p:pic>
        <p:nvPicPr>
          <p:cNvPr id="3" name="Picture 3"/>
          <p:cNvPicPr>
            <a:picLocks noChangeAspect="1"/>
          </p:cNvPicPr>
          <p:nvPr/>
        </p:nvPicPr>
        <p:blipFill>
          <a:blip r:embed="rId2"/>
          <a:srcRect t="56" b="56"/>
          <a:stretch>
            <a:fillRect/>
          </a:stretch>
        </p:blipFill>
        <p:spPr>
          <a:xfrm>
            <a:off x="0" y="0"/>
            <a:ext cx="16256000" cy="9144000"/>
          </a:xfrm>
          <a:prstGeom prst="rect">
            <a:avLst/>
          </a:prstGeom>
        </p:spPr>
      </p:pic>
      <p:sp>
        <p:nvSpPr>
          <p:cNvPr id="4" name="AutoShape 4"/>
          <p:cNvSpPr/>
          <p:nvPr/>
        </p:nvSpPr>
        <p:spPr>
          <a:xfrm>
            <a:off x="876300" y="1409700"/>
            <a:ext cx="14490700" cy="7112000"/>
          </a:xfrm>
          <a:prstGeom prst="rect">
            <a:avLst/>
          </a:prstGeom>
          <a:solidFill>
            <a:srgbClr val="000000">
              <a:alpha val="0"/>
            </a:srgbClr>
          </a:solidFill>
        </p:spPr>
      </p:sp>
      <p:sp>
        <p:nvSpPr>
          <p:cNvPr id="5" name="AutoShape 5"/>
          <p:cNvSpPr/>
          <p:nvPr/>
        </p:nvSpPr>
        <p:spPr>
          <a:xfrm>
            <a:off x="876300" y="1409700"/>
            <a:ext cx="3429000" cy="5194300"/>
          </a:xfrm>
          <a:prstGeom prst="roundRect">
            <a:avLst>
              <a:gd name="adj" fmla="val 2222"/>
            </a:avLst>
          </a:prstGeom>
          <a:solidFill>
            <a:srgbClr val="D1D1D1">
              <a:alpha val="71765"/>
            </a:srgbClr>
          </a:solidFill>
        </p:spPr>
      </p:sp>
      <p:sp>
        <p:nvSpPr>
          <p:cNvPr id="6" name="AutoShape 6"/>
          <p:cNvSpPr/>
          <p:nvPr/>
        </p:nvSpPr>
        <p:spPr>
          <a:xfrm>
            <a:off x="4559300" y="1409700"/>
            <a:ext cx="3429000" cy="5194300"/>
          </a:xfrm>
          <a:prstGeom prst="roundRect">
            <a:avLst>
              <a:gd name="adj" fmla="val 2222"/>
            </a:avLst>
          </a:prstGeom>
          <a:solidFill>
            <a:srgbClr val="D1D1D1">
              <a:alpha val="71765"/>
            </a:srgbClr>
          </a:solidFill>
        </p:spPr>
      </p:sp>
      <p:sp>
        <p:nvSpPr>
          <p:cNvPr id="7" name="AutoShape 7"/>
          <p:cNvSpPr/>
          <p:nvPr/>
        </p:nvSpPr>
        <p:spPr>
          <a:xfrm>
            <a:off x="8242300" y="1409700"/>
            <a:ext cx="3429000" cy="5194300"/>
          </a:xfrm>
          <a:prstGeom prst="roundRect">
            <a:avLst>
              <a:gd name="adj" fmla="val 2222"/>
            </a:avLst>
          </a:prstGeom>
          <a:solidFill>
            <a:srgbClr val="D1D1D1">
              <a:alpha val="71765"/>
            </a:srgbClr>
          </a:solidFill>
        </p:spPr>
      </p:sp>
      <p:sp>
        <p:nvSpPr>
          <p:cNvPr id="8" name="AutoShape 8"/>
          <p:cNvSpPr/>
          <p:nvPr/>
        </p:nvSpPr>
        <p:spPr>
          <a:xfrm>
            <a:off x="11938000" y="1409700"/>
            <a:ext cx="3429000" cy="5194300"/>
          </a:xfrm>
          <a:prstGeom prst="roundRect">
            <a:avLst>
              <a:gd name="adj" fmla="val 2222"/>
            </a:avLst>
          </a:prstGeom>
          <a:solidFill>
            <a:srgbClr val="D1D1D1">
              <a:alpha val="71765"/>
            </a:srgbClr>
          </a:solidFill>
        </p:spPr>
      </p:sp>
      <p:sp>
        <p:nvSpPr>
          <p:cNvPr id="9" name="AutoShape 9"/>
          <p:cNvSpPr/>
          <p:nvPr/>
        </p:nvSpPr>
        <p:spPr>
          <a:xfrm>
            <a:off x="876300" y="6832600"/>
            <a:ext cx="14490700" cy="1676400"/>
          </a:xfrm>
          <a:prstGeom prst="roundRect">
            <a:avLst>
              <a:gd name="adj" fmla="val 4545"/>
            </a:avLst>
          </a:prstGeom>
          <a:solidFill>
            <a:srgbClr val="D1D1D1">
              <a:alpha val="71765"/>
            </a:srgbClr>
          </a:solidFill>
        </p:spPr>
      </p:sp>
      <p:sp>
        <p:nvSpPr>
          <p:cNvPr id="10" name="TextBox 10"/>
          <p:cNvSpPr txBox="1"/>
          <p:nvPr/>
        </p:nvSpPr>
        <p:spPr>
          <a:xfrm>
            <a:off x="876300" y="609600"/>
            <a:ext cx="14490700" cy="533400"/>
          </a:xfrm>
          <a:prstGeom prst="rect">
            <a:avLst/>
          </a:prstGeom>
          <a:solidFill>
            <a:srgbClr val="000000">
              <a:alpha val="0"/>
            </a:srgbClr>
          </a:solidFill>
        </p:spPr>
        <p:txBody>
          <a:bodyPr lIns="0" tIns="0" rIns="0" bIns="0" rtlCol="0" anchor="ctr"/>
          <a:lstStyle/>
          <a:p>
            <a:pPr indent="0" algn="l">
              <a:lnSpc>
                <a:spcPct val="120000"/>
              </a:lnSpc>
              <a:defRPr/>
            </a:pPr>
            <a:r>
              <a:rPr lang="en-US" sz="3500" b="1">
                <a:solidFill>
                  <a:srgbClr val="000000"/>
                </a:solidFill>
                <a:latin typeface="Ubuntu"/>
              </a:rPr>
              <a:t>Algorithm Overview: Deviation-Based Explainable Scoring</a:t>
            </a:r>
            <a:endParaRPr lang="en-US" sz="1100"/>
          </a:p>
        </p:txBody>
      </p:sp>
      <p:sp>
        <p:nvSpPr>
          <p:cNvPr id="11" name="TextBox 11"/>
          <p:cNvSpPr txBox="1"/>
          <p:nvPr/>
        </p:nvSpPr>
        <p:spPr>
          <a:xfrm>
            <a:off x="1130300" y="1625600"/>
            <a:ext cx="2921000" cy="393700"/>
          </a:xfrm>
          <a:prstGeom prst="rect">
            <a:avLst/>
          </a:prstGeom>
          <a:solidFill>
            <a:srgbClr val="000000">
              <a:alpha val="0"/>
            </a:srgbClr>
          </a:solidFill>
        </p:spPr>
        <p:txBody>
          <a:bodyPr lIns="0" tIns="0" rIns="0" bIns="0" rtlCol="0" anchor="ctr"/>
          <a:lstStyle/>
          <a:p>
            <a:pPr indent="0" algn="l">
              <a:lnSpc>
                <a:spcPct val="120000"/>
              </a:lnSpc>
              <a:defRPr/>
            </a:pPr>
            <a:r>
              <a:rPr lang="en-US" sz="2600" b="1">
                <a:solidFill>
                  <a:srgbClr val="000000"/>
                </a:solidFill>
                <a:latin typeface="Ubuntu"/>
              </a:rPr>
              <a:t>Anomaly score</a:t>
            </a:r>
            <a:endParaRPr lang="en-US" sz="1100"/>
          </a:p>
        </p:txBody>
      </p:sp>
      <p:sp>
        <p:nvSpPr>
          <p:cNvPr id="12" name="TextBox 12"/>
          <p:cNvSpPr txBox="1"/>
          <p:nvPr/>
        </p:nvSpPr>
        <p:spPr>
          <a:xfrm>
            <a:off x="4813300" y="1625600"/>
            <a:ext cx="2921000" cy="800100"/>
          </a:xfrm>
          <a:prstGeom prst="rect">
            <a:avLst/>
          </a:prstGeom>
          <a:solidFill>
            <a:srgbClr val="000000">
              <a:alpha val="0"/>
            </a:srgbClr>
          </a:solidFill>
        </p:spPr>
        <p:txBody>
          <a:bodyPr lIns="0" tIns="0" rIns="0" bIns="0" rtlCol="0" anchor="ctr"/>
          <a:lstStyle/>
          <a:p>
            <a:pPr indent="0" algn="l">
              <a:lnSpc>
                <a:spcPct val="120000"/>
              </a:lnSpc>
              <a:defRPr/>
            </a:pPr>
            <a:r>
              <a:rPr lang="en-US" sz="2600" b="1">
                <a:solidFill>
                  <a:srgbClr val="000000"/>
                </a:solidFill>
                <a:latin typeface="Ubuntu"/>
              </a:rPr>
              <a:t>Criticality weight wi</a:t>
            </a:r>
            <a:endParaRPr lang="en-US" sz="1100"/>
          </a:p>
        </p:txBody>
      </p:sp>
      <p:sp>
        <p:nvSpPr>
          <p:cNvPr id="13" name="TextBox 13"/>
          <p:cNvSpPr txBox="1"/>
          <p:nvPr/>
        </p:nvSpPr>
        <p:spPr>
          <a:xfrm>
            <a:off x="8496300" y="1625600"/>
            <a:ext cx="2921000" cy="800100"/>
          </a:xfrm>
          <a:prstGeom prst="rect">
            <a:avLst/>
          </a:prstGeom>
          <a:solidFill>
            <a:srgbClr val="000000">
              <a:alpha val="0"/>
            </a:srgbClr>
          </a:solidFill>
        </p:spPr>
        <p:txBody>
          <a:bodyPr lIns="0" tIns="0" rIns="0" bIns="0" rtlCol="0" anchor="ctr"/>
          <a:lstStyle/>
          <a:p>
            <a:pPr indent="0" algn="l">
              <a:lnSpc>
                <a:spcPct val="120000"/>
              </a:lnSpc>
              <a:defRPr/>
            </a:pPr>
            <a:r>
              <a:rPr lang="en-US" sz="2600" b="1">
                <a:solidFill>
                  <a:srgbClr val="000000"/>
                </a:solidFill>
                <a:latin typeface="Ubuntu"/>
              </a:rPr>
              <a:t>Risk assessment</a:t>
            </a:r>
            <a:endParaRPr lang="en-US" sz="1100"/>
          </a:p>
        </p:txBody>
      </p:sp>
      <p:sp>
        <p:nvSpPr>
          <p:cNvPr id="14" name="TextBox 14"/>
          <p:cNvSpPr txBox="1"/>
          <p:nvPr/>
        </p:nvSpPr>
        <p:spPr>
          <a:xfrm>
            <a:off x="12179300" y="1625600"/>
            <a:ext cx="2921000" cy="1206500"/>
          </a:xfrm>
          <a:prstGeom prst="rect">
            <a:avLst/>
          </a:prstGeom>
          <a:solidFill>
            <a:srgbClr val="000000">
              <a:alpha val="0"/>
            </a:srgbClr>
          </a:solidFill>
        </p:spPr>
        <p:txBody>
          <a:bodyPr lIns="0" tIns="0" rIns="0" bIns="0" rtlCol="0" anchor="ctr"/>
          <a:lstStyle/>
          <a:p>
            <a:pPr indent="0" algn="l">
              <a:lnSpc>
                <a:spcPct val="120000"/>
              </a:lnSpc>
              <a:defRPr/>
            </a:pPr>
            <a:r>
              <a:rPr lang="en-US" sz="2600" b="1">
                <a:solidFill>
                  <a:srgbClr val="000000"/>
                </a:solidFill>
                <a:latin typeface="Ubuntu"/>
              </a:rPr>
              <a:t>Threshold-based audit policy</a:t>
            </a:r>
            <a:endParaRPr lang="en-US" sz="1100"/>
          </a:p>
        </p:txBody>
      </p:sp>
      <p:sp>
        <p:nvSpPr>
          <p:cNvPr id="15" name="TextBox 15"/>
          <p:cNvSpPr txBox="1"/>
          <p:nvPr/>
        </p:nvSpPr>
        <p:spPr>
          <a:xfrm>
            <a:off x="1130300" y="7061200"/>
            <a:ext cx="13982700" cy="393700"/>
          </a:xfrm>
          <a:prstGeom prst="rect">
            <a:avLst/>
          </a:prstGeom>
          <a:solidFill>
            <a:srgbClr val="000000">
              <a:alpha val="0"/>
            </a:srgbClr>
          </a:solidFill>
        </p:spPr>
        <p:txBody>
          <a:bodyPr lIns="0" tIns="0" rIns="0" bIns="0" rtlCol="0" anchor="ctr"/>
          <a:lstStyle/>
          <a:p>
            <a:pPr indent="0" algn="l">
              <a:lnSpc>
                <a:spcPct val="120000"/>
              </a:lnSpc>
              <a:defRPr/>
            </a:pPr>
            <a:r>
              <a:rPr lang="en-US" sz="2600" b="1">
                <a:solidFill>
                  <a:srgbClr val="000000"/>
                </a:solidFill>
                <a:latin typeface="Ubuntu"/>
              </a:rPr>
              <a:t>Explainability focus</a:t>
            </a:r>
            <a:endParaRPr lang="en-US" sz="1100"/>
          </a:p>
        </p:txBody>
      </p:sp>
      <p:sp>
        <p:nvSpPr>
          <p:cNvPr id="16" name="TextBox 16"/>
          <p:cNvSpPr txBox="1"/>
          <p:nvPr/>
        </p:nvSpPr>
        <p:spPr>
          <a:xfrm>
            <a:off x="1130300" y="2197100"/>
            <a:ext cx="2921000" cy="3708400"/>
          </a:xfrm>
          <a:prstGeom prst="rect">
            <a:avLst/>
          </a:prstGeom>
          <a:solidFill>
            <a:srgbClr val="000000">
              <a:alpha val="0"/>
            </a:srgbClr>
          </a:solidFill>
        </p:spPr>
        <p:txBody>
          <a:bodyPr lIns="0" tIns="0" rIns="0" bIns="0" rtlCol="0" anchor="ctr"/>
          <a:lstStyle/>
          <a:p>
            <a:pPr indent="0" algn="l">
              <a:lnSpc>
                <a:spcPct val="150000"/>
              </a:lnSpc>
              <a:defRPr/>
            </a:pPr>
            <a:r>
              <a:rPr lang="en-US" sz="1700" b="1">
                <a:solidFill>
                  <a:srgbClr val="000000"/>
                </a:solidFill>
                <a:latin typeface="Poppins"/>
              </a:rPr>
              <a:t>The anomaly score is defined as Si(t) = wi(dx + dy), where dx denotes the physical deviation and dy denotes the cyber deviation, combining both domains into a single interpretable metric for each asset over time.</a:t>
            </a:r>
            <a:endParaRPr lang="en-US" sz="1100"/>
          </a:p>
        </p:txBody>
      </p:sp>
      <p:sp>
        <p:nvSpPr>
          <p:cNvPr id="17" name="TextBox 17"/>
          <p:cNvSpPr txBox="1"/>
          <p:nvPr/>
        </p:nvSpPr>
        <p:spPr>
          <a:xfrm>
            <a:off x="4813300" y="2603500"/>
            <a:ext cx="2921000" cy="3708400"/>
          </a:xfrm>
          <a:prstGeom prst="rect">
            <a:avLst/>
          </a:prstGeom>
          <a:solidFill>
            <a:srgbClr val="000000">
              <a:alpha val="0"/>
            </a:srgbClr>
          </a:solidFill>
        </p:spPr>
        <p:txBody>
          <a:bodyPr lIns="0" tIns="0" rIns="0" bIns="0" rtlCol="0" anchor="ctr"/>
          <a:lstStyle/>
          <a:p>
            <a:pPr indent="0" algn="l">
              <a:lnSpc>
                <a:spcPct val="150000"/>
              </a:lnSpc>
              <a:defRPr/>
            </a:pPr>
            <a:r>
              <a:rPr lang="en-US" sz="1700" b="1">
                <a:solidFill>
                  <a:srgbClr val="000000"/>
                </a:solidFill>
                <a:latin typeface="Poppins"/>
              </a:rPr>
              <a:t>wi represents the criticality weight assigned to each asset class; it scales the combined deviation to reflect the operational importance and potential impact of anomalies for different asset types.</a:t>
            </a:r>
            <a:endParaRPr lang="en-US" sz="1100"/>
          </a:p>
        </p:txBody>
      </p:sp>
      <p:sp>
        <p:nvSpPr>
          <p:cNvPr id="18" name="TextBox 18"/>
          <p:cNvSpPr txBox="1"/>
          <p:nvPr/>
        </p:nvSpPr>
        <p:spPr>
          <a:xfrm>
            <a:off x="8496300" y="2603500"/>
            <a:ext cx="2921000" cy="3708400"/>
          </a:xfrm>
          <a:prstGeom prst="rect">
            <a:avLst/>
          </a:prstGeom>
          <a:solidFill>
            <a:srgbClr val="000000">
              <a:alpha val="0"/>
            </a:srgbClr>
          </a:solidFill>
        </p:spPr>
        <p:txBody>
          <a:bodyPr lIns="0" tIns="0" rIns="0" bIns="0" rtlCol="0" anchor="ctr"/>
          <a:lstStyle/>
          <a:p>
            <a:pPr indent="0" algn="l">
              <a:lnSpc>
                <a:spcPct val="150000"/>
              </a:lnSpc>
              <a:defRPr/>
            </a:pPr>
            <a:r>
              <a:rPr lang="en-US" sz="1700" b="1">
                <a:solidFill>
                  <a:srgbClr val="000000"/>
                </a:solidFill>
                <a:latin typeface="Poppins"/>
              </a:rPr>
              <a:t>Risk is assessed by evaluating the deviation magnitude together with operational importance, enabling prioritization of responses based on both observed deviation severity and asset criticality.</a:t>
            </a:r>
            <a:endParaRPr lang="en-US" sz="1100"/>
          </a:p>
        </p:txBody>
      </p:sp>
      <p:sp>
        <p:nvSpPr>
          <p:cNvPr id="19" name="TextBox 19"/>
          <p:cNvSpPr txBox="1"/>
          <p:nvPr/>
        </p:nvSpPr>
        <p:spPr>
          <a:xfrm>
            <a:off x="12179300" y="3009900"/>
            <a:ext cx="2921000" cy="3365500"/>
          </a:xfrm>
          <a:prstGeom prst="rect">
            <a:avLst/>
          </a:prstGeom>
          <a:solidFill>
            <a:srgbClr val="000000">
              <a:alpha val="0"/>
            </a:srgbClr>
          </a:solidFill>
        </p:spPr>
        <p:txBody>
          <a:bodyPr lIns="0" tIns="0" rIns="0" bIns="0" rtlCol="0" anchor="ctr"/>
          <a:lstStyle/>
          <a:p>
            <a:pPr indent="0" algn="l">
              <a:lnSpc>
                <a:spcPct val="150000"/>
              </a:lnSpc>
              <a:defRPr/>
            </a:pPr>
            <a:r>
              <a:rPr lang="en-US" sz="1700" b="1">
                <a:solidFill>
                  <a:srgbClr val="000000"/>
                </a:solidFill>
                <a:latin typeface="Poppins"/>
              </a:rPr>
              <a:t>A threshold-based audit policy is applied: if the computed score exceeds a predefined threshold, the system escalates for investigation and response; otherwise routine monitoring is maintained.</a:t>
            </a:r>
            <a:endParaRPr lang="en-US" sz="1100"/>
          </a:p>
        </p:txBody>
      </p:sp>
      <p:sp>
        <p:nvSpPr>
          <p:cNvPr id="20" name="TextBox 20"/>
          <p:cNvSpPr txBox="1"/>
          <p:nvPr/>
        </p:nvSpPr>
        <p:spPr>
          <a:xfrm>
            <a:off x="1130300" y="7620000"/>
            <a:ext cx="13982700" cy="673100"/>
          </a:xfrm>
          <a:prstGeom prst="rect">
            <a:avLst/>
          </a:prstGeom>
          <a:solidFill>
            <a:srgbClr val="000000">
              <a:alpha val="0"/>
            </a:srgbClr>
          </a:solidFill>
        </p:spPr>
        <p:txBody>
          <a:bodyPr lIns="0" tIns="0" rIns="0" bIns="0" rtlCol="0" anchor="ctr"/>
          <a:lstStyle/>
          <a:p>
            <a:pPr indent="0" algn="l">
              <a:lnSpc>
                <a:spcPct val="150000"/>
              </a:lnSpc>
              <a:defRPr/>
            </a:pPr>
            <a:r>
              <a:rPr lang="en-US" sz="1700" b="1">
                <a:solidFill>
                  <a:srgbClr val="000000"/>
                </a:solidFill>
                <a:latin typeface="Poppins"/>
              </a:rPr>
              <a:t>The design prioritizes deliberate explainability rather than opaque black-box outputs, ensuring that operators can understand score contributors and maintain operational stability through transparent reasoning.</a:t>
            </a:r>
            <a:endParaRPr lang="en-US" sz="110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3">
            <a:extLst>
              <a:ext uri="{FF2B5EF4-FFF2-40B4-BE49-F238E27FC236}">
                <a16:creationId xmlns:a16="http://schemas.microsoft.com/office/drawing/2014/main" id="{D3D81ECC-9D7E-2BE2-D163-83CABC8594EC}"/>
              </a:ext>
            </a:extLst>
          </p:cNvPr>
          <p:cNvPicPr>
            <a:picLocks noChangeAspect="1"/>
          </p:cNvPicPr>
          <p:nvPr/>
        </p:nvPicPr>
        <p:blipFill>
          <a:blip r:embed="rId2"/>
          <a:srcRect t="56" b="56"/>
          <a:stretch>
            <a:fillRect/>
          </a:stretch>
        </p:blipFill>
        <p:spPr>
          <a:xfrm>
            <a:off x="0" y="0"/>
            <a:ext cx="16256000" cy="9144000"/>
          </a:xfrm>
          <a:prstGeom prst="rect">
            <a:avLst/>
          </a:prstGeom>
        </p:spPr>
      </p:pic>
      <p:sp>
        <p:nvSpPr>
          <p:cNvPr id="7" name="AutoShape 2">
            <a:extLst>
              <a:ext uri="{FF2B5EF4-FFF2-40B4-BE49-F238E27FC236}">
                <a16:creationId xmlns:a16="http://schemas.microsoft.com/office/drawing/2014/main" id="{8F1F2C34-E1E6-BA32-8689-3CBFABD3C1C9}"/>
              </a:ext>
            </a:extLst>
          </p:cNvPr>
          <p:cNvSpPr/>
          <p:nvPr/>
        </p:nvSpPr>
        <p:spPr>
          <a:xfrm>
            <a:off x="0" y="0"/>
            <a:ext cx="16256000" cy="9144000"/>
          </a:xfrm>
          <a:prstGeom prst="rect">
            <a:avLst/>
          </a:prstGeom>
          <a:solidFill>
            <a:srgbClr val="0D0A2C">
              <a:alpha val="74902"/>
            </a:srgbClr>
          </a:solidFill>
        </p:spPr>
      </p:sp>
      <p:pic>
        <p:nvPicPr>
          <p:cNvPr id="8" name="Picture 3">
            <a:extLst>
              <a:ext uri="{FF2B5EF4-FFF2-40B4-BE49-F238E27FC236}">
                <a16:creationId xmlns:a16="http://schemas.microsoft.com/office/drawing/2014/main" id="{4E46B1EE-FACD-2F36-70CE-86C916B9C473}"/>
              </a:ext>
            </a:extLst>
          </p:cNvPr>
          <p:cNvPicPr>
            <a:picLocks noChangeAspect="1"/>
          </p:cNvPicPr>
          <p:nvPr/>
        </p:nvPicPr>
        <p:blipFill>
          <a:blip r:embed="rId2"/>
          <a:srcRect t="56" b="56"/>
          <a:stretch>
            <a:fillRect/>
          </a:stretch>
        </p:blipFill>
        <p:spPr>
          <a:xfrm>
            <a:off x="0" y="0"/>
            <a:ext cx="16256000" cy="9144000"/>
          </a:xfrm>
          <a:prstGeom prst="rect">
            <a:avLst/>
          </a:prstGeom>
        </p:spPr>
      </p:pic>
      <p:sp>
        <p:nvSpPr>
          <p:cNvPr id="9" name="TextBox 4">
            <a:extLst>
              <a:ext uri="{FF2B5EF4-FFF2-40B4-BE49-F238E27FC236}">
                <a16:creationId xmlns:a16="http://schemas.microsoft.com/office/drawing/2014/main" id="{EEDBACE1-3AAD-84C9-8EE4-C1948E05504D}"/>
              </a:ext>
            </a:extLst>
          </p:cNvPr>
          <p:cNvSpPr txBox="1"/>
          <p:nvPr/>
        </p:nvSpPr>
        <p:spPr>
          <a:xfrm>
            <a:off x="876300" y="381000"/>
            <a:ext cx="14490700" cy="673100"/>
          </a:xfrm>
          <a:prstGeom prst="rect">
            <a:avLst/>
          </a:prstGeom>
          <a:solidFill>
            <a:srgbClr val="000000">
              <a:alpha val="0"/>
            </a:srgbClr>
          </a:solidFill>
        </p:spPr>
        <p:txBody>
          <a:bodyPr lIns="0" tIns="0" rIns="0" bIns="0" rtlCol="0" anchor="ctr"/>
          <a:lstStyle/>
          <a:p>
            <a:pPr indent="0" algn="l">
              <a:defRPr/>
            </a:pPr>
            <a:r>
              <a:rPr lang="en-US" sz="2800" b="1" dirty="0">
                <a:solidFill>
                  <a:srgbClr val="000000"/>
                </a:solidFill>
                <a:latin typeface="Ubuntu"/>
              </a:rPr>
              <a:t>Algorithm Flow: Experiment Module vs Rapid SCADA Live Module</a:t>
            </a:r>
            <a:endParaRPr lang="en-US" sz="1400" dirty="0"/>
          </a:p>
        </p:txBody>
      </p:sp>
      <p:sp>
        <p:nvSpPr>
          <p:cNvPr id="10" name="TextBox 5">
            <a:extLst>
              <a:ext uri="{FF2B5EF4-FFF2-40B4-BE49-F238E27FC236}">
                <a16:creationId xmlns:a16="http://schemas.microsoft.com/office/drawing/2014/main" id="{B84A25B5-E8BF-C821-E198-3495F12A6002}"/>
              </a:ext>
            </a:extLst>
          </p:cNvPr>
          <p:cNvSpPr txBox="1"/>
          <p:nvPr/>
        </p:nvSpPr>
        <p:spPr>
          <a:xfrm>
            <a:off x="876300" y="1409700"/>
            <a:ext cx="6921500" cy="254000"/>
          </a:xfrm>
          <a:prstGeom prst="rect">
            <a:avLst/>
          </a:prstGeom>
          <a:solidFill>
            <a:srgbClr val="000000">
              <a:alpha val="0"/>
            </a:srgbClr>
          </a:solidFill>
        </p:spPr>
        <p:txBody>
          <a:bodyPr lIns="0" tIns="0" rIns="0" bIns="0" rtlCol="0" anchor="ctr"/>
          <a:lstStyle/>
          <a:p>
            <a:pPr indent="0" algn="l">
              <a:defRPr/>
            </a:pPr>
            <a:r>
              <a:rPr lang="en-US" sz="2000" b="1" dirty="0">
                <a:solidFill>
                  <a:srgbClr val="000000"/>
                </a:solidFill>
                <a:latin typeface="Ubuntu"/>
              </a:rPr>
              <a:t>Live SCADA Algorithm Flow</a:t>
            </a:r>
            <a:endParaRPr lang="en-US" sz="1400" dirty="0"/>
          </a:p>
        </p:txBody>
      </p:sp>
      <p:sp>
        <p:nvSpPr>
          <p:cNvPr id="11" name="TextBox 6">
            <a:extLst>
              <a:ext uri="{FF2B5EF4-FFF2-40B4-BE49-F238E27FC236}">
                <a16:creationId xmlns:a16="http://schemas.microsoft.com/office/drawing/2014/main" id="{FA60187C-CE4C-9F7D-1B78-FE6F9C1918D5}"/>
              </a:ext>
            </a:extLst>
          </p:cNvPr>
          <p:cNvSpPr txBox="1"/>
          <p:nvPr/>
        </p:nvSpPr>
        <p:spPr>
          <a:xfrm>
            <a:off x="8432800" y="1409700"/>
            <a:ext cx="6921500" cy="254000"/>
          </a:xfrm>
          <a:prstGeom prst="rect">
            <a:avLst/>
          </a:prstGeom>
          <a:solidFill>
            <a:srgbClr val="000000">
              <a:alpha val="0"/>
            </a:srgbClr>
          </a:solidFill>
        </p:spPr>
        <p:txBody>
          <a:bodyPr lIns="0" tIns="0" rIns="0" bIns="0" rtlCol="0" anchor="ctr"/>
          <a:lstStyle/>
          <a:p>
            <a:pPr indent="0" algn="l">
              <a:defRPr/>
            </a:pPr>
            <a:r>
              <a:rPr lang="en-US" sz="2000" b="1">
                <a:solidFill>
                  <a:srgbClr val="000000"/>
                </a:solidFill>
                <a:latin typeface="Ubuntu"/>
              </a:rPr>
              <a:t>Experiment Module Algorithm Flow</a:t>
            </a:r>
            <a:endParaRPr lang="en-US" sz="1400"/>
          </a:p>
        </p:txBody>
      </p:sp>
      <p:sp>
        <p:nvSpPr>
          <p:cNvPr id="12" name="TextBox 7">
            <a:extLst>
              <a:ext uri="{FF2B5EF4-FFF2-40B4-BE49-F238E27FC236}">
                <a16:creationId xmlns:a16="http://schemas.microsoft.com/office/drawing/2014/main" id="{8F137A00-A40F-8083-E870-25E054E08A7D}"/>
              </a:ext>
            </a:extLst>
          </p:cNvPr>
          <p:cNvSpPr txBox="1"/>
          <p:nvPr/>
        </p:nvSpPr>
        <p:spPr>
          <a:xfrm>
            <a:off x="876300" y="7683500"/>
            <a:ext cx="14490700" cy="254000"/>
          </a:xfrm>
          <a:prstGeom prst="rect">
            <a:avLst/>
          </a:prstGeom>
          <a:solidFill>
            <a:srgbClr val="000000">
              <a:alpha val="0"/>
            </a:srgbClr>
          </a:solidFill>
        </p:spPr>
        <p:txBody>
          <a:bodyPr lIns="0" tIns="0" rIns="0" bIns="0" rtlCol="0" anchor="ctr"/>
          <a:lstStyle/>
          <a:p>
            <a:pPr indent="0" algn="l">
              <a:defRPr/>
            </a:pPr>
            <a:r>
              <a:rPr lang="en-US" sz="2000" b="1">
                <a:solidFill>
                  <a:srgbClr val="000000"/>
                </a:solidFill>
                <a:latin typeface="Ubuntu"/>
              </a:rPr>
              <a:t>Simple Difference</a:t>
            </a:r>
            <a:endParaRPr lang="en-US" sz="1400"/>
          </a:p>
        </p:txBody>
      </p:sp>
      <p:sp>
        <p:nvSpPr>
          <p:cNvPr id="13" name="TextBox 8">
            <a:extLst>
              <a:ext uri="{FF2B5EF4-FFF2-40B4-BE49-F238E27FC236}">
                <a16:creationId xmlns:a16="http://schemas.microsoft.com/office/drawing/2014/main" id="{A7716775-92E4-2744-28D1-3A640B9ED9DA}"/>
              </a:ext>
            </a:extLst>
          </p:cNvPr>
          <p:cNvSpPr txBox="1"/>
          <p:nvPr/>
        </p:nvSpPr>
        <p:spPr>
          <a:xfrm>
            <a:off x="1130300" y="1828800"/>
            <a:ext cx="6667500" cy="419100"/>
          </a:xfrm>
          <a:prstGeom prst="rect">
            <a:avLst/>
          </a:prstGeom>
          <a:solidFill>
            <a:srgbClr val="000000">
              <a:alpha val="0"/>
            </a:srgbClr>
          </a:solidFill>
        </p:spPr>
        <p:txBody>
          <a:bodyPr lIns="0" tIns="0" rIns="0" bIns="0" rtlCol="0" anchor="ctr"/>
          <a:lstStyle/>
          <a:p>
            <a:pPr indent="0" algn="l">
              <a:defRPr/>
            </a:pPr>
            <a:r>
              <a:rPr lang="en-US" sz="1400" b="1">
                <a:solidFill>
                  <a:srgbClr val="000000"/>
                </a:solidFill>
                <a:latin typeface="Poppins"/>
              </a:rPr>
              <a:t>Rapid SCADA generates current values for the 100-agent grid through calculated channels.</a:t>
            </a:r>
            <a:endParaRPr lang="en-US" sz="1400"/>
          </a:p>
        </p:txBody>
      </p:sp>
      <p:sp>
        <p:nvSpPr>
          <p:cNvPr id="14" name="TextBox 9">
            <a:extLst>
              <a:ext uri="{FF2B5EF4-FFF2-40B4-BE49-F238E27FC236}">
                <a16:creationId xmlns:a16="http://schemas.microsoft.com/office/drawing/2014/main" id="{408B994B-AAFB-252D-B9C4-FDF4CC60D6F9}"/>
              </a:ext>
            </a:extLst>
          </p:cNvPr>
          <p:cNvSpPr txBox="1"/>
          <p:nvPr/>
        </p:nvSpPr>
        <p:spPr>
          <a:xfrm>
            <a:off x="1130300" y="2374900"/>
            <a:ext cx="6667500" cy="419100"/>
          </a:xfrm>
          <a:prstGeom prst="rect">
            <a:avLst/>
          </a:prstGeom>
          <a:solidFill>
            <a:srgbClr val="000000">
              <a:alpha val="0"/>
            </a:srgbClr>
          </a:solidFill>
        </p:spPr>
        <p:txBody>
          <a:bodyPr lIns="0" tIns="0" rIns="0" bIns="0" rtlCol="0" anchor="ctr"/>
          <a:lstStyle/>
          <a:p>
            <a:pPr indent="0" algn="l">
              <a:defRPr/>
            </a:pPr>
            <a:r>
              <a:rPr lang="en-US" sz="1400" b="1">
                <a:solidFill>
                  <a:srgbClr val="000000"/>
                </a:solidFill>
                <a:latin typeface="Poppins"/>
              </a:rPr>
              <a:t>The PowerShell bridge reads those live values from the Rapid SCADA Web API.</a:t>
            </a:r>
            <a:endParaRPr lang="en-US" sz="1400"/>
          </a:p>
        </p:txBody>
      </p:sp>
      <p:sp>
        <p:nvSpPr>
          <p:cNvPr id="15" name="TextBox 10">
            <a:extLst>
              <a:ext uri="{FF2B5EF4-FFF2-40B4-BE49-F238E27FC236}">
                <a16:creationId xmlns:a16="http://schemas.microsoft.com/office/drawing/2014/main" id="{1F85AEBA-2350-D523-5BA9-B60C6ADF62A9}"/>
              </a:ext>
            </a:extLst>
          </p:cNvPr>
          <p:cNvSpPr txBox="1"/>
          <p:nvPr/>
        </p:nvSpPr>
        <p:spPr>
          <a:xfrm>
            <a:off x="1130300" y="2921000"/>
            <a:ext cx="6667500" cy="419100"/>
          </a:xfrm>
          <a:prstGeom prst="rect">
            <a:avLst/>
          </a:prstGeom>
          <a:solidFill>
            <a:srgbClr val="000000">
              <a:alpha val="0"/>
            </a:srgbClr>
          </a:solidFill>
        </p:spPr>
        <p:txBody>
          <a:bodyPr lIns="0" tIns="0" rIns="0" bIns="0" rtlCol="0" anchor="ctr"/>
          <a:lstStyle/>
          <a:p>
            <a:pPr indent="0" algn="l">
              <a:defRPr/>
            </a:pPr>
            <a:r>
              <a:rPr lang="en-US" sz="1400" b="1">
                <a:solidFill>
                  <a:srgbClr val="000000"/>
                </a:solidFill>
                <a:latin typeface="Poppins"/>
              </a:rPr>
              <a:t>The backend converts the raw SCADA tags into agent-wise physical and cyber feature vectors.</a:t>
            </a:r>
            <a:endParaRPr lang="en-US" sz="1400"/>
          </a:p>
        </p:txBody>
      </p:sp>
      <p:sp>
        <p:nvSpPr>
          <p:cNvPr id="16" name="TextBox 11">
            <a:extLst>
              <a:ext uri="{FF2B5EF4-FFF2-40B4-BE49-F238E27FC236}">
                <a16:creationId xmlns:a16="http://schemas.microsoft.com/office/drawing/2014/main" id="{D8B19A2D-19F9-AE2A-2A8E-7E074D743AB1}"/>
              </a:ext>
            </a:extLst>
          </p:cNvPr>
          <p:cNvSpPr txBox="1"/>
          <p:nvPr/>
        </p:nvSpPr>
        <p:spPr>
          <a:xfrm>
            <a:off x="1130300" y="3454400"/>
            <a:ext cx="6667500" cy="419100"/>
          </a:xfrm>
          <a:prstGeom prst="rect">
            <a:avLst/>
          </a:prstGeom>
          <a:solidFill>
            <a:srgbClr val="000000">
              <a:alpha val="0"/>
            </a:srgbClr>
          </a:solidFill>
        </p:spPr>
        <p:txBody>
          <a:bodyPr lIns="0" tIns="0" rIns="0" bIns="0" rtlCol="0" anchor="ctr"/>
          <a:lstStyle/>
          <a:p>
            <a:pPr indent="0" algn="l">
              <a:defRPr/>
            </a:pPr>
            <a:r>
              <a:rPr lang="en-US" sz="1400" b="1">
                <a:solidFill>
                  <a:srgbClr val="000000"/>
                </a:solidFill>
                <a:latin typeface="Poppins"/>
              </a:rPr>
              <a:t>Each feature is compared against its expected normal baseline and threshold.</a:t>
            </a:r>
            <a:endParaRPr lang="en-US" sz="1400"/>
          </a:p>
        </p:txBody>
      </p:sp>
      <p:sp>
        <p:nvSpPr>
          <p:cNvPr id="17" name="TextBox 12">
            <a:extLst>
              <a:ext uri="{FF2B5EF4-FFF2-40B4-BE49-F238E27FC236}">
                <a16:creationId xmlns:a16="http://schemas.microsoft.com/office/drawing/2014/main" id="{ACB8266E-8200-6CD3-7ED2-E1EC29044574}"/>
              </a:ext>
            </a:extLst>
          </p:cNvPr>
          <p:cNvSpPr txBox="1"/>
          <p:nvPr/>
        </p:nvSpPr>
        <p:spPr>
          <a:xfrm>
            <a:off x="1130300" y="4000500"/>
            <a:ext cx="6667500" cy="419100"/>
          </a:xfrm>
          <a:prstGeom prst="rect">
            <a:avLst/>
          </a:prstGeom>
          <a:solidFill>
            <a:srgbClr val="000000">
              <a:alpha val="0"/>
            </a:srgbClr>
          </a:solidFill>
        </p:spPr>
        <p:txBody>
          <a:bodyPr lIns="0" tIns="0" rIns="0" bIns="0" rtlCol="0" anchor="ctr"/>
          <a:lstStyle/>
          <a:p>
            <a:pPr indent="0" algn="l">
              <a:defRPr/>
            </a:pPr>
            <a:r>
              <a:rPr lang="en-US" sz="1400" b="1">
                <a:solidFill>
                  <a:srgbClr val="000000"/>
                </a:solidFill>
                <a:latin typeface="Poppins"/>
              </a:rPr>
              <a:t>Physical deviation and cyber deviation are computed.</a:t>
            </a:r>
            <a:endParaRPr lang="en-US" sz="1400"/>
          </a:p>
        </p:txBody>
      </p:sp>
      <p:sp>
        <p:nvSpPr>
          <p:cNvPr id="18" name="TextBox 13">
            <a:extLst>
              <a:ext uri="{FF2B5EF4-FFF2-40B4-BE49-F238E27FC236}">
                <a16:creationId xmlns:a16="http://schemas.microsoft.com/office/drawing/2014/main" id="{2F903779-FCDB-9863-6067-FBBCDD2990D6}"/>
              </a:ext>
            </a:extLst>
          </p:cNvPr>
          <p:cNvSpPr txBox="1"/>
          <p:nvPr/>
        </p:nvSpPr>
        <p:spPr>
          <a:xfrm>
            <a:off x="1130300" y="4546600"/>
            <a:ext cx="6667500" cy="419100"/>
          </a:xfrm>
          <a:prstGeom prst="rect">
            <a:avLst/>
          </a:prstGeom>
          <a:solidFill>
            <a:srgbClr val="000000">
              <a:alpha val="0"/>
            </a:srgbClr>
          </a:solidFill>
        </p:spPr>
        <p:txBody>
          <a:bodyPr lIns="0" tIns="0" rIns="0" bIns="0" rtlCol="0" anchor="ctr"/>
          <a:lstStyle/>
          <a:p>
            <a:pPr indent="0" algn="l">
              <a:defRPr/>
            </a:pPr>
            <a:r>
              <a:rPr lang="en-US" sz="1400" b="1">
                <a:solidFill>
                  <a:srgbClr val="000000"/>
                </a:solidFill>
                <a:latin typeface="Poppins"/>
              </a:rPr>
              <a:t>A final anomaly score is calculated using the criticality-weighted deviation formula.</a:t>
            </a:r>
            <a:endParaRPr lang="en-US" sz="1400"/>
          </a:p>
        </p:txBody>
      </p:sp>
      <p:sp>
        <p:nvSpPr>
          <p:cNvPr id="19" name="TextBox 14">
            <a:extLst>
              <a:ext uri="{FF2B5EF4-FFF2-40B4-BE49-F238E27FC236}">
                <a16:creationId xmlns:a16="http://schemas.microsoft.com/office/drawing/2014/main" id="{6455EEC8-65DA-12C0-EE57-10D8FA8AB397}"/>
              </a:ext>
            </a:extLst>
          </p:cNvPr>
          <p:cNvSpPr txBox="1"/>
          <p:nvPr/>
        </p:nvSpPr>
        <p:spPr>
          <a:xfrm>
            <a:off x="1130300" y="5080000"/>
            <a:ext cx="6667500" cy="203200"/>
          </a:xfrm>
          <a:prstGeom prst="rect">
            <a:avLst/>
          </a:prstGeom>
          <a:solidFill>
            <a:srgbClr val="000000">
              <a:alpha val="0"/>
            </a:srgbClr>
          </a:solidFill>
        </p:spPr>
        <p:txBody>
          <a:bodyPr lIns="0" tIns="0" rIns="0" bIns="0" rtlCol="0" anchor="ctr"/>
          <a:lstStyle/>
          <a:p>
            <a:pPr indent="0" algn="l">
              <a:defRPr/>
            </a:pPr>
            <a:r>
              <a:rPr lang="en-US" sz="1400" b="1">
                <a:solidFill>
                  <a:srgbClr val="000000"/>
                </a:solidFill>
                <a:latin typeface="Poppins"/>
              </a:rPr>
              <a:t>The score is compared against the audit threshold.</a:t>
            </a:r>
            <a:endParaRPr lang="en-US" sz="1400"/>
          </a:p>
        </p:txBody>
      </p:sp>
      <p:sp>
        <p:nvSpPr>
          <p:cNvPr id="20" name="TextBox 15">
            <a:extLst>
              <a:ext uri="{FF2B5EF4-FFF2-40B4-BE49-F238E27FC236}">
                <a16:creationId xmlns:a16="http://schemas.microsoft.com/office/drawing/2014/main" id="{71076035-C9B7-B5C2-7A6D-A47209C4FBD6}"/>
              </a:ext>
            </a:extLst>
          </p:cNvPr>
          <p:cNvSpPr txBox="1"/>
          <p:nvPr/>
        </p:nvSpPr>
        <p:spPr>
          <a:xfrm>
            <a:off x="1130300" y="5410200"/>
            <a:ext cx="6667500" cy="419100"/>
          </a:xfrm>
          <a:prstGeom prst="rect">
            <a:avLst/>
          </a:prstGeom>
          <a:solidFill>
            <a:srgbClr val="000000">
              <a:alpha val="0"/>
            </a:srgbClr>
          </a:solidFill>
        </p:spPr>
        <p:txBody>
          <a:bodyPr lIns="0" tIns="0" rIns="0" bIns="0" rtlCol="0" anchor="ctr"/>
          <a:lstStyle/>
          <a:p>
            <a:pPr indent="0" algn="l">
              <a:defRPr/>
            </a:pPr>
            <a:r>
              <a:rPr lang="en-US" sz="1400" b="1">
                <a:solidFill>
                  <a:srgbClr val="000000"/>
                </a:solidFill>
                <a:latin typeface="Poppins"/>
              </a:rPr>
              <a:t>The system assigns an audit action such as MAINTAIN_AUDIT or INCREASE_AUDIT.</a:t>
            </a:r>
            <a:endParaRPr lang="en-US" sz="1400"/>
          </a:p>
        </p:txBody>
      </p:sp>
      <p:sp>
        <p:nvSpPr>
          <p:cNvPr id="21" name="TextBox 16">
            <a:extLst>
              <a:ext uri="{FF2B5EF4-FFF2-40B4-BE49-F238E27FC236}">
                <a16:creationId xmlns:a16="http://schemas.microsoft.com/office/drawing/2014/main" id="{60A54878-57D8-C7AD-21B0-8E4BFAE835C8}"/>
              </a:ext>
            </a:extLst>
          </p:cNvPr>
          <p:cNvSpPr txBox="1"/>
          <p:nvPr/>
        </p:nvSpPr>
        <p:spPr>
          <a:xfrm>
            <a:off x="1130300" y="5956300"/>
            <a:ext cx="6667500" cy="419100"/>
          </a:xfrm>
          <a:prstGeom prst="rect">
            <a:avLst/>
          </a:prstGeom>
          <a:solidFill>
            <a:srgbClr val="000000">
              <a:alpha val="0"/>
            </a:srgbClr>
          </a:solidFill>
        </p:spPr>
        <p:txBody>
          <a:bodyPr lIns="0" tIns="0" rIns="0" bIns="0" rtlCol="0" anchor="ctr"/>
          <a:lstStyle/>
          <a:p>
            <a:pPr indent="0" algn="l">
              <a:defRPr/>
            </a:pPr>
            <a:r>
              <a:rPr lang="en-US" sz="1400" b="1">
                <a:solidFill>
                  <a:srgbClr val="000000"/>
                </a:solidFill>
                <a:latin typeface="Poppins"/>
              </a:rPr>
              <a:t>Feature contribution values are computed for explainability.</a:t>
            </a:r>
            <a:endParaRPr lang="en-US" sz="1400"/>
          </a:p>
        </p:txBody>
      </p:sp>
      <p:sp>
        <p:nvSpPr>
          <p:cNvPr id="22" name="TextBox 17">
            <a:extLst>
              <a:ext uri="{FF2B5EF4-FFF2-40B4-BE49-F238E27FC236}">
                <a16:creationId xmlns:a16="http://schemas.microsoft.com/office/drawing/2014/main" id="{67D8411A-9401-F3FC-E200-F954172868E4}"/>
              </a:ext>
            </a:extLst>
          </p:cNvPr>
          <p:cNvSpPr txBox="1"/>
          <p:nvPr/>
        </p:nvSpPr>
        <p:spPr>
          <a:xfrm>
            <a:off x="1130300" y="6489700"/>
            <a:ext cx="6667500" cy="419100"/>
          </a:xfrm>
          <a:prstGeom prst="rect">
            <a:avLst/>
          </a:prstGeom>
          <a:solidFill>
            <a:srgbClr val="000000">
              <a:alpha val="0"/>
            </a:srgbClr>
          </a:solidFill>
        </p:spPr>
        <p:txBody>
          <a:bodyPr lIns="0" tIns="0" rIns="0" bIns="0" rtlCol="0" anchor="ctr"/>
          <a:lstStyle/>
          <a:p>
            <a:pPr indent="0" algn="l">
              <a:defRPr/>
            </a:pPr>
            <a:r>
              <a:rPr lang="en-US" sz="1400" b="1">
                <a:solidFill>
                  <a:srgbClr val="000000"/>
                </a:solidFill>
                <a:latin typeface="Poppins"/>
              </a:rPr>
              <a:t>The dashboard displays live anomaly score, risk score, audit state, and explanation.</a:t>
            </a:r>
            <a:endParaRPr lang="en-US" sz="1400"/>
          </a:p>
        </p:txBody>
      </p:sp>
      <p:sp>
        <p:nvSpPr>
          <p:cNvPr id="23" name="TextBox 18">
            <a:extLst>
              <a:ext uri="{FF2B5EF4-FFF2-40B4-BE49-F238E27FC236}">
                <a16:creationId xmlns:a16="http://schemas.microsoft.com/office/drawing/2014/main" id="{F5AE8F34-4C1A-132F-0746-5181EBFD5318}"/>
              </a:ext>
            </a:extLst>
          </p:cNvPr>
          <p:cNvSpPr txBox="1"/>
          <p:nvPr/>
        </p:nvSpPr>
        <p:spPr>
          <a:xfrm>
            <a:off x="8686800" y="1828800"/>
            <a:ext cx="6667500" cy="635000"/>
          </a:xfrm>
          <a:prstGeom prst="rect">
            <a:avLst/>
          </a:prstGeom>
          <a:solidFill>
            <a:srgbClr val="000000">
              <a:alpha val="0"/>
            </a:srgbClr>
          </a:solidFill>
        </p:spPr>
        <p:txBody>
          <a:bodyPr lIns="0" tIns="0" rIns="0" bIns="0" rtlCol="0" anchor="ctr"/>
          <a:lstStyle/>
          <a:p>
            <a:pPr indent="0" algn="l">
              <a:defRPr/>
            </a:pPr>
            <a:r>
              <a:rPr lang="en-US" sz="1400" b="1">
                <a:solidFill>
                  <a:srgbClr val="000000"/>
                </a:solidFill>
                <a:latin typeface="Poppins"/>
              </a:rPr>
              <a:t>The system creates simulated smart-grid agents for the chosen configuration such as N=100, N=200, or N=500.</a:t>
            </a:r>
            <a:endParaRPr lang="en-US" sz="1400"/>
          </a:p>
        </p:txBody>
      </p:sp>
      <p:sp>
        <p:nvSpPr>
          <p:cNvPr id="24" name="TextBox 19">
            <a:extLst>
              <a:ext uri="{FF2B5EF4-FFF2-40B4-BE49-F238E27FC236}">
                <a16:creationId xmlns:a16="http://schemas.microsoft.com/office/drawing/2014/main" id="{C3C94097-5D57-B3A8-55A2-078698045F73}"/>
              </a:ext>
            </a:extLst>
          </p:cNvPr>
          <p:cNvSpPr txBox="1"/>
          <p:nvPr/>
        </p:nvSpPr>
        <p:spPr>
          <a:xfrm>
            <a:off x="8686800" y="2590800"/>
            <a:ext cx="6667500" cy="419100"/>
          </a:xfrm>
          <a:prstGeom prst="rect">
            <a:avLst/>
          </a:prstGeom>
          <a:solidFill>
            <a:srgbClr val="000000">
              <a:alpha val="0"/>
            </a:srgbClr>
          </a:solidFill>
        </p:spPr>
        <p:txBody>
          <a:bodyPr lIns="0" tIns="0" rIns="0" bIns="0" rtlCol="0" anchor="ctr"/>
          <a:lstStyle/>
          <a:p>
            <a:pPr indent="0" algn="l">
              <a:defRPr/>
            </a:pPr>
            <a:r>
              <a:rPr lang="en-US" sz="1400" b="1">
                <a:solidFill>
                  <a:srgbClr val="000000"/>
                </a:solidFill>
                <a:latin typeface="Poppins"/>
              </a:rPr>
              <a:t>Synthetic cyber attacks, faults, and scenario variations are injected into the simulation.</a:t>
            </a:r>
            <a:endParaRPr lang="en-US" sz="1400"/>
          </a:p>
        </p:txBody>
      </p:sp>
      <p:sp>
        <p:nvSpPr>
          <p:cNvPr id="25" name="TextBox 20">
            <a:extLst>
              <a:ext uri="{FF2B5EF4-FFF2-40B4-BE49-F238E27FC236}">
                <a16:creationId xmlns:a16="http://schemas.microsoft.com/office/drawing/2014/main" id="{78E63F26-CF70-2991-25B3-526814A31491}"/>
              </a:ext>
            </a:extLst>
          </p:cNvPr>
          <p:cNvSpPr txBox="1"/>
          <p:nvPr/>
        </p:nvSpPr>
        <p:spPr>
          <a:xfrm>
            <a:off x="8686800" y="3124200"/>
            <a:ext cx="6667500" cy="419100"/>
          </a:xfrm>
          <a:prstGeom prst="rect">
            <a:avLst/>
          </a:prstGeom>
          <a:solidFill>
            <a:srgbClr val="000000">
              <a:alpha val="0"/>
            </a:srgbClr>
          </a:solidFill>
        </p:spPr>
        <p:txBody>
          <a:bodyPr lIns="0" tIns="0" rIns="0" bIns="0" rtlCol="0" anchor="ctr"/>
          <a:lstStyle/>
          <a:p>
            <a:pPr indent="0" algn="l">
              <a:defRPr/>
            </a:pPr>
            <a:r>
              <a:rPr lang="en-US" sz="1400" b="1">
                <a:solidFill>
                  <a:srgbClr val="000000"/>
                </a:solidFill>
                <a:latin typeface="Poppins"/>
              </a:rPr>
              <a:t>Agent-wise physical and cyber states are generated at each simulation step.</a:t>
            </a:r>
            <a:endParaRPr lang="en-US" sz="1400"/>
          </a:p>
        </p:txBody>
      </p:sp>
      <p:sp>
        <p:nvSpPr>
          <p:cNvPr id="26" name="TextBox 21">
            <a:extLst>
              <a:ext uri="{FF2B5EF4-FFF2-40B4-BE49-F238E27FC236}">
                <a16:creationId xmlns:a16="http://schemas.microsoft.com/office/drawing/2014/main" id="{7DF25E22-674A-4204-87D5-1BA0F62EF094}"/>
              </a:ext>
            </a:extLst>
          </p:cNvPr>
          <p:cNvSpPr txBox="1"/>
          <p:nvPr/>
        </p:nvSpPr>
        <p:spPr>
          <a:xfrm>
            <a:off x="8686800" y="3670300"/>
            <a:ext cx="6667500" cy="419100"/>
          </a:xfrm>
          <a:prstGeom prst="rect">
            <a:avLst/>
          </a:prstGeom>
          <a:solidFill>
            <a:srgbClr val="000000">
              <a:alpha val="0"/>
            </a:srgbClr>
          </a:solidFill>
        </p:spPr>
        <p:txBody>
          <a:bodyPr lIns="0" tIns="0" rIns="0" bIns="0" rtlCol="0" anchor="ctr"/>
          <a:lstStyle/>
          <a:p>
            <a:pPr indent="0" algn="l">
              <a:defRPr/>
            </a:pPr>
            <a:r>
              <a:rPr lang="en-US" sz="1400" b="1">
                <a:solidFill>
                  <a:srgbClr val="000000"/>
                </a:solidFill>
                <a:latin typeface="Poppins"/>
              </a:rPr>
              <a:t>The anomaly detection layer evaluates deviations or anomaly probabilities from the simulated inputs.</a:t>
            </a:r>
            <a:endParaRPr lang="en-US" sz="1400"/>
          </a:p>
        </p:txBody>
      </p:sp>
      <p:sp>
        <p:nvSpPr>
          <p:cNvPr id="27" name="TextBox 22">
            <a:extLst>
              <a:ext uri="{FF2B5EF4-FFF2-40B4-BE49-F238E27FC236}">
                <a16:creationId xmlns:a16="http://schemas.microsoft.com/office/drawing/2014/main" id="{C7ED3BB0-9A53-5D08-2D92-1F6E29897DC3}"/>
              </a:ext>
            </a:extLst>
          </p:cNvPr>
          <p:cNvSpPr txBox="1"/>
          <p:nvPr/>
        </p:nvSpPr>
        <p:spPr>
          <a:xfrm>
            <a:off x="8686800" y="4216400"/>
            <a:ext cx="6667500" cy="419100"/>
          </a:xfrm>
          <a:prstGeom prst="rect">
            <a:avLst/>
          </a:prstGeom>
          <a:solidFill>
            <a:srgbClr val="000000">
              <a:alpha val="0"/>
            </a:srgbClr>
          </a:solidFill>
        </p:spPr>
        <p:txBody>
          <a:bodyPr lIns="0" tIns="0" rIns="0" bIns="0" rtlCol="0" anchor="ctr"/>
          <a:lstStyle/>
          <a:p>
            <a:pPr indent="0" algn="l">
              <a:defRPr/>
            </a:pPr>
            <a:r>
              <a:rPr lang="en-US" sz="1400" b="1">
                <a:solidFill>
                  <a:srgbClr val="000000"/>
                </a:solidFill>
                <a:latin typeface="Poppins"/>
              </a:rPr>
              <a:t>The hybrid audit scheduler combines anomaly evidence, cost constraints, and policy logic.</a:t>
            </a:r>
            <a:endParaRPr lang="en-US" sz="1400"/>
          </a:p>
        </p:txBody>
      </p:sp>
      <p:sp>
        <p:nvSpPr>
          <p:cNvPr id="28" name="TextBox 23">
            <a:extLst>
              <a:ext uri="{FF2B5EF4-FFF2-40B4-BE49-F238E27FC236}">
                <a16:creationId xmlns:a16="http://schemas.microsoft.com/office/drawing/2014/main" id="{E7D0247D-B062-EF5B-73C6-87DCE4BB0769}"/>
              </a:ext>
            </a:extLst>
          </p:cNvPr>
          <p:cNvSpPr txBox="1"/>
          <p:nvPr/>
        </p:nvSpPr>
        <p:spPr>
          <a:xfrm>
            <a:off x="8686800" y="4749800"/>
            <a:ext cx="6667500" cy="419100"/>
          </a:xfrm>
          <a:prstGeom prst="rect">
            <a:avLst/>
          </a:prstGeom>
          <a:solidFill>
            <a:srgbClr val="000000">
              <a:alpha val="0"/>
            </a:srgbClr>
          </a:solidFill>
        </p:spPr>
        <p:txBody>
          <a:bodyPr lIns="0" tIns="0" rIns="0" bIns="0" rtlCol="0" anchor="ctr"/>
          <a:lstStyle/>
          <a:p>
            <a:pPr indent="0" algn="l">
              <a:defRPr/>
            </a:pPr>
            <a:r>
              <a:rPr lang="en-US" sz="1400" b="1">
                <a:solidFill>
                  <a:srgbClr val="000000"/>
                </a:solidFill>
                <a:latin typeface="Poppins"/>
              </a:rPr>
              <a:t>Audit actions are allocated dynamically across agents.</a:t>
            </a:r>
            <a:endParaRPr lang="en-US" sz="1400"/>
          </a:p>
        </p:txBody>
      </p:sp>
      <p:sp>
        <p:nvSpPr>
          <p:cNvPr id="29" name="TextBox 24">
            <a:extLst>
              <a:ext uri="{FF2B5EF4-FFF2-40B4-BE49-F238E27FC236}">
                <a16:creationId xmlns:a16="http://schemas.microsoft.com/office/drawing/2014/main" id="{D38B9D27-126E-2122-430E-14EB19815405}"/>
              </a:ext>
            </a:extLst>
          </p:cNvPr>
          <p:cNvSpPr txBox="1"/>
          <p:nvPr/>
        </p:nvSpPr>
        <p:spPr>
          <a:xfrm>
            <a:off x="8686800" y="5295900"/>
            <a:ext cx="6667500" cy="419100"/>
          </a:xfrm>
          <a:prstGeom prst="rect">
            <a:avLst/>
          </a:prstGeom>
          <a:solidFill>
            <a:srgbClr val="000000">
              <a:alpha val="0"/>
            </a:srgbClr>
          </a:solidFill>
        </p:spPr>
        <p:txBody>
          <a:bodyPr lIns="0" tIns="0" rIns="0" bIns="0" rtlCol="0" anchor="ctr"/>
          <a:lstStyle/>
          <a:p>
            <a:pPr indent="0" algn="l">
              <a:defRPr/>
            </a:pPr>
            <a:r>
              <a:rPr lang="en-US" sz="1400" b="1">
                <a:solidFill>
                  <a:srgbClr val="000000"/>
                </a:solidFill>
                <a:latin typeface="Poppins"/>
              </a:rPr>
              <a:t>The framework compares the dynamic strategy with the fixed baseline audit strategy.</a:t>
            </a:r>
            <a:endParaRPr lang="en-US" sz="1400"/>
          </a:p>
        </p:txBody>
      </p:sp>
      <p:sp>
        <p:nvSpPr>
          <p:cNvPr id="30" name="TextBox 25">
            <a:extLst>
              <a:ext uri="{FF2B5EF4-FFF2-40B4-BE49-F238E27FC236}">
                <a16:creationId xmlns:a16="http://schemas.microsoft.com/office/drawing/2014/main" id="{BA4187FB-322B-1670-4FD8-8F79739BB1AB}"/>
              </a:ext>
            </a:extLst>
          </p:cNvPr>
          <p:cNvSpPr txBox="1"/>
          <p:nvPr/>
        </p:nvSpPr>
        <p:spPr>
          <a:xfrm>
            <a:off x="8686800" y="5842000"/>
            <a:ext cx="6667500" cy="635000"/>
          </a:xfrm>
          <a:prstGeom prst="rect">
            <a:avLst/>
          </a:prstGeom>
          <a:solidFill>
            <a:srgbClr val="000000">
              <a:alpha val="0"/>
            </a:srgbClr>
          </a:solidFill>
        </p:spPr>
        <p:txBody>
          <a:bodyPr lIns="0" tIns="0" rIns="0" bIns="0" rtlCol="0" anchor="ctr"/>
          <a:lstStyle/>
          <a:p>
            <a:pPr indent="0" algn="l">
              <a:defRPr/>
            </a:pPr>
            <a:r>
              <a:rPr lang="en-US" sz="1400" b="1">
                <a:solidFill>
                  <a:srgbClr val="000000"/>
                </a:solidFill>
                <a:latin typeface="Poppins"/>
              </a:rPr>
              <a:t>Performance metrics are computed, including attack-rate reduction, cost efficiency, risk mitigation, precision, recall, F1, and accuracy.</a:t>
            </a:r>
            <a:endParaRPr lang="en-US" sz="1400"/>
          </a:p>
        </p:txBody>
      </p:sp>
      <p:sp>
        <p:nvSpPr>
          <p:cNvPr id="31" name="TextBox 26">
            <a:extLst>
              <a:ext uri="{FF2B5EF4-FFF2-40B4-BE49-F238E27FC236}">
                <a16:creationId xmlns:a16="http://schemas.microsoft.com/office/drawing/2014/main" id="{4EA672F4-AEA0-7F1D-CC51-C01D7F86E62B}"/>
              </a:ext>
            </a:extLst>
          </p:cNvPr>
          <p:cNvSpPr txBox="1"/>
          <p:nvPr/>
        </p:nvSpPr>
        <p:spPr>
          <a:xfrm>
            <a:off x="8686800" y="6591300"/>
            <a:ext cx="6667500" cy="203200"/>
          </a:xfrm>
          <a:prstGeom prst="rect">
            <a:avLst/>
          </a:prstGeom>
          <a:solidFill>
            <a:srgbClr val="000000">
              <a:alpha val="0"/>
            </a:srgbClr>
          </a:solidFill>
        </p:spPr>
        <p:txBody>
          <a:bodyPr lIns="0" tIns="0" rIns="0" bIns="0" rtlCol="0" anchor="ctr"/>
          <a:lstStyle/>
          <a:p>
            <a:pPr indent="0" algn="l">
              <a:defRPr/>
            </a:pPr>
            <a:r>
              <a:rPr lang="en-US" sz="1400" b="1">
                <a:solidFill>
                  <a:srgbClr val="000000"/>
                </a:solidFill>
                <a:latin typeface="Poppins"/>
              </a:rPr>
              <a:t>Results are written to logs and summary files.</a:t>
            </a:r>
            <a:endParaRPr lang="en-US" sz="1400"/>
          </a:p>
        </p:txBody>
      </p:sp>
      <p:sp>
        <p:nvSpPr>
          <p:cNvPr id="32" name="TextBox 27">
            <a:extLst>
              <a:ext uri="{FF2B5EF4-FFF2-40B4-BE49-F238E27FC236}">
                <a16:creationId xmlns:a16="http://schemas.microsoft.com/office/drawing/2014/main" id="{C24B2A2A-0D5D-AC6C-1EFC-875158753598}"/>
              </a:ext>
            </a:extLst>
          </p:cNvPr>
          <p:cNvSpPr txBox="1"/>
          <p:nvPr/>
        </p:nvSpPr>
        <p:spPr>
          <a:xfrm>
            <a:off x="8686800" y="6921500"/>
            <a:ext cx="6667500" cy="419100"/>
          </a:xfrm>
          <a:prstGeom prst="rect">
            <a:avLst/>
          </a:prstGeom>
          <a:solidFill>
            <a:srgbClr val="000000">
              <a:alpha val="0"/>
            </a:srgbClr>
          </a:solidFill>
        </p:spPr>
        <p:txBody>
          <a:bodyPr lIns="0" tIns="0" rIns="0" bIns="0" rtlCol="0" anchor="ctr"/>
          <a:lstStyle/>
          <a:p>
            <a:pPr indent="0" algn="l">
              <a:defRPr/>
            </a:pPr>
            <a:r>
              <a:rPr lang="en-US" sz="1400" b="1">
                <a:solidFill>
                  <a:srgbClr val="000000"/>
                </a:solidFill>
                <a:latin typeface="Poppins"/>
              </a:rPr>
              <a:t>The experiment dashboard displays latest-run analytics, comparisons, and methodology outputs.</a:t>
            </a:r>
            <a:endParaRPr lang="en-US" sz="1400"/>
          </a:p>
        </p:txBody>
      </p:sp>
      <p:sp>
        <p:nvSpPr>
          <p:cNvPr id="33" name="TextBox 28">
            <a:extLst>
              <a:ext uri="{FF2B5EF4-FFF2-40B4-BE49-F238E27FC236}">
                <a16:creationId xmlns:a16="http://schemas.microsoft.com/office/drawing/2014/main" id="{77AFADB8-F007-836D-F61F-9AB7212CE531}"/>
              </a:ext>
            </a:extLst>
          </p:cNvPr>
          <p:cNvSpPr txBox="1"/>
          <p:nvPr/>
        </p:nvSpPr>
        <p:spPr>
          <a:xfrm>
            <a:off x="876300" y="8102600"/>
            <a:ext cx="14490700" cy="635000"/>
          </a:xfrm>
          <a:prstGeom prst="rect">
            <a:avLst/>
          </a:prstGeom>
          <a:solidFill>
            <a:srgbClr val="000000">
              <a:alpha val="0"/>
            </a:srgbClr>
          </a:solidFill>
        </p:spPr>
        <p:txBody>
          <a:bodyPr lIns="0" tIns="0" rIns="0" bIns="0" rtlCol="0" anchor="ctr"/>
          <a:lstStyle/>
          <a:p>
            <a:pPr indent="0" algn="l">
              <a:defRPr/>
            </a:pPr>
            <a:r>
              <a:rPr lang="en-US" sz="1400" b="1">
                <a:solidFill>
                  <a:srgbClr val="000000"/>
                </a:solidFill>
                <a:latin typeface="Poppins"/>
              </a:rPr>
              <a:t>The Live SCADA module is a real-time operational pipeline that reads live Rapid SCADA telemetry and turns it into anomaly scores and audit decisions, while the Experiment module is an evaluation pipeline that simulates grid behavior and compares different audit strategies under controlled test scenarios.</a:t>
            </a:r>
            <a:endParaRPr lang="en-US" sz="1400"/>
          </a:p>
        </p:txBody>
      </p:sp>
      <p:sp>
        <p:nvSpPr>
          <p:cNvPr id="34" name="TextBox 29">
            <a:extLst>
              <a:ext uri="{FF2B5EF4-FFF2-40B4-BE49-F238E27FC236}">
                <a16:creationId xmlns:a16="http://schemas.microsoft.com/office/drawing/2014/main" id="{EDB67A1D-3396-1B60-6217-AE7AEF49C2C1}"/>
              </a:ext>
            </a:extLst>
          </p:cNvPr>
          <p:cNvSpPr txBox="1"/>
          <p:nvPr/>
        </p:nvSpPr>
        <p:spPr>
          <a:xfrm>
            <a:off x="749300" y="1866900"/>
            <a:ext cx="241300" cy="139700"/>
          </a:xfrm>
          <a:prstGeom prst="rect">
            <a:avLst/>
          </a:prstGeom>
          <a:solidFill>
            <a:srgbClr val="000000">
              <a:alpha val="0"/>
            </a:srgbClr>
          </a:solidFill>
        </p:spPr>
        <p:txBody>
          <a:bodyPr lIns="0" tIns="0" rIns="0" bIns="0" rtlCol="0" anchor="ctr"/>
          <a:lstStyle/>
          <a:p>
            <a:pPr algn="ctr">
              <a:defRPr/>
            </a:pPr>
            <a:r>
              <a:rPr lang="en-US" sz="1400" b="0">
                <a:solidFill>
                  <a:srgbClr val="000000"/>
                </a:solidFill>
                <a:highlight>
                  <a:srgbClr val="000000">
                    <a:alpha val="0"/>
                  </a:srgbClr>
                </a:highlight>
                <a:ea typeface="Poppins"/>
              </a:rPr>
              <a:t>●</a:t>
            </a:r>
            <a:endParaRPr lang="en-US" sz="1400"/>
          </a:p>
        </p:txBody>
      </p:sp>
      <p:sp>
        <p:nvSpPr>
          <p:cNvPr id="35" name="TextBox 30">
            <a:extLst>
              <a:ext uri="{FF2B5EF4-FFF2-40B4-BE49-F238E27FC236}">
                <a16:creationId xmlns:a16="http://schemas.microsoft.com/office/drawing/2014/main" id="{0717C646-A9C0-9D6B-1102-60CD8BBB8C2E}"/>
              </a:ext>
            </a:extLst>
          </p:cNvPr>
          <p:cNvSpPr txBox="1"/>
          <p:nvPr/>
        </p:nvSpPr>
        <p:spPr>
          <a:xfrm>
            <a:off x="749300" y="2413000"/>
            <a:ext cx="241300" cy="139700"/>
          </a:xfrm>
          <a:prstGeom prst="rect">
            <a:avLst/>
          </a:prstGeom>
          <a:solidFill>
            <a:srgbClr val="000000">
              <a:alpha val="0"/>
            </a:srgbClr>
          </a:solidFill>
        </p:spPr>
        <p:txBody>
          <a:bodyPr lIns="0" tIns="0" rIns="0" bIns="0" rtlCol="0" anchor="ctr"/>
          <a:lstStyle/>
          <a:p>
            <a:pPr algn="ctr">
              <a:defRPr/>
            </a:pPr>
            <a:r>
              <a:rPr lang="en-US" sz="1400" b="0">
                <a:solidFill>
                  <a:srgbClr val="000000"/>
                </a:solidFill>
                <a:highlight>
                  <a:srgbClr val="000000">
                    <a:alpha val="0"/>
                  </a:srgbClr>
                </a:highlight>
                <a:ea typeface="Poppins"/>
              </a:rPr>
              <a:t>●</a:t>
            </a:r>
            <a:endParaRPr lang="en-US" sz="1400"/>
          </a:p>
        </p:txBody>
      </p:sp>
      <p:sp>
        <p:nvSpPr>
          <p:cNvPr id="36" name="TextBox 31">
            <a:extLst>
              <a:ext uri="{FF2B5EF4-FFF2-40B4-BE49-F238E27FC236}">
                <a16:creationId xmlns:a16="http://schemas.microsoft.com/office/drawing/2014/main" id="{C1D693F7-2884-7734-5824-A7ECF5132B01}"/>
              </a:ext>
            </a:extLst>
          </p:cNvPr>
          <p:cNvSpPr txBox="1"/>
          <p:nvPr/>
        </p:nvSpPr>
        <p:spPr>
          <a:xfrm>
            <a:off x="749300" y="2946400"/>
            <a:ext cx="241300" cy="139700"/>
          </a:xfrm>
          <a:prstGeom prst="rect">
            <a:avLst/>
          </a:prstGeom>
          <a:solidFill>
            <a:srgbClr val="000000">
              <a:alpha val="0"/>
            </a:srgbClr>
          </a:solidFill>
        </p:spPr>
        <p:txBody>
          <a:bodyPr lIns="0" tIns="0" rIns="0" bIns="0" rtlCol="0" anchor="ctr"/>
          <a:lstStyle/>
          <a:p>
            <a:pPr algn="ctr">
              <a:defRPr/>
            </a:pPr>
            <a:r>
              <a:rPr lang="en-US" sz="1400" b="0">
                <a:solidFill>
                  <a:srgbClr val="000000"/>
                </a:solidFill>
                <a:highlight>
                  <a:srgbClr val="000000">
                    <a:alpha val="0"/>
                  </a:srgbClr>
                </a:highlight>
                <a:ea typeface="Poppins"/>
              </a:rPr>
              <a:t>●</a:t>
            </a:r>
            <a:endParaRPr lang="en-US" sz="1400"/>
          </a:p>
        </p:txBody>
      </p:sp>
      <p:sp>
        <p:nvSpPr>
          <p:cNvPr id="37" name="TextBox 32">
            <a:extLst>
              <a:ext uri="{FF2B5EF4-FFF2-40B4-BE49-F238E27FC236}">
                <a16:creationId xmlns:a16="http://schemas.microsoft.com/office/drawing/2014/main" id="{25C45FDE-06A6-23F6-51F8-503A8C563E59}"/>
              </a:ext>
            </a:extLst>
          </p:cNvPr>
          <p:cNvSpPr txBox="1"/>
          <p:nvPr/>
        </p:nvSpPr>
        <p:spPr>
          <a:xfrm>
            <a:off x="749300" y="3492500"/>
            <a:ext cx="241300" cy="139700"/>
          </a:xfrm>
          <a:prstGeom prst="rect">
            <a:avLst/>
          </a:prstGeom>
          <a:solidFill>
            <a:srgbClr val="000000">
              <a:alpha val="0"/>
            </a:srgbClr>
          </a:solidFill>
        </p:spPr>
        <p:txBody>
          <a:bodyPr lIns="0" tIns="0" rIns="0" bIns="0" rtlCol="0" anchor="ctr"/>
          <a:lstStyle/>
          <a:p>
            <a:pPr algn="ctr">
              <a:defRPr/>
            </a:pPr>
            <a:r>
              <a:rPr lang="en-US" sz="1400" b="0">
                <a:solidFill>
                  <a:srgbClr val="000000"/>
                </a:solidFill>
                <a:highlight>
                  <a:srgbClr val="000000">
                    <a:alpha val="0"/>
                  </a:srgbClr>
                </a:highlight>
                <a:ea typeface="Poppins"/>
              </a:rPr>
              <a:t>●</a:t>
            </a:r>
            <a:endParaRPr lang="en-US" sz="1400"/>
          </a:p>
        </p:txBody>
      </p:sp>
      <p:sp>
        <p:nvSpPr>
          <p:cNvPr id="38" name="TextBox 33">
            <a:extLst>
              <a:ext uri="{FF2B5EF4-FFF2-40B4-BE49-F238E27FC236}">
                <a16:creationId xmlns:a16="http://schemas.microsoft.com/office/drawing/2014/main" id="{BC509C3F-FBBF-FDC9-E36D-2B210275334F}"/>
              </a:ext>
            </a:extLst>
          </p:cNvPr>
          <p:cNvSpPr txBox="1"/>
          <p:nvPr/>
        </p:nvSpPr>
        <p:spPr>
          <a:xfrm>
            <a:off x="749300" y="4038600"/>
            <a:ext cx="241300" cy="139700"/>
          </a:xfrm>
          <a:prstGeom prst="rect">
            <a:avLst/>
          </a:prstGeom>
          <a:solidFill>
            <a:srgbClr val="000000">
              <a:alpha val="0"/>
            </a:srgbClr>
          </a:solidFill>
        </p:spPr>
        <p:txBody>
          <a:bodyPr lIns="0" tIns="0" rIns="0" bIns="0" rtlCol="0" anchor="ctr"/>
          <a:lstStyle/>
          <a:p>
            <a:pPr algn="ctr">
              <a:defRPr/>
            </a:pPr>
            <a:r>
              <a:rPr lang="en-US" sz="1400" b="0">
                <a:solidFill>
                  <a:srgbClr val="000000"/>
                </a:solidFill>
                <a:highlight>
                  <a:srgbClr val="000000">
                    <a:alpha val="0"/>
                  </a:srgbClr>
                </a:highlight>
                <a:ea typeface="Poppins"/>
              </a:rPr>
              <a:t>●</a:t>
            </a:r>
            <a:endParaRPr lang="en-US" sz="1400"/>
          </a:p>
        </p:txBody>
      </p:sp>
      <p:sp>
        <p:nvSpPr>
          <p:cNvPr id="39" name="TextBox 34">
            <a:extLst>
              <a:ext uri="{FF2B5EF4-FFF2-40B4-BE49-F238E27FC236}">
                <a16:creationId xmlns:a16="http://schemas.microsoft.com/office/drawing/2014/main" id="{D5DEBFB1-24F6-E27D-C126-B48256486F3A}"/>
              </a:ext>
            </a:extLst>
          </p:cNvPr>
          <p:cNvSpPr txBox="1"/>
          <p:nvPr/>
        </p:nvSpPr>
        <p:spPr>
          <a:xfrm>
            <a:off x="749300" y="4572000"/>
            <a:ext cx="241300" cy="139700"/>
          </a:xfrm>
          <a:prstGeom prst="rect">
            <a:avLst/>
          </a:prstGeom>
          <a:solidFill>
            <a:srgbClr val="000000">
              <a:alpha val="0"/>
            </a:srgbClr>
          </a:solidFill>
        </p:spPr>
        <p:txBody>
          <a:bodyPr lIns="0" tIns="0" rIns="0" bIns="0" rtlCol="0" anchor="ctr"/>
          <a:lstStyle/>
          <a:p>
            <a:pPr algn="ctr">
              <a:defRPr/>
            </a:pPr>
            <a:r>
              <a:rPr lang="en-US" sz="1400" b="0">
                <a:solidFill>
                  <a:srgbClr val="000000"/>
                </a:solidFill>
                <a:highlight>
                  <a:srgbClr val="000000">
                    <a:alpha val="0"/>
                  </a:srgbClr>
                </a:highlight>
                <a:ea typeface="Poppins"/>
              </a:rPr>
              <a:t>●</a:t>
            </a:r>
            <a:endParaRPr lang="en-US" sz="1400"/>
          </a:p>
        </p:txBody>
      </p:sp>
      <p:sp>
        <p:nvSpPr>
          <p:cNvPr id="40" name="TextBox 35">
            <a:extLst>
              <a:ext uri="{FF2B5EF4-FFF2-40B4-BE49-F238E27FC236}">
                <a16:creationId xmlns:a16="http://schemas.microsoft.com/office/drawing/2014/main" id="{D47E8BE8-DEEE-F245-AAE9-31F1994DFDAF}"/>
              </a:ext>
            </a:extLst>
          </p:cNvPr>
          <p:cNvSpPr txBox="1"/>
          <p:nvPr/>
        </p:nvSpPr>
        <p:spPr>
          <a:xfrm>
            <a:off x="749300" y="5118100"/>
            <a:ext cx="241300" cy="139700"/>
          </a:xfrm>
          <a:prstGeom prst="rect">
            <a:avLst/>
          </a:prstGeom>
          <a:solidFill>
            <a:srgbClr val="000000">
              <a:alpha val="0"/>
            </a:srgbClr>
          </a:solidFill>
        </p:spPr>
        <p:txBody>
          <a:bodyPr lIns="0" tIns="0" rIns="0" bIns="0" rtlCol="0" anchor="ctr"/>
          <a:lstStyle/>
          <a:p>
            <a:pPr algn="ctr">
              <a:defRPr/>
            </a:pPr>
            <a:r>
              <a:rPr lang="en-US" sz="1400" b="0">
                <a:solidFill>
                  <a:srgbClr val="000000"/>
                </a:solidFill>
                <a:highlight>
                  <a:srgbClr val="000000">
                    <a:alpha val="0"/>
                  </a:srgbClr>
                </a:highlight>
                <a:ea typeface="Poppins"/>
              </a:rPr>
              <a:t>●</a:t>
            </a:r>
            <a:endParaRPr lang="en-US" sz="1400"/>
          </a:p>
        </p:txBody>
      </p:sp>
      <p:sp>
        <p:nvSpPr>
          <p:cNvPr id="41" name="TextBox 36">
            <a:extLst>
              <a:ext uri="{FF2B5EF4-FFF2-40B4-BE49-F238E27FC236}">
                <a16:creationId xmlns:a16="http://schemas.microsoft.com/office/drawing/2014/main" id="{D8EBA615-052D-2B13-38B7-B60EBB94BDDE}"/>
              </a:ext>
            </a:extLst>
          </p:cNvPr>
          <p:cNvSpPr txBox="1"/>
          <p:nvPr/>
        </p:nvSpPr>
        <p:spPr>
          <a:xfrm>
            <a:off x="749300" y="5448300"/>
            <a:ext cx="241300" cy="139700"/>
          </a:xfrm>
          <a:prstGeom prst="rect">
            <a:avLst/>
          </a:prstGeom>
          <a:solidFill>
            <a:srgbClr val="000000">
              <a:alpha val="0"/>
            </a:srgbClr>
          </a:solidFill>
        </p:spPr>
        <p:txBody>
          <a:bodyPr lIns="0" tIns="0" rIns="0" bIns="0" rtlCol="0" anchor="ctr"/>
          <a:lstStyle/>
          <a:p>
            <a:pPr algn="ctr">
              <a:defRPr/>
            </a:pPr>
            <a:r>
              <a:rPr lang="en-US" sz="1400" b="0">
                <a:solidFill>
                  <a:srgbClr val="000000"/>
                </a:solidFill>
                <a:highlight>
                  <a:srgbClr val="000000">
                    <a:alpha val="0"/>
                  </a:srgbClr>
                </a:highlight>
                <a:ea typeface="Poppins"/>
              </a:rPr>
              <a:t>●</a:t>
            </a:r>
            <a:endParaRPr lang="en-US" sz="1400"/>
          </a:p>
        </p:txBody>
      </p:sp>
      <p:sp>
        <p:nvSpPr>
          <p:cNvPr id="42" name="TextBox 37">
            <a:extLst>
              <a:ext uri="{FF2B5EF4-FFF2-40B4-BE49-F238E27FC236}">
                <a16:creationId xmlns:a16="http://schemas.microsoft.com/office/drawing/2014/main" id="{78BFA119-D433-6A89-9B96-8FC5EDB75139}"/>
              </a:ext>
            </a:extLst>
          </p:cNvPr>
          <p:cNvSpPr txBox="1"/>
          <p:nvPr/>
        </p:nvSpPr>
        <p:spPr>
          <a:xfrm>
            <a:off x="749300" y="5981700"/>
            <a:ext cx="241300" cy="139700"/>
          </a:xfrm>
          <a:prstGeom prst="rect">
            <a:avLst/>
          </a:prstGeom>
          <a:solidFill>
            <a:srgbClr val="000000">
              <a:alpha val="0"/>
            </a:srgbClr>
          </a:solidFill>
        </p:spPr>
        <p:txBody>
          <a:bodyPr lIns="0" tIns="0" rIns="0" bIns="0" rtlCol="0" anchor="ctr"/>
          <a:lstStyle/>
          <a:p>
            <a:pPr algn="ctr">
              <a:defRPr/>
            </a:pPr>
            <a:r>
              <a:rPr lang="en-US" sz="1400" b="0">
                <a:solidFill>
                  <a:srgbClr val="000000"/>
                </a:solidFill>
                <a:highlight>
                  <a:srgbClr val="000000">
                    <a:alpha val="0"/>
                  </a:srgbClr>
                </a:highlight>
                <a:ea typeface="Poppins"/>
              </a:rPr>
              <a:t>●</a:t>
            </a:r>
            <a:endParaRPr lang="en-US" sz="1400"/>
          </a:p>
        </p:txBody>
      </p:sp>
      <p:sp>
        <p:nvSpPr>
          <p:cNvPr id="43" name="TextBox 38">
            <a:extLst>
              <a:ext uri="{FF2B5EF4-FFF2-40B4-BE49-F238E27FC236}">
                <a16:creationId xmlns:a16="http://schemas.microsoft.com/office/drawing/2014/main" id="{792FE1FC-64EE-2BF8-EE1C-08AEA86D3924}"/>
              </a:ext>
            </a:extLst>
          </p:cNvPr>
          <p:cNvSpPr txBox="1"/>
          <p:nvPr/>
        </p:nvSpPr>
        <p:spPr>
          <a:xfrm>
            <a:off x="749300" y="6527800"/>
            <a:ext cx="241300" cy="139700"/>
          </a:xfrm>
          <a:prstGeom prst="rect">
            <a:avLst/>
          </a:prstGeom>
          <a:solidFill>
            <a:srgbClr val="000000">
              <a:alpha val="0"/>
            </a:srgbClr>
          </a:solidFill>
        </p:spPr>
        <p:txBody>
          <a:bodyPr lIns="0" tIns="0" rIns="0" bIns="0" rtlCol="0" anchor="ctr"/>
          <a:lstStyle/>
          <a:p>
            <a:pPr algn="ctr">
              <a:defRPr/>
            </a:pPr>
            <a:r>
              <a:rPr lang="en-US" sz="1400" b="0">
                <a:solidFill>
                  <a:srgbClr val="000000"/>
                </a:solidFill>
                <a:highlight>
                  <a:srgbClr val="000000">
                    <a:alpha val="0"/>
                  </a:srgbClr>
                </a:highlight>
                <a:ea typeface="Poppins"/>
              </a:rPr>
              <a:t>●</a:t>
            </a:r>
            <a:endParaRPr lang="en-US" sz="1400"/>
          </a:p>
        </p:txBody>
      </p:sp>
      <p:sp>
        <p:nvSpPr>
          <p:cNvPr id="44" name="TextBox 39">
            <a:extLst>
              <a:ext uri="{FF2B5EF4-FFF2-40B4-BE49-F238E27FC236}">
                <a16:creationId xmlns:a16="http://schemas.microsoft.com/office/drawing/2014/main" id="{18325ACC-4A7B-278A-D769-14DB3E60D85E}"/>
              </a:ext>
            </a:extLst>
          </p:cNvPr>
          <p:cNvSpPr txBox="1"/>
          <p:nvPr/>
        </p:nvSpPr>
        <p:spPr>
          <a:xfrm>
            <a:off x="8305800" y="1866900"/>
            <a:ext cx="241300" cy="139700"/>
          </a:xfrm>
          <a:prstGeom prst="rect">
            <a:avLst/>
          </a:prstGeom>
          <a:solidFill>
            <a:srgbClr val="000000">
              <a:alpha val="0"/>
            </a:srgbClr>
          </a:solidFill>
        </p:spPr>
        <p:txBody>
          <a:bodyPr lIns="0" tIns="0" rIns="0" bIns="0" rtlCol="0" anchor="ctr"/>
          <a:lstStyle/>
          <a:p>
            <a:pPr algn="ctr">
              <a:defRPr/>
            </a:pPr>
            <a:r>
              <a:rPr lang="en-US" sz="1400" b="0">
                <a:solidFill>
                  <a:srgbClr val="000000"/>
                </a:solidFill>
                <a:highlight>
                  <a:srgbClr val="000000">
                    <a:alpha val="0"/>
                  </a:srgbClr>
                </a:highlight>
                <a:ea typeface="Poppins"/>
              </a:rPr>
              <a:t>●</a:t>
            </a:r>
            <a:endParaRPr lang="en-US" sz="1400"/>
          </a:p>
        </p:txBody>
      </p:sp>
      <p:sp>
        <p:nvSpPr>
          <p:cNvPr id="45" name="TextBox 40">
            <a:extLst>
              <a:ext uri="{FF2B5EF4-FFF2-40B4-BE49-F238E27FC236}">
                <a16:creationId xmlns:a16="http://schemas.microsoft.com/office/drawing/2014/main" id="{7F0A35C8-47B0-CFE2-2195-55DD36C76E7D}"/>
              </a:ext>
            </a:extLst>
          </p:cNvPr>
          <p:cNvSpPr txBox="1"/>
          <p:nvPr/>
        </p:nvSpPr>
        <p:spPr>
          <a:xfrm>
            <a:off x="8305800" y="2628900"/>
            <a:ext cx="241300" cy="139700"/>
          </a:xfrm>
          <a:prstGeom prst="rect">
            <a:avLst/>
          </a:prstGeom>
          <a:solidFill>
            <a:srgbClr val="000000">
              <a:alpha val="0"/>
            </a:srgbClr>
          </a:solidFill>
        </p:spPr>
        <p:txBody>
          <a:bodyPr lIns="0" tIns="0" rIns="0" bIns="0" rtlCol="0" anchor="ctr"/>
          <a:lstStyle/>
          <a:p>
            <a:pPr algn="ctr">
              <a:defRPr/>
            </a:pPr>
            <a:r>
              <a:rPr lang="en-US" sz="1400" b="0">
                <a:solidFill>
                  <a:srgbClr val="000000"/>
                </a:solidFill>
                <a:highlight>
                  <a:srgbClr val="000000">
                    <a:alpha val="0"/>
                  </a:srgbClr>
                </a:highlight>
                <a:ea typeface="Poppins"/>
              </a:rPr>
              <a:t>●</a:t>
            </a:r>
            <a:endParaRPr lang="en-US" sz="1400"/>
          </a:p>
        </p:txBody>
      </p:sp>
      <p:sp>
        <p:nvSpPr>
          <p:cNvPr id="46" name="TextBox 41">
            <a:extLst>
              <a:ext uri="{FF2B5EF4-FFF2-40B4-BE49-F238E27FC236}">
                <a16:creationId xmlns:a16="http://schemas.microsoft.com/office/drawing/2014/main" id="{D9DDE5E1-6FAE-BFF9-CD6E-F84381F64213}"/>
              </a:ext>
            </a:extLst>
          </p:cNvPr>
          <p:cNvSpPr txBox="1"/>
          <p:nvPr/>
        </p:nvSpPr>
        <p:spPr>
          <a:xfrm>
            <a:off x="8305800" y="3162300"/>
            <a:ext cx="241300" cy="139700"/>
          </a:xfrm>
          <a:prstGeom prst="rect">
            <a:avLst/>
          </a:prstGeom>
          <a:solidFill>
            <a:srgbClr val="000000">
              <a:alpha val="0"/>
            </a:srgbClr>
          </a:solidFill>
        </p:spPr>
        <p:txBody>
          <a:bodyPr lIns="0" tIns="0" rIns="0" bIns="0" rtlCol="0" anchor="ctr"/>
          <a:lstStyle/>
          <a:p>
            <a:pPr algn="ctr">
              <a:defRPr/>
            </a:pPr>
            <a:r>
              <a:rPr lang="en-US" sz="1400" b="0">
                <a:solidFill>
                  <a:srgbClr val="000000"/>
                </a:solidFill>
                <a:highlight>
                  <a:srgbClr val="000000">
                    <a:alpha val="0"/>
                  </a:srgbClr>
                </a:highlight>
                <a:ea typeface="Poppins"/>
              </a:rPr>
              <a:t>●</a:t>
            </a:r>
            <a:endParaRPr lang="en-US" sz="1400"/>
          </a:p>
        </p:txBody>
      </p:sp>
      <p:sp>
        <p:nvSpPr>
          <p:cNvPr id="47" name="TextBox 42">
            <a:extLst>
              <a:ext uri="{FF2B5EF4-FFF2-40B4-BE49-F238E27FC236}">
                <a16:creationId xmlns:a16="http://schemas.microsoft.com/office/drawing/2014/main" id="{E33E77C4-BAA6-C50C-A41D-B334043C8427}"/>
              </a:ext>
            </a:extLst>
          </p:cNvPr>
          <p:cNvSpPr txBox="1"/>
          <p:nvPr/>
        </p:nvSpPr>
        <p:spPr>
          <a:xfrm>
            <a:off x="8305800" y="3708400"/>
            <a:ext cx="241300" cy="139700"/>
          </a:xfrm>
          <a:prstGeom prst="rect">
            <a:avLst/>
          </a:prstGeom>
          <a:solidFill>
            <a:srgbClr val="000000">
              <a:alpha val="0"/>
            </a:srgbClr>
          </a:solidFill>
        </p:spPr>
        <p:txBody>
          <a:bodyPr lIns="0" tIns="0" rIns="0" bIns="0" rtlCol="0" anchor="ctr"/>
          <a:lstStyle/>
          <a:p>
            <a:pPr algn="ctr">
              <a:defRPr/>
            </a:pPr>
            <a:r>
              <a:rPr lang="en-US" sz="1400" b="0">
                <a:solidFill>
                  <a:srgbClr val="000000"/>
                </a:solidFill>
                <a:highlight>
                  <a:srgbClr val="000000">
                    <a:alpha val="0"/>
                  </a:srgbClr>
                </a:highlight>
                <a:ea typeface="Poppins"/>
              </a:rPr>
              <a:t>●</a:t>
            </a:r>
            <a:endParaRPr lang="en-US" sz="1400"/>
          </a:p>
        </p:txBody>
      </p:sp>
      <p:sp>
        <p:nvSpPr>
          <p:cNvPr id="48" name="TextBox 43">
            <a:extLst>
              <a:ext uri="{FF2B5EF4-FFF2-40B4-BE49-F238E27FC236}">
                <a16:creationId xmlns:a16="http://schemas.microsoft.com/office/drawing/2014/main" id="{DA69D798-C340-111E-3245-409F9772D05C}"/>
              </a:ext>
            </a:extLst>
          </p:cNvPr>
          <p:cNvSpPr txBox="1"/>
          <p:nvPr/>
        </p:nvSpPr>
        <p:spPr>
          <a:xfrm>
            <a:off x="8305800" y="4241800"/>
            <a:ext cx="241300" cy="139700"/>
          </a:xfrm>
          <a:prstGeom prst="rect">
            <a:avLst/>
          </a:prstGeom>
          <a:solidFill>
            <a:srgbClr val="000000">
              <a:alpha val="0"/>
            </a:srgbClr>
          </a:solidFill>
        </p:spPr>
        <p:txBody>
          <a:bodyPr lIns="0" tIns="0" rIns="0" bIns="0" rtlCol="0" anchor="ctr"/>
          <a:lstStyle/>
          <a:p>
            <a:pPr algn="ctr">
              <a:defRPr/>
            </a:pPr>
            <a:r>
              <a:rPr lang="en-US" sz="1400" b="0">
                <a:solidFill>
                  <a:srgbClr val="000000"/>
                </a:solidFill>
                <a:highlight>
                  <a:srgbClr val="000000">
                    <a:alpha val="0"/>
                  </a:srgbClr>
                </a:highlight>
                <a:ea typeface="Poppins"/>
              </a:rPr>
              <a:t>●</a:t>
            </a:r>
            <a:endParaRPr lang="en-US" sz="1400"/>
          </a:p>
        </p:txBody>
      </p:sp>
      <p:sp>
        <p:nvSpPr>
          <p:cNvPr id="49" name="TextBox 44">
            <a:extLst>
              <a:ext uri="{FF2B5EF4-FFF2-40B4-BE49-F238E27FC236}">
                <a16:creationId xmlns:a16="http://schemas.microsoft.com/office/drawing/2014/main" id="{B556AE76-3A63-D7FE-E3D6-03F7EDC3F16E}"/>
              </a:ext>
            </a:extLst>
          </p:cNvPr>
          <p:cNvSpPr txBox="1"/>
          <p:nvPr/>
        </p:nvSpPr>
        <p:spPr>
          <a:xfrm>
            <a:off x="8305800" y="4787900"/>
            <a:ext cx="241300" cy="139700"/>
          </a:xfrm>
          <a:prstGeom prst="rect">
            <a:avLst/>
          </a:prstGeom>
          <a:solidFill>
            <a:srgbClr val="000000">
              <a:alpha val="0"/>
            </a:srgbClr>
          </a:solidFill>
        </p:spPr>
        <p:txBody>
          <a:bodyPr lIns="0" tIns="0" rIns="0" bIns="0" rtlCol="0" anchor="ctr"/>
          <a:lstStyle/>
          <a:p>
            <a:pPr algn="ctr">
              <a:defRPr/>
            </a:pPr>
            <a:r>
              <a:rPr lang="en-US" sz="1400" b="0">
                <a:solidFill>
                  <a:srgbClr val="000000"/>
                </a:solidFill>
                <a:highlight>
                  <a:srgbClr val="000000">
                    <a:alpha val="0"/>
                  </a:srgbClr>
                </a:highlight>
                <a:ea typeface="Poppins"/>
              </a:rPr>
              <a:t>●</a:t>
            </a:r>
            <a:endParaRPr lang="en-US" sz="1400"/>
          </a:p>
        </p:txBody>
      </p:sp>
      <p:sp>
        <p:nvSpPr>
          <p:cNvPr id="50" name="TextBox 45">
            <a:extLst>
              <a:ext uri="{FF2B5EF4-FFF2-40B4-BE49-F238E27FC236}">
                <a16:creationId xmlns:a16="http://schemas.microsoft.com/office/drawing/2014/main" id="{C1BCD942-601B-9706-FF00-383629202596}"/>
              </a:ext>
            </a:extLst>
          </p:cNvPr>
          <p:cNvSpPr txBox="1"/>
          <p:nvPr/>
        </p:nvSpPr>
        <p:spPr>
          <a:xfrm>
            <a:off x="8305800" y="5334000"/>
            <a:ext cx="241300" cy="139700"/>
          </a:xfrm>
          <a:prstGeom prst="rect">
            <a:avLst/>
          </a:prstGeom>
          <a:solidFill>
            <a:srgbClr val="000000">
              <a:alpha val="0"/>
            </a:srgbClr>
          </a:solidFill>
        </p:spPr>
        <p:txBody>
          <a:bodyPr lIns="0" tIns="0" rIns="0" bIns="0" rtlCol="0" anchor="ctr"/>
          <a:lstStyle/>
          <a:p>
            <a:pPr algn="ctr">
              <a:defRPr/>
            </a:pPr>
            <a:r>
              <a:rPr lang="en-US" sz="1400" b="0">
                <a:solidFill>
                  <a:srgbClr val="000000"/>
                </a:solidFill>
                <a:highlight>
                  <a:srgbClr val="000000">
                    <a:alpha val="0"/>
                  </a:srgbClr>
                </a:highlight>
                <a:ea typeface="Poppins"/>
              </a:rPr>
              <a:t>●</a:t>
            </a:r>
            <a:endParaRPr lang="en-US" sz="1400"/>
          </a:p>
        </p:txBody>
      </p:sp>
      <p:sp>
        <p:nvSpPr>
          <p:cNvPr id="51" name="TextBox 46">
            <a:extLst>
              <a:ext uri="{FF2B5EF4-FFF2-40B4-BE49-F238E27FC236}">
                <a16:creationId xmlns:a16="http://schemas.microsoft.com/office/drawing/2014/main" id="{E392055C-AFE9-3F19-425F-81B6B96DDD06}"/>
              </a:ext>
            </a:extLst>
          </p:cNvPr>
          <p:cNvSpPr txBox="1"/>
          <p:nvPr/>
        </p:nvSpPr>
        <p:spPr>
          <a:xfrm>
            <a:off x="8305800" y="5867400"/>
            <a:ext cx="241300" cy="139700"/>
          </a:xfrm>
          <a:prstGeom prst="rect">
            <a:avLst/>
          </a:prstGeom>
          <a:solidFill>
            <a:srgbClr val="000000">
              <a:alpha val="0"/>
            </a:srgbClr>
          </a:solidFill>
        </p:spPr>
        <p:txBody>
          <a:bodyPr lIns="0" tIns="0" rIns="0" bIns="0" rtlCol="0" anchor="ctr"/>
          <a:lstStyle/>
          <a:p>
            <a:pPr algn="ctr">
              <a:defRPr/>
            </a:pPr>
            <a:r>
              <a:rPr lang="en-US" sz="1400" b="0">
                <a:solidFill>
                  <a:srgbClr val="000000"/>
                </a:solidFill>
                <a:highlight>
                  <a:srgbClr val="000000">
                    <a:alpha val="0"/>
                  </a:srgbClr>
                </a:highlight>
                <a:ea typeface="Poppins"/>
              </a:rPr>
              <a:t>●</a:t>
            </a:r>
            <a:endParaRPr lang="en-US" sz="1400"/>
          </a:p>
        </p:txBody>
      </p:sp>
      <p:sp>
        <p:nvSpPr>
          <p:cNvPr id="52" name="TextBox 47">
            <a:extLst>
              <a:ext uri="{FF2B5EF4-FFF2-40B4-BE49-F238E27FC236}">
                <a16:creationId xmlns:a16="http://schemas.microsoft.com/office/drawing/2014/main" id="{AD1B92D5-7594-70E2-2F05-43094E19A28F}"/>
              </a:ext>
            </a:extLst>
          </p:cNvPr>
          <p:cNvSpPr txBox="1"/>
          <p:nvPr/>
        </p:nvSpPr>
        <p:spPr>
          <a:xfrm>
            <a:off x="8305800" y="6629400"/>
            <a:ext cx="241300" cy="139700"/>
          </a:xfrm>
          <a:prstGeom prst="rect">
            <a:avLst/>
          </a:prstGeom>
          <a:solidFill>
            <a:srgbClr val="000000">
              <a:alpha val="0"/>
            </a:srgbClr>
          </a:solidFill>
        </p:spPr>
        <p:txBody>
          <a:bodyPr lIns="0" tIns="0" rIns="0" bIns="0" rtlCol="0" anchor="ctr"/>
          <a:lstStyle/>
          <a:p>
            <a:pPr algn="ctr">
              <a:defRPr/>
            </a:pPr>
            <a:r>
              <a:rPr lang="en-US" sz="1400" b="0">
                <a:solidFill>
                  <a:srgbClr val="000000"/>
                </a:solidFill>
                <a:highlight>
                  <a:srgbClr val="000000">
                    <a:alpha val="0"/>
                  </a:srgbClr>
                </a:highlight>
                <a:ea typeface="Poppins"/>
              </a:rPr>
              <a:t>●</a:t>
            </a:r>
            <a:endParaRPr lang="en-US" sz="1400"/>
          </a:p>
        </p:txBody>
      </p:sp>
      <p:sp>
        <p:nvSpPr>
          <p:cNvPr id="53" name="TextBox 48">
            <a:extLst>
              <a:ext uri="{FF2B5EF4-FFF2-40B4-BE49-F238E27FC236}">
                <a16:creationId xmlns:a16="http://schemas.microsoft.com/office/drawing/2014/main" id="{3D1EC38C-A00C-524E-E4D0-063823461602}"/>
              </a:ext>
            </a:extLst>
          </p:cNvPr>
          <p:cNvSpPr txBox="1"/>
          <p:nvPr/>
        </p:nvSpPr>
        <p:spPr>
          <a:xfrm>
            <a:off x="8305800" y="6959600"/>
            <a:ext cx="241300" cy="139700"/>
          </a:xfrm>
          <a:prstGeom prst="rect">
            <a:avLst/>
          </a:prstGeom>
          <a:solidFill>
            <a:srgbClr val="000000">
              <a:alpha val="0"/>
            </a:srgbClr>
          </a:solidFill>
        </p:spPr>
        <p:txBody>
          <a:bodyPr lIns="0" tIns="0" rIns="0" bIns="0" rtlCol="0" anchor="ctr"/>
          <a:lstStyle/>
          <a:p>
            <a:pPr algn="ctr">
              <a:defRPr/>
            </a:pPr>
            <a:r>
              <a:rPr lang="en-US" sz="1400" b="0">
                <a:solidFill>
                  <a:srgbClr val="000000"/>
                </a:solidFill>
                <a:highlight>
                  <a:srgbClr val="000000">
                    <a:alpha val="0"/>
                  </a:srgbClr>
                </a:highlight>
                <a:ea typeface="Poppins"/>
              </a:rPr>
              <a:t>●</a:t>
            </a:r>
            <a:endParaRPr lang="en-US" sz="1400"/>
          </a:p>
        </p:txBody>
      </p:sp>
    </p:spTree>
    <p:extLst>
      <p:ext uri="{BB962C8B-B14F-4D97-AF65-F5344CB8AC3E}">
        <p14:creationId xmlns:p14="http://schemas.microsoft.com/office/powerpoint/2010/main" val="192764409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16256000" cy="9144000"/>
          </a:xfrm>
          <a:prstGeom prst="rect">
            <a:avLst/>
          </a:prstGeom>
          <a:solidFill>
            <a:srgbClr val="0D0A2C">
              <a:alpha val="74902"/>
            </a:srgbClr>
          </a:solidFill>
        </p:spPr>
      </p:sp>
      <p:pic>
        <p:nvPicPr>
          <p:cNvPr id="3" name="Picture 3"/>
          <p:cNvPicPr>
            <a:picLocks noChangeAspect="1"/>
          </p:cNvPicPr>
          <p:nvPr/>
        </p:nvPicPr>
        <p:blipFill>
          <a:blip r:embed="rId2"/>
          <a:srcRect t="56" b="56"/>
          <a:stretch>
            <a:fillRect/>
          </a:stretch>
        </p:blipFill>
        <p:spPr>
          <a:xfrm>
            <a:off x="0" y="0"/>
            <a:ext cx="16256000" cy="9144000"/>
          </a:xfrm>
          <a:prstGeom prst="rect">
            <a:avLst/>
          </a:prstGeom>
        </p:spPr>
      </p:pic>
      <p:sp>
        <p:nvSpPr>
          <p:cNvPr id="4" name="AutoShape 4"/>
          <p:cNvSpPr/>
          <p:nvPr/>
        </p:nvSpPr>
        <p:spPr>
          <a:xfrm>
            <a:off x="876300" y="1663700"/>
            <a:ext cx="14490700" cy="6934200"/>
          </a:xfrm>
          <a:prstGeom prst="rect">
            <a:avLst/>
          </a:prstGeom>
          <a:solidFill>
            <a:srgbClr val="000000">
              <a:alpha val="0"/>
            </a:srgbClr>
          </a:solidFill>
        </p:spPr>
      </p:sp>
      <p:sp>
        <p:nvSpPr>
          <p:cNvPr id="5" name="AutoShape 5"/>
          <p:cNvSpPr/>
          <p:nvPr/>
        </p:nvSpPr>
        <p:spPr>
          <a:xfrm>
            <a:off x="5334000" y="7734300"/>
            <a:ext cx="469900" cy="469900"/>
          </a:xfrm>
          <a:prstGeom prst="roundRect">
            <a:avLst>
              <a:gd name="adj" fmla="val 48648"/>
            </a:avLst>
          </a:prstGeom>
          <a:solidFill>
            <a:srgbClr val="000000">
              <a:alpha val="0"/>
            </a:srgbClr>
          </a:solidFill>
        </p:spPr>
      </p:sp>
      <p:sp>
        <p:nvSpPr>
          <p:cNvPr id="6" name="AutoShape 6"/>
          <p:cNvSpPr/>
          <p:nvPr/>
        </p:nvSpPr>
        <p:spPr>
          <a:xfrm>
            <a:off x="6299200" y="6705600"/>
            <a:ext cx="469900" cy="469900"/>
          </a:xfrm>
          <a:prstGeom prst="roundRect">
            <a:avLst>
              <a:gd name="adj" fmla="val 48648"/>
            </a:avLst>
          </a:prstGeom>
          <a:solidFill>
            <a:srgbClr val="000000">
              <a:alpha val="0"/>
            </a:srgbClr>
          </a:solidFill>
        </p:spPr>
      </p:sp>
      <p:sp>
        <p:nvSpPr>
          <p:cNvPr id="7" name="AutoShape 7"/>
          <p:cNvSpPr/>
          <p:nvPr/>
        </p:nvSpPr>
        <p:spPr>
          <a:xfrm>
            <a:off x="7886700" y="6311900"/>
            <a:ext cx="469900" cy="469900"/>
          </a:xfrm>
          <a:prstGeom prst="roundRect">
            <a:avLst>
              <a:gd name="adj" fmla="val 48648"/>
            </a:avLst>
          </a:prstGeom>
          <a:solidFill>
            <a:srgbClr val="000000">
              <a:alpha val="0"/>
            </a:srgbClr>
          </a:solidFill>
        </p:spPr>
      </p:sp>
      <p:sp>
        <p:nvSpPr>
          <p:cNvPr id="8" name="AutoShape 8"/>
          <p:cNvSpPr/>
          <p:nvPr/>
        </p:nvSpPr>
        <p:spPr>
          <a:xfrm>
            <a:off x="9461500" y="6705600"/>
            <a:ext cx="469900" cy="469900"/>
          </a:xfrm>
          <a:prstGeom prst="roundRect">
            <a:avLst>
              <a:gd name="adj" fmla="val 48648"/>
            </a:avLst>
          </a:prstGeom>
          <a:solidFill>
            <a:srgbClr val="000000">
              <a:alpha val="0"/>
            </a:srgbClr>
          </a:solidFill>
        </p:spPr>
      </p:sp>
      <p:sp>
        <p:nvSpPr>
          <p:cNvPr id="9" name="AutoShape 9"/>
          <p:cNvSpPr/>
          <p:nvPr/>
        </p:nvSpPr>
        <p:spPr>
          <a:xfrm>
            <a:off x="10426700" y="7734300"/>
            <a:ext cx="469900" cy="469900"/>
          </a:xfrm>
          <a:prstGeom prst="roundRect">
            <a:avLst>
              <a:gd name="adj" fmla="val 48648"/>
            </a:avLst>
          </a:prstGeom>
          <a:solidFill>
            <a:srgbClr val="000000">
              <a:alpha val="0"/>
            </a:srgbClr>
          </a:solidFill>
        </p:spPr>
      </p:sp>
      <p:pic>
        <p:nvPicPr>
          <p:cNvPr id="10" name="Picture 10"/>
          <p:cNvPicPr>
            <a:picLocks noChangeAspect="1"/>
          </p:cNvPicPr>
          <p:nvPr/>
        </p:nvPicPr>
        <p:blipFill>
          <a:blip r:embed="rId3"/>
          <a:stretch>
            <a:fillRect/>
          </a:stretch>
        </p:blipFill>
        <p:spPr>
          <a:xfrm>
            <a:off x="5346700" y="5829300"/>
            <a:ext cx="5537200" cy="2768600"/>
          </a:xfrm>
          <a:prstGeom prst="rect">
            <a:avLst/>
          </a:prstGeom>
        </p:spPr>
      </p:pic>
      <p:sp>
        <p:nvSpPr>
          <p:cNvPr id="11" name="TextBox 11"/>
          <p:cNvSpPr txBox="1"/>
          <p:nvPr/>
        </p:nvSpPr>
        <p:spPr>
          <a:xfrm>
            <a:off x="876300" y="520700"/>
            <a:ext cx="14490700" cy="914400"/>
          </a:xfrm>
          <a:prstGeom prst="rect">
            <a:avLst/>
          </a:prstGeom>
          <a:solidFill>
            <a:srgbClr val="000000">
              <a:alpha val="0"/>
            </a:srgbClr>
          </a:solidFill>
        </p:spPr>
        <p:txBody>
          <a:bodyPr lIns="0" tIns="0" rIns="0" bIns="0" rtlCol="0" anchor="ctr"/>
          <a:lstStyle/>
          <a:p>
            <a:pPr indent="0" algn="l">
              <a:lnSpc>
                <a:spcPct val="120000"/>
              </a:lnSpc>
              <a:defRPr/>
            </a:pPr>
            <a:r>
              <a:rPr lang="en-US" sz="3000" b="1">
                <a:solidFill>
                  <a:srgbClr val="000000"/>
                </a:solidFill>
                <a:latin typeface="Ubuntu"/>
              </a:rPr>
              <a:t>Feature Categories and Baseline Mapping: Cyber-Physical Representation</a:t>
            </a:r>
            <a:endParaRPr lang="en-US" sz="1100"/>
          </a:p>
        </p:txBody>
      </p:sp>
      <p:sp>
        <p:nvSpPr>
          <p:cNvPr id="12" name="TextBox 12"/>
          <p:cNvSpPr txBox="1"/>
          <p:nvPr/>
        </p:nvSpPr>
        <p:spPr>
          <a:xfrm>
            <a:off x="876300" y="3111500"/>
            <a:ext cx="2590800" cy="685800"/>
          </a:xfrm>
          <a:prstGeom prst="rect">
            <a:avLst/>
          </a:prstGeom>
          <a:solidFill>
            <a:srgbClr val="000000">
              <a:alpha val="0"/>
            </a:srgbClr>
          </a:solidFill>
        </p:spPr>
        <p:txBody>
          <a:bodyPr lIns="0" tIns="0" rIns="0" bIns="0" rtlCol="0" anchor="ctr"/>
          <a:lstStyle/>
          <a:p>
            <a:pPr indent="0" algn="ctr">
              <a:lnSpc>
                <a:spcPct val="120000"/>
              </a:lnSpc>
              <a:defRPr/>
            </a:pPr>
            <a:r>
              <a:rPr lang="en-US" sz="2200" b="1">
                <a:solidFill>
                  <a:srgbClr val="000000"/>
                </a:solidFill>
                <a:latin typeface="Ubuntu"/>
              </a:rPr>
              <a:t>Physical features</a:t>
            </a:r>
            <a:endParaRPr lang="en-US" sz="1100"/>
          </a:p>
        </p:txBody>
      </p:sp>
      <p:sp>
        <p:nvSpPr>
          <p:cNvPr id="13" name="TextBox 13"/>
          <p:cNvSpPr txBox="1"/>
          <p:nvPr/>
        </p:nvSpPr>
        <p:spPr>
          <a:xfrm>
            <a:off x="5473700" y="7823200"/>
            <a:ext cx="304800" cy="279400"/>
          </a:xfrm>
          <a:prstGeom prst="rect">
            <a:avLst/>
          </a:prstGeom>
          <a:solidFill>
            <a:srgbClr val="000000">
              <a:alpha val="0"/>
            </a:srgbClr>
          </a:solidFill>
        </p:spPr>
        <p:txBody>
          <a:bodyPr lIns="0" tIns="0" rIns="0" bIns="0" rtlCol="0" anchor="ctr"/>
          <a:lstStyle/>
          <a:p>
            <a:pPr indent="0" algn="l">
              <a:lnSpc>
                <a:spcPct val="120000"/>
              </a:lnSpc>
              <a:defRPr/>
            </a:pPr>
            <a:r>
              <a:rPr lang="en-US" sz="1800" b="1">
                <a:solidFill>
                  <a:srgbClr val="000000"/>
                </a:solidFill>
                <a:highlight>
                  <a:srgbClr val="000000">
                    <a:alpha val="0"/>
                  </a:srgbClr>
                </a:highlight>
                <a:latin typeface="Ubuntu"/>
              </a:rPr>
              <a:t>1</a:t>
            </a:r>
            <a:endParaRPr lang="en-US" sz="1100"/>
          </a:p>
        </p:txBody>
      </p:sp>
      <p:sp>
        <p:nvSpPr>
          <p:cNvPr id="14" name="TextBox 14"/>
          <p:cNvSpPr txBox="1"/>
          <p:nvPr/>
        </p:nvSpPr>
        <p:spPr>
          <a:xfrm>
            <a:off x="3848100" y="2997200"/>
            <a:ext cx="2590800" cy="685800"/>
          </a:xfrm>
          <a:prstGeom prst="rect">
            <a:avLst/>
          </a:prstGeom>
          <a:solidFill>
            <a:srgbClr val="000000">
              <a:alpha val="0"/>
            </a:srgbClr>
          </a:solidFill>
        </p:spPr>
        <p:txBody>
          <a:bodyPr lIns="0" tIns="0" rIns="0" bIns="0" rtlCol="0" anchor="ctr"/>
          <a:lstStyle/>
          <a:p>
            <a:pPr indent="0" algn="ctr">
              <a:lnSpc>
                <a:spcPct val="120000"/>
              </a:lnSpc>
              <a:defRPr/>
            </a:pPr>
            <a:r>
              <a:rPr lang="en-US" sz="2200" b="1">
                <a:solidFill>
                  <a:srgbClr val="000000"/>
                </a:solidFill>
                <a:latin typeface="Ubuntu"/>
              </a:rPr>
              <a:t>Cyber features</a:t>
            </a:r>
            <a:endParaRPr lang="en-US" sz="1100"/>
          </a:p>
        </p:txBody>
      </p:sp>
      <p:sp>
        <p:nvSpPr>
          <p:cNvPr id="15" name="TextBox 15"/>
          <p:cNvSpPr txBox="1"/>
          <p:nvPr/>
        </p:nvSpPr>
        <p:spPr>
          <a:xfrm>
            <a:off x="6451600" y="6794500"/>
            <a:ext cx="304800" cy="279400"/>
          </a:xfrm>
          <a:prstGeom prst="rect">
            <a:avLst/>
          </a:prstGeom>
          <a:solidFill>
            <a:srgbClr val="000000">
              <a:alpha val="0"/>
            </a:srgbClr>
          </a:solidFill>
        </p:spPr>
        <p:txBody>
          <a:bodyPr lIns="0" tIns="0" rIns="0" bIns="0" rtlCol="0" anchor="ctr"/>
          <a:lstStyle/>
          <a:p>
            <a:pPr indent="0" algn="l">
              <a:lnSpc>
                <a:spcPct val="120000"/>
              </a:lnSpc>
              <a:defRPr/>
            </a:pPr>
            <a:r>
              <a:rPr lang="en-US" sz="1800" b="1">
                <a:solidFill>
                  <a:srgbClr val="000000"/>
                </a:solidFill>
                <a:highlight>
                  <a:srgbClr val="000000">
                    <a:alpha val="0"/>
                  </a:srgbClr>
                </a:highlight>
                <a:latin typeface="Ubuntu"/>
              </a:rPr>
              <a:t>2</a:t>
            </a:r>
            <a:endParaRPr lang="en-US" sz="1100"/>
          </a:p>
        </p:txBody>
      </p:sp>
      <p:sp>
        <p:nvSpPr>
          <p:cNvPr id="16" name="TextBox 16"/>
          <p:cNvSpPr txBox="1"/>
          <p:nvPr/>
        </p:nvSpPr>
        <p:spPr>
          <a:xfrm>
            <a:off x="6819900" y="1663700"/>
            <a:ext cx="2590800" cy="1041400"/>
          </a:xfrm>
          <a:prstGeom prst="rect">
            <a:avLst/>
          </a:prstGeom>
          <a:solidFill>
            <a:srgbClr val="000000">
              <a:alpha val="0"/>
            </a:srgbClr>
          </a:solidFill>
        </p:spPr>
        <p:txBody>
          <a:bodyPr lIns="0" tIns="0" rIns="0" bIns="0" rtlCol="0" anchor="ctr"/>
          <a:lstStyle/>
          <a:p>
            <a:pPr indent="0" algn="ctr">
              <a:lnSpc>
                <a:spcPct val="120000"/>
              </a:lnSpc>
              <a:defRPr/>
            </a:pPr>
            <a:r>
              <a:rPr lang="en-US" sz="2200" b="1">
                <a:solidFill>
                  <a:srgbClr val="000000"/>
                </a:solidFill>
                <a:latin typeface="Ubuntu"/>
              </a:rPr>
              <a:t>Type-specific baseline values</a:t>
            </a:r>
            <a:endParaRPr lang="en-US" sz="1100"/>
          </a:p>
        </p:txBody>
      </p:sp>
      <p:sp>
        <p:nvSpPr>
          <p:cNvPr id="17" name="TextBox 17"/>
          <p:cNvSpPr txBox="1"/>
          <p:nvPr/>
        </p:nvSpPr>
        <p:spPr>
          <a:xfrm>
            <a:off x="8026400" y="6413500"/>
            <a:ext cx="304800" cy="279400"/>
          </a:xfrm>
          <a:prstGeom prst="rect">
            <a:avLst/>
          </a:prstGeom>
          <a:solidFill>
            <a:srgbClr val="000000">
              <a:alpha val="0"/>
            </a:srgbClr>
          </a:solidFill>
        </p:spPr>
        <p:txBody>
          <a:bodyPr lIns="0" tIns="0" rIns="0" bIns="0" rtlCol="0" anchor="ctr"/>
          <a:lstStyle/>
          <a:p>
            <a:pPr indent="0" algn="l">
              <a:lnSpc>
                <a:spcPct val="120000"/>
              </a:lnSpc>
              <a:defRPr/>
            </a:pPr>
            <a:r>
              <a:rPr lang="en-US" sz="1800" b="1">
                <a:solidFill>
                  <a:srgbClr val="000000"/>
                </a:solidFill>
                <a:highlight>
                  <a:srgbClr val="000000">
                    <a:alpha val="0"/>
                  </a:srgbClr>
                </a:highlight>
                <a:latin typeface="Ubuntu"/>
              </a:rPr>
              <a:t>3</a:t>
            </a:r>
            <a:endParaRPr lang="en-US" sz="1100"/>
          </a:p>
        </p:txBody>
      </p:sp>
      <p:sp>
        <p:nvSpPr>
          <p:cNvPr id="18" name="TextBox 18"/>
          <p:cNvSpPr txBox="1"/>
          <p:nvPr/>
        </p:nvSpPr>
        <p:spPr>
          <a:xfrm>
            <a:off x="9791700" y="2705100"/>
            <a:ext cx="2590800" cy="685800"/>
          </a:xfrm>
          <a:prstGeom prst="rect">
            <a:avLst/>
          </a:prstGeom>
          <a:solidFill>
            <a:srgbClr val="000000">
              <a:alpha val="0"/>
            </a:srgbClr>
          </a:solidFill>
        </p:spPr>
        <p:txBody>
          <a:bodyPr lIns="0" tIns="0" rIns="0" bIns="0" rtlCol="0" anchor="ctr"/>
          <a:lstStyle/>
          <a:p>
            <a:pPr indent="0" algn="ctr">
              <a:lnSpc>
                <a:spcPct val="120000"/>
              </a:lnSpc>
              <a:defRPr/>
            </a:pPr>
            <a:r>
              <a:rPr lang="en-US" sz="2200" b="1">
                <a:solidFill>
                  <a:srgbClr val="000000"/>
                </a:solidFill>
                <a:latin typeface="Ubuntu"/>
              </a:rPr>
              <a:t>Criticality weights</a:t>
            </a:r>
            <a:endParaRPr lang="en-US" sz="1100"/>
          </a:p>
        </p:txBody>
      </p:sp>
      <p:sp>
        <p:nvSpPr>
          <p:cNvPr id="19" name="TextBox 19"/>
          <p:cNvSpPr txBox="1"/>
          <p:nvPr/>
        </p:nvSpPr>
        <p:spPr>
          <a:xfrm>
            <a:off x="9613900" y="6794500"/>
            <a:ext cx="304800" cy="279400"/>
          </a:xfrm>
          <a:prstGeom prst="rect">
            <a:avLst/>
          </a:prstGeom>
          <a:solidFill>
            <a:srgbClr val="000000">
              <a:alpha val="0"/>
            </a:srgbClr>
          </a:solidFill>
        </p:spPr>
        <p:txBody>
          <a:bodyPr lIns="0" tIns="0" rIns="0" bIns="0" rtlCol="0" anchor="ctr"/>
          <a:lstStyle/>
          <a:p>
            <a:pPr indent="0" algn="l">
              <a:lnSpc>
                <a:spcPct val="120000"/>
              </a:lnSpc>
              <a:defRPr/>
            </a:pPr>
            <a:r>
              <a:rPr lang="en-US" sz="1800" b="1">
                <a:solidFill>
                  <a:srgbClr val="000000"/>
                </a:solidFill>
                <a:highlight>
                  <a:srgbClr val="000000">
                    <a:alpha val="0"/>
                  </a:srgbClr>
                </a:highlight>
                <a:latin typeface="Ubuntu"/>
              </a:rPr>
              <a:t>4</a:t>
            </a:r>
            <a:endParaRPr lang="en-US" sz="1100"/>
          </a:p>
        </p:txBody>
      </p:sp>
      <p:sp>
        <p:nvSpPr>
          <p:cNvPr id="20" name="TextBox 20"/>
          <p:cNvSpPr txBox="1"/>
          <p:nvPr/>
        </p:nvSpPr>
        <p:spPr>
          <a:xfrm>
            <a:off x="12776200" y="3048000"/>
            <a:ext cx="2590800" cy="1041400"/>
          </a:xfrm>
          <a:prstGeom prst="rect">
            <a:avLst/>
          </a:prstGeom>
          <a:solidFill>
            <a:srgbClr val="000000">
              <a:alpha val="0"/>
            </a:srgbClr>
          </a:solidFill>
        </p:spPr>
        <p:txBody>
          <a:bodyPr lIns="0" tIns="0" rIns="0" bIns="0" rtlCol="0" anchor="ctr"/>
          <a:lstStyle/>
          <a:p>
            <a:pPr indent="0" algn="ctr">
              <a:lnSpc>
                <a:spcPct val="120000"/>
              </a:lnSpc>
              <a:defRPr/>
            </a:pPr>
            <a:r>
              <a:rPr lang="en-US" sz="2200" b="1">
                <a:solidFill>
                  <a:srgbClr val="000000"/>
                </a:solidFill>
                <a:latin typeface="Ubuntu"/>
              </a:rPr>
              <a:t>Normalized deviation scores</a:t>
            </a:r>
            <a:endParaRPr lang="en-US" sz="1100"/>
          </a:p>
        </p:txBody>
      </p:sp>
      <p:sp>
        <p:nvSpPr>
          <p:cNvPr id="21" name="TextBox 21"/>
          <p:cNvSpPr txBox="1"/>
          <p:nvPr/>
        </p:nvSpPr>
        <p:spPr>
          <a:xfrm>
            <a:off x="10579100" y="7823200"/>
            <a:ext cx="304800" cy="279400"/>
          </a:xfrm>
          <a:prstGeom prst="rect">
            <a:avLst/>
          </a:prstGeom>
          <a:solidFill>
            <a:srgbClr val="000000">
              <a:alpha val="0"/>
            </a:srgbClr>
          </a:solidFill>
        </p:spPr>
        <p:txBody>
          <a:bodyPr lIns="0" tIns="0" rIns="0" bIns="0" rtlCol="0" anchor="ctr"/>
          <a:lstStyle/>
          <a:p>
            <a:pPr indent="0" algn="l">
              <a:lnSpc>
                <a:spcPct val="120000"/>
              </a:lnSpc>
              <a:defRPr/>
            </a:pPr>
            <a:r>
              <a:rPr lang="en-US" sz="1800" b="1">
                <a:solidFill>
                  <a:srgbClr val="000000"/>
                </a:solidFill>
                <a:highlight>
                  <a:srgbClr val="000000">
                    <a:alpha val="0"/>
                  </a:srgbClr>
                </a:highlight>
                <a:latin typeface="Ubuntu"/>
              </a:rPr>
              <a:t>5</a:t>
            </a:r>
            <a:endParaRPr lang="en-US" sz="1100"/>
          </a:p>
        </p:txBody>
      </p:sp>
      <p:sp>
        <p:nvSpPr>
          <p:cNvPr id="22" name="TextBox 22"/>
          <p:cNvSpPr txBox="1"/>
          <p:nvPr/>
        </p:nvSpPr>
        <p:spPr>
          <a:xfrm>
            <a:off x="876300" y="3937000"/>
            <a:ext cx="2590800" cy="2882900"/>
          </a:xfrm>
          <a:prstGeom prst="rect">
            <a:avLst/>
          </a:prstGeom>
          <a:solidFill>
            <a:srgbClr val="000000">
              <a:alpha val="0"/>
            </a:srgbClr>
          </a:solidFill>
        </p:spPr>
        <p:txBody>
          <a:bodyPr lIns="0" tIns="0" rIns="0" bIns="0" rtlCol="0" anchor="ctr"/>
          <a:lstStyle/>
          <a:p>
            <a:pPr indent="0" algn="ctr">
              <a:lnSpc>
                <a:spcPct val="150000"/>
              </a:lnSpc>
              <a:defRPr/>
            </a:pPr>
            <a:r>
              <a:rPr lang="en-US" sz="1500" b="1">
                <a:solidFill>
                  <a:srgbClr val="000000"/>
                </a:solidFill>
                <a:latin typeface="Poppins"/>
              </a:rPr>
              <a:t>Voltage, current, frequency, load, power and response time metrics that characterize physical asset behavior under normal and stressed conditions.</a:t>
            </a:r>
            <a:endParaRPr lang="en-US" sz="1100"/>
          </a:p>
        </p:txBody>
      </p:sp>
      <p:sp>
        <p:nvSpPr>
          <p:cNvPr id="23" name="TextBox 23"/>
          <p:cNvSpPr txBox="1"/>
          <p:nvPr/>
        </p:nvSpPr>
        <p:spPr>
          <a:xfrm>
            <a:off x="3848100" y="3822700"/>
            <a:ext cx="2590800" cy="2311400"/>
          </a:xfrm>
          <a:prstGeom prst="rect">
            <a:avLst/>
          </a:prstGeom>
          <a:solidFill>
            <a:srgbClr val="000000">
              <a:alpha val="0"/>
            </a:srgbClr>
          </a:solidFill>
        </p:spPr>
        <p:txBody>
          <a:bodyPr lIns="0" tIns="0" rIns="0" bIns="0" rtlCol="0" anchor="ctr"/>
          <a:lstStyle/>
          <a:p>
            <a:pPr indent="0" algn="ctr">
              <a:lnSpc>
                <a:spcPct val="150000"/>
              </a:lnSpc>
              <a:defRPr/>
            </a:pPr>
            <a:r>
              <a:rPr lang="en-US" sz="1500" b="1">
                <a:solidFill>
                  <a:srgbClr val="000000"/>
                </a:solidFill>
                <a:latin typeface="Poppins"/>
              </a:rPr>
              <a:t>Network-related indicators such as latency, packet loss, communication frequency and integrity signals used to assess cyber-layer health.</a:t>
            </a:r>
            <a:endParaRPr lang="en-US" sz="1100"/>
          </a:p>
        </p:txBody>
      </p:sp>
      <p:sp>
        <p:nvSpPr>
          <p:cNvPr id="24" name="TextBox 24"/>
          <p:cNvSpPr txBox="1"/>
          <p:nvPr/>
        </p:nvSpPr>
        <p:spPr>
          <a:xfrm>
            <a:off x="6819900" y="2844800"/>
            <a:ext cx="2590800" cy="2603500"/>
          </a:xfrm>
          <a:prstGeom prst="rect">
            <a:avLst/>
          </a:prstGeom>
          <a:solidFill>
            <a:srgbClr val="000000">
              <a:alpha val="0"/>
            </a:srgbClr>
          </a:solidFill>
        </p:spPr>
        <p:txBody>
          <a:bodyPr lIns="0" tIns="0" rIns="0" bIns="0" rtlCol="0" anchor="ctr"/>
          <a:lstStyle/>
          <a:p>
            <a:pPr indent="0" algn="ctr">
              <a:lnSpc>
                <a:spcPct val="150000"/>
              </a:lnSpc>
              <a:defRPr/>
            </a:pPr>
            <a:r>
              <a:rPr lang="en-US" sz="1500" b="1">
                <a:solidFill>
                  <a:srgbClr val="000000"/>
                </a:solidFill>
                <a:latin typeface="Poppins"/>
              </a:rPr>
              <a:t>Expected normal operating conditions defined per asset class to serve as reference baselines for anomaly detection and degradation tracking.</a:t>
            </a:r>
            <a:endParaRPr lang="en-US" sz="1100"/>
          </a:p>
        </p:txBody>
      </p:sp>
      <p:sp>
        <p:nvSpPr>
          <p:cNvPr id="25" name="TextBox 25"/>
          <p:cNvSpPr txBox="1"/>
          <p:nvPr/>
        </p:nvSpPr>
        <p:spPr>
          <a:xfrm>
            <a:off x="9791700" y="3543300"/>
            <a:ext cx="2590800" cy="2603500"/>
          </a:xfrm>
          <a:prstGeom prst="rect">
            <a:avLst/>
          </a:prstGeom>
          <a:solidFill>
            <a:srgbClr val="000000">
              <a:alpha val="0"/>
            </a:srgbClr>
          </a:solidFill>
        </p:spPr>
        <p:txBody>
          <a:bodyPr lIns="0" tIns="0" rIns="0" bIns="0" rtlCol="0" anchor="ctr"/>
          <a:lstStyle/>
          <a:p>
            <a:pPr indent="0" algn="ctr">
              <a:lnSpc>
                <a:spcPct val="150000"/>
              </a:lnSpc>
              <a:defRPr/>
            </a:pPr>
            <a:r>
              <a:rPr lang="en-US" sz="1500" b="1">
                <a:solidFill>
                  <a:srgbClr val="000000"/>
                </a:solidFill>
                <a:latin typeface="Poppins"/>
              </a:rPr>
              <a:t>Priority weighting for assets including generator, substation, PMU and breaker to reflect their impact on system stability and response prioritization.</a:t>
            </a:r>
            <a:endParaRPr lang="en-US" sz="1100"/>
          </a:p>
        </p:txBody>
      </p:sp>
      <p:sp>
        <p:nvSpPr>
          <p:cNvPr id="26" name="TextBox 26"/>
          <p:cNvSpPr txBox="1"/>
          <p:nvPr/>
        </p:nvSpPr>
        <p:spPr>
          <a:xfrm>
            <a:off x="12776200" y="4229100"/>
            <a:ext cx="2590800" cy="2603500"/>
          </a:xfrm>
          <a:prstGeom prst="rect">
            <a:avLst/>
          </a:prstGeom>
          <a:solidFill>
            <a:srgbClr val="000000">
              <a:alpha val="0"/>
            </a:srgbClr>
          </a:solidFill>
        </p:spPr>
        <p:txBody>
          <a:bodyPr lIns="0" tIns="0" rIns="0" bIns="0" rtlCol="0" anchor="ctr"/>
          <a:lstStyle/>
          <a:p>
            <a:pPr indent="0" algn="ctr">
              <a:lnSpc>
                <a:spcPct val="150000"/>
              </a:lnSpc>
              <a:defRPr/>
            </a:pPr>
            <a:r>
              <a:rPr lang="en-US" sz="1500" b="1">
                <a:solidFill>
                  <a:srgbClr val="000000"/>
                </a:solidFill>
                <a:latin typeface="Poppins"/>
              </a:rPr>
              <a:t>Cross-asset normalized deviation metrics that enable comparison and ranking of anomalies across heterogeneous equipment types.</a:t>
            </a:r>
            <a:endParaRPr lang="en-US" sz="110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16256000" cy="9144000"/>
          </a:xfrm>
          <a:prstGeom prst="rect">
            <a:avLst/>
          </a:prstGeom>
          <a:solidFill>
            <a:srgbClr val="0D0A2C">
              <a:alpha val="74902"/>
            </a:srgbClr>
          </a:solidFill>
        </p:spPr>
      </p:sp>
      <p:pic>
        <p:nvPicPr>
          <p:cNvPr id="3" name="Picture 3"/>
          <p:cNvPicPr>
            <a:picLocks noChangeAspect="1"/>
          </p:cNvPicPr>
          <p:nvPr/>
        </p:nvPicPr>
        <p:blipFill>
          <a:blip r:embed="rId2"/>
          <a:srcRect t="56" b="56"/>
          <a:stretch>
            <a:fillRect/>
          </a:stretch>
        </p:blipFill>
        <p:spPr>
          <a:xfrm>
            <a:off x="0" y="0"/>
            <a:ext cx="16256000" cy="9144000"/>
          </a:xfrm>
          <a:prstGeom prst="rect">
            <a:avLst/>
          </a:prstGeom>
        </p:spPr>
      </p:pic>
      <p:sp>
        <p:nvSpPr>
          <p:cNvPr id="4" name="AutoShape 4"/>
          <p:cNvSpPr/>
          <p:nvPr/>
        </p:nvSpPr>
        <p:spPr>
          <a:xfrm>
            <a:off x="876300" y="952500"/>
            <a:ext cx="14490700" cy="7607300"/>
          </a:xfrm>
          <a:prstGeom prst="rect">
            <a:avLst/>
          </a:prstGeom>
          <a:solidFill>
            <a:srgbClr val="000000">
              <a:alpha val="0"/>
            </a:srgbClr>
          </a:solidFill>
          <a:ln w="12700">
            <a:solidFill>
              <a:srgbClr val="A1A1A1"/>
            </a:solidFill>
          </a:ln>
        </p:spPr>
      </p:sp>
      <p:sp>
        <p:nvSpPr>
          <p:cNvPr id="5" name="AutoShape 5"/>
          <p:cNvSpPr/>
          <p:nvPr/>
        </p:nvSpPr>
        <p:spPr>
          <a:xfrm>
            <a:off x="889000" y="952500"/>
            <a:ext cx="5537200" cy="228600"/>
          </a:xfrm>
          <a:prstGeom prst="rect">
            <a:avLst/>
          </a:prstGeom>
          <a:solidFill>
            <a:srgbClr val="D1D1D1">
              <a:alpha val="71765"/>
            </a:srgbClr>
          </a:solidFill>
          <a:ln w="12700">
            <a:solidFill>
              <a:srgbClr val="A1A1A1"/>
            </a:solidFill>
          </a:ln>
        </p:spPr>
      </p:sp>
      <p:sp>
        <p:nvSpPr>
          <p:cNvPr id="6" name="AutoShape 6"/>
          <p:cNvSpPr/>
          <p:nvPr/>
        </p:nvSpPr>
        <p:spPr>
          <a:xfrm>
            <a:off x="6426200" y="952500"/>
            <a:ext cx="3390900" cy="228600"/>
          </a:xfrm>
          <a:prstGeom prst="rect">
            <a:avLst/>
          </a:prstGeom>
          <a:solidFill>
            <a:srgbClr val="D1D1D1">
              <a:alpha val="71765"/>
            </a:srgbClr>
          </a:solidFill>
          <a:ln w="12700">
            <a:solidFill>
              <a:srgbClr val="A1A1A1"/>
            </a:solidFill>
          </a:ln>
        </p:spPr>
      </p:sp>
      <p:sp>
        <p:nvSpPr>
          <p:cNvPr id="7" name="AutoShape 7"/>
          <p:cNvSpPr/>
          <p:nvPr/>
        </p:nvSpPr>
        <p:spPr>
          <a:xfrm>
            <a:off x="9829800" y="952500"/>
            <a:ext cx="2184400" cy="228600"/>
          </a:xfrm>
          <a:prstGeom prst="rect">
            <a:avLst/>
          </a:prstGeom>
          <a:solidFill>
            <a:srgbClr val="D1D1D1">
              <a:alpha val="71765"/>
            </a:srgbClr>
          </a:solidFill>
          <a:ln w="12700">
            <a:solidFill>
              <a:srgbClr val="A1A1A1"/>
            </a:solidFill>
          </a:ln>
        </p:spPr>
      </p:sp>
      <p:sp>
        <p:nvSpPr>
          <p:cNvPr id="8" name="AutoShape 8"/>
          <p:cNvSpPr/>
          <p:nvPr/>
        </p:nvSpPr>
        <p:spPr>
          <a:xfrm>
            <a:off x="12014200" y="952500"/>
            <a:ext cx="3327400" cy="228600"/>
          </a:xfrm>
          <a:prstGeom prst="rect">
            <a:avLst/>
          </a:prstGeom>
          <a:solidFill>
            <a:srgbClr val="D1D1D1">
              <a:alpha val="71765"/>
            </a:srgbClr>
          </a:solidFill>
          <a:ln w="12700">
            <a:solidFill>
              <a:srgbClr val="A1A1A1"/>
            </a:solidFill>
          </a:ln>
        </p:spPr>
      </p:sp>
      <p:sp>
        <p:nvSpPr>
          <p:cNvPr id="9" name="AutoShape 9"/>
          <p:cNvSpPr/>
          <p:nvPr/>
        </p:nvSpPr>
        <p:spPr>
          <a:xfrm>
            <a:off x="889000" y="1193800"/>
            <a:ext cx="5537200" cy="711200"/>
          </a:xfrm>
          <a:prstGeom prst="rect">
            <a:avLst/>
          </a:prstGeom>
          <a:solidFill>
            <a:srgbClr val="000000">
              <a:alpha val="0"/>
            </a:srgbClr>
          </a:solidFill>
          <a:ln w="12700">
            <a:solidFill>
              <a:srgbClr val="A1A1A1"/>
            </a:solidFill>
          </a:ln>
        </p:spPr>
      </p:sp>
      <p:sp>
        <p:nvSpPr>
          <p:cNvPr id="10" name="AutoShape 10"/>
          <p:cNvSpPr/>
          <p:nvPr/>
        </p:nvSpPr>
        <p:spPr>
          <a:xfrm>
            <a:off x="6426200" y="1193800"/>
            <a:ext cx="3390900" cy="711200"/>
          </a:xfrm>
          <a:prstGeom prst="rect">
            <a:avLst/>
          </a:prstGeom>
          <a:solidFill>
            <a:srgbClr val="000000">
              <a:alpha val="0"/>
            </a:srgbClr>
          </a:solidFill>
          <a:ln w="12700">
            <a:solidFill>
              <a:srgbClr val="A1A1A1"/>
            </a:solidFill>
          </a:ln>
        </p:spPr>
      </p:sp>
      <p:sp>
        <p:nvSpPr>
          <p:cNvPr id="11" name="AutoShape 11"/>
          <p:cNvSpPr/>
          <p:nvPr/>
        </p:nvSpPr>
        <p:spPr>
          <a:xfrm>
            <a:off x="9829800" y="1193800"/>
            <a:ext cx="2184400" cy="711200"/>
          </a:xfrm>
          <a:prstGeom prst="rect">
            <a:avLst/>
          </a:prstGeom>
          <a:solidFill>
            <a:srgbClr val="000000">
              <a:alpha val="0"/>
            </a:srgbClr>
          </a:solidFill>
          <a:ln w="12700">
            <a:solidFill>
              <a:srgbClr val="A1A1A1"/>
            </a:solidFill>
          </a:ln>
        </p:spPr>
      </p:sp>
      <p:sp>
        <p:nvSpPr>
          <p:cNvPr id="12" name="AutoShape 12"/>
          <p:cNvSpPr/>
          <p:nvPr/>
        </p:nvSpPr>
        <p:spPr>
          <a:xfrm>
            <a:off x="12014200" y="1193800"/>
            <a:ext cx="3327400" cy="711200"/>
          </a:xfrm>
          <a:prstGeom prst="rect">
            <a:avLst/>
          </a:prstGeom>
          <a:solidFill>
            <a:srgbClr val="000000">
              <a:alpha val="0"/>
            </a:srgbClr>
          </a:solidFill>
          <a:ln w="12700">
            <a:solidFill>
              <a:srgbClr val="A1A1A1"/>
            </a:solidFill>
          </a:ln>
        </p:spPr>
      </p:sp>
      <p:sp>
        <p:nvSpPr>
          <p:cNvPr id="13" name="AutoShape 13"/>
          <p:cNvSpPr/>
          <p:nvPr/>
        </p:nvSpPr>
        <p:spPr>
          <a:xfrm>
            <a:off x="889000" y="1917700"/>
            <a:ext cx="5537200" cy="711200"/>
          </a:xfrm>
          <a:prstGeom prst="rect">
            <a:avLst/>
          </a:prstGeom>
          <a:solidFill>
            <a:srgbClr val="000000">
              <a:alpha val="0"/>
            </a:srgbClr>
          </a:solidFill>
          <a:ln w="12700">
            <a:solidFill>
              <a:srgbClr val="A1A1A1"/>
            </a:solidFill>
          </a:ln>
        </p:spPr>
      </p:sp>
      <p:sp>
        <p:nvSpPr>
          <p:cNvPr id="14" name="AutoShape 14"/>
          <p:cNvSpPr/>
          <p:nvPr/>
        </p:nvSpPr>
        <p:spPr>
          <a:xfrm>
            <a:off x="6426200" y="1917700"/>
            <a:ext cx="3390900" cy="711200"/>
          </a:xfrm>
          <a:prstGeom prst="rect">
            <a:avLst/>
          </a:prstGeom>
          <a:solidFill>
            <a:srgbClr val="000000">
              <a:alpha val="0"/>
            </a:srgbClr>
          </a:solidFill>
          <a:ln w="12700">
            <a:solidFill>
              <a:srgbClr val="A1A1A1"/>
            </a:solidFill>
          </a:ln>
        </p:spPr>
      </p:sp>
      <p:sp>
        <p:nvSpPr>
          <p:cNvPr id="15" name="AutoShape 15"/>
          <p:cNvSpPr/>
          <p:nvPr/>
        </p:nvSpPr>
        <p:spPr>
          <a:xfrm>
            <a:off x="9829800" y="1917700"/>
            <a:ext cx="2184400" cy="711200"/>
          </a:xfrm>
          <a:prstGeom prst="rect">
            <a:avLst/>
          </a:prstGeom>
          <a:solidFill>
            <a:srgbClr val="000000">
              <a:alpha val="0"/>
            </a:srgbClr>
          </a:solidFill>
          <a:ln w="12700">
            <a:solidFill>
              <a:srgbClr val="A1A1A1"/>
            </a:solidFill>
          </a:ln>
        </p:spPr>
      </p:sp>
      <p:sp>
        <p:nvSpPr>
          <p:cNvPr id="16" name="AutoShape 16"/>
          <p:cNvSpPr/>
          <p:nvPr/>
        </p:nvSpPr>
        <p:spPr>
          <a:xfrm>
            <a:off x="12014200" y="1917700"/>
            <a:ext cx="3327400" cy="711200"/>
          </a:xfrm>
          <a:prstGeom prst="rect">
            <a:avLst/>
          </a:prstGeom>
          <a:solidFill>
            <a:srgbClr val="000000">
              <a:alpha val="0"/>
            </a:srgbClr>
          </a:solidFill>
          <a:ln w="12700">
            <a:solidFill>
              <a:srgbClr val="A1A1A1"/>
            </a:solidFill>
          </a:ln>
        </p:spPr>
      </p:sp>
      <p:sp>
        <p:nvSpPr>
          <p:cNvPr id="17" name="AutoShape 17"/>
          <p:cNvSpPr/>
          <p:nvPr/>
        </p:nvSpPr>
        <p:spPr>
          <a:xfrm>
            <a:off x="889000" y="2628900"/>
            <a:ext cx="5537200" cy="711200"/>
          </a:xfrm>
          <a:prstGeom prst="rect">
            <a:avLst/>
          </a:prstGeom>
          <a:solidFill>
            <a:srgbClr val="000000">
              <a:alpha val="0"/>
            </a:srgbClr>
          </a:solidFill>
          <a:ln w="12700">
            <a:solidFill>
              <a:srgbClr val="A1A1A1"/>
            </a:solidFill>
          </a:ln>
        </p:spPr>
      </p:sp>
      <p:sp>
        <p:nvSpPr>
          <p:cNvPr id="18" name="AutoShape 18"/>
          <p:cNvSpPr/>
          <p:nvPr/>
        </p:nvSpPr>
        <p:spPr>
          <a:xfrm>
            <a:off x="6426200" y="2628900"/>
            <a:ext cx="3390900" cy="711200"/>
          </a:xfrm>
          <a:prstGeom prst="rect">
            <a:avLst/>
          </a:prstGeom>
          <a:solidFill>
            <a:srgbClr val="000000">
              <a:alpha val="0"/>
            </a:srgbClr>
          </a:solidFill>
          <a:ln w="12700">
            <a:solidFill>
              <a:srgbClr val="A1A1A1"/>
            </a:solidFill>
          </a:ln>
        </p:spPr>
      </p:sp>
      <p:sp>
        <p:nvSpPr>
          <p:cNvPr id="19" name="AutoShape 19"/>
          <p:cNvSpPr/>
          <p:nvPr/>
        </p:nvSpPr>
        <p:spPr>
          <a:xfrm>
            <a:off x="9829800" y="2628900"/>
            <a:ext cx="2184400" cy="711200"/>
          </a:xfrm>
          <a:prstGeom prst="rect">
            <a:avLst/>
          </a:prstGeom>
          <a:solidFill>
            <a:srgbClr val="000000">
              <a:alpha val="0"/>
            </a:srgbClr>
          </a:solidFill>
          <a:ln w="12700">
            <a:solidFill>
              <a:srgbClr val="A1A1A1"/>
            </a:solidFill>
          </a:ln>
        </p:spPr>
      </p:sp>
      <p:sp>
        <p:nvSpPr>
          <p:cNvPr id="20" name="AutoShape 20"/>
          <p:cNvSpPr/>
          <p:nvPr/>
        </p:nvSpPr>
        <p:spPr>
          <a:xfrm>
            <a:off x="12014200" y="2628900"/>
            <a:ext cx="3327400" cy="711200"/>
          </a:xfrm>
          <a:prstGeom prst="rect">
            <a:avLst/>
          </a:prstGeom>
          <a:solidFill>
            <a:srgbClr val="000000">
              <a:alpha val="0"/>
            </a:srgbClr>
          </a:solidFill>
          <a:ln w="12700">
            <a:solidFill>
              <a:srgbClr val="A1A1A1"/>
            </a:solidFill>
          </a:ln>
        </p:spPr>
      </p:sp>
      <p:sp>
        <p:nvSpPr>
          <p:cNvPr id="21" name="AutoShape 21"/>
          <p:cNvSpPr/>
          <p:nvPr/>
        </p:nvSpPr>
        <p:spPr>
          <a:xfrm>
            <a:off x="889000" y="3352800"/>
            <a:ext cx="5537200" cy="558800"/>
          </a:xfrm>
          <a:prstGeom prst="rect">
            <a:avLst/>
          </a:prstGeom>
          <a:solidFill>
            <a:srgbClr val="000000">
              <a:alpha val="0"/>
            </a:srgbClr>
          </a:solidFill>
          <a:ln w="12700">
            <a:solidFill>
              <a:srgbClr val="A1A1A1"/>
            </a:solidFill>
          </a:ln>
        </p:spPr>
      </p:sp>
      <p:sp>
        <p:nvSpPr>
          <p:cNvPr id="22" name="AutoShape 22"/>
          <p:cNvSpPr/>
          <p:nvPr/>
        </p:nvSpPr>
        <p:spPr>
          <a:xfrm>
            <a:off x="6426200" y="3352800"/>
            <a:ext cx="3390900" cy="558800"/>
          </a:xfrm>
          <a:prstGeom prst="rect">
            <a:avLst/>
          </a:prstGeom>
          <a:solidFill>
            <a:srgbClr val="000000">
              <a:alpha val="0"/>
            </a:srgbClr>
          </a:solidFill>
          <a:ln w="12700">
            <a:solidFill>
              <a:srgbClr val="A1A1A1"/>
            </a:solidFill>
          </a:ln>
        </p:spPr>
      </p:sp>
      <p:sp>
        <p:nvSpPr>
          <p:cNvPr id="23" name="AutoShape 23"/>
          <p:cNvSpPr/>
          <p:nvPr/>
        </p:nvSpPr>
        <p:spPr>
          <a:xfrm>
            <a:off x="9829800" y="3352800"/>
            <a:ext cx="2184400" cy="558800"/>
          </a:xfrm>
          <a:prstGeom prst="rect">
            <a:avLst/>
          </a:prstGeom>
          <a:solidFill>
            <a:srgbClr val="000000">
              <a:alpha val="0"/>
            </a:srgbClr>
          </a:solidFill>
          <a:ln w="12700">
            <a:solidFill>
              <a:srgbClr val="A1A1A1"/>
            </a:solidFill>
          </a:ln>
        </p:spPr>
      </p:sp>
      <p:sp>
        <p:nvSpPr>
          <p:cNvPr id="24" name="AutoShape 24"/>
          <p:cNvSpPr/>
          <p:nvPr/>
        </p:nvSpPr>
        <p:spPr>
          <a:xfrm>
            <a:off x="12014200" y="3352800"/>
            <a:ext cx="3327400" cy="558800"/>
          </a:xfrm>
          <a:prstGeom prst="rect">
            <a:avLst/>
          </a:prstGeom>
          <a:solidFill>
            <a:srgbClr val="000000">
              <a:alpha val="0"/>
            </a:srgbClr>
          </a:solidFill>
          <a:ln w="12700">
            <a:solidFill>
              <a:srgbClr val="A1A1A1"/>
            </a:solidFill>
          </a:ln>
        </p:spPr>
      </p:sp>
      <p:sp>
        <p:nvSpPr>
          <p:cNvPr id="25" name="AutoShape 25"/>
          <p:cNvSpPr/>
          <p:nvPr/>
        </p:nvSpPr>
        <p:spPr>
          <a:xfrm>
            <a:off x="889000" y="3911600"/>
            <a:ext cx="5537200" cy="558800"/>
          </a:xfrm>
          <a:prstGeom prst="rect">
            <a:avLst/>
          </a:prstGeom>
          <a:solidFill>
            <a:srgbClr val="000000">
              <a:alpha val="0"/>
            </a:srgbClr>
          </a:solidFill>
          <a:ln w="12700">
            <a:solidFill>
              <a:srgbClr val="A1A1A1"/>
            </a:solidFill>
          </a:ln>
        </p:spPr>
      </p:sp>
      <p:sp>
        <p:nvSpPr>
          <p:cNvPr id="26" name="AutoShape 26"/>
          <p:cNvSpPr/>
          <p:nvPr/>
        </p:nvSpPr>
        <p:spPr>
          <a:xfrm>
            <a:off x="6426200" y="3911600"/>
            <a:ext cx="3390900" cy="558800"/>
          </a:xfrm>
          <a:prstGeom prst="rect">
            <a:avLst/>
          </a:prstGeom>
          <a:solidFill>
            <a:srgbClr val="000000">
              <a:alpha val="0"/>
            </a:srgbClr>
          </a:solidFill>
          <a:ln w="12700">
            <a:solidFill>
              <a:srgbClr val="A1A1A1"/>
            </a:solidFill>
          </a:ln>
        </p:spPr>
      </p:sp>
      <p:sp>
        <p:nvSpPr>
          <p:cNvPr id="27" name="AutoShape 27"/>
          <p:cNvSpPr/>
          <p:nvPr/>
        </p:nvSpPr>
        <p:spPr>
          <a:xfrm>
            <a:off x="9829800" y="3911600"/>
            <a:ext cx="2184400" cy="558800"/>
          </a:xfrm>
          <a:prstGeom prst="rect">
            <a:avLst/>
          </a:prstGeom>
          <a:solidFill>
            <a:srgbClr val="000000">
              <a:alpha val="0"/>
            </a:srgbClr>
          </a:solidFill>
          <a:ln w="12700">
            <a:solidFill>
              <a:srgbClr val="A1A1A1"/>
            </a:solidFill>
          </a:ln>
        </p:spPr>
      </p:sp>
      <p:sp>
        <p:nvSpPr>
          <p:cNvPr id="28" name="AutoShape 28"/>
          <p:cNvSpPr/>
          <p:nvPr/>
        </p:nvSpPr>
        <p:spPr>
          <a:xfrm>
            <a:off x="12014200" y="3911600"/>
            <a:ext cx="3327400" cy="558800"/>
          </a:xfrm>
          <a:prstGeom prst="rect">
            <a:avLst/>
          </a:prstGeom>
          <a:solidFill>
            <a:srgbClr val="000000">
              <a:alpha val="0"/>
            </a:srgbClr>
          </a:solidFill>
          <a:ln w="12700">
            <a:solidFill>
              <a:srgbClr val="A1A1A1"/>
            </a:solidFill>
          </a:ln>
        </p:spPr>
      </p:sp>
      <p:sp>
        <p:nvSpPr>
          <p:cNvPr id="29" name="AutoShape 29"/>
          <p:cNvSpPr/>
          <p:nvPr/>
        </p:nvSpPr>
        <p:spPr>
          <a:xfrm>
            <a:off x="889000" y="4470400"/>
            <a:ext cx="5537200" cy="711200"/>
          </a:xfrm>
          <a:prstGeom prst="rect">
            <a:avLst/>
          </a:prstGeom>
          <a:solidFill>
            <a:srgbClr val="000000">
              <a:alpha val="0"/>
            </a:srgbClr>
          </a:solidFill>
          <a:ln w="12700">
            <a:solidFill>
              <a:srgbClr val="A1A1A1"/>
            </a:solidFill>
          </a:ln>
        </p:spPr>
      </p:sp>
      <p:sp>
        <p:nvSpPr>
          <p:cNvPr id="30" name="AutoShape 30"/>
          <p:cNvSpPr/>
          <p:nvPr/>
        </p:nvSpPr>
        <p:spPr>
          <a:xfrm>
            <a:off x="6426200" y="4470400"/>
            <a:ext cx="3390900" cy="711200"/>
          </a:xfrm>
          <a:prstGeom prst="rect">
            <a:avLst/>
          </a:prstGeom>
          <a:solidFill>
            <a:srgbClr val="000000">
              <a:alpha val="0"/>
            </a:srgbClr>
          </a:solidFill>
          <a:ln w="12700">
            <a:solidFill>
              <a:srgbClr val="A1A1A1"/>
            </a:solidFill>
          </a:ln>
        </p:spPr>
      </p:sp>
      <p:sp>
        <p:nvSpPr>
          <p:cNvPr id="31" name="AutoShape 31"/>
          <p:cNvSpPr/>
          <p:nvPr/>
        </p:nvSpPr>
        <p:spPr>
          <a:xfrm>
            <a:off x="9829800" y="4470400"/>
            <a:ext cx="2184400" cy="711200"/>
          </a:xfrm>
          <a:prstGeom prst="rect">
            <a:avLst/>
          </a:prstGeom>
          <a:solidFill>
            <a:srgbClr val="000000">
              <a:alpha val="0"/>
            </a:srgbClr>
          </a:solidFill>
          <a:ln w="12700">
            <a:solidFill>
              <a:srgbClr val="A1A1A1"/>
            </a:solidFill>
          </a:ln>
        </p:spPr>
      </p:sp>
      <p:sp>
        <p:nvSpPr>
          <p:cNvPr id="32" name="AutoShape 32"/>
          <p:cNvSpPr/>
          <p:nvPr/>
        </p:nvSpPr>
        <p:spPr>
          <a:xfrm>
            <a:off x="12014200" y="4470400"/>
            <a:ext cx="3327400" cy="711200"/>
          </a:xfrm>
          <a:prstGeom prst="rect">
            <a:avLst/>
          </a:prstGeom>
          <a:solidFill>
            <a:srgbClr val="000000">
              <a:alpha val="0"/>
            </a:srgbClr>
          </a:solidFill>
          <a:ln w="12700">
            <a:solidFill>
              <a:srgbClr val="A1A1A1"/>
            </a:solidFill>
          </a:ln>
        </p:spPr>
      </p:sp>
      <p:sp>
        <p:nvSpPr>
          <p:cNvPr id="33" name="AutoShape 33"/>
          <p:cNvSpPr/>
          <p:nvPr/>
        </p:nvSpPr>
        <p:spPr>
          <a:xfrm>
            <a:off x="889000" y="5194300"/>
            <a:ext cx="5537200" cy="558800"/>
          </a:xfrm>
          <a:prstGeom prst="rect">
            <a:avLst/>
          </a:prstGeom>
          <a:solidFill>
            <a:srgbClr val="000000">
              <a:alpha val="0"/>
            </a:srgbClr>
          </a:solidFill>
          <a:ln w="12700">
            <a:solidFill>
              <a:srgbClr val="A1A1A1"/>
            </a:solidFill>
          </a:ln>
        </p:spPr>
      </p:sp>
      <p:sp>
        <p:nvSpPr>
          <p:cNvPr id="34" name="AutoShape 34"/>
          <p:cNvSpPr/>
          <p:nvPr/>
        </p:nvSpPr>
        <p:spPr>
          <a:xfrm>
            <a:off x="6426200" y="5194300"/>
            <a:ext cx="3390900" cy="558800"/>
          </a:xfrm>
          <a:prstGeom prst="rect">
            <a:avLst/>
          </a:prstGeom>
          <a:solidFill>
            <a:srgbClr val="000000">
              <a:alpha val="0"/>
            </a:srgbClr>
          </a:solidFill>
          <a:ln w="12700">
            <a:solidFill>
              <a:srgbClr val="A1A1A1"/>
            </a:solidFill>
          </a:ln>
        </p:spPr>
      </p:sp>
      <p:sp>
        <p:nvSpPr>
          <p:cNvPr id="35" name="AutoShape 35"/>
          <p:cNvSpPr/>
          <p:nvPr/>
        </p:nvSpPr>
        <p:spPr>
          <a:xfrm>
            <a:off x="9829800" y="5194300"/>
            <a:ext cx="2184400" cy="558800"/>
          </a:xfrm>
          <a:prstGeom prst="rect">
            <a:avLst/>
          </a:prstGeom>
          <a:solidFill>
            <a:srgbClr val="000000">
              <a:alpha val="0"/>
            </a:srgbClr>
          </a:solidFill>
          <a:ln w="12700">
            <a:solidFill>
              <a:srgbClr val="A1A1A1"/>
            </a:solidFill>
          </a:ln>
        </p:spPr>
      </p:sp>
      <p:sp>
        <p:nvSpPr>
          <p:cNvPr id="36" name="AutoShape 36"/>
          <p:cNvSpPr/>
          <p:nvPr/>
        </p:nvSpPr>
        <p:spPr>
          <a:xfrm>
            <a:off x="12014200" y="5194300"/>
            <a:ext cx="3327400" cy="558800"/>
          </a:xfrm>
          <a:prstGeom prst="rect">
            <a:avLst/>
          </a:prstGeom>
          <a:solidFill>
            <a:srgbClr val="000000">
              <a:alpha val="0"/>
            </a:srgbClr>
          </a:solidFill>
          <a:ln w="12700">
            <a:solidFill>
              <a:srgbClr val="A1A1A1"/>
            </a:solidFill>
          </a:ln>
        </p:spPr>
      </p:sp>
      <p:sp>
        <p:nvSpPr>
          <p:cNvPr id="37" name="AutoShape 37"/>
          <p:cNvSpPr/>
          <p:nvPr/>
        </p:nvSpPr>
        <p:spPr>
          <a:xfrm>
            <a:off x="889000" y="5753100"/>
            <a:ext cx="5537200" cy="558800"/>
          </a:xfrm>
          <a:prstGeom prst="rect">
            <a:avLst/>
          </a:prstGeom>
          <a:solidFill>
            <a:srgbClr val="000000">
              <a:alpha val="0"/>
            </a:srgbClr>
          </a:solidFill>
          <a:ln w="12700">
            <a:solidFill>
              <a:srgbClr val="A1A1A1"/>
            </a:solidFill>
          </a:ln>
        </p:spPr>
      </p:sp>
      <p:sp>
        <p:nvSpPr>
          <p:cNvPr id="38" name="AutoShape 38"/>
          <p:cNvSpPr/>
          <p:nvPr/>
        </p:nvSpPr>
        <p:spPr>
          <a:xfrm>
            <a:off x="6426200" y="5753100"/>
            <a:ext cx="3390900" cy="558800"/>
          </a:xfrm>
          <a:prstGeom prst="rect">
            <a:avLst/>
          </a:prstGeom>
          <a:solidFill>
            <a:srgbClr val="000000">
              <a:alpha val="0"/>
            </a:srgbClr>
          </a:solidFill>
          <a:ln w="12700">
            <a:solidFill>
              <a:srgbClr val="A1A1A1"/>
            </a:solidFill>
          </a:ln>
        </p:spPr>
      </p:sp>
      <p:sp>
        <p:nvSpPr>
          <p:cNvPr id="39" name="AutoShape 39"/>
          <p:cNvSpPr/>
          <p:nvPr/>
        </p:nvSpPr>
        <p:spPr>
          <a:xfrm>
            <a:off x="9829800" y="5753100"/>
            <a:ext cx="2184400" cy="558800"/>
          </a:xfrm>
          <a:prstGeom prst="rect">
            <a:avLst/>
          </a:prstGeom>
          <a:solidFill>
            <a:srgbClr val="000000">
              <a:alpha val="0"/>
            </a:srgbClr>
          </a:solidFill>
          <a:ln w="12700">
            <a:solidFill>
              <a:srgbClr val="A1A1A1"/>
            </a:solidFill>
          </a:ln>
        </p:spPr>
      </p:sp>
      <p:sp>
        <p:nvSpPr>
          <p:cNvPr id="40" name="AutoShape 40"/>
          <p:cNvSpPr/>
          <p:nvPr/>
        </p:nvSpPr>
        <p:spPr>
          <a:xfrm>
            <a:off x="12014200" y="5753100"/>
            <a:ext cx="3327400" cy="558800"/>
          </a:xfrm>
          <a:prstGeom prst="rect">
            <a:avLst/>
          </a:prstGeom>
          <a:solidFill>
            <a:srgbClr val="000000">
              <a:alpha val="0"/>
            </a:srgbClr>
          </a:solidFill>
          <a:ln w="12700">
            <a:solidFill>
              <a:srgbClr val="A1A1A1"/>
            </a:solidFill>
          </a:ln>
        </p:spPr>
      </p:sp>
      <p:sp>
        <p:nvSpPr>
          <p:cNvPr id="41" name="AutoShape 41"/>
          <p:cNvSpPr/>
          <p:nvPr/>
        </p:nvSpPr>
        <p:spPr>
          <a:xfrm>
            <a:off x="889000" y="6311900"/>
            <a:ext cx="5537200" cy="558800"/>
          </a:xfrm>
          <a:prstGeom prst="rect">
            <a:avLst/>
          </a:prstGeom>
          <a:solidFill>
            <a:srgbClr val="000000">
              <a:alpha val="0"/>
            </a:srgbClr>
          </a:solidFill>
          <a:ln w="12700">
            <a:solidFill>
              <a:srgbClr val="A1A1A1"/>
            </a:solidFill>
          </a:ln>
        </p:spPr>
      </p:sp>
      <p:sp>
        <p:nvSpPr>
          <p:cNvPr id="42" name="AutoShape 42"/>
          <p:cNvSpPr/>
          <p:nvPr/>
        </p:nvSpPr>
        <p:spPr>
          <a:xfrm>
            <a:off x="6426200" y="6311900"/>
            <a:ext cx="3390900" cy="558800"/>
          </a:xfrm>
          <a:prstGeom prst="rect">
            <a:avLst/>
          </a:prstGeom>
          <a:solidFill>
            <a:srgbClr val="000000">
              <a:alpha val="0"/>
            </a:srgbClr>
          </a:solidFill>
          <a:ln w="12700">
            <a:solidFill>
              <a:srgbClr val="A1A1A1"/>
            </a:solidFill>
          </a:ln>
        </p:spPr>
      </p:sp>
      <p:sp>
        <p:nvSpPr>
          <p:cNvPr id="43" name="AutoShape 43"/>
          <p:cNvSpPr/>
          <p:nvPr/>
        </p:nvSpPr>
        <p:spPr>
          <a:xfrm>
            <a:off x="9829800" y="6311900"/>
            <a:ext cx="2184400" cy="558800"/>
          </a:xfrm>
          <a:prstGeom prst="rect">
            <a:avLst/>
          </a:prstGeom>
          <a:solidFill>
            <a:srgbClr val="000000">
              <a:alpha val="0"/>
            </a:srgbClr>
          </a:solidFill>
          <a:ln w="12700">
            <a:solidFill>
              <a:srgbClr val="A1A1A1"/>
            </a:solidFill>
          </a:ln>
        </p:spPr>
      </p:sp>
      <p:sp>
        <p:nvSpPr>
          <p:cNvPr id="44" name="AutoShape 44"/>
          <p:cNvSpPr/>
          <p:nvPr/>
        </p:nvSpPr>
        <p:spPr>
          <a:xfrm>
            <a:off x="12014200" y="6311900"/>
            <a:ext cx="3327400" cy="558800"/>
          </a:xfrm>
          <a:prstGeom prst="rect">
            <a:avLst/>
          </a:prstGeom>
          <a:solidFill>
            <a:srgbClr val="000000">
              <a:alpha val="0"/>
            </a:srgbClr>
          </a:solidFill>
          <a:ln w="12700">
            <a:solidFill>
              <a:srgbClr val="A1A1A1"/>
            </a:solidFill>
          </a:ln>
        </p:spPr>
      </p:sp>
      <p:sp>
        <p:nvSpPr>
          <p:cNvPr id="45" name="AutoShape 45"/>
          <p:cNvSpPr/>
          <p:nvPr/>
        </p:nvSpPr>
        <p:spPr>
          <a:xfrm>
            <a:off x="889000" y="6870700"/>
            <a:ext cx="5537200" cy="558800"/>
          </a:xfrm>
          <a:prstGeom prst="rect">
            <a:avLst/>
          </a:prstGeom>
          <a:solidFill>
            <a:srgbClr val="000000">
              <a:alpha val="0"/>
            </a:srgbClr>
          </a:solidFill>
          <a:ln w="12700">
            <a:solidFill>
              <a:srgbClr val="A1A1A1"/>
            </a:solidFill>
          </a:ln>
        </p:spPr>
      </p:sp>
      <p:sp>
        <p:nvSpPr>
          <p:cNvPr id="46" name="AutoShape 46"/>
          <p:cNvSpPr/>
          <p:nvPr/>
        </p:nvSpPr>
        <p:spPr>
          <a:xfrm>
            <a:off x="6426200" y="6870700"/>
            <a:ext cx="3390900" cy="558800"/>
          </a:xfrm>
          <a:prstGeom prst="rect">
            <a:avLst/>
          </a:prstGeom>
          <a:solidFill>
            <a:srgbClr val="000000">
              <a:alpha val="0"/>
            </a:srgbClr>
          </a:solidFill>
          <a:ln w="12700">
            <a:solidFill>
              <a:srgbClr val="A1A1A1"/>
            </a:solidFill>
          </a:ln>
        </p:spPr>
      </p:sp>
      <p:sp>
        <p:nvSpPr>
          <p:cNvPr id="47" name="AutoShape 47"/>
          <p:cNvSpPr/>
          <p:nvPr/>
        </p:nvSpPr>
        <p:spPr>
          <a:xfrm>
            <a:off x="9829800" y="6870700"/>
            <a:ext cx="2184400" cy="558800"/>
          </a:xfrm>
          <a:prstGeom prst="rect">
            <a:avLst/>
          </a:prstGeom>
          <a:solidFill>
            <a:srgbClr val="000000">
              <a:alpha val="0"/>
            </a:srgbClr>
          </a:solidFill>
          <a:ln w="12700">
            <a:solidFill>
              <a:srgbClr val="A1A1A1"/>
            </a:solidFill>
          </a:ln>
        </p:spPr>
      </p:sp>
      <p:sp>
        <p:nvSpPr>
          <p:cNvPr id="48" name="AutoShape 48"/>
          <p:cNvSpPr/>
          <p:nvPr/>
        </p:nvSpPr>
        <p:spPr>
          <a:xfrm>
            <a:off x="12014200" y="6870700"/>
            <a:ext cx="3327400" cy="558800"/>
          </a:xfrm>
          <a:prstGeom prst="rect">
            <a:avLst/>
          </a:prstGeom>
          <a:solidFill>
            <a:srgbClr val="000000">
              <a:alpha val="0"/>
            </a:srgbClr>
          </a:solidFill>
          <a:ln w="12700">
            <a:solidFill>
              <a:srgbClr val="A1A1A1"/>
            </a:solidFill>
          </a:ln>
        </p:spPr>
      </p:sp>
      <p:sp>
        <p:nvSpPr>
          <p:cNvPr id="49" name="AutoShape 49"/>
          <p:cNvSpPr/>
          <p:nvPr/>
        </p:nvSpPr>
        <p:spPr>
          <a:xfrm>
            <a:off x="889000" y="7429500"/>
            <a:ext cx="5537200" cy="558800"/>
          </a:xfrm>
          <a:prstGeom prst="rect">
            <a:avLst/>
          </a:prstGeom>
          <a:solidFill>
            <a:srgbClr val="000000">
              <a:alpha val="0"/>
            </a:srgbClr>
          </a:solidFill>
          <a:ln w="12700">
            <a:solidFill>
              <a:srgbClr val="A1A1A1"/>
            </a:solidFill>
          </a:ln>
        </p:spPr>
      </p:sp>
      <p:sp>
        <p:nvSpPr>
          <p:cNvPr id="50" name="AutoShape 50"/>
          <p:cNvSpPr/>
          <p:nvPr/>
        </p:nvSpPr>
        <p:spPr>
          <a:xfrm>
            <a:off x="6426200" y="7429500"/>
            <a:ext cx="3390900" cy="558800"/>
          </a:xfrm>
          <a:prstGeom prst="rect">
            <a:avLst/>
          </a:prstGeom>
          <a:solidFill>
            <a:srgbClr val="000000">
              <a:alpha val="0"/>
            </a:srgbClr>
          </a:solidFill>
          <a:ln w="12700">
            <a:solidFill>
              <a:srgbClr val="A1A1A1"/>
            </a:solidFill>
          </a:ln>
        </p:spPr>
      </p:sp>
      <p:sp>
        <p:nvSpPr>
          <p:cNvPr id="51" name="AutoShape 51"/>
          <p:cNvSpPr/>
          <p:nvPr/>
        </p:nvSpPr>
        <p:spPr>
          <a:xfrm>
            <a:off x="9829800" y="7429500"/>
            <a:ext cx="2184400" cy="558800"/>
          </a:xfrm>
          <a:prstGeom prst="rect">
            <a:avLst/>
          </a:prstGeom>
          <a:solidFill>
            <a:srgbClr val="000000">
              <a:alpha val="0"/>
            </a:srgbClr>
          </a:solidFill>
          <a:ln w="12700">
            <a:solidFill>
              <a:srgbClr val="A1A1A1"/>
            </a:solidFill>
          </a:ln>
        </p:spPr>
      </p:sp>
      <p:sp>
        <p:nvSpPr>
          <p:cNvPr id="52" name="AutoShape 52"/>
          <p:cNvSpPr/>
          <p:nvPr/>
        </p:nvSpPr>
        <p:spPr>
          <a:xfrm>
            <a:off x="12014200" y="7429500"/>
            <a:ext cx="3327400" cy="558800"/>
          </a:xfrm>
          <a:prstGeom prst="rect">
            <a:avLst/>
          </a:prstGeom>
          <a:solidFill>
            <a:srgbClr val="000000">
              <a:alpha val="0"/>
            </a:srgbClr>
          </a:solidFill>
          <a:ln w="12700">
            <a:solidFill>
              <a:srgbClr val="A1A1A1"/>
            </a:solidFill>
          </a:ln>
        </p:spPr>
      </p:sp>
      <p:sp>
        <p:nvSpPr>
          <p:cNvPr id="53" name="AutoShape 53"/>
          <p:cNvSpPr/>
          <p:nvPr/>
        </p:nvSpPr>
        <p:spPr>
          <a:xfrm>
            <a:off x="889000" y="7988300"/>
            <a:ext cx="5537200" cy="558800"/>
          </a:xfrm>
          <a:prstGeom prst="rect">
            <a:avLst/>
          </a:prstGeom>
          <a:solidFill>
            <a:srgbClr val="000000">
              <a:alpha val="0"/>
            </a:srgbClr>
          </a:solidFill>
          <a:ln w="12700">
            <a:solidFill>
              <a:srgbClr val="A1A1A1"/>
            </a:solidFill>
          </a:ln>
        </p:spPr>
      </p:sp>
      <p:sp>
        <p:nvSpPr>
          <p:cNvPr id="54" name="AutoShape 54"/>
          <p:cNvSpPr/>
          <p:nvPr/>
        </p:nvSpPr>
        <p:spPr>
          <a:xfrm>
            <a:off x="6426200" y="7988300"/>
            <a:ext cx="3390900" cy="558800"/>
          </a:xfrm>
          <a:prstGeom prst="rect">
            <a:avLst/>
          </a:prstGeom>
          <a:solidFill>
            <a:srgbClr val="000000">
              <a:alpha val="0"/>
            </a:srgbClr>
          </a:solidFill>
          <a:ln w="12700">
            <a:solidFill>
              <a:srgbClr val="A1A1A1"/>
            </a:solidFill>
          </a:ln>
        </p:spPr>
      </p:sp>
      <p:sp>
        <p:nvSpPr>
          <p:cNvPr id="55" name="AutoShape 55"/>
          <p:cNvSpPr/>
          <p:nvPr/>
        </p:nvSpPr>
        <p:spPr>
          <a:xfrm>
            <a:off x="9829800" y="7988300"/>
            <a:ext cx="2184400" cy="558800"/>
          </a:xfrm>
          <a:prstGeom prst="rect">
            <a:avLst/>
          </a:prstGeom>
          <a:solidFill>
            <a:srgbClr val="000000">
              <a:alpha val="0"/>
            </a:srgbClr>
          </a:solidFill>
          <a:ln w="12700">
            <a:solidFill>
              <a:srgbClr val="A1A1A1"/>
            </a:solidFill>
          </a:ln>
        </p:spPr>
      </p:sp>
      <p:sp>
        <p:nvSpPr>
          <p:cNvPr id="56" name="AutoShape 56"/>
          <p:cNvSpPr/>
          <p:nvPr/>
        </p:nvSpPr>
        <p:spPr>
          <a:xfrm>
            <a:off x="12014200" y="7988300"/>
            <a:ext cx="3327400" cy="558800"/>
          </a:xfrm>
          <a:prstGeom prst="rect">
            <a:avLst/>
          </a:prstGeom>
          <a:solidFill>
            <a:srgbClr val="000000">
              <a:alpha val="0"/>
            </a:srgbClr>
          </a:solidFill>
          <a:ln w="12700">
            <a:solidFill>
              <a:srgbClr val="A1A1A1"/>
            </a:solidFill>
          </a:ln>
        </p:spPr>
      </p:sp>
      <p:sp>
        <p:nvSpPr>
          <p:cNvPr id="57" name="TextBox 57"/>
          <p:cNvSpPr txBox="1"/>
          <p:nvPr/>
        </p:nvSpPr>
        <p:spPr>
          <a:xfrm>
            <a:off x="876300" y="292100"/>
            <a:ext cx="14490700" cy="254000"/>
          </a:xfrm>
          <a:prstGeom prst="rect">
            <a:avLst/>
          </a:prstGeom>
          <a:solidFill>
            <a:srgbClr val="000000">
              <a:alpha val="0"/>
            </a:srgbClr>
          </a:solidFill>
        </p:spPr>
        <p:txBody>
          <a:bodyPr lIns="0" tIns="0" rIns="0" bIns="0" rtlCol="0" anchor="ctr"/>
          <a:lstStyle/>
          <a:p>
            <a:pPr indent="0" algn="l">
              <a:lnSpc>
                <a:spcPct val="120000"/>
              </a:lnSpc>
              <a:defRPr/>
            </a:pPr>
            <a:r>
              <a:rPr lang="en-US" sz="1600" b="1">
                <a:solidFill>
                  <a:srgbClr val="000000"/>
                </a:solidFill>
                <a:latin typeface="Ubuntu"/>
              </a:rPr>
              <a:t>Mathematical Formulations and Methodology</a:t>
            </a:r>
            <a:endParaRPr lang="en-US" sz="1100"/>
          </a:p>
        </p:txBody>
      </p:sp>
      <p:sp>
        <p:nvSpPr>
          <p:cNvPr id="58" name="TextBox 58"/>
          <p:cNvSpPr txBox="1"/>
          <p:nvPr/>
        </p:nvSpPr>
        <p:spPr>
          <a:xfrm>
            <a:off x="977900" y="990600"/>
            <a:ext cx="5359400" cy="152400"/>
          </a:xfrm>
          <a:prstGeom prst="rect">
            <a:avLst/>
          </a:prstGeom>
          <a:solidFill>
            <a:srgbClr val="000000">
              <a:alpha val="0"/>
            </a:srgbClr>
          </a:solidFill>
        </p:spPr>
        <p:txBody>
          <a:bodyPr lIns="0" tIns="0" rIns="0" bIns="0" rtlCol="0" anchor="ctr"/>
          <a:lstStyle/>
          <a:p>
            <a:pPr indent="0" algn="l">
              <a:lnSpc>
                <a:spcPct val="150000"/>
              </a:lnSpc>
              <a:defRPr/>
            </a:pPr>
            <a:r>
              <a:rPr lang="en-US" sz="800" b="1">
                <a:solidFill>
                  <a:srgbClr val="000000"/>
                </a:solidFill>
                <a:latin typeface="Poppins"/>
              </a:rPr>
              <a:t>Formula Type</a:t>
            </a:r>
            <a:endParaRPr lang="en-US" sz="1100"/>
          </a:p>
        </p:txBody>
      </p:sp>
      <p:sp>
        <p:nvSpPr>
          <p:cNvPr id="59" name="TextBox 59"/>
          <p:cNvSpPr txBox="1"/>
          <p:nvPr/>
        </p:nvSpPr>
        <p:spPr>
          <a:xfrm>
            <a:off x="6515100" y="990600"/>
            <a:ext cx="3213100" cy="152400"/>
          </a:xfrm>
          <a:prstGeom prst="rect">
            <a:avLst/>
          </a:prstGeom>
          <a:solidFill>
            <a:srgbClr val="000000">
              <a:alpha val="0"/>
            </a:srgbClr>
          </a:solidFill>
        </p:spPr>
        <p:txBody>
          <a:bodyPr lIns="0" tIns="0" rIns="0" bIns="0" rtlCol="0" anchor="ctr"/>
          <a:lstStyle/>
          <a:p>
            <a:pPr indent="0" algn="l">
              <a:lnSpc>
                <a:spcPct val="150000"/>
              </a:lnSpc>
              <a:defRPr/>
            </a:pPr>
            <a:r>
              <a:rPr lang="en-US" sz="800" b="1">
                <a:solidFill>
                  <a:srgbClr val="000000"/>
                </a:solidFill>
                <a:latin typeface="Poppins"/>
              </a:rPr>
              <a:t>Simple Meaning</a:t>
            </a:r>
            <a:endParaRPr lang="en-US" sz="1100"/>
          </a:p>
        </p:txBody>
      </p:sp>
      <p:sp>
        <p:nvSpPr>
          <p:cNvPr id="60" name="TextBox 60"/>
          <p:cNvSpPr txBox="1"/>
          <p:nvPr/>
        </p:nvSpPr>
        <p:spPr>
          <a:xfrm>
            <a:off x="9918700" y="990600"/>
            <a:ext cx="2006600" cy="152400"/>
          </a:xfrm>
          <a:prstGeom prst="rect">
            <a:avLst/>
          </a:prstGeom>
          <a:solidFill>
            <a:srgbClr val="000000">
              <a:alpha val="0"/>
            </a:srgbClr>
          </a:solidFill>
        </p:spPr>
        <p:txBody>
          <a:bodyPr lIns="0" tIns="0" rIns="0" bIns="0" rtlCol="0" anchor="ctr"/>
          <a:lstStyle/>
          <a:p>
            <a:pPr indent="0" algn="l">
              <a:lnSpc>
                <a:spcPct val="150000"/>
              </a:lnSpc>
              <a:defRPr/>
            </a:pPr>
            <a:r>
              <a:rPr lang="en-US" sz="800" b="1">
                <a:solidFill>
                  <a:srgbClr val="000000"/>
                </a:solidFill>
                <a:latin typeface="Poppins"/>
              </a:rPr>
              <a:t>Used In</a:t>
            </a:r>
            <a:endParaRPr lang="en-US" sz="1100"/>
          </a:p>
        </p:txBody>
      </p:sp>
      <p:sp>
        <p:nvSpPr>
          <p:cNvPr id="61" name="TextBox 61"/>
          <p:cNvSpPr txBox="1"/>
          <p:nvPr/>
        </p:nvSpPr>
        <p:spPr>
          <a:xfrm>
            <a:off x="12103100" y="990600"/>
            <a:ext cx="3149600" cy="152400"/>
          </a:xfrm>
          <a:prstGeom prst="rect">
            <a:avLst/>
          </a:prstGeom>
          <a:solidFill>
            <a:srgbClr val="000000">
              <a:alpha val="0"/>
            </a:srgbClr>
          </a:solidFill>
        </p:spPr>
        <p:txBody>
          <a:bodyPr lIns="0" tIns="0" rIns="0" bIns="0" rtlCol="0" anchor="ctr"/>
          <a:lstStyle/>
          <a:p>
            <a:pPr indent="0" algn="l">
              <a:lnSpc>
                <a:spcPct val="150000"/>
              </a:lnSpc>
              <a:defRPr/>
            </a:pPr>
            <a:r>
              <a:rPr lang="en-US" sz="800" b="1">
                <a:solidFill>
                  <a:srgbClr val="000000"/>
                </a:solidFill>
                <a:latin typeface="Poppins"/>
              </a:rPr>
              <a:t>Purpose</a:t>
            </a:r>
            <a:endParaRPr lang="en-US" sz="1100"/>
          </a:p>
        </p:txBody>
      </p:sp>
      <p:sp>
        <p:nvSpPr>
          <p:cNvPr id="62" name="TextBox 62"/>
          <p:cNvSpPr txBox="1"/>
          <p:nvPr/>
        </p:nvSpPr>
        <p:spPr>
          <a:xfrm>
            <a:off x="977900" y="1231900"/>
            <a:ext cx="5359400" cy="152400"/>
          </a:xfrm>
          <a:prstGeom prst="rect">
            <a:avLst/>
          </a:prstGeom>
          <a:solidFill>
            <a:srgbClr val="000000">
              <a:alpha val="0"/>
            </a:srgbClr>
          </a:solidFill>
        </p:spPr>
        <p:txBody>
          <a:bodyPr lIns="0" tIns="0" rIns="0" bIns="0" rtlCol="0" anchor="ctr"/>
          <a:lstStyle/>
          <a:p>
            <a:pPr indent="0" algn="l">
              <a:lnSpc>
                <a:spcPct val="150000"/>
              </a:lnSpc>
              <a:defRPr/>
            </a:pPr>
            <a:r>
              <a:rPr lang="en-US" sz="800" b="1">
                <a:solidFill>
                  <a:srgbClr val="000000"/>
                </a:solidFill>
                <a:latin typeface="Poppins"/>
              </a:rPr>
              <a:t>Physical Deviation (dx)</a:t>
            </a:r>
            <a:endParaRPr lang="en-US" sz="1100"/>
          </a:p>
        </p:txBody>
      </p:sp>
      <p:sp>
        <p:nvSpPr>
          <p:cNvPr id="63" name="TextBox 63"/>
          <p:cNvSpPr txBox="1"/>
          <p:nvPr/>
        </p:nvSpPr>
        <p:spPr>
          <a:xfrm>
            <a:off x="6515100" y="1231900"/>
            <a:ext cx="3213100" cy="482600"/>
          </a:xfrm>
          <a:prstGeom prst="rect">
            <a:avLst/>
          </a:prstGeom>
          <a:solidFill>
            <a:srgbClr val="000000">
              <a:alpha val="0"/>
            </a:srgbClr>
          </a:solidFill>
        </p:spPr>
        <p:txBody>
          <a:bodyPr lIns="0" tIns="0" rIns="0" bIns="0" rtlCol="0" anchor="ctr"/>
          <a:lstStyle/>
          <a:p>
            <a:pPr indent="0" algn="l">
              <a:lnSpc>
                <a:spcPct val="150000"/>
              </a:lnSpc>
              <a:defRPr/>
            </a:pPr>
            <a:r>
              <a:rPr lang="en-US" sz="800" b="1">
                <a:solidFill>
                  <a:srgbClr val="000000"/>
                </a:solidFill>
                <a:latin typeface="Poppins"/>
              </a:rPr>
              <a:t>Normalized distance from expected physical baseline</a:t>
            </a:r>
            <a:endParaRPr lang="en-US" sz="1100"/>
          </a:p>
        </p:txBody>
      </p:sp>
      <p:sp>
        <p:nvSpPr>
          <p:cNvPr id="64" name="TextBox 64"/>
          <p:cNvSpPr txBox="1"/>
          <p:nvPr/>
        </p:nvSpPr>
        <p:spPr>
          <a:xfrm>
            <a:off x="9918700" y="1231900"/>
            <a:ext cx="2006600" cy="152400"/>
          </a:xfrm>
          <a:prstGeom prst="rect">
            <a:avLst/>
          </a:prstGeom>
          <a:solidFill>
            <a:srgbClr val="000000">
              <a:alpha val="0"/>
            </a:srgbClr>
          </a:solidFill>
        </p:spPr>
        <p:txBody>
          <a:bodyPr lIns="0" tIns="0" rIns="0" bIns="0" rtlCol="0" anchor="ctr"/>
          <a:lstStyle/>
          <a:p>
            <a:pPr indent="0" algn="l">
              <a:lnSpc>
                <a:spcPct val="150000"/>
              </a:lnSpc>
              <a:defRPr/>
            </a:pPr>
            <a:r>
              <a:rPr lang="en-US" sz="800" b="1">
                <a:solidFill>
                  <a:srgbClr val="000000"/>
                </a:solidFill>
                <a:latin typeface="Poppins"/>
              </a:rPr>
              <a:t>Both modules</a:t>
            </a:r>
            <a:endParaRPr lang="en-US" sz="1100"/>
          </a:p>
        </p:txBody>
      </p:sp>
      <p:sp>
        <p:nvSpPr>
          <p:cNvPr id="65" name="TextBox 65"/>
          <p:cNvSpPr txBox="1"/>
          <p:nvPr/>
        </p:nvSpPr>
        <p:spPr>
          <a:xfrm>
            <a:off x="12103100" y="1231900"/>
            <a:ext cx="3149600" cy="635000"/>
          </a:xfrm>
          <a:prstGeom prst="rect">
            <a:avLst/>
          </a:prstGeom>
          <a:solidFill>
            <a:srgbClr val="000000">
              <a:alpha val="0"/>
            </a:srgbClr>
          </a:solidFill>
        </p:spPr>
        <p:txBody>
          <a:bodyPr lIns="0" tIns="0" rIns="0" bIns="0" rtlCol="0" anchor="ctr"/>
          <a:lstStyle/>
          <a:p>
            <a:pPr indent="0" algn="l">
              <a:lnSpc>
                <a:spcPct val="150000"/>
              </a:lnSpc>
              <a:defRPr/>
            </a:pPr>
            <a:r>
              <a:rPr lang="en-US" sz="800" b="1">
                <a:solidFill>
                  <a:srgbClr val="000000"/>
                </a:solidFill>
                <a:latin typeface="Poppins"/>
              </a:rPr>
              <a:t>Quantifies how far voltage, current, frequency deviate from normal</a:t>
            </a:r>
            <a:endParaRPr lang="en-US" sz="1100"/>
          </a:p>
        </p:txBody>
      </p:sp>
      <p:sp>
        <p:nvSpPr>
          <p:cNvPr id="66" name="TextBox 66"/>
          <p:cNvSpPr txBox="1"/>
          <p:nvPr/>
        </p:nvSpPr>
        <p:spPr>
          <a:xfrm>
            <a:off x="977900" y="1955800"/>
            <a:ext cx="5359400" cy="152400"/>
          </a:xfrm>
          <a:prstGeom prst="rect">
            <a:avLst/>
          </a:prstGeom>
          <a:solidFill>
            <a:srgbClr val="000000">
              <a:alpha val="0"/>
            </a:srgbClr>
          </a:solidFill>
        </p:spPr>
        <p:txBody>
          <a:bodyPr lIns="0" tIns="0" rIns="0" bIns="0" rtlCol="0" anchor="ctr"/>
          <a:lstStyle/>
          <a:p>
            <a:pPr indent="0" algn="l">
              <a:lnSpc>
                <a:spcPct val="150000"/>
              </a:lnSpc>
              <a:defRPr/>
            </a:pPr>
            <a:r>
              <a:rPr lang="en-US" sz="800" b="1">
                <a:solidFill>
                  <a:srgbClr val="000000"/>
                </a:solidFill>
                <a:latin typeface="Poppins"/>
              </a:rPr>
              <a:t>Cyber Deviation (dy)</a:t>
            </a:r>
            <a:endParaRPr lang="en-US" sz="1100"/>
          </a:p>
        </p:txBody>
      </p:sp>
      <p:sp>
        <p:nvSpPr>
          <p:cNvPr id="67" name="TextBox 67"/>
          <p:cNvSpPr txBox="1"/>
          <p:nvPr/>
        </p:nvSpPr>
        <p:spPr>
          <a:xfrm>
            <a:off x="6515100" y="1955800"/>
            <a:ext cx="3213100" cy="482600"/>
          </a:xfrm>
          <a:prstGeom prst="rect">
            <a:avLst/>
          </a:prstGeom>
          <a:solidFill>
            <a:srgbClr val="000000">
              <a:alpha val="0"/>
            </a:srgbClr>
          </a:solidFill>
        </p:spPr>
        <p:txBody>
          <a:bodyPr lIns="0" tIns="0" rIns="0" bIns="0" rtlCol="0" anchor="ctr"/>
          <a:lstStyle/>
          <a:p>
            <a:pPr indent="0" algn="l">
              <a:lnSpc>
                <a:spcPct val="150000"/>
              </a:lnSpc>
              <a:defRPr/>
            </a:pPr>
            <a:r>
              <a:rPr lang="en-US" sz="800" b="1">
                <a:solidFill>
                  <a:srgbClr val="000000"/>
                </a:solidFill>
                <a:latin typeface="Poppins"/>
              </a:rPr>
              <a:t>Normalized distance from expected cyber baseline</a:t>
            </a:r>
            <a:endParaRPr lang="en-US" sz="1100"/>
          </a:p>
        </p:txBody>
      </p:sp>
      <p:sp>
        <p:nvSpPr>
          <p:cNvPr id="68" name="TextBox 68"/>
          <p:cNvSpPr txBox="1"/>
          <p:nvPr/>
        </p:nvSpPr>
        <p:spPr>
          <a:xfrm>
            <a:off x="9918700" y="1955800"/>
            <a:ext cx="2006600" cy="152400"/>
          </a:xfrm>
          <a:prstGeom prst="rect">
            <a:avLst/>
          </a:prstGeom>
          <a:solidFill>
            <a:srgbClr val="000000">
              <a:alpha val="0"/>
            </a:srgbClr>
          </a:solidFill>
        </p:spPr>
        <p:txBody>
          <a:bodyPr lIns="0" tIns="0" rIns="0" bIns="0" rtlCol="0" anchor="ctr"/>
          <a:lstStyle/>
          <a:p>
            <a:pPr indent="0" algn="l">
              <a:lnSpc>
                <a:spcPct val="150000"/>
              </a:lnSpc>
              <a:defRPr/>
            </a:pPr>
            <a:r>
              <a:rPr lang="en-US" sz="800" b="1">
                <a:solidFill>
                  <a:srgbClr val="000000"/>
                </a:solidFill>
                <a:latin typeface="Poppins"/>
              </a:rPr>
              <a:t>Both modules</a:t>
            </a:r>
            <a:endParaRPr lang="en-US" sz="1100"/>
          </a:p>
        </p:txBody>
      </p:sp>
      <p:sp>
        <p:nvSpPr>
          <p:cNvPr id="69" name="TextBox 69"/>
          <p:cNvSpPr txBox="1"/>
          <p:nvPr/>
        </p:nvSpPr>
        <p:spPr>
          <a:xfrm>
            <a:off x="12103100" y="1955800"/>
            <a:ext cx="3149600" cy="635000"/>
          </a:xfrm>
          <a:prstGeom prst="rect">
            <a:avLst/>
          </a:prstGeom>
          <a:solidFill>
            <a:srgbClr val="000000">
              <a:alpha val="0"/>
            </a:srgbClr>
          </a:solidFill>
        </p:spPr>
        <p:txBody>
          <a:bodyPr lIns="0" tIns="0" rIns="0" bIns="0" rtlCol="0" anchor="ctr"/>
          <a:lstStyle/>
          <a:p>
            <a:pPr indent="0" algn="l">
              <a:lnSpc>
                <a:spcPct val="150000"/>
              </a:lnSpc>
              <a:defRPr/>
            </a:pPr>
            <a:r>
              <a:rPr lang="en-US" sz="800" b="1">
                <a:solidFill>
                  <a:srgbClr val="000000"/>
                </a:solidFill>
                <a:latin typeface="Poppins"/>
              </a:rPr>
              <a:t>Quantifies latency, packet loss, communication anomalies</a:t>
            </a:r>
            <a:endParaRPr lang="en-US" sz="1100"/>
          </a:p>
        </p:txBody>
      </p:sp>
      <p:sp>
        <p:nvSpPr>
          <p:cNvPr id="70" name="TextBox 70"/>
          <p:cNvSpPr txBox="1"/>
          <p:nvPr/>
        </p:nvSpPr>
        <p:spPr>
          <a:xfrm>
            <a:off x="977900" y="2667000"/>
            <a:ext cx="5359400" cy="152400"/>
          </a:xfrm>
          <a:prstGeom prst="rect">
            <a:avLst/>
          </a:prstGeom>
          <a:solidFill>
            <a:srgbClr val="000000">
              <a:alpha val="0"/>
            </a:srgbClr>
          </a:solidFill>
        </p:spPr>
        <p:txBody>
          <a:bodyPr lIns="0" tIns="0" rIns="0" bIns="0" rtlCol="0" anchor="ctr"/>
          <a:lstStyle/>
          <a:p>
            <a:pPr indent="0" algn="l">
              <a:lnSpc>
                <a:spcPct val="150000"/>
              </a:lnSpc>
              <a:defRPr/>
            </a:pPr>
            <a:r>
              <a:rPr lang="en-US" sz="800" b="1">
                <a:solidFill>
                  <a:srgbClr val="000000"/>
                </a:solidFill>
                <a:latin typeface="Poppins"/>
              </a:rPr>
              <a:t>Anomaly Score Si(t) = wi(dx + dy)</a:t>
            </a:r>
            <a:endParaRPr lang="en-US" sz="1100"/>
          </a:p>
        </p:txBody>
      </p:sp>
      <p:sp>
        <p:nvSpPr>
          <p:cNvPr id="71" name="TextBox 71"/>
          <p:cNvSpPr txBox="1"/>
          <p:nvPr/>
        </p:nvSpPr>
        <p:spPr>
          <a:xfrm>
            <a:off x="6515100" y="2667000"/>
            <a:ext cx="3213100" cy="482600"/>
          </a:xfrm>
          <a:prstGeom prst="rect">
            <a:avLst/>
          </a:prstGeom>
          <a:solidFill>
            <a:srgbClr val="000000">
              <a:alpha val="0"/>
            </a:srgbClr>
          </a:solidFill>
        </p:spPr>
        <p:txBody>
          <a:bodyPr lIns="0" tIns="0" rIns="0" bIns="0" rtlCol="0" anchor="ctr"/>
          <a:lstStyle/>
          <a:p>
            <a:pPr indent="0" algn="l">
              <a:lnSpc>
                <a:spcPct val="150000"/>
              </a:lnSpc>
              <a:defRPr/>
            </a:pPr>
            <a:r>
              <a:rPr lang="en-US" sz="800" b="1">
                <a:solidFill>
                  <a:srgbClr val="000000"/>
                </a:solidFill>
                <a:latin typeface="Poppins"/>
              </a:rPr>
              <a:t>Weighted sum of physical and cyber deviations</a:t>
            </a:r>
            <a:endParaRPr lang="en-US" sz="1100"/>
          </a:p>
        </p:txBody>
      </p:sp>
      <p:sp>
        <p:nvSpPr>
          <p:cNvPr id="72" name="TextBox 72"/>
          <p:cNvSpPr txBox="1"/>
          <p:nvPr/>
        </p:nvSpPr>
        <p:spPr>
          <a:xfrm>
            <a:off x="9918700" y="2667000"/>
            <a:ext cx="2006600" cy="635000"/>
          </a:xfrm>
          <a:prstGeom prst="rect">
            <a:avLst/>
          </a:prstGeom>
          <a:solidFill>
            <a:srgbClr val="000000">
              <a:alpha val="0"/>
            </a:srgbClr>
          </a:solidFill>
        </p:spPr>
        <p:txBody>
          <a:bodyPr lIns="0" tIns="0" rIns="0" bIns="0" rtlCol="0" anchor="ctr"/>
          <a:lstStyle/>
          <a:p>
            <a:pPr indent="0" algn="l">
              <a:lnSpc>
                <a:spcPct val="150000"/>
              </a:lnSpc>
              <a:defRPr/>
            </a:pPr>
            <a:r>
              <a:rPr lang="en-US" sz="800" b="1">
                <a:solidFill>
                  <a:srgbClr val="000000"/>
                </a:solidFill>
                <a:latin typeface="Poppins"/>
              </a:rPr>
              <a:t>Rapid SCADA Live, Experiment Running</a:t>
            </a:r>
            <a:endParaRPr lang="en-US" sz="1100"/>
          </a:p>
        </p:txBody>
      </p:sp>
      <p:sp>
        <p:nvSpPr>
          <p:cNvPr id="73" name="TextBox 73"/>
          <p:cNvSpPr txBox="1"/>
          <p:nvPr/>
        </p:nvSpPr>
        <p:spPr>
          <a:xfrm>
            <a:off x="12103100" y="2667000"/>
            <a:ext cx="3149600" cy="482600"/>
          </a:xfrm>
          <a:prstGeom prst="rect">
            <a:avLst/>
          </a:prstGeom>
          <a:solidFill>
            <a:srgbClr val="000000">
              <a:alpha val="0"/>
            </a:srgbClr>
          </a:solidFill>
        </p:spPr>
        <p:txBody>
          <a:bodyPr lIns="0" tIns="0" rIns="0" bIns="0" rtlCol="0" anchor="ctr"/>
          <a:lstStyle/>
          <a:p>
            <a:pPr indent="0" algn="l">
              <a:lnSpc>
                <a:spcPct val="150000"/>
              </a:lnSpc>
              <a:defRPr/>
            </a:pPr>
            <a:r>
              <a:rPr lang="en-US" sz="800" b="1">
                <a:solidFill>
                  <a:srgbClr val="000000"/>
                </a:solidFill>
                <a:latin typeface="Poppins"/>
              </a:rPr>
              <a:t>Combines both domains into single interpretable risk metric</a:t>
            </a:r>
            <a:endParaRPr lang="en-US" sz="1100"/>
          </a:p>
        </p:txBody>
      </p:sp>
      <p:sp>
        <p:nvSpPr>
          <p:cNvPr id="74" name="TextBox 74"/>
          <p:cNvSpPr txBox="1"/>
          <p:nvPr/>
        </p:nvSpPr>
        <p:spPr>
          <a:xfrm>
            <a:off x="977900" y="3390900"/>
            <a:ext cx="5359400" cy="152400"/>
          </a:xfrm>
          <a:prstGeom prst="rect">
            <a:avLst/>
          </a:prstGeom>
          <a:solidFill>
            <a:srgbClr val="000000">
              <a:alpha val="0"/>
            </a:srgbClr>
          </a:solidFill>
        </p:spPr>
        <p:txBody>
          <a:bodyPr lIns="0" tIns="0" rIns="0" bIns="0" rtlCol="0" anchor="ctr"/>
          <a:lstStyle/>
          <a:p>
            <a:pPr indent="0" algn="l">
              <a:lnSpc>
                <a:spcPct val="150000"/>
              </a:lnSpc>
              <a:defRPr/>
            </a:pPr>
            <a:r>
              <a:rPr lang="en-US" sz="800" b="1">
                <a:solidFill>
                  <a:srgbClr val="000000"/>
                </a:solidFill>
                <a:latin typeface="Poppins"/>
              </a:rPr>
              <a:t>Threshold Rule</a:t>
            </a:r>
            <a:endParaRPr lang="en-US" sz="1100"/>
          </a:p>
        </p:txBody>
      </p:sp>
      <p:sp>
        <p:nvSpPr>
          <p:cNvPr id="75" name="TextBox 75"/>
          <p:cNvSpPr txBox="1"/>
          <p:nvPr/>
        </p:nvSpPr>
        <p:spPr>
          <a:xfrm>
            <a:off x="6515100" y="3390900"/>
            <a:ext cx="3213100" cy="482600"/>
          </a:xfrm>
          <a:prstGeom prst="rect">
            <a:avLst/>
          </a:prstGeom>
          <a:solidFill>
            <a:srgbClr val="000000">
              <a:alpha val="0"/>
            </a:srgbClr>
          </a:solidFill>
        </p:spPr>
        <p:txBody>
          <a:bodyPr lIns="0" tIns="0" rIns="0" bIns="0" rtlCol="0" anchor="ctr"/>
          <a:lstStyle/>
          <a:p>
            <a:pPr indent="0" algn="l">
              <a:lnSpc>
                <a:spcPct val="150000"/>
              </a:lnSpc>
              <a:defRPr/>
            </a:pPr>
            <a:r>
              <a:rPr lang="en-US" sz="800" b="1">
                <a:solidFill>
                  <a:srgbClr val="000000"/>
                </a:solidFill>
                <a:latin typeface="Poppins"/>
              </a:rPr>
              <a:t>If Si(t) &gt; threshold then INCREASE AUDIT else MAINTAIN AUDIT</a:t>
            </a:r>
            <a:endParaRPr lang="en-US" sz="1100"/>
          </a:p>
        </p:txBody>
      </p:sp>
      <p:sp>
        <p:nvSpPr>
          <p:cNvPr id="76" name="TextBox 76"/>
          <p:cNvSpPr txBox="1"/>
          <p:nvPr/>
        </p:nvSpPr>
        <p:spPr>
          <a:xfrm>
            <a:off x="9918700" y="3390900"/>
            <a:ext cx="2006600" cy="317500"/>
          </a:xfrm>
          <a:prstGeom prst="rect">
            <a:avLst/>
          </a:prstGeom>
          <a:solidFill>
            <a:srgbClr val="000000">
              <a:alpha val="0"/>
            </a:srgbClr>
          </a:solidFill>
        </p:spPr>
        <p:txBody>
          <a:bodyPr lIns="0" tIns="0" rIns="0" bIns="0" rtlCol="0" anchor="ctr"/>
          <a:lstStyle/>
          <a:p>
            <a:pPr indent="0" algn="l">
              <a:lnSpc>
                <a:spcPct val="150000"/>
              </a:lnSpc>
              <a:defRPr/>
            </a:pPr>
            <a:r>
              <a:rPr lang="en-US" sz="800" b="1">
                <a:solidFill>
                  <a:srgbClr val="000000"/>
                </a:solidFill>
                <a:latin typeface="Poppins"/>
              </a:rPr>
              <a:t>Rapid SCADA Live</a:t>
            </a:r>
            <a:endParaRPr lang="en-US" sz="1100"/>
          </a:p>
        </p:txBody>
      </p:sp>
      <p:sp>
        <p:nvSpPr>
          <p:cNvPr id="77" name="TextBox 77"/>
          <p:cNvSpPr txBox="1"/>
          <p:nvPr/>
        </p:nvSpPr>
        <p:spPr>
          <a:xfrm>
            <a:off x="12103100" y="3390900"/>
            <a:ext cx="3149600" cy="482600"/>
          </a:xfrm>
          <a:prstGeom prst="rect">
            <a:avLst/>
          </a:prstGeom>
          <a:solidFill>
            <a:srgbClr val="000000">
              <a:alpha val="0"/>
            </a:srgbClr>
          </a:solidFill>
        </p:spPr>
        <p:txBody>
          <a:bodyPr lIns="0" tIns="0" rIns="0" bIns="0" rtlCol="0" anchor="ctr"/>
          <a:lstStyle/>
          <a:p>
            <a:pPr indent="0" algn="l">
              <a:lnSpc>
                <a:spcPct val="150000"/>
              </a:lnSpc>
              <a:defRPr/>
            </a:pPr>
            <a:r>
              <a:rPr lang="en-US" sz="800" b="1">
                <a:solidFill>
                  <a:srgbClr val="000000"/>
                </a:solidFill>
                <a:latin typeface="Poppins"/>
              </a:rPr>
              <a:t>Determines audit escalation requirement based on score</a:t>
            </a:r>
            <a:endParaRPr lang="en-US" sz="1100"/>
          </a:p>
        </p:txBody>
      </p:sp>
      <p:sp>
        <p:nvSpPr>
          <p:cNvPr id="78" name="TextBox 78"/>
          <p:cNvSpPr txBox="1"/>
          <p:nvPr/>
        </p:nvSpPr>
        <p:spPr>
          <a:xfrm>
            <a:off x="977900" y="3949700"/>
            <a:ext cx="5359400" cy="152400"/>
          </a:xfrm>
          <a:prstGeom prst="rect">
            <a:avLst/>
          </a:prstGeom>
          <a:solidFill>
            <a:srgbClr val="000000">
              <a:alpha val="0"/>
            </a:srgbClr>
          </a:solidFill>
        </p:spPr>
        <p:txBody>
          <a:bodyPr lIns="0" tIns="0" rIns="0" bIns="0" rtlCol="0" anchor="ctr"/>
          <a:lstStyle/>
          <a:p>
            <a:pPr indent="0" algn="l">
              <a:lnSpc>
                <a:spcPct val="150000"/>
              </a:lnSpc>
              <a:defRPr/>
            </a:pPr>
            <a:r>
              <a:rPr lang="en-US" sz="800" b="1">
                <a:solidFill>
                  <a:srgbClr val="000000"/>
                </a:solidFill>
                <a:latin typeface="Poppins"/>
              </a:rPr>
              <a:t>Risk Mitigation</a:t>
            </a:r>
            <a:endParaRPr lang="en-US" sz="1100"/>
          </a:p>
        </p:txBody>
      </p:sp>
      <p:sp>
        <p:nvSpPr>
          <p:cNvPr id="79" name="TextBox 79"/>
          <p:cNvSpPr txBox="1"/>
          <p:nvPr/>
        </p:nvSpPr>
        <p:spPr>
          <a:xfrm>
            <a:off x="6515100" y="3949700"/>
            <a:ext cx="3213100" cy="482600"/>
          </a:xfrm>
          <a:prstGeom prst="rect">
            <a:avLst/>
          </a:prstGeom>
          <a:solidFill>
            <a:srgbClr val="000000">
              <a:alpha val="0"/>
            </a:srgbClr>
          </a:solidFill>
        </p:spPr>
        <p:txBody>
          <a:bodyPr lIns="0" tIns="0" rIns="0" bIns="0" rtlCol="0" anchor="ctr"/>
          <a:lstStyle/>
          <a:p>
            <a:pPr indent="0" algn="l">
              <a:lnSpc>
                <a:spcPct val="150000"/>
              </a:lnSpc>
              <a:defRPr/>
            </a:pPr>
            <a:r>
              <a:rPr lang="en-US" sz="800" b="1">
                <a:solidFill>
                  <a:srgbClr val="000000"/>
                </a:solidFill>
                <a:latin typeface="Poppins"/>
              </a:rPr>
              <a:t>Percentage of high-risk events prevented or mitigated</a:t>
            </a:r>
            <a:endParaRPr lang="en-US" sz="1100"/>
          </a:p>
        </p:txBody>
      </p:sp>
      <p:sp>
        <p:nvSpPr>
          <p:cNvPr id="80" name="TextBox 80"/>
          <p:cNvSpPr txBox="1"/>
          <p:nvPr/>
        </p:nvSpPr>
        <p:spPr>
          <a:xfrm>
            <a:off x="9918700" y="3949700"/>
            <a:ext cx="2006600" cy="482600"/>
          </a:xfrm>
          <a:prstGeom prst="rect">
            <a:avLst/>
          </a:prstGeom>
          <a:solidFill>
            <a:srgbClr val="000000">
              <a:alpha val="0"/>
            </a:srgbClr>
          </a:solidFill>
        </p:spPr>
        <p:txBody>
          <a:bodyPr lIns="0" tIns="0" rIns="0" bIns="0" rtlCol="0" anchor="ctr"/>
          <a:lstStyle/>
          <a:p>
            <a:pPr indent="0" algn="l">
              <a:lnSpc>
                <a:spcPct val="150000"/>
              </a:lnSpc>
              <a:defRPr/>
            </a:pPr>
            <a:r>
              <a:rPr lang="en-US" sz="800" b="1">
                <a:solidFill>
                  <a:srgbClr val="000000"/>
                </a:solidFill>
                <a:latin typeface="Poppins"/>
              </a:rPr>
              <a:t>Experiment Running evaluation</a:t>
            </a:r>
            <a:endParaRPr lang="en-US" sz="1100"/>
          </a:p>
        </p:txBody>
      </p:sp>
      <p:sp>
        <p:nvSpPr>
          <p:cNvPr id="81" name="TextBox 81"/>
          <p:cNvSpPr txBox="1"/>
          <p:nvPr/>
        </p:nvSpPr>
        <p:spPr>
          <a:xfrm>
            <a:off x="12103100" y="3949700"/>
            <a:ext cx="3149600" cy="482600"/>
          </a:xfrm>
          <a:prstGeom prst="rect">
            <a:avLst/>
          </a:prstGeom>
          <a:solidFill>
            <a:srgbClr val="000000">
              <a:alpha val="0"/>
            </a:srgbClr>
          </a:solidFill>
        </p:spPr>
        <p:txBody>
          <a:bodyPr lIns="0" tIns="0" rIns="0" bIns="0" rtlCol="0" anchor="ctr"/>
          <a:lstStyle/>
          <a:p>
            <a:pPr indent="0" algn="l">
              <a:lnSpc>
                <a:spcPct val="150000"/>
              </a:lnSpc>
              <a:defRPr/>
            </a:pPr>
            <a:r>
              <a:rPr lang="en-US" sz="800" b="1">
                <a:solidFill>
                  <a:srgbClr val="000000"/>
                </a:solidFill>
                <a:latin typeface="Poppins"/>
              </a:rPr>
              <a:t>Measures effectiveness in reducing operational risk exposure</a:t>
            </a:r>
            <a:endParaRPr lang="en-US" sz="1100"/>
          </a:p>
        </p:txBody>
      </p:sp>
      <p:sp>
        <p:nvSpPr>
          <p:cNvPr id="82" name="TextBox 82"/>
          <p:cNvSpPr txBox="1"/>
          <p:nvPr/>
        </p:nvSpPr>
        <p:spPr>
          <a:xfrm>
            <a:off x="977900" y="4508500"/>
            <a:ext cx="5359400" cy="152400"/>
          </a:xfrm>
          <a:prstGeom prst="rect">
            <a:avLst/>
          </a:prstGeom>
          <a:solidFill>
            <a:srgbClr val="000000">
              <a:alpha val="0"/>
            </a:srgbClr>
          </a:solidFill>
        </p:spPr>
        <p:txBody>
          <a:bodyPr lIns="0" tIns="0" rIns="0" bIns="0" rtlCol="0" anchor="ctr"/>
          <a:lstStyle/>
          <a:p>
            <a:pPr indent="0" algn="l">
              <a:lnSpc>
                <a:spcPct val="150000"/>
              </a:lnSpc>
              <a:defRPr/>
            </a:pPr>
            <a:r>
              <a:rPr lang="en-US" sz="800" b="1">
                <a:solidFill>
                  <a:srgbClr val="000000"/>
                </a:solidFill>
                <a:latin typeface="Poppins"/>
              </a:rPr>
              <a:t>Cost Efficiency</a:t>
            </a:r>
            <a:endParaRPr lang="en-US" sz="1100"/>
          </a:p>
        </p:txBody>
      </p:sp>
      <p:sp>
        <p:nvSpPr>
          <p:cNvPr id="83" name="TextBox 83"/>
          <p:cNvSpPr txBox="1"/>
          <p:nvPr/>
        </p:nvSpPr>
        <p:spPr>
          <a:xfrm>
            <a:off x="6515100" y="4508500"/>
            <a:ext cx="3213100" cy="482600"/>
          </a:xfrm>
          <a:prstGeom prst="rect">
            <a:avLst/>
          </a:prstGeom>
          <a:solidFill>
            <a:srgbClr val="000000">
              <a:alpha val="0"/>
            </a:srgbClr>
          </a:solidFill>
        </p:spPr>
        <p:txBody>
          <a:bodyPr lIns="0" tIns="0" rIns="0" bIns="0" rtlCol="0" anchor="ctr"/>
          <a:lstStyle/>
          <a:p>
            <a:pPr indent="0" algn="l">
              <a:lnSpc>
                <a:spcPct val="150000"/>
              </a:lnSpc>
              <a:defRPr/>
            </a:pPr>
            <a:r>
              <a:rPr lang="en-US" sz="800" b="1">
                <a:solidFill>
                  <a:srgbClr val="000000"/>
                </a:solidFill>
                <a:latin typeface="Poppins"/>
              </a:rPr>
              <a:t>Ratio of audit resources saved to baseline audit cost</a:t>
            </a:r>
            <a:endParaRPr lang="en-US" sz="1100"/>
          </a:p>
        </p:txBody>
      </p:sp>
      <p:sp>
        <p:nvSpPr>
          <p:cNvPr id="84" name="TextBox 84"/>
          <p:cNvSpPr txBox="1"/>
          <p:nvPr/>
        </p:nvSpPr>
        <p:spPr>
          <a:xfrm>
            <a:off x="9918700" y="4508500"/>
            <a:ext cx="2006600" cy="482600"/>
          </a:xfrm>
          <a:prstGeom prst="rect">
            <a:avLst/>
          </a:prstGeom>
          <a:solidFill>
            <a:srgbClr val="000000">
              <a:alpha val="0"/>
            </a:srgbClr>
          </a:solidFill>
        </p:spPr>
        <p:txBody>
          <a:bodyPr lIns="0" tIns="0" rIns="0" bIns="0" rtlCol="0" anchor="ctr"/>
          <a:lstStyle/>
          <a:p>
            <a:pPr indent="0" algn="l">
              <a:lnSpc>
                <a:spcPct val="150000"/>
              </a:lnSpc>
              <a:defRPr/>
            </a:pPr>
            <a:r>
              <a:rPr lang="en-US" sz="800" b="1">
                <a:solidFill>
                  <a:srgbClr val="000000"/>
                </a:solidFill>
                <a:latin typeface="Poppins"/>
              </a:rPr>
              <a:t>Experiment Running evaluation</a:t>
            </a:r>
            <a:endParaRPr lang="en-US" sz="1100"/>
          </a:p>
        </p:txBody>
      </p:sp>
      <p:sp>
        <p:nvSpPr>
          <p:cNvPr id="85" name="TextBox 85"/>
          <p:cNvSpPr txBox="1"/>
          <p:nvPr/>
        </p:nvSpPr>
        <p:spPr>
          <a:xfrm>
            <a:off x="12103100" y="4508500"/>
            <a:ext cx="3149600" cy="635000"/>
          </a:xfrm>
          <a:prstGeom prst="rect">
            <a:avLst/>
          </a:prstGeom>
          <a:solidFill>
            <a:srgbClr val="000000">
              <a:alpha val="0"/>
            </a:srgbClr>
          </a:solidFill>
        </p:spPr>
        <p:txBody>
          <a:bodyPr lIns="0" tIns="0" rIns="0" bIns="0" rtlCol="0" anchor="ctr"/>
          <a:lstStyle/>
          <a:p>
            <a:pPr indent="0" algn="l">
              <a:lnSpc>
                <a:spcPct val="150000"/>
              </a:lnSpc>
              <a:defRPr/>
            </a:pPr>
            <a:r>
              <a:rPr lang="en-US" sz="800" b="1">
                <a:solidFill>
                  <a:srgbClr val="000000"/>
                </a:solidFill>
                <a:latin typeface="Poppins"/>
              </a:rPr>
              <a:t>Quantifies operational cost savings from intelligent audit allocation</a:t>
            </a:r>
            <a:endParaRPr lang="en-US" sz="1100"/>
          </a:p>
        </p:txBody>
      </p:sp>
      <p:sp>
        <p:nvSpPr>
          <p:cNvPr id="86" name="TextBox 86"/>
          <p:cNvSpPr txBox="1"/>
          <p:nvPr/>
        </p:nvSpPr>
        <p:spPr>
          <a:xfrm>
            <a:off x="977900" y="5232400"/>
            <a:ext cx="5359400" cy="152400"/>
          </a:xfrm>
          <a:prstGeom prst="rect">
            <a:avLst/>
          </a:prstGeom>
          <a:solidFill>
            <a:srgbClr val="000000">
              <a:alpha val="0"/>
            </a:srgbClr>
          </a:solidFill>
        </p:spPr>
        <p:txBody>
          <a:bodyPr lIns="0" tIns="0" rIns="0" bIns="0" rtlCol="0" anchor="ctr"/>
          <a:lstStyle/>
          <a:p>
            <a:pPr indent="0" algn="l">
              <a:lnSpc>
                <a:spcPct val="150000"/>
              </a:lnSpc>
              <a:defRPr/>
            </a:pPr>
            <a:r>
              <a:rPr lang="en-US" sz="800" b="1">
                <a:solidFill>
                  <a:srgbClr val="000000"/>
                </a:solidFill>
                <a:latin typeface="Poppins"/>
              </a:rPr>
              <a:t>Attack Rate Reduction</a:t>
            </a:r>
            <a:endParaRPr lang="en-US" sz="1100"/>
          </a:p>
        </p:txBody>
      </p:sp>
      <p:sp>
        <p:nvSpPr>
          <p:cNvPr id="87" name="TextBox 87"/>
          <p:cNvSpPr txBox="1"/>
          <p:nvPr/>
        </p:nvSpPr>
        <p:spPr>
          <a:xfrm>
            <a:off x="6515100" y="5232400"/>
            <a:ext cx="3213100" cy="482600"/>
          </a:xfrm>
          <a:prstGeom prst="rect">
            <a:avLst/>
          </a:prstGeom>
          <a:solidFill>
            <a:srgbClr val="000000">
              <a:alpha val="0"/>
            </a:srgbClr>
          </a:solidFill>
        </p:spPr>
        <p:txBody>
          <a:bodyPr lIns="0" tIns="0" rIns="0" bIns="0" rtlCol="0" anchor="ctr"/>
          <a:lstStyle/>
          <a:p>
            <a:pPr indent="0" algn="l">
              <a:lnSpc>
                <a:spcPct val="150000"/>
              </a:lnSpc>
              <a:defRPr/>
            </a:pPr>
            <a:r>
              <a:rPr lang="en-US" sz="800" b="1">
                <a:solidFill>
                  <a:srgbClr val="000000"/>
                </a:solidFill>
                <a:latin typeface="Poppins"/>
              </a:rPr>
              <a:t>Percentage decrease in successful attack events vs baseline</a:t>
            </a:r>
            <a:endParaRPr lang="en-US" sz="1100"/>
          </a:p>
        </p:txBody>
      </p:sp>
      <p:sp>
        <p:nvSpPr>
          <p:cNvPr id="88" name="TextBox 88"/>
          <p:cNvSpPr txBox="1"/>
          <p:nvPr/>
        </p:nvSpPr>
        <p:spPr>
          <a:xfrm>
            <a:off x="9918700" y="5232400"/>
            <a:ext cx="2006600" cy="482600"/>
          </a:xfrm>
          <a:prstGeom prst="rect">
            <a:avLst/>
          </a:prstGeom>
          <a:solidFill>
            <a:srgbClr val="000000">
              <a:alpha val="0"/>
            </a:srgbClr>
          </a:solidFill>
        </p:spPr>
        <p:txBody>
          <a:bodyPr lIns="0" tIns="0" rIns="0" bIns="0" rtlCol="0" anchor="ctr"/>
          <a:lstStyle/>
          <a:p>
            <a:pPr indent="0" algn="l">
              <a:lnSpc>
                <a:spcPct val="150000"/>
              </a:lnSpc>
              <a:defRPr/>
            </a:pPr>
            <a:r>
              <a:rPr lang="en-US" sz="800" b="1">
                <a:solidFill>
                  <a:srgbClr val="000000"/>
                </a:solidFill>
                <a:latin typeface="Poppins"/>
              </a:rPr>
              <a:t>Experiment Running evaluation</a:t>
            </a:r>
            <a:endParaRPr lang="en-US" sz="1100"/>
          </a:p>
        </p:txBody>
      </p:sp>
      <p:sp>
        <p:nvSpPr>
          <p:cNvPr id="89" name="TextBox 89"/>
          <p:cNvSpPr txBox="1"/>
          <p:nvPr/>
        </p:nvSpPr>
        <p:spPr>
          <a:xfrm>
            <a:off x="12103100" y="5232400"/>
            <a:ext cx="3149600" cy="482600"/>
          </a:xfrm>
          <a:prstGeom prst="rect">
            <a:avLst/>
          </a:prstGeom>
          <a:solidFill>
            <a:srgbClr val="000000">
              <a:alpha val="0"/>
            </a:srgbClr>
          </a:solidFill>
        </p:spPr>
        <p:txBody>
          <a:bodyPr lIns="0" tIns="0" rIns="0" bIns="0" rtlCol="0" anchor="ctr"/>
          <a:lstStyle/>
          <a:p>
            <a:pPr indent="0" algn="l">
              <a:lnSpc>
                <a:spcPct val="150000"/>
              </a:lnSpc>
              <a:defRPr/>
            </a:pPr>
            <a:r>
              <a:rPr lang="en-US" sz="800" b="1">
                <a:solidFill>
                  <a:srgbClr val="000000"/>
                </a:solidFill>
                <a:latin typeface="Poppins"/>
              </a:rPr>
              <a:t>Measures security improvement from framework deployment</a:t>
            </a:r>
            <a:endParaRPr lang="en-US" sz="1100"/>
          </a:p>
        </p:txBody>
      </p:sp>
      <p:sp>
        <p:nvSpPr>
          <p:cNvPr id="90" name="TextBox 90"/>
          <p:cNvSpPr txBox="1"/>
          <p:nvPr/>
        </p:nvSpPr>
        <p:spPr>
          <a:xfrm>
            <a:off x="977900" y="5791200"/>
            <a:ext cx="5359400" cy="152400"/>
          </a:xfrm>
          <a:prstGeom prst="rect">
            <a:avLst/>
          </a:prstGeom>
          <a:solidFill>
            <a:srgbClr val="000000">
              <a:alpha val="0"/>
            </a:srgbClr>
          </a:solidFill>
        </p:spPr>
        <p:txBody>
          <a:bodyPr lIns="0" tIns="0" rIns="0" bIns="0" rtlCol="0" anchor="ctr"/>
          <a:lstStyle/>
          <a:p>
            <a:pPr indent="0" algn="l">
              <a:lnSpc>
                <a:spcPct val="150000"/>
              </a:lnSpc>
              <a:defRPr/>
            </a:pPr>
            <a:r>
              <a:rPr lang="en-US" sz="800" b="1">
                <a:solidFill>
                  <a:srgbClr val="000000"/>
                </a:solidFill>
                <a:latin typeface="Poppins"/>
              </a:rPr>
              <a:t>Accuracy = (TP+TN)/(TP+TN+FP+FN)</a:t>
            </a:r>
            <a:endParaRPr lang="en-US" sz="1100"/>
          </a:p>
        </p:txBody>
      </p:sp>
      <p:sp>
        <p:nvSpPr>
          <p:cNvPr id="91" name="TextBox 91"/>
          <p:cNvSpPr txBox="1"/>
          <p:nvPr/>
        </p:nvSpPr>
        <p:spPr>
          <a:xfrm>
            <a:off x="6515100" y="5791200"/>
            <a:ext cx="3213100" cy="317500"/>
          </a:xfrm>
          <a:prstGeom prst="rect">
            <a:avLst/>
          </a:prstGeom>
          <a:solidFill>
            <a:srgbClr val="000000">
              <a:alpha val="0"/>
            </a:srgbClr>
          </a:solidFill>
        </p:spPr>
        <p:txBody>
          <a:bodyPr lIns="0" tIns="0" rIns="0" bIns="0" rtlCol="0" anchor="ctr"/>
          <a:lstStyle/>
          <a:p>
            <a:pPr indent="0" algn="l">
              <a:lnSpc>
                <a:spcPct val="150000"/>
              </a:lnSpc>
              <a:defRPr/>
            </a:pPr>
            <a:r>
              <a:rPr lang="en-US" sz="800" b="1">
                <a:solidFill>
                  <a:srgbClr val="000000"/>
                </a:solidFill>
                <a:latin typeface="Poppins"/>
              </a:rPr>
              <a:t>Overall correctness across all classes</a:t>
            </a:r>
            <a:endParaRPr lang="en-US" sz="1100"/>
          </a:p>
        </p:txBody>
      </p:sp>
      <p:sp>
        <p:nvSpPr>
          <p:cNvPr id="92" name="TextBox 92"/>
          <p:cNvSpPr txBox="1"/>
          <p:nvPr/>
        </p:nvSpPr>
        <p:spPr>
          <a:xfrm>
            <a:off x="9918700" y="5791200"/>
            <a:ext cx="2006600" cy="482600"/>
          </a:xfrm>
          <a:prstGeom prst="rect">
            <a:avLst/>
          </a:prstGeom>
          <a:solidFill>
            <a:srgbClr val="000000">
              <a:alpha val="0"/>
            </a:srgbClr>
          </a:solidFill>
        </p:spPr>
        <p:txBody>
          <a:bodyPr lIns="0" tIns="0" rIns="0" bIns="0" rtlCol="0" anchor="ctr"/>
          <a:lstStyle/>
          <a:p>
            <a:pPr indent="0" algn="l">
              <a:lnSpc>
                <a:spcPct val="150000"/>
              </a:lnSpc>
              <a:defRPr/>
            </a:pPr>
            <a:r>
              <a:rPr lang="en-US" sz="800" b="1">
                <a:solidFill>
                  <a:srgbClr val="000000"/>
                </a:solidFill>
                <a:latin typeface="Poppins"/>
              </a:rPr>
              <a:t>Experiment Running evaluation</a:t>
            </a:r>
            <a:endParaRPr lang="en-US" sz="1100"/>
          </a:p>
        </p:txBody>
      </p:sp>
      <p:sp>
        <p:nvSpPr>
          <p:cNvPr id="93" name="TextBox 93"/>
          <p:cNvSpPr txBox="1"/>
          <p:nvPr/>
        </p:nvSpPr>
        <p:spPr>
          <a:xfrm>
            <a:off x="12103100" y="5791200"/>
            <a:ext cx="3149600" cy="482600"/>
          </a:xfrm>
          <a:prstGeom prst="rect">
            <a:avLst/>
          </a:prstGeom>
          <a:solidFill>
            <a:srgbClr val="000000">
              <a:alpha val="0"/>
            </a:srgbClr>
          </a:solidFill>
        </p:spPr>
        <p:txBody>
          <a:bodyPr lIns="0" tIns="0" rIns="0" bIns="0" rtlCol="0" anchor="ctr"/>
          <a:lstStyle/>
          <a:p>
            <a:pPr indent="0" algn="l">
              <a:lnSpc>
                <a:spcPct val="150000"/>
              </a:lnSpc>
              <a:defRPr/>
            </a:pPr>
            <a:r>
              <a:rPr lang="en-US" sz="800" b="1">
                <a:solidFill>
                  <a:srgbClr val="000000"/>
                </a:solidFill>
                <a:latin typeface="Poppins"/>
              </a:rPr>
              <a:t>Standard classification accuracy for anomaly detection</a:t>
            </a:r>
            <a:endParaRPr lang="en-US" sz="1100"/>
          </a:p>
        </p:txBody>
      </p:sp>
      <p:sp>
        <p:nvSpPr>
          <p:cNvPr id="94" name="TextBox 94"/>
          <p:cNvSpPr txBox="1"/>
          <p:nvPr/>
        </p:nvSpPr>
        <p:spPr>
          <a:xfrm>
            <a:off x="977900" y="6350000"/>
            <a:ext cx="5359400" cy="152400"/>
          </a:xfrm>
          <a:prstGeom prst="rect">
            <a:avLst/>
          </a:prstGeom>
          <a:solidFill>
            <a:srgbClr val="000000">
              <a:alpha val="0"/>
            </a:srgbClr>
          </a:solidFill>
        </p:spPr>
        <p:txBody>
          <a:bodyPr lIns="0" tIns="0" rIns="0" bIns="0" rtlCol="0" anchor="ctr"/>
          <a:lstStyle/>
          <a:p>
            <a:pPr indent="0" algn="l">
              <a:lnSpc>
                <a:spcPct val="150000"/>
              </a:lnSpc>
              <a:defRPr/>
            </a:pPr>
            <a:r>
              <a:rPr lang="en-US" sz="800" b="1">
                <a:solidFill>
                  <a:srgbClr val="000000"/>
                </a:solidFill>
                <a:latin typeface="Poppins"/>
              </a:rPr>
              <a:t>Recall = TP/(TP+FN)</a:t>
            </a:r>
            <a:endParaRPr lang="en-US" sz="1100"/>
          </a:p>
        </p:txBody>
      </p:sp>
      <p:sp>
        <p:nvSpPr>
          <p:cNvPr id="95" name="TextBox 95"/>
          <p:cNvSpPr txBox="1"/>
          <p:nvPr/>
        </p:nvSpPr>
        <p:spPr>
          <a:xfrm>
            <a:off x="6515100" y="6350000"/>
            <a:ext cx="3213100" cy="482600"/>
          </a:xfrm>
          <a:prstGeom prst="rect">
            <a:avLst/>
          </a:prstGeom>
          <a:solidFill>
            <a:srgbClr val="000000">
              <a:alpha val="0"/>
            </a:srgbClr>
          </a:solidFill>
        </p:spPr>
        <p:txBody>
          <a:bodyPr lIns="0" tIns="0" rIns="0" bIns="0" rtlCol="0" anchor="ctr"/>
          <a:lstStyle/>
          <a:p>
            <a:pPr indent="0" algn="l">
              <a:lnSpc>
                <a:spcPct val="150000"/>
              </a:lnSpc>
              <a:defRPr/>
            </a:pPr>
            <a:r>
              <a:rPr lang="en-US" sz="800" b="1">
                <a:solidFill>
                  <a:srgbClr val="000000"/>
                </a:solidFill>
                <a:latin typeface="Poppins"/>
              </a:rPr>
              <a:t>Proportion of actual anomalies correctly identified</a:t>
            </a:r>
            <a:endParaRPr lang="en-US" sz="1100"/>
          </a:p>
        </p:txBody>
      </p:sp>
      <p:sp>
        <p:nvSpPr>
          <p:cNvPr id="96" name="TextBox 96"/>
          <p:cNvSpPr txBox="1"/>
          <p:nvPr/>
        </p:nvSpPr>
        <p:spPr>
          <a:xfrm>
            <a:off x="9918700" y="6350000"/>
            <a:ext cx="2006600" cy="482600"/>
          </a:xfrm>
          <a:prstGeom prst="rect">
            <a:avLst/>
          </a:prstGeom>
          <a:solidFill>
            <a:srgbClr val="000000">
              <a:alpha val="0"/>
            </a:srgbClr>
          </a:solidFill>
        </p:spPr>
        <p:txBody>
          <a:bodyPr lIns="0" tIns="0" rIns="0" bIns="0" rtlCol="0" anchor="ctr"/>
          <a:lstStyle/>
          <a:p>
            <a:pPr indent="0" algn="l">
              <a:lnSpc>
                <a:spcPct val="150000"/>
              </a:lnSpc>
              <a:defRPr/>
            </a:pPr>
            <a:r>
              <a:rPr lang="en-US" sz="800" b="1">
                <a:solidFill>
                  <a:srgbClr val="000000"/>
                </a:solidFill>
                <a:latin typeface="Poppins"/>
              </a:rPr>
              <a:t>Experiment Running evaluation</a:t>
            </a:r>
            <a:endParaRPr lang="en-US" sz="1100"/>
          </a:p>
        </p:txBody>
      </p:sp>
      <p:sp>
        <p:nvSpPr>
          <p:cNvPr id="97" name="TextBox 97"/>
          <p:cNvSpPr txBox="1"/>
          <p:nvPr/>
        </p:nvSpPr>
        <p:spPr>
          <a:xfrm>
            <a:off x="12103100" y="6350000"/>
            <a:ext cx="3149600" cy="317500"/>
          </a:xfrm>
          <a:prstGeom prst="rect">
            <a:avLst/>
          </a:prstGeom>
          <a:solidFill>
            <a:srgbClr val="000000">
              <a:alpha val="0"/>
            </a:srgbClr>
          </a:solidFill>
        </p:spPr>
        <p:txBody>
          <a:bodyPr lIns="0" tIns="0" rIns="0" bIns="0" rtlCol="0" anchor="ctr"/>
          <a:lstStyle/>
          <a:p>
            <a:pPr indent="0" algn="l">
              <a:lnSpc>
                <a:spcPct val="150000"/>
              </a:lnSpc>
              <a:defRPr/>
            </a:pPr>
            <a:r>
              <a:rPr lang="en-US" sz="800" b="1">
                <a:solidFill>
                  <a:srgbClr val="000000"/>
                </a:solidFill>
                <a:latin typeface="Poppins"/>
              </a:rPr>
              <a:t>Measures sensitivity to true anomaly events</a:t>
            </a:r>
            <a:endParaRPr lang="en-US" sz="1100"/>
          </a:p>
        </p:txBody>
      </p:sp>
      <p:sp>
        <p:nvSpPr>
          <p:cNvPr id="98" name="TextBox 98"/>
          <p:cNvSpPr txBox="1"/>
          <p:nvPr/>
        </p:nvSpPr>
        <p:spPr>
          <a:xfrm>
            <a:off x="977900" y="6908800"/>
            <a:ext cx="5359400" cy="317500"/>
          </a:xfrm>
          <a:prstGeom prst="rect">
            <a:avLst/>
          </a:prstGeom>
          <a:solidFill>
            <a:srgbClr val="000000">
              <a:alpha val="0"/>
            </a:srgbClr>
          </a:solidFill>
        </p:spPr>
        <p:txBody>
          <a:bodyPr lIns="0" tIns="0" rIns="0" bIns="0" rtlCol="0" anchor="ctr"/>
          <a:lstStyle/>
          <a:p>
            <a:pPr indent="0" algn="l">
              <a:lnSpc>
                <a:spcPct val="150000"/>
              </a:lnSpc>
              <a:defRPr/>
            </a:pPr>
            <a:r>
              <a:rPr lang="en-US" sz="800" b="1">
                <a:solidFill>
                  <a:srgbClr val="000000"/>
                </a:solidFill>
                <a:latin typeface="Poppins"/>
              </a:rPr>
              <a:t>F1 Score = 2×(Precision×Recall)/(Precision+Recall)</a:t>
            </a:r>
            <a:endParaRPr lang="en-US" sz="1100"/>
          </a:p>
        </p:txBody>
      </p:sp>
      <p:sp>
        <p:nvSpPr>
          <p:cNvPr id="99" name="TextBox 99"/>
          <p:cNvSpPr txBox="1"/>
          <p:nvPr/>
        </p:nvSpPr>
        <p:spPr>
          <a:xfrm>
            <a:off x="6515100" y="6908800"/>
            <a:ext cx="3213100" cy="482600"/>
          </a:xfrm>
          <a:prstGeom prst="rect">
            <a:avLst/>
          </a:prstGeom>
          <a:solidFill>
            <a:srgbClr val="000000">
              <a:alpha val="0"/>
            </a:srgbClr>
          </a:solidFill>
        </p:spPr>
        <p:txBody>
          <a:bodyPr lIns="0" tIns="0" rIns="0" bIns="0" rtlCol="0" anchor="ctr"/>
          <a:lstStyle/>
          <a:p>
            <a:pPr indent="0" algn="l">
              <a:lnSpc>
                <a:spcPct val="150000"/>
              </a:lnSpc>
              <a:defRPr/>
            </a:pPr>
            <a:r>
              <a:rPr lang="en-US" sz="800" b="1">
                <a:solidFill>
                  <a:srgbClr val="000000"/>
                </a:solidFill>
                <a:latin typeface="Poppins"/>
              </a:rPr>
              <a:t>Harmonic mean balancing precision and recall</a:t>
            </a:r>
            <a:endParaRPr lang="en-US" sz="1100"/>
          </a:p>
        </p:txBody>
      </p:sp>
      <p:sp>
        <p:nvSpPr>
          <p:cNvPr id="100" name="TextBox 100"/>
          <p:cNvSpPr txBox="1"/>
          <p:nvPr/>
        </p:nvSpPr>
        <p:spPr>
          <a:xfrm>
            <a:off x="9918700" y="6908800"/>
            <a:ext cx="2006600" cy="482600"/>
          </a:xfrm>
          <a:prstGeom prst="rect">
            <a:avLst/>
          </a:prstGeom>
          <a:solidFill>
            <a:srgbClr val="000000">
              <a:alpha val="0"/>
            </a:srgbClr>
          </a:solidFill>
        </p:spPr>
        <p:txBody>
          <a:bodyPr lIns="0" tIns="0" rIns="0" bIns="0" rtlCol="0" anchor="ctr"/>
          <a:lstStyle/>
          <a:p>
            <a:pPr indent="0" algn="l">
              <a:lnSpc>
                <a:spcPct val="150000"/>
              </a:lnSpc>
              <a:defRPr/>
            </a:pPr>
            <a:r>
              <a:rPr lang="en-US" sz="800" b="1">
                <a:solidFill>
                  <a:srgbClr val="000000"/>
                </a:solidFill>
                <a:latin typeface="Poppins"/>
              </a:rPr>
              <a:t>Experiment Running evaluation</a:t>
            </a:r>
            <a:endParaRPr lang="en-US" sz="1100"/>
          </a:p>
        </p:txBody>
      </p:sp>
      <p:sp>
        <p:nvSpPr>
          <p:cNvPr id="101" name="TextBox 101"/>
          <p:cNvSpPr txBox="1"/>
          <p:nvPr/>
        </p:nvSpPr>
        <p:spPr>
          <a:xfrm>
            <a:off x="12103100" y="6908800"/>
            <a:ext cx="3149600" cy="482600"/>
          </a:xfrm>
          <a:prstGeom prst="rect">
            <a:avLst/>
          </a:prstGeom>
          <a:solidFill>
            <a:srgbClr val="000000">
              <a:alpha val="0"/>
            </a:srgbClr>
          </a:solidFill>
        </p:spPr>
        <p:txBody>
          <a:bodyPr lIns="0" tIns="0" rIns="0" bIns="0" rtlCol="0" anchor="ctr"/>
          <a:lstStyle/>
          <a:p>
            <a:pPr indent="0" algn="l">
              <a:lnSpc>
                <a:spcPct val="150000"/>
              </a:lnSpc>
              <a:defRPr/>
            </a:pPr>
            <a:r>
              <a:rPr lang="en-US" sz="800" b="1">
                <a:solidFill>
                  <a:srgbClr val="000000"/>
                </a:solidFill>
                <a:latin typeface="Poppins"/>
              </a:rPr>
              <a:t>Balances false positives and false negatives under class imbalance</a:t>
            </a:r>
            <a:endParaRPr lang="en-US" sz="1100"/>
          </a:p>
        </p:txBody>
      </p:sp>
      <p:sp>
        <p:nvSpPr>
          <p:cNvPr id="102" name="TextBox 102"/>
          <p:cNvSpPr txBox="1"/>
          <p:nvPr/>
        </p:nvSpPr>
        <p:spPr>
          <a:xfrm>
            <a:off x="977900" y="7467600"/>
            <a:ext cx="5359400" cy="152400"/>
          </a:xfrm>
          <a:prstGeom prst="rect">
            <a:avLst/>
          </a:prstGeom>
          <a:solidFill>
            <a:srgbClr val="000000">
              <a:alpha val="0"/>
            </a:srgbClr>
          </a:solidFill>
        </p:spPr>
        <p:txBody>
          <a:bodyPr lIns="0" tIns="0" rIns="0" bIns="0" rtlCol="0" anchor="ctr"/>
          <a:lstStyle/>
          <a:p>
            <a:pPr indent="0" algn="l">
              <a:lnSpc>
                <a:spcPct val="150000"/>
              </a:lnSpc>
              <a:defRPr/>
            </a:pPr>
            <a:r>
              <a:rPr lang="en-US" sz="800" b="1">
                <a:solidFill>
                  <a:srgbClr val="000000"/>
                </a:solidFill>
                <a:latin typeface="Poppins"/>
              </a:rPr>
              <a:t>SCADA Calculated Channel</a:t>
            </a:r>
            <a:endParaRPr lang="en-US" sz="1100"/>
          </a:p>
        </p:txBody>
      </p:sp>
      <p:sp>
        <p:nvSpPr>
          <p:cNvPr id="103" name="TextBox 103"/>
          <p:cNvSpPr txBox="1"/>
          <p:nvPr/>
        </p:nvSpPr>
        <p:spPr>
          <a:xfrm>
            <a:off x="6515100" y="7467600"/>
            <a:ext cx="3213100" cy="482600"/>
          </a:xfrm>
          <a:prstGeom prst="rect">
            <a:avLst/>
          </a:prstGeom>
          <a:solidFill>
            <a:srgbClr val="000000">
              <a:alpha val="0"/>
            </a:srgbClr>
          </a:solidFill>
        </p:spPr>
        <p:txBody>
          <a:bodyPr lIns="0" tIns="0" rIns="0" bIns="0" rtlCol="0" anchor="ctr"/>
          <a:lstStyle/>
          <a:p>
            <a:pPr indent="0" algn="l">
              <a:lnSpc>
                <a:spcPct val="150000"/>
              </a:lnSpc>
              <a:defRPr/>
            </a:pPr>
            <a:r>
              <a:rPr lang="en-US" sz="800" b="1">
                <a:solidFill>
                  <a:srgbClr val="000000"/>
                </a:solidFill>
                <a:latin typeface="Poppins"/>
              </a:rPr>
              <a:t>value = f(input_channels, time, drift_factor)</a:t>
            </a:r>
            <a:endParaRPr lang="en-US" sz="1100"/>
          </a:p>
        </p:txBody>
      </p:sp>
      <p:sp>
        <p:nvSpPr>
          <p:cNvPr id="104" name="TextBox 104"/>
          <p:cNvSpPr txBox="1"/>
          <p:nvPr/>
        </p:nvSpPr>
        <p:spPr>
          <a:xfrm>
            <a:off x="9918700" y="7467600"/>
            <a:ext cx="2006600" cy="317500"/>
          </a:xfrm>
          <a:prstGeom prst="rect">
            <a:avLst/>
          </a:prstGeom>
          <a:solidFill>
            <a:srgbClr val="000000">
              <a:alpha val="0"/>
            </a:srgbClr>
          </a:solidFill>
        </p:spPr>
        <p:txBody>
          <a:bodyPr lIns="0" tIns="0" rIns="0" bIns="0" rtlCol="0" anchor="ctr"/>
          <a:lstStyle/>
          <a:p>
            <a:pPr indent="0" algn="l">
              <a:lnSpc>
                <a:spcPct val="150000"/>
              </a:lnSpc>
              <a:defRPr/>
            </a:pPr>
            <a:r>
              <a:rPr lang="en-US" sz="800" b="1">
                <a:solidFill>
                  <a:srgbClr val="000000"/>
                </a:solidFill>
                <a:latin typeface="Poppins"/>
              </a:rPr>
              <a:t>Rapid SCADA Live</a:t>
            </a:r>
            <a:endParaRPr lang="en-US" sz="1100"/>
          </a:p>
        </p:txBody>
      </p:sp>
      <p:sp>
        <p:nvSpPr>
          <p:cNvPr id="105" name="TextBox 105"/>
          <p:cNvSpPr txBox="1"/>
          <p:nvPr/>
        </p:nvSpPr>
        <p:spPr>
          <a:xfrm>
            <a:off x="12103100" y="7467600"/>
            <a:ext cx="3149600" cy="482600"/>
          </a:xfrm>
          <a:prstGeom prst="rect">
            <a:avLst/>
          </a:prstGeom>
          <a:solidFill>
            <a:srgbClr val="000000">
              <a:alpha val="0"/>
            </a:srgbClr>
          </a:solidFill>
        </p:spPr>
        <p:txBody>
          <a:bodyPr lIns="0" tIns="0" rIns="0" bIns="0" rtlCol="0" anchor="ctr"/>
          <a:lstStyle/>
          <a:p>
            <a:pPr indent="0" algn="l">
              <a:lnSpc>
                <a:spcPct val="150000"/>
              </a:lnSpc>
              <a:defRPr/>
            </a:pPr>
            <a:r>
              <a:rPr lang="en-US" sz="800" b="1">
                <a:solidFill>
                  <a:srgbClr val="000000"/>
                </a:solidFill>
                <a:latin typeface="Poppins"/>
              </a:rPr>
              <a:t>Generates simulated telemetry with trend and drift for live testing</a:t>
            </a:r>
            <a:endParaRPr lang="en-US" sz="1100"/>
          </a:p>
        </p:txBody>
      </p:sp>
      <p:sp>
        <p:nvSpPr>
          <p:cNvPr id="106" name="TextBox 106"/>
          <p:cNvSpPr txBox="1"/>
          <p:nvPr/>
        </p:nvSpPr>
        <p:spPr>
          <a:xfrm>
            <a:off x="977900" y="8026400"/>
            <a:ext cx="5359400" cy="152400"/>
          </a:xfrm>
          <a:prstGeom prst="rect">
            <a:avLst/>
          </a:prstGeom>
          <a:solidFill>
            <a:srgbClr val="000000">
              <a:alpha val="0"/>
            </a:srgbClr>
          </a:solidFill>
        </p:spPr>
        <p:txBody>
          <a:bodyPr lIns="0" tIns="0" rIns="0" bIns="0" rtlCol="0" anchor="ctr"/>
          <a:lstStyle/>
          <a:p>
            <a:pPr indent="0" algn="l">
              <a:lnSpc>
                <a:spcPct val="150000"/>
              </a:lnSpc>
              <a:defRPr/>
            </a:pPr>
            <a:r>
              <a:rPr lang="en-US" sz="800" b="1">
                <a:solidFill>
                  <a:srgbClr val="000000"/>
                </a:solidFill>
                <a:latin typeface="Poppins"/>
              </a:rPr>
              <a:t>Feature Contribution</a:t>
            </a:r>
            <a:endParaRPr lang="en-US" sz="1100"/>
          </a:p>
        </p:txBody>
      </p:sp>
      <p:sp>
        <p:nvSpPr>
          <p:cNvPr id="107" name="TextBox 107"/>
          <p:cNvSpPr txBox="1"/>
          <p:nvPr/>
        </p:nvSpPr>
        <p:spPr>
          <a:xfrm>
            <a:off x="6515100" y="8026400"/>
            <a:ext cx="3213100" cy="317500"/>
          </a:xfrm>
          <a:prstGeom prst="rect">
            <a:avLst/>
          </a:prstGeom>
          <a:solidFill>
            <a:srgbClr val="000000">
              <a:alpha val="0"/>
            </a:srgbClr>
          </a:solidFill>
        </p:spPr>
        <p:txBody>
          <a:bodyPr lIns="0" tIns="0" rIns="0" bIns="0" rtlCol="0" anchor="ctr"/>
          <a:lstStyle/>
          <a:p>
            <a:pPr indent="0" algn="l">
              <a:lnSpc>
                <a:spcPct val="150000"/>
              </a:lnSpc>
              <a:defRPr/>
            </a:pPr>
            <a:r>
              <a:rPr lang="en-US" sz="800" b="1">
                <a:solidFill>
                  <a:srgbClr val="000000"/>
                </a:solidFill>
                <a:latin typeface="Poppins"/>
              </a:rPr>
              <a:t>Proportional deviation weight for explainability</a:t>
            </a:r>
            <a:endParaRPr lang="en-US" sz="1100"/>
          </a:p>
        </p:txBody>
      </p:sp>
      <p:sp>
        <p:nvSpPr>
          <p:cNvPr id="108" name="TextBox 108"/>
          <p:cNvSpPr txBox="1"/>
          <p:nvPr/>
        </p:nvSpPr>
        <p:spPr>
          <a:xfrm>
            <a:off x="9918700" y="8026400"/>
            <a:ext cx="2006600" cy="317500"/>
          </a:xfrm>
          <a:prstGeom prst="rect">
            <a:avLst/>
          </a:prstGeom>
          <a:solidFill>
            <a:srgbClr val="000000">
              <a:alpha val="0"/>
            </a:srgbClr>
          </a:solidFill>
        </p:spPr>
        <p:txBody>
          <a:bodyPr lIns="0" tIns="0" rIns="0" bIns="0" rtlCol="0" anchor="ctr"/>
          <a:lstStyle/>
          <a:p>
            <a:pPr indent="0" algn="l">
              <a:lnSpc>
                <a:spcPct val="150000"/>
              </a:lnSpc>
              <a:defRPr/>
            </a:pPr>
            <a:r>
              <a:rPr lang="en-US" sz="800" b="1">
                <a:solidFill>
                  <a:srgbClr val="000000"/>
                </a:solidFill>
                <a:latin typeface="Poppins"/>
              </a:rPr>
              <a:t>Rapid SCADA Live</a:t>
            </a:r>
            <a:endParaRPr lang="en-US" sz="1100"/>
          </a:p>
        </p:txBody>
      </p:sp>
      <p:sp>
        <p:nvSpPr>
          <p:cNvPr id="109" name="TextBox 109"/>
          <p:cNvSpPr txBox="1"/>
          <p:nvPr/>
        </p:nvSpPr>
        <p:spPr>
          <a:xfrm>
            <a:off x="12103100" y="8026400"/>
            <a:ext cx="3149600" cy="482600"/>
          </a:xfrm>
          <a:prstGeom prst="rect">
            <a:avLst/>
          </a:prstGeom>
          <a:solidFill>
            <a:srgbClr val="000000">
              <a:alpha val="0"/>
            </a:srgbClr>
          </a:solidFill>
        </p:spPr>
        <p:txBody>
          <a:bodyPr lIns="0" tIns="0" rIns="0" bIns="0" rtlCol="0" anchor="ctr"/>
          <a:lstStyle/>
          <a:p>
            <a:pPr indent="0" algn="l">
              <a:lnSpc>
                <a:spcPct val="150000"/>
              </a:lnSpc>
              <a:defRPr/>
            </a:pPr>
            <a:r>
              <a:rPr lang="en-US" sz="800" b="1">
                <a:solidFill>
                  <a:srgbClr val="000000"/>
                </a:solidFill>
                <a:latin typeface="Poppins"/>
              </a:rPr>
              <a:t>Identifies which features drove each anomaly score for operators</a:t>
            </a:r>
            <a:endParaRPr lang="en-US" sz="110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16256000" cy="9144000"/>
          </a:xfrm>
          <a:prstGeom prst="rect">
            <a:avLst/>
          </a:prstGeom>
          <a:solidFill>
            <a:srgbClr val="0D0A2C">
              <a:alpha val="74902"/>
            </a:srgbClr>
          </a:solidFill>
        </p:spPr>
      </p:sp>
      <p:pic>
        <p:nvPicPr>
          <p:cNvPr id="3" name="Picture 3"/>
          <p:cNvPicPr>
            <a:picLocks noChangeAspect="1"/>
          </p:cNvPicPr>
          <p:nvPr/>
        </p:nvPicPr>
        <p:blipFill>
          <a:blip r:embed="rId2"/>
          <a:srcRect t="56" b="56"/>
          <a:stretch>
            <a:fillRect/>
          </a:stretch>
        </p:blipFill>
        <p:spPr>
          <a:xfrm>
            <a:off x="0" y="0"/>
            <a:ext cx="16256000" cy="9144000"/>
          </a:xfrm>
          <a:prstGeom prst="rect">
            <a:avLst/>
          </a:prstGeom>
        </p:spPr>
      </p:pic>
      <p:sp>
        <p:nvSpPr>
          <p:cNvPr id="4" name="AutoShape 4"/>
          <p:cNvSpPr/>
          <p:nvPr/>
        </p:nvSpPr>
        <p:spPr>
          <a:xfrm>
            <a:off x="876300" y="1651000"/>
            <a:ext cx="14490700" cy="6400800"/>
          </a:xfrm>
          <a:prstGeom prst="rect">
            <a:avLst/>
          </a:prstGeom>
          <a:solidFill>
            <a:srgbClr val="000000">
              <a:alpha val="0"/>
            </a:srgbClr>
          </a:solidFill>
          <a:ln w="12700">
            <a:solidFill>
              <a:srgbClr val="A1A1A1"/>
            </a:solidFill>
          </a:ln>
        </p:spPr>
      </p:sp>
      <p:sp>
        <p:nvSpPr>
          <p:cNvPr id="5" name="AutoShape 5"/>
          <p:cNvSpPr/>
          <p:nvPr/>
        </p:nvSpPr>
        <p:spPr>
          <a:xfrm>
            <a:off x="889000" y="1663700"/>
            <a:ext cx="5613400" cy="419100"/>
          </a:xfrm>
          <a:prstGeom prst="rect">
            <a:avLst/>
          </a:prstGeom>
          <a:solidFill>
            <a:srgbClr val="D1D1D1">
              <a:alpha val="71765"/>
            </a:srgbClr>
          </a:solidFill>
          <a:ln w="12700">
            <a:solidFill>
              <a:srgbClr val="A1A1A1"/>
            </a:solidFill>
          </a:ln>
        </p:spPr>
      </p:sp>
      <p:sp>
        <p:nvSpPr>
          <p:cNvPr id="6" name="AutoShape 6"/>
          <p:cNvSpPr/>
          <p:nvPr/>
        </p:nvSpPr>
        <p:spPr>
          <a:xfrm>
            <a:off x="6515100" y="1663700"/>
            <a:ext cx="3124200" cy="419100"/>
          </a:xfrm>
          <a:prstGeom prst="rect">
            <a:avLst/>
          </a:prstGeom>
          <a:solidFill>
            <a:srgbClr val="D1D1D1">
              <a:alpha val="71765"/>
            </a:srgbClr>
          </a:solidFill>
          <a:ln w="12700">
            <a:solidFill>
              <a:srgbClr val="A1A1A1"/>
            </a:solidFill>
          </a:ln>
        </p:spPr>
      </p:sp>
      <p:sp>
        <p:nvSpPr>
          <p:cNvPr id="7" name="AutoShape 7"/>
          <p:cNvSpPr/>
          <p:nvPr/>
        </p:nvSpPr>
        <p:spPr>
          <a:xfrm>
            <a:off x="9639300" y="1663700"/>
            <a:ext cx="2184400" cy="419100"/>
          </a:xfrm>
          <a:prstGeom prst="rect">
            <a:avLst/>
          </a:prstGeom>
          <a:solidFill>
            <a:srgbClr val="D1D1D1">
              <a:alpha val="71765"/>
            </a:srgbClr>
          </a:solidFill>
          <a:ln w="12700">
            <a:solidFill>
              <a:srgbClr val="A1A1A1"/>
            </a:solidFill>
          </a:ln>
        </p:spPr>
      </p:sp>
      <p:sp>
        <p:nvSpPr>
          <p:cNvPr id="8" name="AutoShape 8"/>
          <p:cNvSpPr/>
          <p:nvPr/>
        </p:nvSpPr>
        <p:spPr>
          <a:xfrm>
            <a:off x="11836400" y="1663700"/>
            <a:ext cx="3517900" cy="419100"/>
          </a:xfrm>
          <a:prstGeom prst="rect">
            <a:avLst/>
          </a:prstGeom>
          <a:solidFill>
            <a:srgbClr val="D1D1D1">
              <a:alpha val="71765"/>
            </a:srgbClr>
          </a:solidFill>
          <a:ln w="12700">
            <a:solidFill>
              <a:srgbClr val="A1A1A1"/>
            </a:solidFill>
          </a:ln>
        </p:spPr>
      </p:sp>
      <p:sp>
        <p:nvSpPr>
          <p:cNvPr id="9" name="AutoShape 9"/>
          <p:cNvSpPr/>
          <p:nvPr/>
        </p:nvSpPr>
        <p:spPr>
          <a:xfrm>
            <a:off x="889000" y="2082800"/>
            <a:ext cx="5613400" cy="990600"/>
          </a:xfrm>
          <a:prstGeom prst="rect">
            <a:avLst/>
          </a:prstGeom>
          <a:solidFill>
            <a:srgbClr val="000000">
              <a:alpha val="0"/>
            </a:srgbClr>
          </a:solidFill>
          <a:ln w="12700">
            <a:solidFill>
              <a:srgbClr val="A1A1A1"/>
            </a:solidFill>
          </a:ln>
        </p:spPr>
      </p:sp>
      <p:sp>
        <p:nvSpPr>
          <p:cNvPr id="10" name="AutoShape 10"/>
          <p:cNvSpPr/>
          <p:nvPr/>
        </p:nvSpPr>
        <p:spPr>
          <a:xfrm>
            <a:off x="6515100" y="2082800"/>
            <a:ext cx="3124200" cy="990600"/>
          </a:xfrm>
          <a:prstGeom prst="rect">
            <a:avLst/>
          </a:prstGeom>
          <a:solidFill>
            <a:srgbClr val="000000">
              <a:alpha val="0"/>
            </a:srgbClr>
          </a:solidFill>
          <a:ln w="12700">
            <a:solidFill>
              <a:srgbClr val="A1A1A1"/>
            </a:solidFill>
          </a:ln>
        </p:spPr>
      </p:sp>
      <p:sp>
        <p:nvSpPr>
          <p:cNvPr id="11" name="AutoShape 11"/>
          <p:cNvSpPr/>
          <p:nvPr/>
        </p:nvSpPr>
        <p:spPr>
          <a:xfrm>
            <a:off x="9639300" y="2082800"/>
            <a:ext cx="2184400" cy="990600"/>
          </a:xfrm>
          <a:prstGeom prst="rect">
            <a:avLst/>
          </a:prstGeom>
          <a:solidFill>
            <a:srgbClr val="000000">
              <a:alpha val="0"/>
            </a:srgbClr>
          </a:solidFill>
          <a:ln w="12700">
            <a:solidFill>
              <a:srgbClr val="A1A1A1"/>
            </a:solidFill>
          </a:ln>
        </p:spPr>
      </p:sp>
      <p:sp>
        <p:nvSpPr>
          <p:cNvPr id="12" name="AutoShape 12"/>
          <p:cNvSpPr/>
          <p:nvPr/>
        </p:nvSpPr>
        <p:spPr>
          <a:xfrm>
            <a:off x="11836400" y="2082800"/>
            <a:ext cx="3517900" cy="990600"/>
          </a:xfrm>
          <a:prstGeom prst="rect">
            <a:avLst/>
          </a:prstGeom>
          <a:solidFill>
            <a:srgbClr val="000000">
              <a:alpha val="0"/>
            </a:srgbClr>
          </a:solidFill>
          <a:ln w="12700">
            <a:solidFill>
              <a:srgbClr val="A1A1A1"/>
            </a:solidFill>
          </a:ln>
        </p:spPr>
      </p:sp>
      <p:sp>
        <p:nvSpPr>
          <p:cNvPr id="13" name="AutoShape 13"/>
          <p:cNvSpPr/>
          <p:nvPr/>
        </p:nvSpPr>
        <p:spPr>
          <a:xfrm>
            <a:off x="889000" y="3073400"/>
            <a:ext cx="5613400" cy="990600"/>
          </a:xfrm>
          <a:prstGeom prst="rect">
            <a:avLst/>
          </a:prstGeom>
          <a:solidFill>
            <a:srgbClr val="000000">
              <a:alpha val="0"/>
            </a:srgbClr>
          </a:solidFill>
          <a:ln w="12700">
            <a:solidFill>
              <a:srgbClr val="A1A1A1"/>
            </a:solidFill>
          </a:ln>
        </p:spPr>
      </p:sp>
      <p:sp>
        <p:nvSpPr>
          <p:cNvPr id="14" name="AutoShape 14"/>
          <p:cNvSpPr/>
          <p:nvPr/>
        </p:nvSpPr>
        <p:spPr>
          <a:xfrm>
            <a:off x="6515100" y="3073400"/>
            <a:ext cx="3124200" cy="990600"/>
          </a:xfrm>
          <a:prstGeom prst="rect">
            <a:avLst/>
          </a:prstGeom>
          <a:solidFill>
            <a:srgbClr val="000000">
              <a:alpha val="0"/>
            </a:srgbClr>
          </a:solidFill>
          <a:ln w="12700">
            <a:solidFill>
              <a:srgbClr val="A1A1A1"/>
            </a:solidFill>
          </a:ln>
        </p:spPr>
      </p:sp>
      <p:sp>
        <p:nvSpPr>
          <p:cNvPr id="15" name="AutoShape 15"/>
          <p:cNvSpPr/>
          <p:nvPr/>
        </p:nvSpPr>
        <p:spPr>
          <a:xfrm>
            <a:off x="9639300" y="3073400"/>
            <a:ext cx="2184400" cy="990600"/>
          </a:xfrm>
          <a:prstGeom prst="rect">
            <a:avLst/>
          </a:prstGeom>
          <a:solidFill>
            <a:srgbClr val="000000">
              <a:alpha val="0"/>
            </a:srgbClr>
          </a:solidFill>
          <a:ln w="12700">
            <a:solidFill>
              <a:srgbClr val="A1A1A1"/>
            </a:solidFill>
          </a:ln>
        </p:spPr>
      </p:sp>
      <p:sp>
        <p:nvSpPr>
          <p:cNvPr id="16" name="AutoShape 16"/>
          <p:cNvSpPr/>
          <p:nvPr/>
        </p:nvSpPr>
        <p:spPr>
          <a:xfrm>
            <a:off x="11836400" y="3073400"/>
            <a:ext cx="3517900" cy="990600"/>
          </a:xfrm>
          <a:prstGeom prst="rect">
            <a:avLst/>
          </a:prstGeom>
          <a:solidFill>
            <a:srgbClr val="000000">
              <a:alpha val="0"/>
            </a:srgbClr>
          </a:solidFill>
          <a:ln w="12700">
            <a:solidFill>
              <a:srgbClr val="A1A1A1"/>
            </a:solidFill>
          </a:ln>
        </p:spPr>
      </p:sp>
      <p:sp>
        <p:nvSpPr>
          <p:cNvPr id="17" name="AutoShape 17"/>
          <p:cNvSpPr/>
          <p:nvPr/>
        </p:nvSpPr>
        <p:spPr>
          <a:xfrm>
            <a:off x="889000" y="4064000"/>
            <a:ext cx="5613400" cy="990600"/>
          </a:xfrm>
          <a:prstGeom prst="rect">
            <a:avLst/>
          </a:prstGeom>
          <a:solidFill>
            <a:srgbClr val="000000">
              <a:alpha val="0"/>
            </a:srgbClr>
          </a:solidFill>
          <a:ln w="12700">
            <a:solidFill>
              <a:srgbClr val="A1A1A1"/>
            </a:solidFill>
          </a:ln>
        </p:spPr>
      </p:sp>
      <p:sp>
        <p:nvSpPr>
          <p:cNvPr id="18" name="AutoShape 18"/>
          <p:cNvSpPr/>
          <p:nvPr/>
        </p:nvSpPr>
        <p:spPr>
          <a:xfrm>
            <a:off x="6515100" y="4064000"/>
            <a:ext cx="3124200" cy="990600"/>
          </a:xfrm>
          <a:prstGeom prst="rect">
            <a:avLst/>
          </a:prstGeom>
          <a:solidFill>
            <a:srgbClr val="000000">
              <a:alpha val="0"/>
            </a:srgbClr>
          </a:solidFill>
          <a:ln w="12700">
            <a:solidFill>
              <a:srgbClr val="A1A1A1"/>
            </a:solidFill>
          </a:ln>
        </p:spPr>
      </p:sp>
      <p:sp>
        <p:nvSpPr>
          <p:cNvPr id="19" name="AutoShape 19"/>
          <p:cNvSpPr/>
          <p:nvPr/>
        </p:nvSpPr>
        <p:spPr>
          <a:xfrm>
            <a:off x="9639300" y="4064000"/>
            <a:ext cx="2184400" cy="990600"/>
          </a:xfrm>
          <a:prstGeom prst="rect">
            <a:avLst/>
          </a:prstGeom>
          <a:solidFill>
            <a:srgbClr val="000000">
              <a:alpha val="0"/>
            </a:srgbClr>
          </a:solidFill>
          <a:ln w="12700">
            <a:solidFill>
              <a:srgbClr val="A1A1A1"/>
            </a:solidFill>
          </a:ln>
        </p:spPr>
      </p:sp>
      <p:sp>
        <p:nvSpPr>
          <p:cNvPr id="20" name="AutoShape 20"/>
          <p:cNvSpPr/>
          <p:nvPr/>
        </p:nvSpPr>
        <p:spPr>
          <a:xfrm>
            <a:off x="11836400" y="4064000"/>
            <a:ext cx="3517900" cy="990600"/>
          </a:xfrm>
          <a:prstGeom prst="rect">
            <a:avLst/>
          </a:prstGeom>
          <a:solidFill>
            <a:srgbClr val="000000">
              <a:alpha val="0"/>
            </a:srgbClr>
          </a:solidFill>
          <a:ln w="12700">
            <a:solidFill>
              <a:srgbClr val="A1A1A1"/>
            </a:solidFill>
          </a:ln>
        </p:spPr>
      </p:sp>
      <p:sp>
        <p:nvSpPr>
          <p:cNvPr id="21" name="AutoShape 21"/>
          <p:cNvSpPr/>
          <p:nvPr/>
        </p:nvSpPr>
        <p:spPr>
          <a:xfrm>
            <a:off x="889000" y="5067300"/>
            <a:ext cx="5613400" cy="990600"/>
          </a:xfrm>
          <a:prstGeom prst="rect">
            <a:avLst/>
          </a:prstGeom>
          <a:solidFill>
            <a:srgbClr val="000000">
              <a:alpha val="0"/>
            </a:srgbClr>
          </a:solidFill>
          <a:ln w="12700">
            <a:solidFill>
              <a:srgbClr val="A1A1A1"/>
            </a:solidFill>
          </a:ln>
        </p:spPr>
      </p:sp>
      <p:sp>
        <p:nvSpPr>
          <p:cNvPr id="22" name="AutoShape 22"/>
          <p:cNvSpPr/>
          <p:nvPr/>
        </p:nvSpPr>
        <p:spPr>
          <a:xfrm>
            <a:off x="6515100" y="5067300"/>
            <a:ext cx="3124200" cy="990600"/>
          </a:xfrm>
          <a:prstGeom prst="rect">
            <a:avLst/>
          </a:prstGeom>
          <a:solidFill>
            <a:srgbClr val="000000">
              <a:alpha val="0"/>
            </a:srgbClr>
          </a:solidFill>
          <a:ln w="12700">
            <a:solidFill>
              <a:srgbClr val="A1A1A1"/>
            </a:solidFill>
          </a:ln>
        </p:spPr>
      </p:sp>
      <p:sp>
        <p:nvSpPr>
          <p:cNvPr id="23" name="AutoShape 23"/>
          <p:cNvSpPr/>
          <p:nvPr/>
        </p:nvSpPr>
        <p:spPr>
          <a:xfrm>
            <a:off x="9639300" y="5067300"/>
            <a:ext cx="2184400" cy="990600"/>
          </a:xfrm>
          <a:prstGeom prst="rect">
            <a:avLst/>
          </a:prstGeom>
          <a:solidFill>
            <a:srgbClr val="000000">
              <a:alpha val="0"/>
            </a:srgbClr>
          </a:solidFill>
          <a:ln w="12700">
            <a:solidFill>
              <a:srgbClr val="A1A1A1"/>
            </a:solidFill>
          </a:ln>
        </p:spPr>
      </p:sp>
      <p:sp>
        <p:nvSpPr>
          <p:cNvPr id="24" name="AutoShape 24"/>
          <p:cNvSpPr/>
          <p:nvPr/>
        </p:nvSpPr>
        <p:spPr>
          <a:xfrm>
            <a:off x="11836400" y="5067300"/>
            <a:ext cx="3517900" cy="990600"/>
          </a:xfrm>
          <a:prstGeom prst="rect">
            <a:avLst/>
          </a:prstGeom>
          <a:solidFill>
            <a:srgbClr val="000000">
              <a:alpha val="0"/>
            </a:srgbClr>
          </a:solidFill>
          <a:ln w="12700">
            <a:solidFill>
              <a:srgbClr val="A1A1A1"/>
            </a:solidFill>
          </a:ln>
        </p:spPr>
      </p:sp>
      <p:sp>
        <p:nvSpPr>
          <p:cNvPr id="25" name="AutoShape 25"/>
          <p:cNvSpPr/>
          <p:nvPr/>
        </p:nvSpPr>
        <p:spPr>
          <a:xfrm>
            <a:off x="889000" y="6057900"/>
            <a:ext cx="5613400" cy="990600"/>
          </a:xfrm>
          <a:prstGeom prst="rect">
            <a:avLst/>
          </a:prstGeom>
          <a:solidFill>
            <a:srgbClr val="000000">
              <a:alpha val="0"/>
            </a:srgbClr>
          </a:solidFill>
          <a:ln w="12700">
            <a:solidFill>
              <a:srgbClr val="A1A1A1"/>
            </a:solidFill>
          </a:ln>
        </p:spPr>
      </p:sp>
      <p:sp>
        <p:nvSpPr>
          <p:cNvPr id="26" name="AutoShape 26"/>
          <p:cNvSpPr/>
          <p:nvPr/>
        </p:nvSpPr>
        <p:spPr>
          <a:xfrm>
            <a:off x="6515100" y="6057900"/>
            <a:ext cx="3124200" cy="990600"/>
          </a:xfrm>
          <a:prstGeom prst="rect">
            <a:avLst/>
          </a:prstGeom>
          <a:solidFill>
            <a:srgbClr val="000000">
              <a:alpha val="0"/>
            </a:srgbClr>
          </a:solidFill>
          <a:ln w="12700">
            <a:solidFill>
              <a:srgbClr val="A1A1A1"/>
            </a:solidFill>
          </a:ln>
        </p:spPr>
      </p:sp>
      <p:sp>
        <p:nvSpPr>
          <p:cNvPr id="27" name="AutoShape 27"/>
          <p:cNvSpPr/>
          <p:nvPr/>
        </p:nvSpPr>
        <p:spPr>
          <a:xfrm>
            <a:off x="9639300" y="6057900"/>
            <a:ext cx="2184400" cy="990600"/>
          </a:xfrm>
          <a:prstGeom prst="rect">
            <a:avLst/>
          </a:prstGeom>
          <a:solidFill>
            <a:srgbClr val="000000">
              <a:alpha val="0"/>
            </a:srgbClr>
          </a:solidFill>
          <a:ln w="12700">
            <a:solidFill>
              <a:srgbClr val="A1A1A1"/>
            </a:solidFill>
          </a:ln>
        </p:spPr>
      </p:sp>
      <p:sp>
        <p:nvSpPr>
          <p:cNvPr id="28" name="AutoShape 28"/>
          <p:cNvSpPr/>
          <p:nvPr/>
        </p:nvSpPr>
        <p:spPr>
          <a:xfrm>
            <a:off x="11836400" y="6057900"/>
            <a:ext cx="3517900" cy="990600"/>
          </a:xfrm>
          <a:prstGeom prst="rect">
            <a:avLst/>
          </a:prstGeom>
          <a:solidFill>
            <a:srgbClr val="000000">
              <a:alpha val="0"/>
            </a:srgbClr>
          </a:solidFill>
          <a:ln w="12700">
            <a:solidFill>
              <a:srgbClr val="A1A1A1"/>
            </a:solidFill>
          </a:ln>
        </p:spPr>
      </p:sp>
      <p:sp>
        <p:nvSpPr>
          <p:cNvPr id="29" name="AutoShape 29"/>
          <p:cNvSpPr/>
          <p:nvPr/>
        </p:nvSpPr>
        <p:spPr>
          <a:xfrm>
            <a:off x="889000" y="7048500"/>
            <a:ext cx="5613400" cy="990600"/>
          </a:xfrm>
          <a:prstGeom prst="rect">
            <a:avLst/>
          </a:prstGeom>
          <a:solidFill>
            <a:srgbClr val="000000">
              <a:alpha val="0"/>
            </a:srgbClr>
          </a:solidFill>
          <a:ln w="12700">
            <a:solidFill>
              <a:srgbClr val="A1A1A1"/>
            </a:solidFill>
          </a:ln>
        </p:spPr>
      </p:sp>
      <p:sp>
        <p:nvSpPr>
          <p:cNvPr id="30" name="AutoShape 30"/>
          <p:cNvSpPr/>
          <p:nvPr/>
        </p:nvSpPr>
        <p:spPr>
          <a:xfrm>
            <a:off x="6515100" y="7048500"/>
            <a:ext cx="3124200" cy="990600"/>
          </a:xfrm>
          <a:prstGeom prst="rect">
            <a:avLst/>
          </a:prstGeom>
          <a:solidFill>
            <a:srgbClr val="000000">
              <a:alpha val="0"/>
            </a:srgbClr>
          </a:solidFill>
          <a:ln w="12700">
            <a:solidFill>
              <a:srgbClr val="A1A1A1"/>
            </a:solidFill>
          </a:ln>
        </p:spPr>
      </p:sp>
      <p:sp>
        <p:nvSpPr>
          <p:cNvPr id="31" name="AutoShape 31"/>
          <p:cNvSpPr/>
          <p:nvPr/>
        </p:nvSpPr>
        <p:spPr>
          <a:xfrm>
            <a:off x="9639300" y="7048500"/>
            <a:ext cx="2184400" cy="990600"/>
          </a:xfrm>
          <a:prstGeom prst="rect">
            <a:avLst/>
          </a:prstGeom>
          <a:solidFill>
            <a:srgbClr val="000000">
              <a:alpha val="0"/>
            </a:srgbClr>
          </a:solidFill>
          <a:ln w="12700">
            <a:solidFill>
              <a:srgbClr val="A1A1A1"/>
            </a:solidFill>
          </a:ln>
        </p:spPr>
      </p:sp>
      <p:sp>
        <p:nvSpPr>
          <p:cNvPr id="32" name="AutoShape 32"/>
          <p:cNvSpPr/>
          <p:nvPr/>
        </p:nvSpPr>
        <p:spPr>
          <a:xfrm>
            <a:off x="11836400" y="7048500"/>
            <a:ext cx="3517900" cy="990600"/>
          </a:xfrm>
          <a:prstGeom prst="rect">
            <a:avLst/>
          </a:prstGeom>
          <a:solidFill>
            <a:srgbClr val="000000">
              <a:alpha val="0"/>
            </a:srgbClr>
          </a:solidFill>
          <a:ln w="12700">
            <a:solidFill>
              <a:srgbClr val="A1A1A1"/>
            </a:solidFill>
          </a:ln>
        </p:spPr>
      </p:sp>
      <p:sp>
        <p:nvSpPr>
          <p:cNvPr id="33" name="TextBox 33"/>
          <p:cNvSpPr txBox="1"/>
          <p:nvPr/>
        </p:nvSpPr>
        <p:spPr>
          <a:xfrm>
            <a:off x="876300" y="520700"/>
            <a:ext cx="14490700" cy="914400"/>
          </a:xfrm>
          <a:prstGeom prst="rect">
            <a:avLst/>
          </a:prstGeom>
          <a:solidFill>
            <a:srgbClr val="000000">
              <a:alpha val="0"/>
            </a:srgbClr>
          </a:solidFill>
        </p:spPr>
        <p:txBody>
          <a:bodyPr lIns="0" tIns="0" rIns="0" bIns="0" rtlCol="0" anchor="ctr"/>
          <a:lstStyle/>
          <a:p>
            <a:pPr indent="0" algn="l">
              <a:lnSpc>
                <a:spcPct val="120000"/>
              </a:lnSpc>
              <a:defRPr/>
            </a:pPr>
            <a:r>
              <a:rPr lang="en-US" sz="3000" b="1">
                <a:solidFill>
                  <a:srgbClr val="000000"/>
                </a:solidFill>
                <a:latin typeface="Ubuntu"/>
              </a:rPr>
              <a:t>Mathematical Formulations and Methodology (Part 2: Evaluation Metrics)</a:t>
            </a:r>
            <a:endParaRPr lang="en-US" sz="1100"/>
          </a:p>
        </p:txBody>
      </p:sp>
      <p:sp>
        <p:nvSpPr>
          <p:cNvPr id="34" name="TextBox 34"/>
          <p:cNvSpPr txBox="1"/>
          <p:nvPr/>
        </p:nvSpPr>
        <p:spPr>
          <a:xfrm>
            <a:off x="977900" y="1727200"/>
            <a:ext cx="5435600" cy="279400"/>
          </a:xfrm>
          <a:prstGeom prst="rect">
            <a:avLst/>
          </a:prstGeom>
          <a:solidFill>
            <a:srgbClr val="000000">
              <a:alpha val="0"/>
            </a:srgbClr>
          </a:solidFill>
        </p:spPr>
        <p:txBody>
          <a:bodyPr lIns="0" tIns="0" rIns="0" bIns="0" rtlCol="0" anchor="ctr"/>
          <a:lstStyle/>
          <a:p>
            <a:pPr indent="0" algn="l">
              <a:lnSpc>
                <a:spcPct val="150000"/>
              </a:lnSpc>
              <a:defRPr/>
            </a:pPr>
            <a:r>
              <a:rPr lang="en-US" sz="1500" b="1">
                <a:solidFill>
                  <a:srgbClr val="000000"/>
                </a:solidFill>
                <a:latin typeface="Poppins"/>
              </a:rPr>
              <a:t>Formula Type</a:t>
            </a:r>
            <a:endParaRPr lang="en-US" sz="1100"/>
          </a:p>
        </p:txBody>
      </p:sp>
      <p:sp>
        <p:nvSpPr>
          <p:cNvPr id="35" name="TextBox 35"/>
          <p:cNvSpPr txBox="1"/>
          <p:nvPr/>
        </p:nvSpPr>
        <p:spPr>
          <a:xfrm>
            <a:off x="6604000" y="1727200"/>
            <a:ext cx="2946400" cy="279400"/>
          </a:xfrm>
          <a:prstGeom prst="rect">
            <a:avLst/>
          </a:prstGeom>
          <a:solidFill>
            <a:srgbClr val="000000">
              <a:alpha val="0"/>
            </a:srgbClr>
          </a:solidFill>
        </p:spPr>
        <p:txBody>
          <a:bodyPr lIns="0" tIns="0" rIns="0" bIns="0" rtlCol="0" anchor="ctr"/>
          <a:lstStyle/>
          <a:p>
            <a:pPr indent="0" algn="l">
              <a:lnSpc>
                <a:spcPct val="150000"/>
              </a:lnSpc>
              <a:defRPr/>
            </a:pPr>
            <a:r>
              <a:rPr lang="en-US" sz="1500" b="1">
                <a:solidFill>
                  <a:srgbClr val="000000"/>
                </a:solidFill>
                <a:latin typeface="Poppins"/>
              </a:rPr>
              <a:t>Simple Meaning</a:t>
            </a:r>
            <a:endParaRPr lang="en-US" sz="1100"/>
          </a:p>
        </p:txBody>
      </p:sp>
      <p:sp>
        <p:nvSpPr>
          <p:cNvPr id="36" name="TextBox 36"/>
          <p:cNvSpPr txBox="1"/>
          <p:nvPr/>
        </p:nvSpPr>
        <p:spPr>
          <a:xfrm>
            <a:off x="9728200" y="1727200"/>
            <a:ext cx="2006600" cy="279400"/>
          </a:xfrm>
          <a:prstGeom prst="rect">
            <a:avLst/>
          </a:prstGeom>
          <a:solidFill>
            <a:srgbClr val="000000">
              <a:alpha val="0"/>
            </a:srgbClr>
          </a:solidFill>
        </p:spPr>
        <p:txBody>
          <a:bodyPr lIns="0" tIns="0" rIns="0" bIns="0" rtlCol="0" anchor="ctr"/>
          <a:lstStyle/>
          <a:p>
            <a:pPr indent="0" algn="l">
              <a:lnSpc>
                <a:spcPct val="150000"/>
              </a:lnSpc>
              <a:defRPr/>
            </a:pPr>
            <a:r>
              <a:rPr lang="en-US" sz="1500" b="1">
                <a:solidFill>
                  <a:srgbClr val="000000"/>
                </a:solidFill>
                <a:latin typeface="Poppins"/>
              </a:rPr>
              <a:t>Used In</a:t>
            </a:r>
            <a:endParaRPr lang="en-US" sz="1100"/>
          </a:p>
        </p:txBody>
      </p:sp>
      <p:sp>
        <p:nvSpPr>
          <p:cNvPr id="37" name="TextBox 37"/>
          <p:cNvSpPr txBox="1"/>
          <p:nvPr/>
        </p:nvSpPr>
        <p:spPr>
          <a:xfrm>
            <a:off x="11925300" y="1727200"/>
            <a:ext cx="3327400" cy="279400"/>
          </a:xfrm>
          <a:prstGeom prst="rect">
            <a:avLst/>
          </a:prstGeom>
          <a:solidFill>
            <a:srgbClr val="000000">
              <a:alpha val="0"/>
            </a:srgbClr>
          </a:solidFill>
        </p:spPr>
        <p:txBody>
          <a:bodyPr lIns="0" tIns="0" rIns="0" bIns="0" rtlCol="0" anchor="ctr"/>
          <a:lstStyle/>
          <a:p>
            <a:pPr indent="0" algn="l">
              <a:lnSpc>
                <a:spcPct val="150000"/>
              </a:lnSpc>
              <a:defRPr/>
            </a:pPr>
            <a:r>
              <a:rPr lang="en-US" sz="1500" b="1">
                <a:solidFill>
                  <a:srgbClr val="000000"/>
                </a:solidFill>
                <a:latin typeface="Poppins"/>
              </a:rPr>
              <a:t>Purpose</a:t>
            </a:r>
            <a:endParaRPr lang="en-US" sz="1100"/>
          </a:p>
        </p:txBody>
      </p:sp>
      <p:sp>
        <p:nvSpPr>
          <p:cNvPr id="38" name="TextBox 38"/>
          <p:cNvSpPr txBox="1"/>
          <p:nvPr/>
        </p:nvSpPr>
        <p:spPr>
          <a:xfrm>
            <a:off x="977900" y="2146300"/>
            <a:ext cx="5435600" cy="279400"/>
          </a:xfrm>
          <a:prstGeom prst="rect">
            <a:avLst/>
          </a:prstGeom>
          <a:solidFill>
            <a:srgbClr val="000000">
              <a:alpha val="0"/>
            </a:srgbClr>
          </a:solidFill>
        </p:spPr>
        <p:txBody>
          <a:bodyPr lIns="0" tIns="0" rIns="0" bIns="0" rtlCol="0" anchor="ctr"/>
          <a:lstStyle/>
          <a:p>
            <a:pPr indent="0" algn="l">
              <a:lnSpc>
                <a:spcPct val="150000"/>
              </a:lnSpc>
              <a:defRPr/>
            </a:pPr>
            <a:r>
              <a:rPr lang="en-US" sz="1500" b="1">
                <a:solidFill>
                  <a:srgbClr val="000000"/>
                </a:solidFill>
                <a:latin typeface="Poppins"/>
              </a:rPr>
              <a:t>Risk Mitigation</a:t>
            </a:r>
            <a:endParaRPr lang="en-US" sz="1100"/>
          </a:p>
        </p:txBody>
      </p:sp>
      <p:sp>
        <p:nvSpPr>
          <p:cNvPr id="39" name="TextBox 39"/>
          <p:cNvSpPr txBox="1"/>
          <p:nvPr/>
        </p:nvSpPr>
        <p:spPr>
          <a:xfrm>
            <a:off x="6604000" y="2146300"/>
            <a:ext cx="2946400" cy="850900"/>
          </a:xfrm>
          <a:prstGeom prst="rect">
            <a:avLst/>
          </a:prstGeom>
          <a:solidFill>
            <a:srgbClr val="000000">
              <a:alpha val="0"/>
            </a:srgbClr>
          </a:solidFill>
        </p:spPr>
        <p:txBody>
          <a:bodyPr lIns="0" tIns="0" rIns="0" bIns="0" rtlCol="0" anchor="ctr"/>
          <a:lstStyle/>
          <a:p>
            <a:pPr indent="0" algn="l">
              <a:lnSpc>
                <a:spcPct val="150000"/>
              </a:lnSpc>
              <a:defRPr/>
            </a:pPr>
            <a:r>
              <a:rPr lang="en-US" sz="1500" b="1">
                <a:solidFill>
                  <a:srgbClr val="000000"/>
                </a:solidFill>
                <a:latin typeface="Poppins"/>
              </a:rPr>
              <a:t>Percentage of high-risk events prevented or mitigated</a:t>
            </a:r>
            <a:endParaRPr lang="en-US" sz="1100"/>
          </a:p>
        </p:txBody>
      </p:sp>
      <p:sp>
        <p:nvSpPr>
          <p:cNvPr id="40" name="TextBox 40"/>
          <p:cNvSpPr txBox="1"/>
          <p:nvPr/>
        </p:nvSpPr>
        <p:spPr>
          <a:xfrm>
            <a:off x="9728200" y="2146300"/>
            <a:ext cx="2006600" cy="850900"/>
          </a:xfrm>
          <a:prstGeom prst="rect">
            <a:avLst/>
          </a:prstGeom>
          <a:solidFill>
            <a:srgbClr val="000000">
              <a:alpha val="0"/>
            </a:srgbClr>
          </a:solidFill>
        </p:spPr>
        <p:txBody>
          <a:bodyPr lIns="0" tIns="0" rIns="0" bIns="0" rtlCol="0" anchor="ctr"/>
          <a:lstStyle/>
          <a:p>
            <a:pPr indent="0" algn="l">
              <a:lnSpc>
                <a:spcPct val="150000"/>
              </a:lnSpc>
              <a:defRPr/>
            </a:pPr>
            <a:r>
              <a:rPr lang="en-US" sz="1500" b="1">
                <a:solidFill>
                  <a:srgbClr val="000000"/>
                </a:solidFill>
                <a:latin typeface="Poppins"/>
              </a:rPr>
              <a:t>Experiment Running evaluation</a:t>
            </a:r>
            <a:endParaRPr lang="en-US" sz="1100"/>
          </a:p>
        </p:txBody>
      </p:sp>
      <p:sp>
        <p:nvSpPr>
          <p:cNvPr id="41" name="TextBox 41"/>
          <p:cNvSpPr txBox="1"/>
          <p:nvPr/>
        </p:nvSpPr>
        <p:spPr>
          <a:xfrm>
            <a:off x="11925300" y="2146300"/>
            <a:ext cx="3327400" cy="850900"/>
          </a:xfrm>
          <a:prstGeom prst="rect">
            <a:avLst/>
          </a:prstGeom>
          <a:solidFill>
            <a:srgbClr val="000000">
              <a:alpha val="0"/>
            </a:srgbClr>
          </a:solidFill>
        </p:spPr>
        <p:txBody>
          <a:bodyPr lIns="0" tIns="0" rIns="0" bIns="0" rtlCol="0" anchor="ctr"/>
          <a:lstStyle/>
          <a:p>
            <a:pPr indent="0" algn="l">
              <a:lnSpc>
                <a:spcPct val="150000"/>
              </a:lnSpc>
              <a:defRPr/>
            </a:pPr>
            <a:r>
              <a:rPr lang="en-US" sz="1500" b="1">
                <a:solidFill>
                  <a:srgbClr val="000000"/>
                </a:solidFill>
                <a:latin typeface="Poppins"/>
              </a:rPr>
              <a:t>Measures effectiveness in reducing operational risk exposure</a:t>
            </a:r>
            <a:endParaRPr lang="en-US" sz="1100"/>
          </a:p>
        </p:txBody>
      </p:sp>
      <p:sp>
        <p:nvSpPr>
          <p:cNvPr id="42" name="TextBox 42"/>
          <p:cNvSpPr txBox="1"/>
          <p:nvPr/>
        </p:nvSpPr>
        <p:spPr>
          <a:xfrm>
            <a:off x="977900" y="3136900"/>
            <a:ext cx="5435600" cy="279400"/>
          </a:xfrm>
          <a:prstGeom prst="rect">
            <a:avLst/>
          </a:prstGeom>
          <a:solidFill>
            <a:srgbClr val="000000">
              <a:alpha val="0"/>
            </a:srgbClr>
          </a:solidFill>
        </p:spPr>
        <p:txBody>
          <a:bodyPr lIns="0" tIns="0" rIns="0" bIns="0" rtlCol="0" anchor="ctr"/>
          <a:lstStyle/>
          <a:p>
            <a:pPr indent="0" algn="l">
              <a:lnSpc>
                <a:spcPct val="150000"/>
              </a:lnSpc>
              <a:defRPr/>
            </a:pPr>
            <a:r>
              <a:rPr lang="en-US" sz="1500" b="1">
                <a:solidFill>
                  <a:srgbClr val="000000"/>
                </a:solidFill>
                <a:latin typeface="Poppins"/>
              </a:rPr>
              <a:t>Cost Efficiency</a:t>
            </a:r>
            <a:endParaRPr lang="en-US" sz="1100"/>
          </a:p>
        </p:txBody>
      </p:sp>
      <p:sp>
        <p:nvSpPr>
          <p:cNvPr id="43" name="TextBox 43"/>
          <p:cNvSpPr txBox="1"/>
          <p:nvPr/>
        </p:nvSpPr>
        <p:spPr>
          <a:xfrm>
            <a:off x="6604000" y="3136900"/>
            <a:ext cx="2946400" cy="850900"/>
          </a:xfrm>
          <a:prstGeom prst="rect">
            <a:avLst/>
          </a:prstGeom>
          <a:solidFill>
            <a:srgbClr val="000000">
              <a:alpha val="0"/>
            </a:srgbClr>
          </a:solidFill>
        </p:spPr>
        <p:txBody>
          <a:bodyPr lIns="0" tIns="0" rIns="0" bIns="0" rtlCol="0" anchor="ctr"/>
          <a:lstStyle/>
          <a:p>
            <a:pPr indent="0" algn="l">
              <a:lnSpc>
                <a:spcPct val="150000"/>
              </a:lnSpc>
              <a:defRPr/>
            </a:pPr>
            <a:r>
              <a:rPr lang="en-US" sz="1500" b="1">
                <a:solidFill>
                  <a:srgbClr val="000000"/>
                </a:solidFill>
                <a:latin typeface="Poppins"/>
              </a:rPr>
              <a:t>Ratio of audit resources saved to baseline audit cost</a:t>
            </a:r>
            <a:endParaRPr lang="en-US" sz="1100"/>
          </a:p>
        </p:txBody>
      </p:sp>
      <p:sp>
        <p:nvSpPr>
          <p:cNvPr id="44" name="TextBox 44"/>
          <p:cNvSpPr txBox="1"/>
          <p:nvPr/>
        </p:nvSpPr>
        <p:spPr>
          <a:xfrm>
            <a:off x="9728200" y="3136900"/>
            <a:ext cx="2006600" cy="850900"/>
          </a:xfrm>
          <a:prstGeom prst="rect">
            <a:avLst/>
          </a:prstGeom>
          <a:solidFill>
            <a:srgbClr val="000000">
              <a:alpha val="0"/>
            </a:srgbClr>
          </a:solidFill>
        </p:spPr>
        <p:txBody>
          <a:bodyPr lIns="0" tIns="0" rIns="0" bIns="0" rtlCol="0" anchor="ctr"/>
          <a:lstStyle/>
          <a:p>
            <a:pPr indent="0" algn="l">
              <a:lnSpc>
                <a:spcPct val="150000"/>
              </a:lnSpc>
              <a:defRPr/>
            </a:pPr>
            <a:r>
              <a:rPr lang="en-US" sz="1500" b="1">
                <a:solidFill>
                  <a:srgbClr val="000000"/>
                </a:solidFill>
                <a:latin typeface="Poppins"/>
              </a:rPr>
              <a:t>Experiment Running evaluation</a:t>
            </a:r>
            <a:endParaRPr lang="en-US" sz="1100"/>
          </a:p>
        </p:txBody>
      </p:sp>
      <p:sp>
        <p:nvSpPr>
          <p:cNvPr id="45" name="TextBox 45"/>
          <p:cNvSpPr txBox="1"/>
          <p:nvPr/>
        </p:nvSpPr>
        <p:spPr>
          <a:xfrm>
            <a:off x="11925300" y="3136900"/>
            <a:ext cx="3327400" cy="850900"/>
          </a:xfrm>
          <a:prstGeom prst="rect">
            <a:avLst/>
          </a:prstGeom>
          <a:solidFill>
            <a:srgbClr val="000000">
              <a:alpha val="0"/>
            </a:srgbClr>
          </a:solidFill>
        </p:spPr>
        <p:txBody>
          <a:bodyPr lIns="0" tIns="0" rIns="0" bIns="0" rtlCol="0" anchor="ctr"/>
          <a:lstStyle/>
          <a:p>
            <a:pPr indent="0" algn="l">
              <a:lnSpc>
                <a:spcPct val="150000"/>
              </a:lnSpc>
              <a:defRPr/>
            </a:pPr>
            <a:r>
              <a:rPr lang="en-US" sz="1500" b="1">
                <a:solidFill>
                  <a:srgbClr val="000000"/>
                </a:solidFill>
                <a:latin typeface="Poppins"/>
              </a:rPr>
              <a:t>Quantifies operational cost savings from intelligent audit allocation</a:t>
            </a:r>
            <a:endParaRPr lang="en-US" sz="1100"/>
          </a:p>
        </p:txBody>
      </p:sp>
      <p:sp>
        <p:nvSpPr>
          <p:cNvPr id="46" name="TextBox 46"/>
          <p:cNvSpPr txBox="1"/>
          <p:nvPr/>
        </p:nvSpPr>
        <p:spPr>
          <a:xfrm>
            <a:off x="977900" y="4140200"/>
            <a:ext cx="5435600" cy="279400"/>
          </a:xfrm>
          <a:prstGeom prst="rect">
            <a:avLst/>
          </a:prstGeom>
          <a:solidFill>
            <a:srgbClr val="000000">
              <a:alpha val="0"/>
            </a:srgbClr>
          </a:solidFill>
        </p:spPr>
        <p:txBody>
          <a:bodyPr lIns="0" tIns="0" rIns="0" bIns="0" rtlCol="0" anchor="ctr"/>
          <a:lstStyle/>
          <a:p>
            <a:pPr indent="0" algn="l">
              <a:lnSpc>
                <a:spcPct val="150000"/>
              </a:lnSpc>
              <a:defRPr/>
            </a:pPr>
            <a:r>
              <a:rPr lang="en-US" sz="1500" b="1">
                <a:solidFill>
                  <a:srgbClr val="000000"/>
                </a:solidFill>
                <a:latin typeface="Poppins"/>
              </a:rPr>
              <a:t>Attack Rate Reduction</a:t>
            </a:r>
            <a:endParaRPr lang="en-US" sz="1100"/>
          </a:p>
        </p:txBody>
      </p:sp>
      <p:sp>
        <p:nvSpPr>
          <p:cNvPr id="47" name="TextBox 47"/>
          <p:cNvSpPr txBox="1"/>
          <p:nvPr/>
        </p:nvSpPr>
        <p:spPr>
          <a:xfrm>
            <a:off x="6604000" y="4140200"/>
            <a:ext cx="2946400" cy="850900"/>
          </a:xfrm>
          <a:prstGeom prst="rect">
            <a:avLst/>
          </a:prstGeom>
          <a:solidFill>
            <a:srgbClr val="000000">
              <a:alpha val="0"/>
            </a:srgbClr>
          </a:solidFill>
        </p:spPr>
        <p:txBody>
          <a:bodyPr lIns="0" tIns="0" rIns="0" bIns="0" rtlCol="0" anchor="ctr"/>
          <a:lstStyle/>
          <a:p>
            <a:pPr indent="0" algn="l">
              <a:lnSpc>
                <a:spcPct val="150000"/>
              </a:lnSpc>
              <a:defRPr/>
            </a:pPr>
            <a:r>
              <a:rPr lang="en-US" sz="1500" b="1">
                <a:solidFill>
                  <a:srgbClr val="000000"/>
                </a:solidFill>
                <a:latin typeface="Poppins"/>
              </a:rPr>
              <a:t>Percentage decrease in successful attack events vs baseline</a:t>
            </a:r>
            <a:endParaRPr lang="en-US" sz="1100"/>
          </a:p>
        </p:txBody>
      </p:sp>
      <p:sp>
        <p:nvSpPr>
          <p:cNvPr id="48" name="TextBox 48"/>
          <p:cNvSpPr txBox="1"/>
          <p:nvPr/>
        </p:nvSpPr>
        <p:spPr>
          <a:xfrm>
            <a:off x="9728200" y="4140200"/>
            <a:ext cx="2006600" cy="850900"/>
          </a:xfrm>
          <a:prstGeom prst="rect">
            <a:avLst/>
          </a:prstGeom>
          <a:solidFill>
            <a:srgbClr val="000000">
              <a:alpha val="0"/>
            </a:srgbClr>
          </a:solidFill>
        </p:spPr>
        <p:txBody>
          <a:bodyPr lIns="0" tIns="0" rIns="0" bIns="0" rtlCol="0" anchor="ctr"/>
          <a:lstStyle/>
          <a:p>
            <a:pPr indent="0" algn="l">
              <a:lnSpc>
                <a:spcPct val="150000"/>
              </a:lnSpc>
              <a:defRPr/>
            </a:pPr>
            <a:r>
              <a:rPr lang="en-US" sz="1500" b="1">
                <a:solidFill>
                  <a:srgbClr val="000000"/>
                </a:solidFill>
                <a:latin typeface="Poppins"/>
              </a:rPr>
              <a:t>Experiment Running evaluation</a:t>
            </a:r>
            <a:endParaRPr lang="en-US" sz="1100"/>
          </a:p>
        </p:txBody>
      </p:sp>
      <p:sp>
        <p:nvSpPr>
          <p:cNvPr id="49" name="TextBox 49"/>
          <p:cNvSpPr txBox="1"/>
          <p:nvPr/>
        </p:nvSpPr>
        <p:spPr>
          <a:xfrm>
            <a:off x="11925300" y="4140200"/>
            <a:ext cx="3327400" cy="850900"/>
          </a:xfrm>
          <a:prstGeom prst="rect">
            <a:avLst/>
          </a:prstGeom>
          <a:solidFill>
            <a:srgbClr val="000000">
              <a:alpha val="0"/>
            </a:srgbClr>
          </a:solidFill>
        </p:spPr>
        <p:txBody>
          <a:bodyPr lIns="0" tIns="0" rIns="0" bIns="0" rtlCol="0" anchor="ctr"/>
          <a:lstStyle/>
          <a:p>
            <a:pPr indent="0" algn="l">
              <a:lnSpc>
                <a:spcPct val="150000"/>
              </a:lnSpc>
              <a:defRPr/>
            </a:pPr>
            <a:r>
              <a:rPr lang="en-US" sz="1500" b="1">
                <a:solidFill>
                  <a:srgbClr val="000000"/>
                </a:solidFill>
                <a:latin typeface="Poppins"/>
              </a:rPr>
              <a:t>Measures security improvement from framework deployment</a:t>
            </a:r>
            <a:endParaRPr lang="en-US" sz="1100"/>
          </a:p>
        </p:txBody>
      </p:sp>
      <p:sp>
        <p:nvSpPr>
          <p:cNvPr id="50" name="TextBox 50"/>
          <p:cNvSpPr txBox="1"/>
          <p:nvPr/>
        </p:nvSpPr>
        <p:spPr>
          <a:xfrm>
            <a:off x="977900" y="5130800"/>
            <a:ext cx="5435600" cy="279400"/>
          </a:xfrm>
          <a:prstGeom prst="rect">
            <a:avLst/>
          </a:prstGeom>
          <a:solidFill>
            <a:srgbClr val="000000">
              <a:alpha val="0"/>
            </a:srgbClr>
          </a:solidFill>
        </p:spPr>
        <p:txBody>
          <a:bodyPr lIns="0" tIns="0" rIns="0" bIns="0" rtlCol="0" anchor="ctr"/>
          <a:lstStyle/>
          <a:p>
            <a:pPr indent="0" algn="l">
              <a:lnSpc>
                <a:spcPct val="150000"/>
              </a:lnSpc>
              <a:defRPr/>
            </a:pPr>
            <a:r>
              <a:rPr lang="en-US" sz="1500" b="1">
                <a:solidFill>
                  <a:srgbClr val="000000"/>
                </a:solidFill>
                <a:latin typeface="Poppins"/>
              </a:rPr>
              <a:t>Accuracy = (TP+TN)/(TP+TN+FP+FN)</a:t>
            </a:r>
            <a:endParaRPr lang="en-US" sz="1100"/>
          </a:p>
        </p:txBody>
      </p:sp>
      <p:sp>
        <p:nvSpPr>
          <p:cNvPr id="51" name="TextBox 51"/>
          <p:cNvSpPr txBox="1"/>
          <p:nvPr/>
        </p:nvSpPr>
        <p:spPr>
          <a:xfrm>
            <a:off x="6604000" y="5130800"/>
            <a:ext cx="2946400" cy="571500"/>
          </a:xfrm>
          <a:prstGeom prst="rect">
            <a:avLst/>
          </a:prstGeom>
          <a:solidFill>
            <a:srgbClr val="000000">
              <a:alpha val="0"/>
            </a:srgbClr>
          </a:solidFill>
        </p:spPr>
        <p:txBody>
          <a:bodyPr lIns="0" tIns="0" rIns="0" bIns="0" rtlCol="0" anchor="ctr"/>
          <a:lstStyle/>
          <a:p>
            <a:pPr indent="0" algn="l">
              <a:lnSpc>
                <a:spcPct val="150000"/>
              </a:lnSpc>
              <a:defRPr/>
            </a:pPr>
            <a:r>
              <a:rPr lang="en-US" sz="1500" b="1">
                <a:solidFill>
                  <a:srgbClr val="000000"/>
                </a:solidFill>
                <a:latin typeface="Poppins"/>
              </a:rPr>
              <a:t>Overall correctness across all classes</a:t>
            </a:r>
            <a:endParaRPr lang="en-US" sz="1100"/>
          </a:p>
        </p:txBody>
      </p:sp>
      <p:sp>
        <p:nvSpPr>
          <p:cNvPr id="52" name="TextBox 52"/>
          <p:cNvSpPr txBox="1"/>
          <p:nvPr/>
        </p:nvSpPr>
        <p:spPr>
          <a:xfrm>
            <a:off x="9728200" y="5130800"/>
            <a:ext cx="2006600" cy="850900"/>
          </a:xfrm>
          <a:prstGeom prst="rect">
            <a:avLst/>
          </a:prstGeom>
          <a:solidFill>
            <a:srgbClr val="000000">
              <a:alpha val="0"/>
            </a:srgbClr>
          </a:solidFill>
        </p:spPr>
        <p:txBody>
          <a:bodyPr lIns="0" tIns="0" rIns="0" bIns="0" rtlCol="0" anchor="ctr"/>
          <a:lstStyle/>
          <a:p>
            <a:pPr indent="0" algn="l">
              <a:lnSpc>
                <a:spcPct val="150000"/>
              </a:lnSpc>
              <a:defRPr/>
            </a:pPr>
            <a:r>
              <a:rPr lang="en-US" sz="1500" b="1">
                <a:solidFill>
                  <a:srgbClr val="000000"/>
                </a:solidFill>
                <a:latin typeface="Poppins"/>
              </a:rPr>
              <a:t>Experiment Running evaluation</a:t>
            </a:r>
            <a:endParaRPr lang="en-US" sz="1100"/>
          </a:p>
        </p:txBody>
      </p:sp>
      <p:sp>
        <p:nvSpPr>
          <p:cNvPr id="53" name="TextBox 53"/>
          <p:cNvSpPr txBox="1"/>
          <p:nvPr/>
        </p:nvSpPr>
        <p:spPr>
          <a:xfrm>
            <a:off x="11925300" y="5130800"/>
            <a:ext cx="3327400" cy="850900"/>
          </a:xfrm>
          <a:prstGeom prst="rect">
            <a:avLst/>
          </a:prstGeom>
          <a:solidFill>
            <a:srgbClr val="000000">
              <a:alpha val="0"/>
            </a:srgbClr>
          </a:solidFill>
        </p:spPr>
        <p:txBody>
          <a:bodyPr lIns="0" tIns="0" rIns="0" bIns="0" rtlCol="0" anchor="ctr"/>
          <a:lstStyle/>
          <a:p>
            <a:pPr indent="0" algn="l">
              <a:lnSpc>
                <a:spcPct val="150000"/>
              </a:lnSpc>
              <a:defRPr/>
            </a:pPr>
            <a:r>
              <a:rPr lang="en-US" sz="1500" b="1">
                <a:solidFill>
                  <a:srgbClr val="000000"/>
                </a:solidFill>
                <a:latin typeface="Poppins"/>
              </a:rPr>
              <a:t>Standard classification accuracy for anomaly detection</a:t>
            </a:r>
            <a:endParaRPr lang="en-US" sz="1100"/>
          </a:p>
        </p:txBody>
      </p:sp>
      <p:sp>
        <p:nvSpPr>
          <p:cNvPr id="54" name="TextBox 54"/>
          <p:cNvSpPr txBox="1"/>
          <p:nvPr/>
        </p:nvSpPr>
        <p:spPr>
          <a:xfrm>
            <a:off x="977900" y="6121400"/>
            <a:ext cx="5435600" cy="279400"/>
          </a:xfrm>
          <a:prstGeom prst="rect">
            <a:avLst/>
          </a:prstGeom>
          <a:solidFill>
            <a:srgbClr val="000000">
              <a:alpha val="0"/>
            </a:srgbClr>
          </a:solidFill>
        </p:spPr>
        <p:txBody>
          <a:bodyPr lIns="0" tIns="0" rIns="0" bIns="0" rtlCol="0" anchor="ctr"/>
          <a:lstStyle/>
          <a:p>
            <a:pPr indent="0" algn="l">
              <a:lnSpc>
                <a:spcPct val="150000"/>
              </a:lnSpc>
              <a:defRPr/>
            </a:pPr>
            <a:r>
              <a:rPr lang="en-US" sz="1500" b="1">
                <a:solidFill>
                  <a:srgbClr val="000000"/>
                </a:solidFill>
                <a:latin typeface="Poppins"/>
              </a:rPr>
              <a:t>Recall = TP/(TP+FN)</a:t>
            </a:r>
            <a:endParaRPr lang="en-US" sz="1100"/>
          </a:p>
        </p:txBody>
      </p:sp>
      <p:sp>
        <p:nvSpPr>
          <p:cNvPr id="55" name="TextBox 55"/>
          <p:cNvSpPr txBox="1"/>
          <p:nvPr/>
        </p:nvSpPr>
        <p:spPr>
          <a:xfrm>
            <a:off x="6604000" y="6121400"/>
            <a:ext cx="2946400" cy="850900"/>
          </a:xfrm>
          <a:prstGeom prst="rect">
            <a:avLst/>
          </a:prstGeom>
          <a:solidFill>
            <a:srgbClr val="000000">
              <a:alpha val="0"/>
            </a:srgbClr>
          </a:solidFill>
        </p:spPr>
        <p:txBody>
          <a:bodyPr lIns="0" tIns="0" rIns="0" bIns="0" rtlCol="0" anchor="ctr"/>
          <a:lstStyle/>
          <a:p>
            <a:pPr indent="0" algn="l">
              <a:lnSpc>
                <a:spcPct val="150000"/>
              </a:lnSpc>
              <a:defRPr/>
            </a:pPr>
            <a:r>
              <a:rPr lang="en-US" sz="1500" b="1">
                <a:solidFill>
                  <a:srgbClr val="000000"/>
                </a:solidFill>
                <a:latin typeface="Poppins"/>
              </a:rPr>
              <a:t>Proportion of actual anomalies correctly identified</a:t>
            </a:r>
            <a:endParaRPr lang="en-US" sz="1100"/>
          </a:p>
        </p:txBody>
      </p:sp>
      <p:sp>
        <p:nvSpPr>
          <p:cNvPr id="56" name="TextBox 56"/>
          <p:cNvSpPr txBox="1"/>
          <p:nvPr/>
        </p:nvSpPr>
        <p:spPr>
          <a:xfrm>
            <a:off x="9728200" y="6121400"/>
            <a:ext cx="2006600" cy="850900"/>
          </a:xfrm>
          <a:prstGeom prst="rect">
            <a:avLst/>
          </a:prstGeom>
          <a:solidFill>
            <a:srgbClr val="000000">
              <a:alpha val="0"/>
            </a:srgbClr>
          </a:solidFill>
        </p:spPr>
        <p:txBody>
          <a:bodyPr lIns="0" tIns="0" rIns="0" bIns="0" rtlCol="0" anchor="ctr"/>
          <a:lstStyle/>
          <a:p>
            <a:pPr indent="0" algn="l">
              <a:lnSpc>
                <a:spcPct val="150000"/>
              </a:lnSpc>
              <a:defRPr/>
            </a:pPr>
            <a:r>
              <a:rPr lang="en-US" sz="1500" b="1">
                <a:solidFill>
                  <a:srgbClr val="000000"/>
                </a:solidFill>
                <a:latin typeface="Poppins"/>
              </a:rPr>
              <a:t>Experiment Running evaluation</a:t>
            </a:r>
            <a:endParaRPr lang="en-US" sz="1100"/>
          </a:p>
        </p:txBody>
      </p:sp>
      <p:sp>
        <p:nvSpPr>
          <p:cNvPr id="57" name="TextBox 57"/>
          <p:cNvSpPr txBox="1"/>
          <p:nvPr/>
        </p:nvSpPr>
        <p:spPr>
          <a:xfrm>
            <a:off x="11925300" y="6121400"/>
            <a:ext cx="3327400" cy="571500"/>
          </a:xfrm>
          <a:prstGeom prst="rect">
            <a:avLst/>
          </a:prstGeom>
          <a:solidFill>
            <a:srgbClr val="000000">
              <a:alpha val="0"/>
            </a:srgbClr>
          </a:solidFill>
        </p:spPr>
        <p:txBody>
          <a:bodyPr lIns="0" tIns="0" rIns="0" bIns="0" rtlCol="0" anchor="ctr"/>
          <a:lstStyle/>
          <a:p>
            <a:pPr indent="0" algn="l">
              <a:lnSpc>
                <a:spcPct val="150000"/>
              </a:lnSpc>
              <a:defRPr/>
            </a:pPr>
            <a:r>
              <a:rPr lang="en-US" sz="1500" b="1">
                <a:solidFill>
                  <a:srgbClr val="000000"/>
                </a:solidFill>
                <a:latin typeface="Poppins"/>
              </a:rPr>
              <a:t>Measures sensitivity to true anomaly events</a:t>
            </a:r>
            <a:endParaRPr lang="en-US" sz="1100"/>
          </a:p>
        </p:txBody>
      </p:sp>
      <p:sp>
        <p:nvSpPr>
          <p:cNvPr id="58" name="TextBox 58"/>
          <p:cNvSpPr txBox="1"/>
          <p:nvPr/>
        </p:nvSpPr>
        <p:spPr>
          <a:xfrm>
            <a:off x="977900" y="7112000"/>
            <a:ext cx="5435600" cy="571500"/>
          </a:xfrm>
          <a:prstGeom prst="rect">
            <a:avLst/>
          </a:prstGeom>
          <a:solidFill>
            <a:srgbClr val="000000">
              <a:alpha val="0"/>
            </a:srgbClr>
          </a:solidFill>
        </p:spPr>
        <p:txBody>
          <a:bodyPr lIns="0" tIns="0" rIns="0" bIns="0" rtlCol="0" anchor="ctr"/>
          <a:lstStyle/>
          <a:p>
            <a:pPr indent="0" algn="l">
              <a:lnSpc>
                <a:spcPct val="150000"/>
              </a:lnSpc>
              <a:defRPr/>
            </a:pPr>
            <a:r>
              <a:rPr lang="en-US" sz="1500" b="1">
                <a:solidFill>
                  <a:srgbClr val="000000"/>
                </a:solidFill>
                <a:latin typeface="Poppins"/>
              </a:rPr>
              <a:t>F1 Score = 2×(Precision×Recall)/(Precision+Recall)</a:t>
            </a:r>
            <a:endParaRPr lang="en-US" sz="1100"/>
          </a:p>
        </p:txBody>
      </p:sp>
      <p:sp>
        <p:nvSpPr>
          <p:cNvPr id="59" name="TextBox 59"/>
          <p:cNvSpPr txBox="1"/>
          <p:nvPr/>
        </p:nvSpPr>
        <p:spPr>
          <a:xfrm>
            <a:off x="6604000" y="7112000"/>
            <a:ext cx="2946400" cy="850900"/>
          </a:xfrm>
          <a:prstGeom prst="rect">
            <a:avLst/>
          </a:prstGeom>
          <a:solidFill>
            <a:srgbClr val="000000">
              <a:alpha val="0"/>
            </a:srgbClr>
          </a:solidFill>
        </p:spPr>
        <p:txBody>
          <a:bodyPr lIns="0" tIns="0" rIns="0" bIns="0" rtlCol="0" anchor="ctr"/>
          <a:lstStyle/>
          <a:p>
            <a:pPr indent="0" algn="l">
              <a:lnSpc>
                <a:spcPct val="150000"/>
              </a:lnSpc>
              <a:defRPr/>
            </a:pPr>
            <a:r>
              <a:rPr lang="en-US" sz="1500" b="1">
                <a:solidFill>
                  <a:srgbClr val="000000"/>
                </a:solidFill>
                <a:latin typeface="Poppins"/>
              </a:rPr>
              <a:t>Harmonic mean balancing precision and recall</a:t>
            </a:r>
            <a:endParaRPr lang="en-US" sz="1100"/>
          </a:p>
        </p:txBody>
      </p:sp>
      <p:sp>
        <p:nvSpPr>
          <p:cNvPr id="60" name="TextBox 60"/>
          <p:cNvSpPr txBox="1"/>
          <p:nvPr/>
        </p:nvSpPr>
        <p:spPr>
          <a:xfrm>
            <a:off x="9728200" y="7112000"/>
            <a:ext cx="2006600" cy="850900"/>
          </a:xfrm>
          <a:prstGeom prst="rect">
            <a:avLst/>
          </a:prstGeom>
          <a:solidFill>
            <a:srgbClr val="000000">
              <a:alpha val="0"/>
            </a:srgbClr>
          </a:solidFill>
        </p:spPr>
        <p:txBody>
          <a:bodyPr lIns="0" tIns="0" rIns="0" bIns="0" rtlCol="0" anchor="ctr"/>
          <a:lstStyle/>
          <a:p>
            <a:pPr indent="0" algn="l">
              <a:lnSpc>
                <a:spcPct val="150000"/>
              </a:lnSpc>
              <a:defRPr/>
            </a:pPr>
            <a:r>
              <a:rPr lang="en-US" sz="1500" b="1">
                <a:solidFill>
                  <a:srgbClr val="000000"/>
                </a:solidFill>
                <a:latin typeface="Poppins"/>
              </a:rPr>
              <a:t>Experiment Running evaluation</a:t>
            </a:r>
            <a:endParaRPr lang="en-US" sz="1100"/>
          </a:p>
        </p:txBody>
      </p:sp>
      <p:sp>
        <p:nvSpPr>
          <p:cNvPr id="61" name="TextBox 61"/>
          <p:cNvSpPr txBox="1"/>
          <p:nvPr/>
        </p:nvSpPr>
        <p:spPr>
          <a:xfrm>
            <a:off x="11925300" y="7112000"/>
            <a:ext cx="3327400" cy="850900"/>
          </a:xfrm>
          <a:prstGeom prst="rect">
            <a:avLst/>
          </a:prstGeom>
          <a:solidFill>
            <a:srgbClr val="000000">
              <a:alpha val="0"/>
            </a:srgbClr>
          </a:solidFill>
        </p:spPr>
        <p:txBody>
          <a:bodyPr lIns="0" tIns="0" rIns="0" bIns="0" rtlCol="0" anchor="ctr"/>
          <a:lstStyle/>
          <a:p>
            <a:pPr indent="0" algn="l">
              <a:lnSpc>
                <a:spcPct val="150000"/>
              </a:lnSpc>
              <a:defRPr/>
            </a:pPr>
            <a:r>
              <a:rPr lang="en-US" sz="1500" b="1">
                <a:solidFill>
                  <a:srgbClr val="000000"/>
                </a:solidFill>
                <a:latin typeface="Poppins"/>
              </a:rPr>
              <a:t>Balances false positives and false negatives under class imbalance</a:t>
            </a:r>
            <a:endParaRPr lang="en-US" sz="110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16256000" cy="9144000"/>
          </a:xfrm>
          <a:prstGeom prst="rect">
            <a:avLst/>
          </a:prstGeom>
          <a:solidFill>
            <a:srgbClr val="0D0A2C">
              <a:alpha val="74902"/>
            </a:srgbClr>
          </a:solidFill>
        </p:spPr>
      </p:sp>
      <p:pic>
        <p:nvPicPr>
          <p:cNvPr id="3" name="Picture 3"/>
          <p:cNvPicPr>
            <a:picLocks noChangeAspect="1"/>
          </p:cNvPicPr>
          <p:nvPr/>
        </p:nvPicPr>
        <p:blipFill>
          <a:blip r:embed="rId2"/>
          <a:srcRect t="56" b="56"/>
          <a:stretch>
            <a:fillRect/>
          </a:stretch>
        </p:blipFill>
        <p:spPr>
          <a:xfrm>
            <a:off x="0" y="0"/>
            <a:ext cx="16256000" cy="9144000"/>
          </a:xfrm>
          <a:prstGeom prst="rect">
            <a:avLst/>
          </a:prstGeom>
        </p:spPr>
      </p:pic>
      <p:sp>
        <p:nvSpPr>
          <p:cNvPr id="4" name="AutoShape 4"/>
          <p:cNvSpPr/>
          <p:nvPr/>
        </p:nvSpPr>
        <p:spPr>
          <a:xfrm>
            <a:off x="876300" y="1193800"/>
            <a:ext cx="14490700" cy="7416800"/>
          </a:xfrm>
          <a:prstGeom prst="rect">
            <a:avLst/>
          </a:prstGeom>
          <a:solidFill>
            <a:srgbClr val="000000">
              <a:alpha val="0"/>
            </a:srgbClr>
          </a:solidFill>
        </p:spPr>
      </p:sp>
      <p:sp>
        <p:nvSpPr>
          <p:cNvPr id="5" name="AutoShape 5"/>
          <p:cNvSpPr/>
          <p:nvPr/>
        </p:nvSpPr>
        <p:spPr>
          <a:xfrm>
            <a:off x="876300" y="1193800"/>
            <a:ext cx="14490700" cy="1422400"/>
          </a:xfrm>
          <a:prstGeom prst="rect">
            <a:avLst/>
          </a:prstGeom>
          <a:solidFill>
            <a:srgbClr val="000000">
              <a:alpha val="0"/>
            </a:srgbClr>
          </a:solidFill>
        </p:spPr>
      </p:sp>
      <p:sp>
        <p:nvSpPr>
          <p:cNvPr id="6" name="AutoShape 6"/>
          <p:cNvSpPr/>
          <p:nvPr/>
        </p:nvSpPr>
        <p:spPr>
          <a:xfrm>
            <a:off x="1003300" y="2616200"/>
            <a:ext cx="11912600" cy="12700"/>
          </a:xfrm>
          <a:prstGeom prst="rect">
            <a:avLst/>
          </a:prstGeom>
          <a:solidFill>
            <a:srgbClr val="A6A6A6"/>
          </a:solidFill>
        </p:spPr>
      </p:sp>
      <p:sp>
        <p:nvSpPr>
          <p:cNvPr id="7" name="AutoShape 7"/>
          <p:cNvSpPr/>
          <p:nvPr/>
        </p:nvSpPr>
        <p:spPr>
          <a:xfrm>
            <a:off x="876300" y="2616200"/>
            <a:ext cx="14490700" cy="1422400"/>
          </a:xfrm>
          <a:prstGeom prst="rect">
            <a:avLst/>
          </a:prstGeom>
          <a:solidFill>
            <a:srgbClr val="000000">
              <a:alpha val="0"/>
            </a:srgbClr>
          </a:solidFill>
        </p:spPr>
      </p:sp>
      <p:sp>
        <p:nvSpPr>
          <p:cNvPr id="8" name="AutoShape 8"/>
          <p:cNvSpPr/>
          <p:nvPr/>
        </p:nvSpPr>
        <p:spPr>
          <a:xfrm>
            <a:off x="1003300" y="4038600"/>
            <a:ext cx="11049000" cy="12700"/>
          </a:xfrm>
          <a:prstGeom prst="rect">
            <a:avLst/>
          </a:prstGeom>
          <a:solidFill>
            <a:srgbClr val="A6A6A6"/>
          </a:solidFill>
        </p:spPr>
      </p:sp>
      <p:sp>
        <p:nvSpPr>
          <p:cNvPr id="9" name="AutoShape 9"/>
          <p:cNvSpPr/>
          <p:nvPr/>
        </p:nvSpPr>
        <p:spPr>
          <a:xfrm>
            <a:off x="876300" y="4038600"/>
            <a:ext cx="14490700" cy="1422400"/>
          </a:xfrm>
          <a:prstGeom prst="rect">
            <a:avLst/>
          </a:prstGeom>
          <a:solidFill>
            <a:srgbClr val="000000">
              <a:alpha val="0"/>
            </a:srgbClr>
          </a:solidFill>
        </p:spPr>
      </p:sp>
      <p:sp>
        <p:nvSpPr>
          <p:cNvPr id="10" name="AutoShape 10"/>
          <p:cNvSpPr/>
          <p:nvPr/>
        </p:nvSpPr>
        <p:spPr>
          <a:xfrm>
            <a:off x="1003300" y="5473700"/>
            <a:ext cx="10172700" cy="12700"/>
          </a:xfrm>
          <a:prstGeom prst="rect">
            <a:avLst/>
          </a:prstGeom>
          <a:solidFill>
            <a:srgbClr val="A6A6A6"/>
          </a:solidFill>
        </p:spPr>
      </p:sp>
      <p:sp>
        <p:nvSpPr>
          <p:cNvPr id="11" name="AutoShape 11"/>
          <p:cNvSpPr/>
          <p:nvPr/>
        </p:nvSpPr>
        <p:spPr>
          <a:xfrm>
            <a:off x="876300" y="5473700"/>
            <a:ext cx="14490700" cy="1422400"/>
          </a:xfrm>
          <a:prstGeom prst="rect">
            <a:avLst/>
          </a:prstGeom>
          <a:solidFill>
            <a:srgbClr val="000000">
              <a:alpha val="0"/>
            </a:srgbClr>
          </a:solidFill>
        </p:spPr>
      </p:sp>
      <p:sp>
        <p:nvSpPr>
          <p:cNvPr id="12" name="AutoShape 12"/>
          <p:cNvSpPr/>
          <p:nvPr/>
        </p:nvSpPr>
        <p:spPr>
          <a:xfrm>
            <a:off x="1003300" y="6896100"/>
            <a:ext cx="9309100" cy="12700"/>
          </a:xfrm>
          <a:prstGeom prst="rect">
            <a:avLst/>
          </a:prstGeom>
          <a:solidFill>
            <a:srgbClr val="A6A6A6"/>
          </a:solidFill>
        </p:spPr>
      </p:sp>
      <p:sp>
        <p:nvSpPr>
          <p:cNvPr id="13" name="AutoShape 13"/>
          <p:cNvSpPr/>
          <p:nvPr/>
        </p:nvSpPr>
        <p:spPr>
          <a:xfrm>
            <a:off x="876300" y="6896100"/>
            <a:ext cx="14490700" cy="1701800"/>
          </a:xfrm>
          <a:prstGeom prst="rect">
            <a:avLst/>
          </a:prstGeom>
          <a:solidFill>
            <a:srgbClr val="000000">
              <a:alpha val="0"/>
            </a:srgbClr>
          </a:solidFill>
        </p:spPr>
      </p:sp>
      <p:sp>
        <p:nvSpPr>
          <p:cNvPr id="14" name="AutoShape 14"/>
          <p:cNvSpPr/>
          <p:nvPr/>
        </p:nvSpPr>
        <p:spPr>
          <a:xfrm>
            <a:off x="1003300" y="8610600"/>
            <a:ext cx="8432800" cy="12700"/>
          </a:xfrm>
          <a:prstGeom prst="rect">
            <a:avLst/>
          </a:prstGeom>
          <a:solidFill>
            <a:srgbClr val="A6A6A6"/>
          </a:solidFill>
        </p:spPr>
      </p:sp>
      <p:pic>
        <p:nvPicPr>
          <p:cNvPr id="15" name="Picture 15"/>
          <p:cNvPicPr>
            <a:picLocks noChangeAspect="1"/>
          </p:cNvPicPr>
          <p:nvPr/>
        </p:nvPicPr>
        <p:blipFill>
          <a:blip r:embed="rId3"/>
          <a:stretch>
            <a:fillRect/>
          </a:stretch>
        </p:blipFill>
        <p:spPr>
          <a:xfrm>
            <a:off x="13322300" y="1193800"/>
            <a:ext cx="1739900" cy="1854200"/>
          </a:xfrm>
          <a:prstGeom prst="rect">
            <a:avLst/>
          </a:prstGeom>
        </p:spPr>
      </p:pic>
      <p:pic>
        <p:nvPicPr>
          <p:cNvPr id="16" name="Picture 16"/>
          <p:cNvPicPr>
            <a:picLocks noChangeAspect="1"/>
          </p:cNvPicPr>
          <p:nvPr/>
        </p:nvPicPr>
        <p:blipFill>
          <a:blip r:embed="rId4"/>
          <a:stretch>
            <a:fillRect/>
          </a:stretch>
        </p:blipFill>
        <p:spPr>
          <a:xfrm>
            <a:off x="13322300" y="1193800"/>
            <a:ext cx="1739900" cy="1854200"/>
          </a:xfrm>
          <a:prstGeom prst="rect">
            <a:avLst/>
          </a:prstGeom>
        </p:spPr>
      </p:pic>
      <p:pic>
        <p:nvPicPr>
          <p:cNvPr id="17" name="Picture 17"/>
          <p:cNvPicPr>
            <a:picLocks noChangeAspect="1"/>
          </p:cNvPicPr>
          <p:nvPr/>
        </p:nvPicPr>
        <p:blipFill>
          <a:blip r:embed="rId5"/>
          <a:stretch>
            <a:fillRect/>
          </a:stretch>
        </p:blipFill>
        <p:spPr>
          <a:xfrm>
            <a:off x="13322300" y="1193800"/>
            <a:ext cx="1739900" cy="1854200"/>
          </a:xfrm>
          <a:prstGeom prst="rect">
            <a:avLst/>
          </a:prstGeom>
        </p:spPr>
      </p:pic>
      <p:pic>
        <p:nvPicPr>
          <p:cNvPr id="18" name="Picture 18"/>
          <p:cNvPicPr>
            <a:picLocks noChangeAspect="1"/>
          </p:cNvPicPr>
          <p:nvPr/>
        </p:nvPicPr>
        <p:blipFill>
          <a:blip r:embed="rId6"/>
          <a:stretch>
            <a:fillRect/>
          </a:stretch>
        </p:blipFill>
        <p:spPr>
          <a:xfrm>
            <a:off x="13322300" y="1193800"/>
            <a:ext cx="1739900" cy="1854200"/>
          </a:xfrm>
          <a:prstGeom prst="rect">
            <a:avLst/>
          </a:prstGeom>
        </p:spPr>
      </p:pic>
      <p:pic>
        <p:nvPicPr>
          <p:cNvPr id="19" name="Picture 19"/>
          <p:cNvPicPr>
            <a:picLocks noChangeAspect="1"/>
          </p:cNvPicPr>
          <p:nvPr/>
        </p:nvPicPr>
        <p:blipFill>
          <a:blip r:embed="rId7"/>
          <a:stretch>
            <a:fillRect/>
          </a:stretch>
        </p:blipFill>
        <p:spPr>
          <a:xfrm>
            <a:off x="12560300" y="2616200"/>
            <a:ext cx="2400300" cy="1854200"/>
          </a:xfrm>
          <a:prstGeom prst="rect">
            <a:avLst/>
          </a:prstGeom>
        </p:spPr>
      </p:pic>
      <p:pic>
        <p:nvPicPr>
          <p:cNvPr id="20" name="Picture 20"/>
          <p:cNvPicPr>
            <a:picLocks noChangeAspect="1"/>
          </p:cNvPicPr>
          <p:nvPr/>
        </p:nvPicPr>
        <p:blipFill>
          <a:blip r:embed="rId8"/>
          <a:stretch>
            <a:fillRect/>
          </a:stretch>
        </p:blipFill>
        <p:spPr>
          <a:xfrm>
            <a:off x="12560300" y="2616200"/>
            <a:ext cx="2400300" cy="1854200"/>
          </a:xfrm>
          <a:prstGeom prst="rect">
            <a:avLst/>
          </a:prstGeom>
        </p:spPr>
      </p:pic>
      <p:pic>
        <p:nvPicPr>
          <p:cNvPr id="21" name="Picture 21"/>
          <p:cNvPicPr>
            <a:picLocks noChangeAspect="1"/>
          </p:cNvPicPr>
          <p:nvPr/>
        </p:nvPicPr>
        <p:blipFill>
          <a:blip r:embed="rId9"/>
          <a:stretch>
            <a:fillRect/>
          </a:stretch>
        </p:blipFill>
        <p:spPr>
          <a:xfrm>
            <a:off x="12560300" y="2616200"/>
            <a:ext cx="2400300" cy="1854200"/>
          </a:xfrm>
          <a:prstGeom prst="rect">
            <a:avLst/>
          </a:prstGeom>
        </p:spPr>
      </p:pic>
      <p:pic>
        <p:nvPicPr>
          <p:cNvPr id="22" name="Picture 22"/>
          <p:cNvPicPr>
            <a:picLocks noChangeAspect="1"/>
          </p:cNvPicPr>
          <p:nvPr/>
        </p:nvPicPr>
        <p:blipFill>
          <a:blip r:embed="rId10"/>
          <a:stretch>
            <a:fillRect/>
          </a:stretch>
        </p:blipFill>
        <p:spPr>
          <a:xfrm>
            <a:off x="11798300" y="4038600"/>
            <a:ext cx="3060700" cy="1854200"/>
          </a:xfrm>
          <a:prstGeom prst="rect">
            <a:avLst/>
          </a:prstGeom>
        </p:spPr>
      </p:pic>
      <p:pic>
        <p:nvPicPr>
          <p:cNvPr id="23" name="Picture 23"/>
          <p:cNvPicPr>
            <a:picLocks noChangeAspect="1"/>
          </p:cNvPicPr>
          <p:nvPr/>
        </p:nvPicPr>
        <p:blipFill>
          <a:blip r:embed="rId11"/>
          <a:stretch>
            <a:fillRect/>
          </a:stretch>
        </p:blipFill>
        <p:spPr>
          <a:xfrm>
            <a:off x="11798300" y="4038600"/>
            <a:ext cx="3060700" cy="1854200"/>
          </a:xfrm>
          <a:prstGeom prst="rect">
            <a:avLst/>
          </a:prstGeom>
        </p:spPr>
      </p:pic>
      <p:pic>
        <p:nvPicPr>
          <p:cNvPr id="24" name="Picture 24"/>
          <p:cNvPicPr>
            <a:picLocks noChangeAspect="1"/>
          </p:cNvPicPr>
          <p:nvPr/>
        </p:nvPicPr>
        <p:blipFill>
          <a:blip r:embed="rId12"/>
          <a:stretch>
            <a:fillRect/>
          </a:stretch>
        </p:blipFill>
        <p:spPr>
          <a:xfrm>
            <a:off x="11798300" y="4038600"/>
            <a:ext cx="3060700" cy="1854200"/>
          </a:xfrm>
          <a:prstGeom prst="rect">
            <a:avLst/>
          </a:prstGeom>
        </p:spPr>
      </p:pic>
      <p:pic>
        <p:nvPicPr>
          <p:cNvPr id="25" name="Picture 25"/>
          <p:cNvPicPr>
            <a:picLocks noChangeAspect="1"/>
          </p:cNvPicPr>
          <p:nvPr/>
        </p:nvPicPr>
        <p:blipFill>
          <a:blip r:embed="rId13"/>
          <a:stretch>
            <a:fillRect/>
          </a:stretch>
        </p:blipFill>
        <p:spPr>
          <a:xfrm>
            <a:off x="11023600" y="5473700"/>
            <a:ext cx="3721100" cy="1854200"/>
          </a:xfrm>
          <a:prstGeom prst="rect">
            <a:avLst/>
          </a:prstGeom>
        </p:spPr>
      </p:pic>
      <p:pic>
        <p:nvPicPr>
          <p:cNvPr id="26" name="Picture 26"/>
          <p:cNvPicPr>
            <a:picLocks noChangeAspect="1"/>
          </p:cNvPicPr>
          <p:nvPr/>
        </p:nvPicPr>
        <p:blipFill>
          <a:blip r:embed="rId14"/>
          <a:stretch>
            <a:fillRect/>
          </a:stretch>
        </p:blipFill>
        <p:spPr>
          <a:xfrm>
            <a:off x="11023600" y="5473700"/>
            <a:ext cx="3721100" cy="1854200"/>
          </a:xfrm>
          <a:prstGeom prst="rect">
            <a:avLst/>
          </a:prstGeom>
        </p:spPr>
      </p:pic>
      <p:pic>
        <p:nvPicPr>
          <p:cNvPr id="27" name="Picture 27"/>
          <p:cNvPicPr>
            <a:picLocks noChangeAspect="1"/>
          </p:cNvPicPr>
          <p:nvPr/>
        </p:nvPicPr>
        <p:blipFill>
          <a:blip r:embed="rId15"/>
          <a:stretch>
            <a:fillRect/>
          </a:stretch>
        </p:blipFill>
        <p:spPr>
          <a:xfrm>
            <a:off x="11023600" y="5473700"/>
            <a:ext cx="3721100" cy="1854200"/>
          </a:xfrm>
          <a:prstGeom prst="rect">
            <a:avLst/>
          </a:prstGeom>
        </p:spPr>
      </p:pic>
      <p:pic>
        <p:nvPicPr>
          <p:cNvPr id="28" name="Picture 28"/>
          <p:cNvPicPr>
            <a:picLocks noChangeAspect="1"/>
          </p:cNvPicPr>
          <p:nvPr/>
        </p:nvPicPr>
        <p:blipFill>
          <a:blip r:embed="rId16"/>
          <a:stretch>
            <a:fillRect/>
          </a:stretch>
        </p:blipFill>
        <p:spPr>
          <a:xfrm>
            <a:off x="10261600" y="6896100"/>
            <a:ext cx="4394200" cy="2146300"/>
          </a:xfrm>
          <a:prstGeom prst="rect">
            <a:avLst/>
          </a:prstGeom>
        </p:spPr>
      </p:pic>
      <p:pic>
        <p:nvPicPr>
          <p:cNvPr id="29" name="Picture 29"/>
          <p:cNvPicPr>
            <a:picLocks noChangeAspect="1"/>
          </p:cNvPicPr>
          <p:nvPr/>
        </p:nvPicPr>
        <p:blipFill>
          <a:blip r:embed="rId17"/>
          <a:stretch>
            <a:fillRect/>
          </a:stretch>
        </p:blipFill>
        <p:spPr>
          <a:xfrm>
            <a:off x="10261600" y="6896100"/>
            <a:ext cx="4394200" cy="2146300"/>
          </a:xfrm>
          <a:prstGeom prst="rect">
            <a:avLst/>
          </a:prstGeom>
        </p:spPr>
      </p:pic>
      <p:pic>
        <p:nvPicPr>
          <p:cNvPr id="30" name="Picture 30"/>
          <p:cNvPicPr>
            <a:picLocks noChangeAspect="1"/>
          </p:cNvPicPr>
          <p:nvPr/>
        </p:nvPicPr>
        <p:blipFill>
          <a:blip r:embed="rId18"/>
          <a:stretch>
            <a:fillRect/>
          </a:stretch>
        </p:blipFill>
        <p:spPr>
          <a:xfrm>
            <a:off x="10261600" y="6896100"/>
            <a:ext cx="4394200" cy="2146300"/>
          </a:xfrm>
          <a:prstGeom prst="rect">
            <a:avLst/>
          </a:prstGeom>
        </p:spPr>
      </p:pic>
      <p:sp>
        <p:nvSpPr>
          <p:cNvPr id="31" name="TextBox 31"/>
          <p:cNvSpPr txBox="1"/>
          <p:nvPr/>
        </p:nvSpPr>
        <p:spPr>
          <a:xfrm>
            <a:off x="876300" y="520700"/>
            <a:ext cx="14490700" cy="444500"/>
          </a:xfrm>
          <a:prstGeom prst="rect">
            <a:avLst/>
          </a:prstGeom>
          <a:solidFill>
            <a:srgbClr val="000000">
              <a:alpha val="0"/>
            </a:srgbClr>
          </a:solidFill>
        </p:spPr>
        <p:txBody>
          <a:bodyPr lIns="0" tIns="0" rIns="0" bIns="0" rtlCol="0" anchor="ctr"/>
          <a:lstStyle/>
          <a:p>
            <a:pPr indent="0" algn="l">
              <a:lnSpc>
                <a:spcPct val="120000"/>
              </a:lnSpc>
              <a:defRPr/>
            </a:pPr>
            <a:r>
              <a:rPr lang="en-US" sz="2900" b="1">
                <a:solidFill>
                  <a:srgbClr val="000000"/>
                </a:solidFill>
                <a:latin typeface="Ubuntu"/>
              </a:rPr>
              <a:t>Audit Decision Logic: Risk-Aware Resource Allocation</a:t>
            </a:r>
            <a:endParaRPr lang="en-US" sz="1100"/>
          </a:p>
        </p:txBody>
      </p:sp>
      <p:sp>
        <p:nvSpPr>
          <p:cNvPr id="32" name="TextBox 32"/>
          <p:cNvSpPr txBox="1"/>
          <p:nvPr/>
        </p:nvSpPr>
        <p:spPr>
          <a:xfrm>
            <a:off x="13830300" y="2413000"/>
            <a:ext cx="304800" cy="279400"/>
          </a:xfrm>
          <a:prstGeom prst="rect">
            <a:avLst/>
          </a:prstGeom>
          <a:solidFill>
            <a:srgbClr val="000000">
              <a:alpha val="0"/>
            </a:srgbClr>
          </a:solidFill>
        </p:spPr>
        <p:txBody>
          <a:bodyPr lIns="0" tIns="0" rIns="0" bIns="0" rtlCol="0" anchor="ctr"/>
          <a:lstStyle/>
          <a:p>
            <a:pPr indent="0" algn="l">
              <a:lnSpc>
                <a:spcPct val="120000"/>
              </a:lnSpc>
              <a:defRPr/>
            </a:pPr>
            <a:r>
              <a:rPr lang="en-US" sz="1800" b="1">
                <a:solidFill>
                  <a:srgbClr val="000000"/>
                </a:solidFill>
                <a:highlight>
                  <a:srgbClr val="000000">
                    <a:alpha val="0"/>
                  </a:srgbClr>
                </a:highlight>
                <a:latin typeface="Ubuntu"/>
              </a:rPr>
              <a:t>1</a:t>
            </a:r>
            <a:endParaRPr lang="en-US" sz="1100"/>
          </a:p>
        </p:txBody>
      </p:sp>
      <p:sp>
        <p:nvSpPr>
          <p:cNvPr id="33" name="TextBox 33"/>
          <p:cNvSpPr txBox="1"/>
          <p:nvPr/>
        </p:nvSpPr>
        <p:spPr>
          <a:xfrm>
            <a:off x="1130300" y="1384300"/>
            <a:ext cx="11658600" cy="330200"/>
          </a:xfrm>
          <a:prstGeom prst="rect">
            <a:avLst/>
          </a:prstGeom>
          <a:solidFill>
            <a:srgbClr val="000000">
              <a:alpha val="0"/>
            </a:srgbClr>
          </a:solidFill>
        </p:spPr>
        <p:txBody>
          <a:bodyPr lIns="0" tIns="0" rIns="0" bIns="0" rtlCol="0" anchor="ctr"/>
          <a:lstStyle/>
          <a:p>
            <a:pPr indent="0" algn="r">
              <a:lnSpc>
                <a:spcPct val="120000"/>
              </a:lnSpc>
              <a:defRPr/>
            </a:pPr>
            <a:r>
              <a:rPr lang="en-US" sz="2200" b="1">
                <a:solidFill>
                  <a:srgbClr val="000000"/>
                </a:solidFill>
                <a:latin typeface="Ubuntu"/>
              </a:rPr>
              <a:t>Step 1: Risk Scoring</a:t>
            </a:r>
            <a:endParaRPr lang="en-US" sz="1100"/>
          </a:p>
        </p:txBody>
      </p:sp>
      <p:sp>
        <p:nvSpPr>
          <p:cNvPr id="34" name="TextBox 34"/>
          <p:cNvSpPr txBox="1"/>
          <p:nvPr/>
        </p:nvSpPr>
        <p:spPr>
          <a:xfrm>
            <a:off x="12954000" y="3848100"/>
            <a:ext cx="304800" cy="279400"/>
          </a:xfrm>
          <a:prstGeom prst="rect">
            <a:avLst/>
          </a:prstGeom>
          <a:solidFill>
            <a:srgbClr val="000000">
              <a:alpha val="0"/>
            </a:srgbClr>
          </a:solidFill>
        </p:spPr>
        <p:txBody>
          <a:bodyPr lIns="0" tIns="0" rIns="0" bIns="0" rtlCol="0" anchor="ctr"/>
          <a:lstStyle/>
          <a:p>
            <a:pPr indent="0" algn="l">
              <a:lnSpc>
                <a:spcPct val="120000"/>
              </a:lnSpc>
              <a:defRPr/>
            </a:pPr>
            <a:r>
              <a:rPr lang="en-US" sz="1800" b="1">
                <a:solidFill>
                  <a:srgbClr val="000000"/>
                </a:solidFill>
                <a:highlight>
                  <a:srgbClr val="000000">
                    <a:alpha val="0"/>
                  </a:srgbClr>
                </a:highlight>
                <a:latin typeface="Ubuntu"/>
              </a:rPr>
              <a:t>2</a:t>
            </a:r>
            <a:endParaRPr lang="en-US" sz="1100"/>
          </a:p>
        </p:txBody>
      </p:sp>
      <p:sp>
        <p:nvSpPr>
          <p:cNvPr id="35" name="TextBox 35"/>
          <p:cNvSpPr txBox="1"/>
          <p:nvPr/>
        </p:nvSpPr>
        <p:spPr>
          <a:xfrm>
            <a:off x="1130300" y="2806700"/>
            <a:ext cx="10795000" cy="330200"/>
          </a:xfrm>
          <a:prstGeom prst="rect">
            <a:avLst/>
          </a:prstGeom>
          <a:solidFill>
            <a:srgbClr val="000000">
              <a:alpha val="0"/>
            </a:srgbClr>
          </a:solidFill>
        </p:spPr>
        <p:txBody>
          <a:bodyPr lIns="0" tIns="0" rIns="0" bIns="0" rtlCol="0" anchor="ctr"/>
          <a:lstStyle/>
          <a:p>
            <a:pPr indent="0" algn="r">
              <a:lnSpc>
                <a:spcPct val="120000"/>
              </a:lnSpc>
              <a:defRPr/>
            </a:pPr>
            <a:r>
              <a:rPr lang="en-US" sz="2200" b="1">
                <a:solidFill>
                  <a:srgbClr val="000000"/>
                </a:solidFill>
                <a:latin typeface="Ubuntu"/>
              </a:rPr>
              <a:t>Step 2: Threshold Evaluation</a:t>
            </a:r>
            <a:endParaRPr lang="en-US" sz="1100"/>
          </a:p>
        </p:txBody>
      </p:sp>
      <p:sp>
        <p:nvSpPr>
          <p:cNvPr id="36" name="TextBox 36"/>
          <p:cNvSpPr txBox="1"/>
          <p:nvPr/>
        </p:nvSpPr>
        <p:spPr>
          <a:xfrm>
            <a:off x="12090400" y="5270500"/>
            <a:ext cx="304800" cy="279400"/>
          </a:xfrm>
          <a:prstGeom prst="rect">
            <a:avLst/>
          </a:prstGeom>
          <a:solidFill>
            <a:srgbClr val="000000">
              <a:alpha val="0"/>
            </a:srgbClr>
          </a:solidFill>
        </p:spPr>
        <p:txBody>
          <a:bodyPr lIns="0" tIns="0" rIns="0" bIns="0" rtlCol="0" anchor="ctr"/>
          <a:lstStyle/>
          <a:p>
            <a:pPr indent="0" algn="l">
              <a:lnSpc>
                <a:spcPct val="120000"/>
              </a:lnSpc>
              <a:defRPr/>
            </a:pPr>
            <a:r>
              <a:rPr lang="en-US" sz="1800" b="1">
                <a:solidFill>
                  <a:srgbClr val="000000"/>
                </a:solidFill>
                <a:highlight>
                  <a:srgbClr val="000000">
                    <a:alpha val="0"/>
                  </a:srgbClr>
                </a:highlight>
                <a:latin typeface="Ubuntu"/>
              </a:rPr>
              <a:t>3</a:t>
            </a:r>
            <a:endParaRPr lang="en-US" sz="1100"/>
          </a:p>
        </p:txBody>
      </p:sp>
      <p:sp>
        <p:nvSpPr>
          <p:cNvPr id="37" name="TextBox 37"/>
          <p:cNvSpPr txBox="1"/>
          <p:nvPr/>
        </p:nvSpPr>
        <p:spPr>
          <a:xfrm>
            <a:off x="1130300" y="4229100"/>
            <a:ext cx="9918700" cy="330200"/>
          </a:xfrm>
          <a:prstGeom prst="rect">
            <a:avLst/>
          </a:prstGeom>
          <a:solidFill>
            <a:srgbClr val="000000">
              <a:alpha val="0"/>
            </a:srgbClr>
          </a:solidFill>
        </p:spPr>
        <p:txBody>
          <a:bodyPr lIns="0" tIns="0" rIns="0" bIns="0" rtlCol="0" anchor="ctr"/>
          <a:lstStyle/>
          <a:p>
            <a:pPr indent="0" algn="r">
              <a:lnSpc>
                <a:spcPct val="120000"/>
              </a:lnSpc>
              <a:defRPr/>
            </a:pPr>
            <a:r>
              <a:rPr lang="en-US" sz="2200" b="1">
                <a:solidFill>
                  <a:srgbClr val="000000"/>
                </a:solidFill>
                <a:latin typeface="Ubuntu"/>
              </a:rPr>
              <a:t>Step 3: Primary Live Actions</a:t>
            </a:r>
            <a:endParaRPr lang="en-US" sz="1100"/>
          </a:p>
        </p:txBody>
      </p:sp>
      <p:sp>
        <p:nvSpPr>
          <p:cNvPr id="38" name="TextBox 38"/>
          <p:cNvSpPr txBox="1"/>
          <p:nvPr/>
        </p:nvSpPr>
        <p:spPr>
          <a:xfrm>
            <a:off x="11226800" y="6705600"/>
            <a:ext cx="304800" cy="279400"/>
          </a:xfrm>
          <a:prstGeom prst="rect">
            <a:avLst/>
          </a:prstGeom>
          <a:solidFill>
            <a:srgbClr val="000000">
              <a:alpha val="0"/>
            </a:srgbClr>
          </a:solidFill>
        </p:spPr>
        <p:txBody>
          <a:bodyPr lIns="0" tIns="0" rIns="0" bIns="0" rtlCol="0" anchor="ctr"/>
          <a:lstStyle/>
          <a:p>
            <a:pPr indent="0" algn="l">
              <a:lnSpc>
                <a:spcPct val="120000"/>
              </a:lnSpc>
              <a:defRPr/>
            </a:pPr>
            <a:r>
              <a:rPr lang="en-US" sz="1800" b="1">
                <a:solidFill>
                  <a:srgbClr val="000000"/>
                </a:solidFill>
                <a:highlight>
                  <a:srgbClr val="000000">
                    <a:alpha val="0"/>
                  </a:srgbClr>
                </a:highlight>
                <a:latin typeface="Ubuntu"/>
              </a:rPr>
              <a:t>4</a:t>
            </a:r>
            <a:endParaRPr lang="en-US" sz="1100"/>
          </a:p>
        </p:txBody>
      </p:sp>
      <p:sp>
        <p:nvSpPr>
          <p:cNvPr id="39" name="TextBox 39"/>
          <p:cNvSpPr txBox="1"/>
          <p:nvPr/>
        </p:nvSpPr>
        <p:spPr>
          <a:xfrm>
            <a:off x="1130300" y="5664200"/>
            <a:ext cx="9055100" cy="330200"/>
          </a:xfrm>
          <a:prstGeom prst="rect">
            <a:avLst/>
          </a:prstGeom>
          <a:solidFill>
            <a:srgbClr val="000000">
              <a:alpha val="0"/>
            </a:srgbClr>
          </a:solidFill>
        </p:spPr>
        <p:txBody>
          <a:bodyPr lIns="0" tIns="0" rIns="0" bIns="0" rtlCol="0" anchor="ctr"/>
          <a:lstStyle/>
          <a:p>
            <a:pPr indent="0" algn="r">
              <a:lnSpc>
                <a:spcPct val="120000"/>
              </a:lnSpc>
              <a:defRPr/>
            </a:pPr>
            <a:r>
              <a:rPr lang="en-US" sz="2200" b="1">
                <a:solidFill>
                  <a:srgbClr val="000000"/>
                </a:solidFill>
                <a:latin typeface="Ubuntu"/>
              </a:rPr>
              <a:t>Step 4: Prioritization Under Constraints</a:t>
            </a:r>
            <a:endParaRPr lang="en-US" sz="1100"/>
          </a:p>
        </p:txBody>
      </p:sp>
      <p:sp>
        <p:nvSpPr>
          <p:cNvPr id="40" name="TextBox 40"/>
          <p:cNvSpPr txBox="1"/>
          <p:nvPr/>
        </p:nvSpPr>
        <p:spPr>
          <a:xfrm>
            <a:off x="10350500" y="8420100"/>
            <a:ext cx="304800" cy="279400"/>
          </a:xfrm>
          <a:prstGeom prst="rect">
            <a:avLst/>
          </a:prstGeom>
          <a:solidFill>
            <a:srgbClr val="000000">
              <a:alpha val="0"/>
            </a:srgbClr>
          </a:solidFill>
        </p:spPr>
        <p:txBody>
          <a:bodyPr lIns="0" tIns="0" rIns="0" bIns="0" rtlCol="0" anchor="ctr"/>
          <a:lstStyle/>
          <a:p>
            <a:pPr indent="0" algn="l">
              <a:lnSpc>
                <a:spcPct val="120000"/>
              </a:lnSpc>
              <a:defRPr/>
            </a:pPr>
            <a:r>
              <a:rPr lang="en-US" sz="1800" b="1">
                <a:solidFill>
                  <a:srgbClr val="000000"/>
                </a:solidFill>
                <a:highlight>
                  <a:srgbClr val="000000">
                    <a:alpha val="0"/>
                  </a:srgbClr>
                </a:highlight>
                <a:latin typeface="Ubuntu"/>
              </a:rPr>
              <a:t>5</a:t>
            </a:r>
            <a:endParaRPr lang="en-US" sz="1100"/>
          </a:p>
        </p:txBody>
      </p:sp>
      <p:sp>
        <p:nvSpPr>
          <p:cNvPr id="41" name="TextBox 41"/>
          <p:cNvSpPr txBox="1"/>
          <p:nvPr/>
        </p:nvSpPr>
        <p:spPr>
          <a:xfrm>
            <a:off x="1130300" y="7086600"/>
            <a:ext cx="8178800" cy="330200"/>
          </a:xfrm>
          <a:prstGeom prst="rect">
            <a:avLst/>
          </a:prstGeom>
          <a:solidFill>
            <a:srgbClr val="000000">
              <a:alpha val="0"/>
            </a:srgbClr>
          </a:solidFill>
        </p:spPr>
        <p:txBody>
          <a:bodyPr lIns="0" tIns="0" rIns="0" bIns="0" rtlCol="0" anchor="ctr"/>
          <a:lstStyle/>
          <a:p>
            <a:pPr indent="0" algn="r">
              <a:lnSpc>
                <a:spcPct val="120000"/>
              </a:lnSpc>
              <a:defRPr/>
            </a:pPr>
            <a:r>
              <a:rPr lang="en-US" sz="2200" b="1">
                <a:solidFill>
                  <a:srgbClr val="000000"/>
                </a:solidFill>
                <a:latin typeface="Ubuntu"/>
              </a:rPr>
              <a:t>Step 5: Operational Conversion</a:t>
            </a:r>
            <a:endParaRPr lang="en-US" sz="1100"/>
          </a:p>
        </p:txBody>
      </p:sp>
      <p:sp>
        <p:nvSpPr>
          <p:cNvPr id="42" name="TextBox 42"/>
          <p:cNvSpPr txBox="1"/>
          <p:nvPr/>
        </p:nvSpPr>
        <p:spPr>
          <a:xfrm>
            <a:off x="1130300" y="1854200"/>
            <a:ext cx="11658600" cy="558800"/>
          </a:xfrm>
          <a:prstGeom prst="rect">
            <a:avLst/>
          </a:prstGeom>
          <a:solidFill>
            <a:srgbClr val="000000">
              <a:alpha val="0"/>
            </a:srgbClr>
          </a:solidFill>
        </p:spPr>
        <p:txBody>
          <a:bodyPr lIns="0" tIns="0" rIns="0" bIns="0" rtlCol="0" anchor="ctr"/>
          <a:lstStyle/>
          <a:p>
            <a:pPr indent="0" algn="r">
              <a:lnSpc>
                <a:spcPct val="150000"/>
              </a:lnSpc>
              <a:defRPr/>
            </a:pPr>
            <a:r>
              <a:rPr lang="en-US" sz="1400" b="1">
                <a:solidFill>
                  <a:srgbClr val="000000"/>
                </a:solidFill>
                <a:latin typeface="Poppins"/>
              </a:rPr>
              <a:t>Compute a composite risk score from anomaly magnitude combined with asset criticality to quantify potential impact and urgency.</a:t>
            </a:r>
            <a:endParaRPr lang="en-US" sz="1100"/>
          </a:p>
        </p:txBody>
      </p:sp>
      <p:sp>
        <p:nvSpPr>
          <p:cNvPr id="43" name="TextBox 43"/>
          <p:cNvSpPr txBox="1"/>
          <p:nvPr/>
        </p:nvSpPr>
        <p:spPr>
          <a:xfrm>
            <a:off x="1130300" y="3289300"/>
            <a:ext cx="10795000" cy="558800"/>
          </a:xfrm>
          <a:prstGeom prst="rect">
            <a:avLst/>
          </a:prstGeom>
          <a:solidFill>
            <a:srgbClr val="000000">
              <a:alpha val="0"/>
            </a:srgbClr>
          </a:solidFill>
        </p:spPr>
        <p:txBody>
          <a:bodyPr lIns="0" tIns="0" rIns="0" bIns="0" rtlCol="0" anchor="ctr"/>
          <a:lstStyle/>
          <a:p>
            <a:pPr indent="0" algn="r">
              <a:lnSpc>
                <a:spcPct val="150000"/>
              </a:lnSpc>
              <a:defRPr/>
            </a:pPr>
            <a:r>
              <a:rPr lang="en-US" sz="1400" b="1">
                <a:solidFill>
                  <a:srgbClr val="000000"/>
                </a:solidFill>
                <a:latin typeface="Poppins"/>
              </a:rPr>
              <a:t>Evaluate the computed risk against predefined thresholds to determine whether audit escalation is required for further action.</a:t>
            </a:r>
            <a:endParaRPr lang="en-US" sz="1100"/>
          </a:p>
        </p:txBody>
      </p:sp>
      <p:sp>
        <p:nvSpPr>
          <p:cNvPr id="44" name="TextBox 44"/>
          <p:cNvSpPr txBox="1"/>
          <p:nvPr/>
        </p:nvSpPr>
        <p:spPr>
          <a:xfrm>
            <a:off x="1130300" y="4711700"/>
            <a:ext cx="9918700" cy="558800"/>
          </a:xfrm>
          <a:prstGeom prst="rect">
            <a:avLst/>
          </a:prstGeom>
          <a:solidFill>
            <a:srgbClr val="000000">
              <a:alpha val="0"/>
            </a:srgbClr>
          </a:solidFill>
        </p:spPr>
        <p:txBody>
          <a:bodyPr lIns="0" tIns="0" rIns="0" bIns="0" rtlCol="0" anchor="ctr"/>
          <a:lstStyle/>
          <a:p>
            <a:pPr indent="0" algn="r">
              <a:lnSpc>
                <a:spcPct val="150000"/>
              </a:lnSpc>
              <a:defRPr/>
            </a:pPr>
            <a:r>
              <a:rPr lang="en-US" sz="1400" b="1">
                <a:solidFill>
                  <a:srgbClr val="000000"/>
                </a:solidFill>
                <a:latin typeface="Poppins"/>
              </a:rPr>
              <a:t>Decide on immediate operational actions, selecting either MAINTAIN AUDIT for baseline monitoring or INCREASE AUDIT for intensified scrutiny.</a:t>
            </a:r>
            <a:endParaRPr lang="en-US" sz="1100"/>
          </a:p>
        </p:txBody>
      </p:sp>
      <p:sp>
        <p:nvSpPr>
          <p:cNvPr id="45" name="TextBox 45"/>
          <p:cNvSpPr txBox="1"/>
          <p:nvPr/>
        </p:nvSpPr>
        <p:spPr>
          <a:xfrm>
            <a:off x="1130300" y="6134100"/>
            <a:ext cx="9055100" cy="558800"/>
          </a:xfrm>
          <a:prstGeom prst="rect">
            <a:avLst/>
          </a:prstGeom>
          <a:solidFill>
            <a:srgbClr val="000000">
              <a:alpha val="0"/>
            </a:srgbClr>
          </a:solidFill>
        </p:spPr>
        <p:txBody>
          <a:bodyPr lIns="0" tIns="0" rIns="0" bIns="0" rtlCol="0" anchor="ctr"/>
          <a:lstStyle/>
          <a:p>
            <a:pPr indent="0" algn="r">
              <a:lnSpc>
                <a:spcPct val="150000"/>
              </a:lnSpc>
              <a:defRPr/>
            </a:pPr>
            <a:r>
              <a:rPr lang="en-US" sz="1400" b="1">
                <a:solidFill>
                  <a:srgbClr val="000000"/>
                </a:solidFill>
                <a:latin typeface="Poppins"/>
              </a:rPr>
              <a:t>Prioritize auditing of high-risk assets when resources are constrained, ensuring the most critical risks receive attention first.</a:t>
            </a:r>
            <a:endParaRPr lang="en-US" sz="1100"/>
          </a:p>
        </p:txBody>
      </p:sp>
      <p:sp>
        <p:nvSpPr>
          <p:cNvPr id="46" name="TextBox 46"/>
          <p:cNvSpPr txBox="1"/>
          <p:nvPr/>
        </p:nvSpPr>
        <p:spPr>
          <a:xfrm>
            <a:off x="1130300" y="7569200"/>
            <a:ext cx="8178800" cy="850900"/>
          </a:xfrm>
          <a:prstGeom prst="rect">
            <a:avLst/>
          </a:prstGeom>
          <a:solidFill>
            <a:srgbClr val="000000">
              <a:alpha val="0"/>
            </a:srgbClr>
          </a:solidFill>
        </p:spPr>
        <p:txBody>
          <a:bodyPr lIns="0" tIns="0" rIns="0" bIns="0" rtlCol="0" anchor="ctr"/>
          <a:lstStyle/>
          <a:p>
            <a:pPr indent="0" algn="r">
              <a:lnSpc>
                <a:spcPct val="150000"/>
              </a:lnSpc>
              <a:defRPr/>
            </a:pPr>
            <a:r>
              <a:rPr lang="en-US" sz="1400" b="1">
                <a:solidFill>
                  <a:srgbClr val="000000"/>
                </a:solidFill>
                <a:latin typeface="Poppins"/>
              </a:rPr>
              <a:t>Translate anomaly detection outputs into actionable operational directives that are clear, interpretable, and executable by teams.</a:t>
            </a:r>
            <a:endParaRPr lang="en-US" sz="110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16256000" cy="9144000"/>
          </a:xfrm>
          <a:prstGeom prst="rect">
            <a:avLst/>
          </a:prstGeom>
          <a:solidFill>
            <a:srgbClr val="0D0A2C">
              <a:alpha val="74902"/>
            </a:srgbClr>
          </a:solidFill>
        </p:spPr>
      </p:sp>
      <p:pic>
        <p:nvPicPr>
          <p:cNvPr id="3" name="Picture 3"/>
          <p:cNvPicPr>
            <a:picLocks noChangeAspect="1"/>
          </p:cNvPicPr>
          <p:nvPr/>
        </p:nvPicPr>
        <p:blipFill>
          <a:blip r:embed="rId2"/>
          <a:srcRect t="56" b="56"/>
          <a:stretch>
            <a:fillRect/>
          </a:stretch>
        </p:blipFill>
        <p:spPr>
          <a:xfrm>
            <a:off x="0" y="0"/>
            <a:ext cx="16256000" cy="9144000"/>
          </a:xfrm>
          <a:prstGeom prst="rect">
            <a:avLst/>
          </a:prstGeom>
        </p:spPr>
      </p:pic>
      <p:sp>
        <p:nvSpPr>
          <p:cNvPr id="4" name="AutoShape 4"/>
          <p:cNvSpPr/>
          <p:nvPr/>
        </p:nvSpPr>
        <p:spPr>
          <a:xfrm>
            <a:off x="876300" y="1701800"/>
            <a:ext cx="14490700" cy="6896100"/>
          </a:xfrm>
          <a:prstGeom prst="rect">
            <a:avLst/>
          </a:prstGeom>
          <a:solidFill>
            <a:srgbClr val="000000">
              <a:alpha val="0"/>
            </a:srgbClr>
          </a:solidFill>
        </p:spPr>
      </p:sp>
      <p:sp>
        <p:nvSpPr>
          <p:cNvPr id="5" name="AutoShape 5"/>
          <p:cNvSpPr/>
          <p:nvPr/>
        </p:nvSpPr>
        <p:spPr>
          <a:xfrm>
            <a:off x="876300" y="1701800"/>
            <a:ext cx="3429000" cy="4432300"/>
          </a:xfrm>
          <a:prstGeom prst="roundRect">
            <a:avLst>
              <a:gd name="adj" fmla="val 1851"/>
            </a:avLst>
          </a:prstGeom>
          <a:solidFill>
            <a:srgbClr val="D1D1D1">
              <a:alpha val="71765"/>
            </a:srgbClr>
          </a:solidFill>
        </p:spPr>
      </p:sp>
      <p:sp>
        <p:nvSpPr>
          <p:cNvPr id="6" name="AutoShape 6"/>
          <p:cNvSpPr/>
          <p:nvPr/>
        </p:nvSpPr>
        <p:spPr>
          <a:xfrm>
            <a:off x="1206500" y="1892300"/>
            <a:ext cx="584200" cy="584200"/>
          </a:xfrm>
          <a:prstGeom prst="roundRect">
            <a:avLst>
              <a:gd name="adj" fmla="val 50000"/>
            </a:avLst>
          </a:prstGeom>
          <a:solidFill>
            <a:srgbClr val="000000"/>
          </a:solidFill>
        </p:spPr>
      </p:sp>
      <p:sp>
        <p:nvSpPr>
          <p:cNvPr id="7" name="AutoShape 7"/>
          <p:cNvSpPr/>
          <p:nvPr/>
        </p:nvSpPr>
        <p:spPr>
          <a:xfrm>
            <a:off x="4559300" y="1701800"/>
            <a:ext cx="3429000" cy="4432300"/>
          </a:xfrm>
          <a:prstGeom prst="roundRect">
            <a:avLst>
              <a:gd name="adj" fmla="val 1851"/>
            </a:avLst>
          </a:prstGeom>
          <a:solidFill>
            <a:srgbClr val="D1D1D1">
              <a:alpha val="71765"/>
            </a:srgbClr>
          </a:solidFill>
        </p:spPr>
      </p:sp>
      <p:sp>
        <p:nvSpPr>
          <p:cNvPr id="8" name="AutoShape 8"/>
          <p:cNvSpPr/>
          <p:nvPr/>
        </p:nvSpPr>
        <p:spPr>
          <a:xfrm>
            <a:off x="4902200" y="1892300"/>
            <a:ext cx="584200" cy="584200"/>
          </a:xfrm>
          <a:prstGeom prst="roundRect">
            <a:avLst>
              <a:gd name="adj" fmla="val 50000"/>
            </a:avLst>
          </a:prstGeom>
          <a:solidFill>
            <a:srgbClr val="000000"/>
          </a:solidFill>
        </p:spPr>
      </p:sp>
      <p:sp>
        <p:nvSpPr>
          <p:cNvPr id="9" name="AutoShape 9"/>
          <p:cNvSpPr/>
          <p:nvPr/>
        </p:nvSpPr>
        <p:spPr>
          <a:xfrm>
            <a:off x="8242300" y="1701800"/>
            <a:ext cx="3429000" cy="4432300"/>
          </a:xfrm>
          <a:prstGeom prst="roundRect">
            <a:avLst>
              <a:gd name="adj" fmla="val 1851"/>
            </a:avLst>
          </a:prstGeom>
          <a:solidFill>
            <a:srgbClr val="D1D1D1">
              <a:alpha val="71765"/>
            </a:srgbClr>
          </a:solidFill>
        </p:spPr>
      </p:sp>
      <p:sp>
        <p:nvSpPr>
          <p:cNvPr id="10" name="AutoShape 10"/>
          <p:cNvSpPr/>
          <p:nvPr/>
        </p:nvSpPr>
        <p:spPr>
          <a:xfrm>
            <a:off x="8585200" y="1892300"/>
            <a:ext cx="584200" cy="584200"/>
          </a:xfrm>
          <a:prstGeom prst="roundRect">
            <a:avLst>
              <a:gd name="adj" fmla="val 50000"/>
            </a:avLst>
          </a:prstGeom>
          <a:solidFill>
            <a:srgbClr val="000000"/>
          </a:solidFill>
        </p:spPr>
      </p:sp>
      <p:sp>
        <p:nvSpPr>
          <p:cNvPr id="11" name="AutoShape 11"/>
          <p:cNvSpPr/>
          <p:nvPr/>
        </p:nvSpPr>
        <p:spPr>
          <a:xfrm>
            <a:off x="11938000" y="1701800"/>
            <a:ext cx="3429000" cy="4432300"/>
          </a:xfrm>
          <a:prstGeom prst="roundRect">
            <a:avLst>
              <a:gd name="adj" fmla="val 1851"/>
            </a:avLst>
          </a:prstGeom>
          <a:solidFill>
            <a:srgbClr val="D1D1D1">
              <a:alpha val="71765"/>
            </a:srgbClr>
          </a:solidFill>
        </p:spPr>
      </p:sp>
      <p:sp>
        <p:nvSpPr>
          <p:cNvPr id="12" name="AutoShape 12"/>
          <p:cNvSpPr/>
          <p:nvPr/>
        </p:nvSpPr>
        <p:spPr>
          <a:xfrm>
            <a:off x="12268200" y="1892300"/>
            <a:ext cx="584200" cy="584200"/>
          </a:xfrm>
          <a:prstGeom prst="roundRect">
            <a:avLst>
              <a:gd name="adj" fmla="val 50000"/>
            </a:avLst>
          </a:prstGeom>
          <a:solidFill>
            <a:srgbClr val="000000"/>
          </a:solidFill>
        </p:spPr>
      </p:sp>
      <p:sp>
        <p:nvSpPr>
          <p:cNvPr id="13" name="AutoShape 13"/>
          <p:cNvSpPr/>
          <p:nvPr/>
        </p:nvSpPr>
        <p:spPr>
          <a:xfrm>
            <a:off x="876300" y="6337300"/>
            <a:ext cx="14490700" cy="2247900"/>
          </a:xfrm>
          <a:prstGeom prst="roundRect">
            <a:avLst>
              <a:gd name="adj" fmla="val 2824"/>
            </a:avLst>
          </a:prstGeom>
          <a:solidFill>
            <a:srgbClr val="D1D1D1">
              <a:alpha val="71765"/>
            </a:srgbClr>
          </a:solidFill>
        </p:spPr>
      </p:sp>
      <p:sp>
        <p:nvSpPr>
          <p:cNvPr id="14" name="AutoShape 14"/>
          <p:cNvSpPr/>
          <p:nvPr/>
        </p:nvSpPr>
        <p:spPr>
          <a:xfrm>
            <a:off x="1206500" y="6527800"/>
            <a:ext cx="584200" cy="584200"/>
          </a:xfrm>
          <a:prstGeom prst="roundRect">
            <a:avLst>
              <a:gd name="adj" fmla="val 50000"/>
            </a:avLst>
          </a:prstGeom>
          <a:solidFill>
            <a:srgbClr val="000000"/>
          </a:solidFill>
        </p:spPr>
      </p:sp>
      <p:sp>
        <p:nvSpPr>
          <p:cNvPr id="15" name="TextBox 15"/>
          <p:cNvSpPr txBox="1"/>
          <p:nvPr/>
        </p:nvSpPr>
        <p:spPr>
          <a:xfrm>
            <a:off x="876300" y="533400"/>
            <a:ext cx="14490700" cy="939800"/>
          </a:xfrm>
          <a:prstGeom prst="rect">
            <a:avLst/>
          </a:prstGeom>
          <a:solidFill>
            <a:srgbClr val="000000">
              <a:alpha val="0"/>
            </a:srgbClr>
          </a:solidFill>
        </p:spPr>
        <p:txBody>
          <a:bodyPr lIns="0" tIns="0" rIns="0" bIns="0" rtlCol="0" anchor="ctr"/>
          <a:lstStyle/>
          <a:p>
            <a:pPr indent="0" algn="l">
              <a:lnSpc>
                <a:spcPct val="120000"/>
              </a:lnSpc>
              <a:defRPr/>
            </a:pPr>
            <a:r>
              <a:rPr lang="en-US" sz="3000" b="1">
                <a:solidFill>
                  <a:srgbClr val="000000"/>
                </a:solidFill>
                <a:latin typeface="Ubuntu"/>
              </a:rPr>
              <a:t>Explainability: Feature-Level Transparency for Operator Trust</a:t>
            </a:r>
            <a:endParaRPr lang="en-US" sz="1100"/>
          </a:p>
        </p:txBody>
      </p:sp>
      <p:sp>
        <p:nvSpPr>
          <p:cNvPr id="16" name="TextBox 16"/>
          <p:cNvSpPr txBox="1"/>
          <p:nvPr/>
        </p:nvSpPr>
        <p:spPr>
          <a:xfrm>
            <a:off x="1130300" y="2679700"/>
            <a:ext cx="2921000" cy="1054100"/>
          </a:xfrm>
          <a:prstGeom prst="rect">
            <a:avLst/>
          </a:prstGeom>
          <a:solidFill>
            <a:srgbClr val="000000">
              <a:alpha val="0"/>
            </a:srgbClr>
          </a:solidFill>
        </p:spPr>
        <p:txBody>
          <a:bodyPr lIns="0" tIns="0" rIns="0" bIns="0" rtlCol="0" anchor="ctr"/>
          <a:lstStyle/>
          <a:p>
            <a:pPr indent="0" algn="l">
              <a:lnSpc>
                <a:spcPct val="120000"/>
              </a:lnSpc>
              <a:defRPr/>
            </a:pPr>
            <a:r>
              <a:rPr lang="en-US" sz="2300" b="1">
                <a:solidFill>
                  <a:srgbClr val="000000"/>
                </a:solidFill>
                <a:latin typeface="Ubuntu"/>
              </a:rPr>
              <a:t>Top contributing features</a:t>
            </a:r>
            <a:endParaRPr lang="en-US" sz="1100"/>
          </a:p>
        </p:txBody>
      </p:sp>
      <p:sp>
        <p:nvSpPr>
          <p:cNvPr id="17" name="TextBox 17"/>
          <p:cNvSpPr txBox="1"/>
          <p:nvPr/>
        </p:nvSpPr>
        <p:spPr>
          <a:xfrm>
            <a:off x="4813300" y="2679700"/>
            <a:ext cx="2921000" cy="1054100"/>
          </a:xfrm>
          <a:prstGeom prst="rect">
            <a:avLst/>
          </a:prstGeom>
          <a:solidFill>
            <a:srgbClr val="000000">
              <a:alpha val="0"/>
            </a:srgbClr>
          </a:solidFill>
        </p:spPr>
        <p:txBody>
          <a:bodyPr lIns="0" tIns="0" rIns="0" bIns="0" rtlCol="0" anchor="ctr"/>
          <a:lstStyle/>
          <a:p>
            <a:pPr indent="0" algn="l">
              <a:lnSpc>
                <a:spcPct val="120000"/>
              </a:lnSpc>
              <a:defRPr/>
            </a:pPr>
            <a:r>
              <a:rPr lang="en-US" sz="2300" b="1">
                <a:solidFill>
                  <a:srgbClr val="000000"/>
                </a:solidFill>
                <a:latin typeface="Ubuntu"/>
              </a:rPr>
              <a:t>Feature importance ranking</a:t>
            </a:r>
            <a:endParaRPr lang="en-US" sz="1100"/>
          </a:p>
        </p:txBody>
      </p:sp>
      <p:sp>
        <p:nvSpPr>
          <p:cNvPr id="18" name="TextBox 18"/>
          <p:cNvSpPr txBox="1"/>
          <p:nvPr/>
        </p:nvSpPr>
        <p:spPr>
          <a:xfrm>
            <a:off x="8496300" y="2679700"/>
            <a:ext cx="2921000" cy="698500"/>
          </a:xfrm>
          <a:prstGeom prst="rect">
            <a:avLst/>
          </a:prstGeom>
          <a:solidFill>
            <a:srgbClr val="000000">
              <a:alpha val="0"/>
            </a:srgbClr>
          </a:solidFill>
        </p:spPr>
        <p:txBody>
          <a:bodyPr lIns="0" tIns="0" rIns="0" bIns="0" rtlCol="0" anchor="ctr"/>
          <a:lstStyle/>
          <a:p>
            <a:pPr indent="0" algn="l">
              <a:lnSpc>
                <a:spcPct val="120000"/>
              </a:lnSpc>
              <a:defRPr/>
            </a:pPr>
            <a:r>
              <a:rPr lang="en-US" sz="2300" b="1">
                <a:solidFill>
                  <a:srgbClr val="000000"/>
                </a:solidFill>
                <a:latin typeface="Ubuntu"/>
              </a:rPr>
              <a:t>Deviation-based logic</a:t>
            </a:r>
            <a:endParaRPr lang="en-US" sz="1100"/>
          </a:p>
        </p:txBody>
      </p:sp>
      <p:sp>
        <p:nvSpPr>
          <p:cNvPr id="19" name="TextBox 19"/>
          <p:cNvSpPr txBox="1"/>
          <p:nvPr/>
        </p:nvSpPr>
        <p:spPr>
          <a:xfrm>
            <a:off x="12179300" y="2679700"/>
            <a:ext cx="2921000" cy="698500"/>
          </a:xfrm>
          <a:prstGeom prst="rect">
            <a:avLst/>
          </a:prstGeom>
          <a:solidFill>
            <a:srgbClr val="000000">
              <a:alpha val="0"/>
            </a:srgbClr>
          </a:solidFill>
        </p:spPr>
        <p:txBody>
          <a:bodyPr lIns="0" tIns="0" rIns="0" bIns="0" rtlCol="0" anchor="ctr"/>
          <a:lstStyle/>
          <a:p>
            <a:pPr indent="0" algn="l">
              <a:lnSpc>
                <a:spcPct val="120000"/>
              </a:lnSpc>
              <a:defRPr/>
            </a:pPr>
            <a:r>
              <a:rPr lang="en-US" sz="2300" b="1">
                <a:solidFill>
                  <a:srgbClr val="000000"/>
                </a:solidFill>
                <a:latin typeface="Ubuntu"/>
              </a:rPr>
              <a:t>Operator dashboard view</a:t>
            </a:r>
            <a:endParaRPr lang="en-US" sz="1100"/>
          </a:p>
        </p:txBody>
      </p:sp>
      <p:sp>
        <p:nvSpPr>
          <p:cNvPr id="20" name="TextBox 20"/>
          <p:cNvSpPr txBox="1"/>
          <p:nvPr/>
        </p:nvSpPr>
        <p:spPr>
          <a:xfrm>
            <a:off x="1130300" y="7315200"/>
            <a:ext cx="13982700" cy="342900"/>
          </a:xfrm>
          <a:prstGeom prst="rect">
            <a:avLst/>
          </a:prstGeom>
          <a:solidFill>
            <a:srgbClr val="000000">
              <a:alpha val="0"/>
            </a:srgbClr>
          </a:solidFill>
        </p:spPr>
        <p:txBody>
          <a:bodyPr lIns="0" tIns="0" rIns="0" bIns="0" rtlCol="0" anchor="ctr"/>
          <a:lstStyle/>
          <a:p>
            <a:pPr indent="0" algn="l">
              <a:lnSpc>
                <a:spcPct val="120000"/>
              </a:lnSpc>
              <a:defRPr/>
            </a:pPr>
            <a:r>
              <a:rPr lang="en-US" sz="2300" b="1">
                <a:solidFill>
                  <a:srgbClr val="000000"/>
                </a:solidFill>
                <a:latin typeface="Ubuntu"/>
              </a:rPr>
              <a:t>Maintains transparency</a:t>
            </a:r>
            <a:endParaRPr lang="en-US" sz="1100"/>
          </a:p>
        </p:txBody>
      </p:sp>
      <p:sp>
        <p:nvSpPr>
          <p:cNvPr id="21" name="TextBox 21"/>
          <p:cNvSpPr txBox="1"/>
          <p:nvPr/>
        </p:nvSpPr>
        <p:spPr>
          <a:xfrm>
            <a:off x="1130300" y="3886200"/>
            <a:ext cx="2921000" cy="2057400"/>
          </a:xfrm>
          <a:prstGeom prst="rect">
            <a:avLst/>
          </a:prstGeom>
          <a:solidFill>
            <a:srgbClr val="000000">
              <a:alpha val="0"/>
            </a:srgbClr>
          </a:solidFill>
        </p:spPr>
        <p:txBody>
          <a:bodyPr lIns="0" tIns="0" rIns="0" bIns="0" rtlCol="0" anchor="ctr"/>
          <a:lstStyle/>
          <a:p>
            <a:pPr indent="0" algn="l">
              <a:lnSpc>
                <a:spcPct val="150000"/>
              </a:lnSpc>
              <a:defRPr/>
            </a:pPr>
            <a:r>
              <a:rPr lang="en-US" sz="1500" b="1">
                <a:solidFill>
                  <a:srgbClr val="000000"/>
                </a:solidFill>
                <a:latin typeface="Poppins"/>
              </a:rPr>
              <a:t>Top contributing features are identified for each anomaly score, enabling operators to see which inputs drove the detection.</a:t>
            </a:r>
            <a:endParaRPr lang="en-US" sz="1100"/>
          </a:p>
        </p:txBody>
      </p:sp>
      <p:sp>
        <p:nvSpPr>
          <p:cNvPr id="22" name="TextBox 22"/>
          <p:cNvSpPr txBox="1"/>
          <p:nvPr/>
        </p:nvSpPr>
        <p:spPr>
          <a:xfrm>
            <a:off x="4813300" y="3886200"/>
            <a:ext cx="2921000" cy="1765300"/>
          </a:xfrm>
          <a:prstGeom prst="rect">
            <a:avLst/>
          </a:prstGeom>
          <a:solidFill>
            <a:srgbClr val="000000">
              <a:alpha val="0"/>
            </a:srgbClr>
          </a:solidFill>
        </p:spPr>
        <p:txBody>
          <a:bodyPr lIns="0" tIns="0" rIns="0" bIns="0" rtlCol="0" anchor="ctr"/>
          <a:lstStyle/>
          <a:p>
            <a:pPr indent="0" algn="l">
              <a:lnSpc>
                <a:spcPct val="150000"/>
              </a:lnSpc>
              <a:defRPr/>
            </a:pPr>
            <a:r>
              <a:rPr lang="en-US" sz="1500" b="1">
                <a:solidFill>
                  <a:srgbClr val="000000"/>
                </a:solidFill>
                <a:latin typeface="Poppins"/>
              </a:rPr>
              <a:t>Feature importance ranking supports operator interpretation by ordering signals by their contribution to the anomaly.</a:t>
            </a:r>
            <a:endParaRPr lang="en-US" sz="1100"/>
          </a:p>
        </p:txBody>
      </p:sp>
      <p:sp>
        <p:nvSpPr>
          <p:cNvPr id="23" name="TextBox 23"/>
          <p:cNvSpPr txBox="1"/>
          <p:nvPr/>
        </p:nvSpPr>
        <p:spPr>
          <a:xfrm>
            <a:off x="8496300" y="3530600"/>
            <a:ext cx="2921000" cy="1765300"/>
          </a:xfrm>
          <a:prstGeom prst="rect">
            <a:avLst/>
          </a:prstGeom>
          <a:solidFill>
            <a:srgbClr val="000000">
              <a:alpha val="0"/>
            </a:srgbClr>
          </a:solidFill>
        </p:spPr>
        <p:txBody>
          <a:bodyPr lIns="0" tIns="0" rIns="0" bIns="0" rtlCol="0" anchor="ctr"/>
          <a:lstStyle/>
          <a:p>
            <a:pPr indent="0" algn="l">
              <a:lnSpc>
                <a:spcPct val="150000"/>
              </a:lnSpc>
              <a:defRPr/>
            </a:pPr>
            <a:r>
              <a:rPr lang="en-US" sz="1500" b="1">
                <a:solidFill>
                  <a:srgbClr val="000000"/>
                </a:solidFill>
                <a:latin typeface="Poppins"/>
              </a:rPr>
              <a:t>Deviation-based logic preserves traceability and reasoning clarity, linking anomalies to measurable shifts in feature behavior.</a:t>
            </a:r>
            <a:endParaRPr lang="en-US" sz="1100"/>
          </a:p>
        </p:txBody>
      </p:sp>
      <p:sp>
        <p:nvSpPr>
          <p:cNvPr id="24" name="TextBox 24"/>
          <p:cNvSpPr txBox="1"/>
          <p:nvPr/>
        </p:nvSpPr>
        <p:spPr>
          <a:xfrm>
            <a:off x="12179300" y="3530600"/>
            <a:ext cx="2921000" cy="2349500"/>
          </a:xfrm>
          <a:prstGeom prst="rect">
            <a:avLst/>
          </a:prstGeom>
          <a:solidFill>
            <a:srgbClr val="000000">
              <a:alpha val="0"/>
            </a:srgbClr>
          </a:solidFill>
        </p:spPr>
        <p:txBody>
          <a:bodyPr lIns="0" tIns="0" rIns="0" bIns="0" rtlCol="0" anchor="ctr"/>
          <a:lstStyle/>
          <a:p>
            <a:pPr indent="0" algn="l">
              <a:lnSpc>
                <a:spcPct val="150000"/>
              </a:lnSpc>
              <a:defRPr/>
            </a:pPr>
            <a:r>
              <a:rPr lang="en-US" sz="1500" b="1">
                <a:solidFill>
                  <a:srgbClr val="000000"/>
                </a:solidFill>
                <a:latin typeface="Poppins"/>
              </a:rPr>
              <a:t>Operator dashboard displays anomaly score, audit decision, and a concise explanation summarizing top contributing features for a selected agent.</a:t>
            </a:r>
            <a:endParaRPr lang="en-US" sz="1100"/>
          </a:p>
        </p:txBody>
      </p:sp>
      <p:sp>
        <p:nvSpPr>
          <p:cNvPr id="25" name="TextBox 25"/>
          <p:cNvSpPr txBox="1"/>
          <p:nvPr/>
        </p:nvSpPr>
        <p:spPr>
          <a:xfrm>
            <a:off x="1130300" y="7810500"/>
            <a:ext cx="13982700" cy="584200"/>
          </a:xfrm>
          <a:prstGeom prst="rect">
            <a:avLst/>
          </a:prstGeom>
          <a:solidFill>
            <a:srgbClr val="000000">
              <a:alpha val="0"/>
            </a:srgbClr>
          </a:solidFill>
        </p:spPr>
        <p:txBody>
          <a:bodyPr lIns="0" tIns="0" rIns="0" bIns="0" rtlCol="0" anchor="ctr"/>
          <a:lstStyle/>
          <a:p>
            <a:pPr indent="0" algn="l">
              <a:lnSpc>
                <a:spcPct val="150000"/>
              </a:lnSpc>
              <a:defRPr/>
            </a:pPr>
            <a:r>
              <a:rPr lang="en-US" sz="1500" b="1">
                <a:solidFill>
                  <a:srgbClr val="000000"/>
                </a:solidFill>
                <a:latin typeface="Poppins"/>
              </a:rPr>
              <a:t>Maintains transparency rather than black-box alerting, ensuring operators can trust and verify automated flags.</a:t>
            </a:r>
            <a:endParaRPr lang="en-US" sz="1100"/>
          </a:p>
        </p:txBody>
      </p:sp>
      <p:pic>
        <p:nvPicPr>
          <p:cNvPr id="26" name="Picture 26"/>
          <p:cNvPicPr>
            <a:picLocks noChangeAspect="1"/>
          </p:cNvPicPr>
          <p:nvPr/>
        </p:nvPicPr>
        <p:blipFill>
          <a:blip r:embed="rId3"/>
          <a:stretch>
            <a:fillRect/>
          </a:stretch>
        </p:blipFill>
        <p:spPr>
          <a:xfrm>
            <a:off x="1409700" y="2095500"/>
            <a:ext cx="177800" cy="177800"/>
          </a:xfrm>
          <a:prstGeom prst="rect">
            <a:avLst/>
          </a:prstGeom>
        </p:spPr>
      </p:pic>
      <p:pic>
        <p:nvPicPr>
          <p:cNvPr id="27" name="Picture 27"/>
          <p:cNvPicPr>
            <a:picLocks noChangeAspect="1"/>
          </p:cNvPicPr>
          <p:nvPr/>
        </p:nvPicPr>
        <p:blipFill>
          <a:blip r:embed="rId4"/>
          <a:stretch>
            <a:fillRect/>
          </a:stretch>
        </p:blipFill>
        <p:spPr>
          <a:xfrm>
            <a:off x="5092700" y="2095500"/>
            <a:ext cx="190500" cy="190500"/>
          </a:xfrm>
          <a:prstGeom prst="rect">
            <a:avLst/>
          </a:prstGeom>
        </p:spPr>
      </p:pic>
      <p:pic>
        <p:nvPicPr>
          <p:cNvPr id="28" name="Picture 28"/>
          <p:cNvPicPr>
            <a:picLocks noChangeAspect="1"/>
          </p:cNvPicPr>
          <p:nvPr/>
        </p:nvPicPr>
        <p:blipFill>
          <a:blip r:embed="rId5"/>
          <a:stretch>
            <a:fillRect/>
          </a:stretch>
        </p:blipFill>
        <p:spPr>
          <a:xfrm>
            <a:off x="8775700" y="2095500"/>
            <a:ext cx="190500" cy="190500"/>
          </a:xfrm>
          <a:prstGeom prst="rect">
            <a:avLst/>
          </a:prstGeom>
        </p:spPr>
      </p:pic>
      <p:pic>
        <p:nvPicPr>
          <p:cNvPr id="29" name="Picture 29"/>
          <p:cNvPicPr>
            <a:picLocks noChangeAspect="1"/>
          </p:cNvPicPr>
          <p:nvPr/>
        </p:nvPicPr>
        <p:blipFill>
          <a:blip r:embed="rId6"/>
          <a:stretch>
            <a:fillRect/>
          </a:stretch>
        </p:blipFill>
        <p:spPr>
          <a:xfrm>
            <a:off x="12458700" y="2095500"/>
            <a:ext cx="190500" cy="190500"/>
          </a:xfrm>
          <a:prstGeom prst="rect">
            <a:avLst/>
          </a:prstGeom>
        </p:spPr>
      </p:pic>
      <p:pic>
        <p:nvPicPr>
          <p:cNvPr id="30" name="Picture 30"/>
          <p:cNvPicPr>
            <a:picLocks noChangeAspect="1"/>
          </p:cNvPicPr>
          <p:nvPr/>
        </p:nvPicPr>
        <p:blipFill>
          <a:blip r:embed="rId7"/>
          <a:stretch>
            <a:fillRect/>
          </a:stretch>
        </p:blipFill>
        <p:spPr>
          <a:xfrm>
            <a:off x="1397000" y="6731000"/>
            <a:ext cx="190500" cy="19050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16256000" cy="9144000"/>
          </a:xfrm>
          <a:prstGeom prst="rect">
            <a:avLst/>
          </a:prstGeom>
          <a:solidFill>
            <a:srgbClr val="0D0A2C">
              <a:alpha val="74902"/>
            </a:srgbClr>
          </a:solidFill>
        </p:spPr>
      </p:sp>
      <p:pic>
        <p:nvPicPr>
          <p:cNvPr id="3" name="Picture 3"/>
          <p:cNvPicPr>
            <a:picLocks noChangeAspect="1"/>
          </p:cNvPicPr>
          <p:nvPr/>
        </p:nvPicPr>
        <p:blipFill>
          <a:blip r:embed="rId2"/>
          <a:srcRect t="56" b="56"/>
          <a:stretch>
            <a:fillRect/>
          </a:stretch>
        </p:blipFill>
        <p:spPr>
          <a:xfrm>
            <a:off x="0" y="0"/>
            <a:ext cx="16256000" cy="9144000"/>
          </a:xfrm>
          <a:prstGeom prst="rect">
            <a:avLst/>
          </a:prstGeom>
        </p:spPr>
      </p:pic>
      <p:sp>
        <p:nvSpPr>
          <p:cNvPr id="4" name="AutoShape 4"/>
          <p:cNvSpPr/>
          <p:nvPr/>
        </p:nvSpPr>
        <p:spPr>
          <a:xfrm>
            <a:off x="876300" y="2159000"/>
            <a:ext cx="14490700" cy="6273800"/>
          </a:xfrm>
          <a:prstGeom prst="rect">
            <a:avLst/>
          </a:prstGeom>
          <a:solidFill>
            <a:srgbClr val="000000">
              <a:alpha val="0"/>
            </a:srgbClr>
          </a:solidFill>
        </p:spPr>
      </p:sp>
      <p:sp>
        <p:nvSpPr>
          <p:cNvPr id="5" name="AutoShape 5"/>
          <p:cNvSpPr/>
          <p:nvPr/>
        </p:nvSpPr>
        <p:spPr>
          <a:xfrm>
            <a:off x="876300" y="2540000"/>
            <a:ext cx="3429000" cy="3390900"/>
          </a:xfrm>
          <a:prstGeom prst="roundRect">
            <a:avLst>
              <a:gd name="adj" fmla="val 2621"/>
            </a:avLst>
          </a:prstGeom>
          <a:solidFill>
            <a:srgbClr val="000000">
              <a:alpha val="0"/>
            </a:srgbClr>
          </a:solidFill>
        </p:spPr>
      </p:sp>
      <p:sp>
        <p:nvSpPr>
          <p:cNvPr id="6" name="AutoShape 6"/>
          <p:cNvSpPr/>
          <p:nvPr/>
        </p:nvSpPr>
        <p:spPr>
          <a:xfrm>
            <a:off x="863600" y="2514600"/>
            <a:ext cx="3403600" cy="88900"/>
          </a:xfrm>
          <a:prstGeom prst="roundRect">
            <a:avLst>
              <a:gd name="adj" fmla="val 50000"/>
            </a:avLst>
          </a:prstGeom>
          <a:solidFill>
            <a:srgbClr val="000000"/>
          </a:solidFill>
        </p:spPr>
      </p:sp>
      <p:sp>
        <p:nvSpPr>
          <p:cNvPr id="7" name="AutoShape 7"/>
          <p:cNvSpPr/>
          <p:nvPr/>
        </p:nvSpPr>
        <p:spPr>
          <a:xfrm>
            <a:off x="2222500" y="2159000"/>
            <a:ext cx="749300" cy="749300"/>
          </a:xfrm>
          <a:prstGeom prst="roundRect">
            <a:avLst>
              <a:gd name="adj" fmla="val 49152"/>
            </a:avLst>
          </a:prstGeom>
          <a:solidFill>
            <a:srgbClr val="000000"/>
          </a:solidFill>
        </p:spPr>
      </p:sp>
      <p:sp>
        <p:nvSpPr>
          <p:cNvPr id="8" name="AutoShape 8"/>
          <p:cNvSpPr/>
          <p:nvPr/>
        </p:nvSpPr>
        <p:spPr>
          <a:xfrm>
            <a:off x="4559300" y="2540000"/>
            <a:ext cx="3429000" cy="3390900"/>
          </a:xfrm>
          <a:prstGeom prst="roundRect">
            <a:avLst>
              <a:gd name="adj" fmla="val 2621"/>
            </a:avLst>
          </a:prstGeom>
          <a:solidFill>
            <a:srgbClr val="000000">
              <a:alpha val="0"/>
            </a:srgbClr>
          </a:solidFill>
        </p:spPr>
      </p:sp>
      <p:sp>
        <p:nvSpPr>
          <p:cNvPr id="9" name="AutoShape 9"/>
          <p:cNvSpPr/>
          <p:nvPr/>
        </p:nvSpPr>
        <p:spPr>
          <a:xfrm>
            <a:off x="4546600" y="2514600"/>
            <a:ext cx="3403600" cy="88900"/>
          </a:xfrm>
          <a:prstGeom prst="roundRect">
            <a:avLst>
              <a:gd name="adj" fmla="val 50000"/>
            </a:avLst>
          </a:prstGeom>
          <a:solidFill>
            <a:srgbClr val="000000"/>
          </a:solidFill>
        </p:spPr>
      </p:sp>
      <p:sp>
        <p:nvSpPr>
          <p:cNvPr id="10" name="AutoShape 10"/>
          <p:cNvSpPr/>
          <p:nvPr/>
        </p:nvSpPr>
        <p:spPr>
          <a:xfrm>
            <a:off x="5905500" y="2159000"/>
            <a:ext cx="749300" cy="749300"/>
          </a:xfrm>
          <a:prstGeom prst="roundRect">
            <a:avLst>
              <a:gd name="adj" fmla="val 49152"/>
            </a:avLst>
          </a:prstGeom>
          <a:solidFill>
            <a:srgbClr val="000000"/>
          </a:solidFill>
        </p:spPr>
      </p:sp>
      <p:sp>
        <p:nvSpPr>
          <p:cNvPr id="11" name="AutoShape 11"/>
          <p:cNvSpPr/>
          <p:nvPr/>
        </p:nvSpPr>
        <p:spPr>
          <a:xfrm>
            <a:off x="8242300" y="2540000"/>
            <a:ext cx="3429000" cy="3390900"/>
          </a:xfrm>
          <a:prstGeom prst="roundRect">
            <a:avLst>
              <a:gd name="adj" fmla="val 2621"/>
            </a:avLst>
          </a:prstGeom>
          <a:solidFill>
            <a:srgbClr val="000000">
              <a:alpha val="0"/>
            </a:srgbClr>
          </a:solidFill>
        </p:spPr>
      </p:sp>
      <p:sp>
        <p:nvSpPr>
          <p:cNvPr id="12" name="AutoShape 12"/>
          <p:cNvSpPr/>
          <p:nvPr/>
        </p:nvSpPr>
        <p:spPr>
          <a:xfrm>
            <a:off x="8242300" y="2514600"/>
            <a:ext cx="3403600" cy="88900"/>
          </a:xfrm>
          <a:prstGeom prst="roundRect">
            <a:avLst>
              <a:gd name="adj" fmla="val 50000"/>
            </a:avLst>
          </a:prstGeom>
          <a:solidFill>
            <a:srgbClr val="000000"/>
          </a:solidFill>
        </p:spPr>
      </p:sp>
      <p:sp>
        <p:nvSpPr>
          <p:cNvPr id="13" name="AutoShape 13"/>
          <p:cNvSpPr/>
          <p:nvPr/>
        </p:nvSpPr>
        <p:spPr>
          <a:xfrm>
            <a:off x="9588500" y="2159000"/>
            <a:ext cx="749300" cy="749300"/>
          </a:xfrm>
          <a:prstGeom prst="roundRect">
            <a:avLst>
              <a:gd name="adj" fmla="val 49152"/>
            </a:avLst>
          </a:prstGeom>
          <a:solidFill>
            <a:srgbClr val="000000"/>
          </a:solidFill>
        </p:spPr>
      </p:sp>
      <p:sp>
        <p:nvSpPr>
          <p:cNvPr id="14" name="AutoShape 14"/>
          <p:cNvSpPr/>
          <p:nvPr/>
        </p:nvSpPr>
        <p:spPr>
          <a:xfrm>
            <a:off x="11938000" y="2540000"/>
            <a:ext cx="3429000" cy="3390900"/>
          </a:xfrm>
          <a:prstGeom prst="roundRect">
            <a:avLst>
              <a:gd name="adj" fmla="val 2621"/>
            </a:avLst>
          </a:prstGeom>
          <a:solidFill>
            <a:srgbClr val="000000">
              <a:alpha val="0"/>
            </a:srgbClr>
          </a:solidFill>
        </p:spPr>
      </p:sp>
      <p:sp>
        <p:nvSpPr>
          <p:cNvPr id="15" name="AutoShape 15"/>
          <p:cNvSpPr/>
          <p:nvPr/>
        </p:nvSpPr>
        <p:spPr>
          <a:xfrm>
            <a:off x="11925300" y="2514600"/>
            <a:ext cx="3403600" cy="88900"/>
          </a:xfrm>
          <a:prstGeom prst="roundRect">
            <a:avLst>
              <a:gd name="adj" fmla="val 50000"/>
            </a:avLst>
          </a:prstGeom>
          <a:solidFill>
            <a:srgbClr val="000000"/>
          </a:solidFill>
        </p:spPr>
      </p:sp>
      <p:sp>
        <p:nvSpPr>
          <p:cNvPr id="16" name="AutoShape 16"/>
          <p:cNvSpPr/>
          <p:nvPr/>
        </p:nvSpPr>
        <p:spPr>
          <a:xfrm>
            <a:off x="13271500" y="2159000"/>
            <a:ext cx="749300" cy="749300"/>
          </a:xfrm>
          <a:prstGeom prst="roundRect">
            <a:avLst>
              <a:gd name="adj" fmla="val 49152"/>
            </a:avLst>
          </a:prstGeom>
          <a:solidFill>
            <a:srgbClr val="000000"/>
          </a:solidFill>
        </p:spPr>
      </p:sp>
      <p:sp>
        <p:nvSpPr>
          <p:cNvPr id="17" name="AutoShape 17"/>
          <p:cNvSpPr/>
          <p:nvPr/>
        </p:nvSpPr>
        <p:spPr>
          <a:xfrm>
            <a:off x="876300" y="6553200"/>
            <a:ext cx="14490700" cy="1879600"/>
          </a:xfrm>
          <a:prstGeom prst="roundRect">
            <a:avLst>
              <a:gd name="adj" fmla="val 4729"/>
            </a:avLst>
          </a:prstGeom>
          <a:solidFill>
            <a:srgbClr val="000000">
              <a:alpha val="0"/>
            </a:srgbClr>
          </a:solidFill>
        </p:spPr>
      </p:sp>
      <p:sp>
        <p:nvSpPr>
          <p:cNvPr id="18" name="AutoShape 18"/>
          <p:cNvSpPr/>
          <p:nvPr/>
        </p:nvSpPr>
        <p:spPr>
          <a:xfrm>
            <a:off x="863600" y="6527800"/>
            <a:ext cx="14452600" cy="88900"/>
          </a:xfrm>
          <a:prstGeom prst="roundRect">
            <a:avLst>
              <a:gd name="adj" fmla="val 50000"/>
            </a:avLst>
          </a:prstGeom>
          <a:solidFill>
            <a:srgbClr val="000000"/>
          </a:solidFill>
        </p:spPr>
      </p:sp>
      <p:sp>
        <p:nvSpPr>
          <p:cNvPr id="19" name="AutoShape 19"/>
          <p:cNvSpPr/>
          <p:nvPr/>
        </p:nvSpPr>
        <p:spPr>
          <a:xfrm>
            <a:off x="7747000" y="6184900"/>
            <a:ext cx="749300" cy="749300"/>
          </a:xfrm>
          <a:prstGeom prst="roundRect">
            <a:avLst>
              <a:gd name="adj" fmla="val 49152"/>
            </a:avLst>
          </a:prstGeom>
          <a:solidFill>
            <a:srgbClr val="000000"/>
          </a:solidFill>
        </p:spPr>
      </p:sp>
      <p:sp>
        <p:nvSpPr>
          <p:cNvPr id="20" name="TextBox 20"/>
          <p:cNvSpPr txBox="1"/>
          <p:nvPr/>
        </p:nvSpPr>
        <p:spPr>
          <a:xfrm>
            <a:off x="876300" y="685800"/>
            <a:ext cx="14490700" cy="1193800"/>
          </a:xfrm>
          <a:prstGeom prst="rect">
            <a:avLst/>
          </a:prstGeom>
          <a:solidFill>
            <a:srgbClr val="000000">
              <a:alpha val="0"/>
            </a:srgbClr>
          </a:solidFill>
        </p:spPr>
        <p:txBody>
          <a:bodyPr lIns="0" tIns="0" rIns="0" bIns="0" rtlCol="0" anchor="ctr"/>
          <a:lstStyle/>
          <a:p>
            <a:pPr indent="0" algn="l">
              <a:lnSpc>
                <a:spcPct val="120000"/>
              </a:lnSpc>
              <a:defRPr/>
            </a:pPr>
            <a:r>
              <a:rPr lang="en-US" sz="3900" b="1">
                <a:solidFill>
                  <a:srgbClr val="000000"/>
                </a:solidFill>
                <a:latin typeface="Ubuntu"/>
              </a:rPr>
              <a:t>Implementation Stack: Modular Deployment-Oriented Platform</a:t>
            </a:r>
            <a:endParaRPr lang="en-US" sz="1100"/>
          </a:p>
        </p:txBody>
      </p:sp>
      <p:sp>
        <p:nvSpPr>
          <p:cNvPr id="21" name="TextBox 21"/>
          <p:cNvSpPr txBox="1"/>
          <p:nvPr/>
        </p:nvSpPr>
        <p:spPr>
          <a:xfrm>
            <a:off x="2501900" y="2349500"/>
            <a:ext cx="304800" cy="368300"/>
          </a:xfrm>
          <a:prstGeom prst="rect">
            <a:avLst/>
          </a:prstGeom>
          <a:solidFill>
            <a:srgbClr val="000000">
              <a:alpha val="0"/>
            </a:srgbClr>
          </a:solidFill>
        </p:spPr>
        <p:txBody>
          <a:bodyPr lIns="0" tIns="0" rIns="0" bIns="0" rtlCol="0" anchor="ctr"/>
          <a:lstStyle/>
          <a:p>
            <a:pPr indent="0" algn="l">
              <a:lnSpc>
                <a:spcPct val="120000"/>
              </a:lnSpc>
              <a:defRPr/>
            </a:pPr>
            <a:r>
              <a:rPr lang="en-US" sz="2400" b="1">
                <a:solidFill>
                  <a:srgbClr val="FFFFFF"/>
                </a:solidFill>
                <a:highlight>
                  <a:srgbClr val="000000">
                    <a:alpha val="0"/>
                  </a:srgbClr>
                </a:highlight>
                <a:latin typeface="Ubuntu"/>
              </a:rPr>
              <a:t>1</a:t>
            </a:r>
            <a:endParaRPr lang="en-US" sz="1100"/>
          </a:p>
        </p:txBody>
      </p:sp>
      <p:sp>
        <p:nvSpPr>
          <p:cNvPr id="22" name="TextBox 22"/>
          <p:cNvSpPr txBox="1"/>
          <p:nvPr/>
        </p:nvSpPr>
        <p:spPr>
          <a:xfrm>
            <a:off x="1143000" y="3162300"/>
            <a:ext cx="2895600" cy="444500"/>
          </a:xfrm>
          <a:prstGeom prst="rect">
            <a:avLst/>
          </a:prstGeom>
          <a:solidFill>
            <a:srgbClr val="000000">
              <a:alpha val="0"/>
            </a:srgbClr>
          </a:solidFill>
        </p:spPr>
        <p:txBody>
          <a:bodyPr lIns="0" tIns="0" rIns="0" bIns="0" rtlCol="0" anchor="ctr"/>
          <a:lstStyle/>
          <a:p>
            <a:pPr indent="0" algn="l">
              <a:lnSpc>
                <a:spcPct val="120000"/>
              </a:lnSpc>
              <a:defRPr/>
            </a:pPr>
            <a:r>
              <a:rPr lang="en-US" sz="2900" b="1">
                <a:solidFill>
                  <a:srgbClr val="000000"/>
                </a:solidFill>
                <a:latin typeface="Ubuntu"/>
              </a:rPr>
              <a:t>Backend</a:t>
            </a:r>
            <a:endParaRPr lang="en-US" sz="1100"/>
          </a:p>
        </p:txBody>
      </p:sp>
      <p:sp>
        <p:nvSpPr>
          <p:cNvPr id="23" name="TextBox 23"/>
          <p:cNvSpPr txBox="1"/>
          <p:nvPr/>
        </p:nvSpPr>
        <p:spPr>
          <a:xfrm>
            <a:off x="6184900" y="2349500"/>
            <a:ext cx="304800" cy="368300"/>
          </a:xfrm>
          <a:prstGeom prst="rect">
            <a:avLst/>
          </a:prstGeom>
          <a:solidFill>
            <a:srgbClr val="000000">
              <a:alpha val="0"/>
            </a:srgbClr>
          </a:solidFill>
        </p:spPr>
        <p:txBody>
          <a:bodyPr lIns="0" tIns="0" rIns="0" bIns="0" rtlCol="0" anchor="ctr"/>
          <a:lstStyle/>
          <a:p>
            <a:pPr indent="0" algn="l">
              <a:lnSpc>
                <a:spcPct val="120000"/>
              </a:lnSpc>
              <a:defRPr/>
            </a:pPr>
            <a:r>
              <a:rPr lang="en-US" sz="2400" b="1">
                <a:solidFill>
                  <a:srgbClr val="FFFFFF"/>
                </a:solidFill>
                <a:highlight>
                  <a:srgbClr val="000000">
                    <a:alpha val="0"/>
                  </a:srgbClr>
                </a:highlight>
                <a:latin typeface="Ubuntu"/>
              </a:rPr>
              <a:t>2</a:t>
            </a:r>
            <a:endParaRPr lang="en-US" sz="1100"/>
          </a:p>
        </p:txBody>
      </p:sp>
      <p:sp>
        <p:nvSpPr>
          <p:cNvPr id="24" name="TextBox 24"/>
          <p:cNvSpPr txBox="1"/>
          <p:nvPr/>
        </p:nvSpPr>
        <p:spPr>
          <a:xfrm>
            <a:off x="4826000" y="3162300"/>
            <a:ext cx="2895600" cy="444500"/>
          </a:xfrm>
          <a:prstGeom prst="rect">
            <a:avLst/>
          </a:prstGeom>
          <a:solidFill>
            <a:srgbClr val="000000">
              <a:alpha val="0"/>
            </a:srgbClr>
          </a:solidFill>
        </p:spPr>
        <p:txBody>
          <a:bodyPr lIns="0" tIns="0" rIns="0" bIns="0" rtlCol="0" anchor="ctr"/>
          <a:lstStyle/>
          <a:p>
            <a:pPr indent="0" algn="l">
              <a:lnSpc>
                <a:spcPct val="120000"/>
              </a:lnSpc>
              <a:defRPr/>
            </a:pPr>
            <a:r>
              <a:rPr lang="en-US" sz="2900" b="1">
                <a:solidFill>
                  <a:srgbClr val="000000"/>
                </a:solidFill>
                <a:latin typeface="Ubuntu"/>
              </a:rPr>
              <a:t>Frontend</a:t>
            </a:r>
            <a:endParaRPr lang="en-US" sz="1100"/>
          </a:p>
        </p:txBody>
      </p:sp>
      <p:sp>
        <p:nvSpPr>
          <p:cNvPr id="25" name="TextBox 25"/>
          <p:cNvSpPr txBox="1"/>
          <p:nvPr/>
        </p:nvSpPr>
        <p:spPr>
          <a:xfrm>
            <a:off x="9880600" y="2349500"/>
            <a:ext cx="304800" cy="368300"/>
          </a:xfrm>
          <a:prstGeom prst="rect">
            <a:avLst/>
          </a:prstGeom>
          <a:solidFill>
            <a:srgbClr val="000000">
              <a:alpha val="0"/>
            </a:srgbClr>
          </a:solidFill>
        </p:spPr>
        <p:txBody>
          <a:bodyPr lIns="0" tIns="0" rIns="0" bIns="0" rtlCol="0" anchor="ctr"/>
          <a:lstStyle/>
          <a:p>
            <a:pPr indent="0" algn="l">
              <a:lnSpc>
                <a:spcPct val="120000"/>
              </a:lnSpc>
              <a:defRPr/>
            </a:pPr>
            <a:r>
              <a:rPr lang="en-US" sz="2400" b="1">
                <a:solidFill>
                  <a:srgbClr val="FFFFFF"/>
                </a:solidFill>
                <a:highlight>
                  <a:srgbClr val="000000">
                    <a:alpha val="0"/>
                  </a:srgbClr>
                </a:highlight>
                <a:latin typeface="Ubuntu"/>
              </a:rPr>
              <a:t>3</a:t>
            </a:r>
            <a:endParaRPr lang="en-US" sz="1100"/>
          </a:p>
        </p:txBody>
      </p:sp>
      <p:sp>
        <p:nvSpPr>
          <p:cNvPr id="26" name="TextBox 26"/>
          <p:cNvSpPr txBox="1"/>
          <p:nvPr/>
        </p:nvSpPr>
        <p:spPr>
          <a:xfrm>
            <a:off x="8509000" y="3162300"/>
            <a:ext cx="2895600" cy="444500"/>
          </a:xfrm>
          <a:prstGeom prst="rect">
            <a:avLst/>
          </a:prstGeom>
          <a:solidFill>
            <a:srgbClr val="000000">
              <a:alpha val="0"/>
            </a:srgbClr>
          </a:solidFill>
        </p:spPr>
        <p:txBody>
          <a:bodyPr lIns="0" tIns="0" rIns="0" bIns="0" rtlCol="0" anchor="ctr"/>
          <a:lstStyle/>
          <a:p>
            <a:pPr indent="0" algn="l">
              <a:lnSpc>
                <a:spcPct val="120000"/>
              </a:lnSpc>
              <a:defRPr/>
            </a:pPr>
            <a:r>
              <a:rPr lang="en-US" sz="2900" b="1">
                <a:solidFill>
                  <a:srgbClr val="000000"/>
                </a:solidFill>
                <a:latin typeface="Ubuntu"/>
              </a:rPr>
              <a:t>SCADA</a:t>
            </a:r>
            <a:endParaRPr lang="en-US" sz="1100"/>
          </a:p>
        </p:txBody>
      </p:sp>
      <p:sp>
        <p:nvSpPr>
          <p:cNvPr id="27" name="TextBox 27"/>
          <p:cNvSpPr txBox="1"/>
          <p:nvPr/>
        </p:nvSpPr>
        <p:spPr>
          <a:xfrm>
            <a:off x="13563600" y="2349500"/>
            <a:ext cx="304800" cy="368300"/>
          </a:xfrm>
          <a:prstGeom prst="rect">
            <a:avLst/>
          </a:prstGeom>
          <a:solidFill>
            <a:srgbClr val="000000">
              <a:alpha val="0"/>
            </a:srgbClr>
          </a:solidFill>
        </p:spPr>
        <p:txBody>
          <a:bodyPr lIns="0" tIns="0" rIns="0" bIns="0" rtlCol="0" anchor="ctr"/>
          <a:lstStyle/>
          <a:p>
            <a:pPr indent="0" algn="l">
              <a:lnSpc>
                <a:spcPct val="120000"/>
              </a:lnSpc>
              <a:defRPr/>
            </a:pPr>
            <a:r>
              <a:rPr lang="en-US" sz="2400" b="1">
                <a:solidFill>
                  <a:srgbClr val="FFFFFF"/>
                </a:solidFill>
                <a:highlight>
                  <a:srgbClr val="000000">
                    <a:alpha val="0"/>
                  </a:srgbClr>
                </a:highlight>
                <a:latin typeface="Ubuntu"/>
              </a:rPr>
              <a:t>4</a:t>
            </a:r>
            <a:endParaRPr lang="en-US" sz="1100"/>
          </a:p>
        </p:txBody>
      </p:sp>
      <p:sp>
        <p:nvSpPr>
          <p:cNvPr id="28" name="TextBox 28"/>
          <p:cNvSpPr txBox="1"/>
          <p:nvPr/>
        </p:nvSpPr>
        <p:spPr>
          <a:xfrm>
            <a:off x="12204700" y="3162300"/>
            <a:ext cx="2895600" cy="444500"/>
          </a:xfrm>
          <a:prstGeom prst="rect">
            <a:avLst/>
          </a:prstGeom>
          <a:solidFill>
            <a:srgbClr val="000000">
              <a:alpha val="0"/>
            </a:srgbClr>
          </a:solidFill>
        </p:spPr>
        <p:txBody>
          <a:bodyPr lIns="0" tIns="0" rIns="0" bIns="0" rtlCol="0" anchor="ctr"/>
          <a:lstStyle/>
          <a:p>
            <a:pPr indent="0" algn="l">
              <a:lnSpc>
                <a:spcPct val="120000"/>
              </a:lnSpc>
              <a:defRPr/>
            </a:pPr>
            <a:r>
              <a:rPr lang="en-US" sz="2900" b="1">
                <a:solidFill>
                  <a:srgbClr val="000000"/>
                </a:solidFill>
                <a:latin typeface="Ubuntu"/>
              </a:rPr>
              <a:t>Bridge</a:t>
            </a:r>
            <a:endParaRPr lang="en-US" sz="1100"/>
          </a:p>
        </p:txBody>
      </p:sp>
      <p:sp>
        <p:nvSpPr>
          <p:cNvPr id="29" name="TextBox 29"/>
          <p:cNvSpPr txBox="1"/>
          <p:nvPr/>
        </p:nvSpPr>
        <p:spPr>
          <a:xfrm>
            <a:off x="8026400" y="6375400"/>
            <a:ext cx="304800" cy="368300"/>
          </a:xfrm>
          <a:prstGeom prst="rect">
            <a:avLst/>
          </a:prstGeom>
          <a:solidFill>
            <a:srgbClr val="000000">
              <a:alpha val="0"/>
            </a:srgbClr>
          </a:solidFill>
        </p:spPr>
        <p:txBody>
          <a:bodyPr lIns="0" tIns="0" rIns="0" bIns="0" rtlCol="0" anchor="ctr"/>
          <a:lstStyle/>
          <a:p>
            <a:pPr indent="0" algn="l">
              <a:lnSpc>
                <a:spcPct val="120000"/>
              </a:lnSpc>
              <a:defRPr/>
            </a:pPr>
            <a:r>
              <a:rPr lang="en-US" sz="2400" b="1">
                <a:solidFill>
                  <a:srgbClr val="FFFFFF"/>
                </a:solidFill>
                <a:highlight>
                  <a:srgbClr val="000000">
                    <a:alpha val="0"/>
                  </a:srgbClr>
                </a:highlight>
                <a:latin typeface="Ubuntu"/>
              </a:rPr>
              <a:t>5</a:t>
            </a:r>
            <a:endParaRPr lang="en-US" sz="1100"/>
          </a:p>
        </p:txBody>
      </p:sp>
      <p:sp>
        <p:nvSpPr>
          <p:cNvPr id="30" name="TextBox 30"/>
          <p:cNvSpPr txBox="1"/>
          <p:nvPr/>
        </p:nvSpPr>
        <p:spPr>
          <a:xfrm>
            <a:off x="1143000" y="7188200"/>
            <a:ext cx="13957300" cy="444500"/>
          </a:xfrm>
          <a:prstGeom prst="rect">
            <a:avLst/>
          </a:prstGeom>
          <a:solidFill>
            <a:srgbClr val="000000">
              <a:alpha val="0"/>
            </a:srgbClr>
          </a:solidFill>
        </p:spPr>
        <p:txBody>
          <a:bodyPr lIns="0" tIns="0" rIns="0" bIns="0" rtlCol="0" anchor="ctr"/>
          <a:lstStyle/>
          <a:p>
            <a:pPr indent="0" algn="l">
              <a:lnSpc>
                <a:spcPct val="120000"/>
              </a:lnSpc>
              <a:defRPr/>
            </a:pPr>
            <a:r>
              <a:rPr lang="en-US" sz="2900" b="1">
                <a:solidFill>
                  <a:srgbClr val="000000"/>
                </a:solidFill>
                <a:latin typeface="Ubuntu"/>
              </a:rPr>
              <a:t>Execution environment</a:t>
            </a:r>
            <a:endParaRPr lang="en-US" sz="1100"/>
          </a:p>
        </p:txBody>
      </p:sp>
      <p:sp>
        <p:nvSpPr>
          <p:cNvPr id="31" name="TextBox 31"/>
          <p:cNvSpPr txBox="1"/>
          <p:nvPr/>
        </p:nvSpPr>
        <p:spPr>
          <a:xfrm>
            <a:off x="1143000" y="3797300"/>
            <a:ext cx="2895600" cy="1866900"/>
          </a:xfrm>
          <a:prstGeom prst="rect">
            <a:avLst/>
          </a:prstGeom>
          <a:solidFill>
            <a:srgbClr val="000000">
              <a:alpha val="0"/>
            </a:srgbClr>
          </a:solidFill>
        </p:spPr>
        <p:txBody>
          <a:bodyPr lIns="0" tIns="0" rIns="0" bIns="0" rtlCol="0" anchor="ctr"/>
          <a:lstStyle/>
          <a:p>
            <a:pPr indent="0" algn="l">
              <a:lnSpc>
                <a:spcPct val="150000"/>
              </a:lnSpc>
              <a:defRPr/>
            </a:pPr>
            <a:r>
              <a:rPr lang="en-US" sz="1900" b="1">
                <a:solidFill>
                  <a:srgbClr val="000000"/>
                </a:solidFill>
                <a:latin typeface="Poppins"/>
              </a:rPr>
              <a:t>FastAPI for SCADA ingest, anomaly scoring, audit logic, and explanation generation</a:t>
            </a:r>
            <a:endParaRPr lang="en-US" sz="1100"/>
          </a:p>
        </p:txBody>
      </p:sp>
      <p:sp>
        <p:nvSpPr>
          <p:cNvPr id="32" name="TextBox 32"/>
          <p:cNvSpPr txBox="1"/>
          <p:nvPr/>
        </p:nvSpPr>
        <p:spPr>
          <a:xfrm>
            <a:off x="4826000" y="3797300"/>
            <a:ext cx="2895600" cy="1117600"/>
          </a:xfrm>
          <a:prstGeom prst="rect">
            <a:avLst/>
          </a:prstGeom>
          <a:solidFill>
            <a:srgbClr val="000000">
              <a:alpha val="0"/>
            </a:srgbClr>
          </a:solidFill>
        </p:spPr>
        <p:txBody>
          <a:bodyPr lIns="0" tIns="0" rIns="0" bIns="0" rtlCol="0" anchor="ctr"/>
          <a:lstStyle/>
          <a:p>
            <a:pPr indent="0" algn="l">
              <a:lnSpc>
                <a:spcPct val="150000"/>
              </a:lnSpc>
              <a:defRPr/>
            </a:pPr>
            <a:r>
              <a:rPr lang="en-US" sz="1900" b="1">
                <a:solidFill>
                  <a:srgbClr val="000000"/>
                </a:solidFill>
                <a:latin typeface="Poppins"/>
              </a:rPr>
              <a:t>Next.js dashboard with separated Experiment and Live workspaces</a:t>
            </a:r>
            <a:endParaRPr lang="en-US" sz="1100"/>
          </a:p>
        </p:txBody>
      </p:sp>
      <p:sp>
        <p:nvSpPr>
          <p:cNvPr id="33" name="TextBox 33"/>
          <p:cNvSpPr txBox="1"/>
          <p:nvPr/>
        </p:nvSpPr>
        <p:spPr>
          <a:xfrm>
            <a:off x="8509000" y="3797300"/>
            <a:ext cx="2895600" cy="1498600"/>
          </a:xfrm>
          <a:prstGeom prst="rect">
            <a:avLst/>
          </a:prstGeom>
          <a:solidFill>
            <a:srgbClr val="000000">
              <a:alpha val="0"/>
            </a:srgbClr>
          </a:solidFill>
        </p:spPr>
        <p:txBody>
          <a:bodyPr lIns="0" tIns="0" rIns="0" bIns="0" rtlCol="0" anchor="ctr"/>
          <a:lstStyle/>
          <a:p>
            <a:pPr indent="0" algn="l">
              <a:lnSpc>
                <a:spcPct val="150000"/>
              </a:lnSpc>
              <a:defRPr/>
            </a:pPr>
            <a:r>
              <a:rPr lang="en-US" sz="1900" b="1">
                <a:solidFill>
                  <a:srgbClr val="000000"/>
                </a:solidFill>
                <a:latin typeface="Poppins"/>
              </a:rPr>
              <a:t>Rapid SCADA Webstation with a 300-channel calculated model</a:t>
            </a:r>
            <a:endParaRPr lang="en-US" sz="1100"/>
          </a:p>
        </p:txBody>
      </p:sp>
      <p:sp>
        <p:nvSpPr>
          <p:cNvPr id="34" name="TextBox 34"/>
          <p:cNvSpPr txBox="1"/>
          <p:nvPr/>
        </p:nvSpPr>
        <p:spPr>
          <a:xfrm>
            <a:off x="12204700" y="3797300"/>
            <a:ext cx="2895600" cy="1498600"/>
          </a:xfrm>
          <a:prstGeom prst="rect">
            <a:avLst/>
          </a:prstGeom>
          <a:solidFill>
            <a:srgbClr val="000000">
              <a:alpha val="0"/>
            </a:srgbClr>
          </a:solidFill>
        </p:spPr>
        <p:txBody>
          <a:bodyPr lIns="0" tIns="0" rIns="0" bIns="0" rtlCol="0" anchor="ctr"/>
          <a:lstStyle/>
          <a:p>
            <a:pPr indent="0" algn="l">
              <a:lnSpc>
                <a:spcPct val="150000"/>
              </a:lnSpc>
              <a:defRPr/>
            </a:pPr>
            <a:r>
              <a:rPr lang="en-US" sz="1900" b="1">
                <a:solidFill>
                  <a:srgbClr val="000000"/>
                </a:solidFill>
                <a:latin typeface="Poppins"/>
              </a:rPr>
              <a:t>PowerShell-based authenticated API retrieval with batched ingestion</a:t>
            </a:r>
            <a:endParaRPr lang="en-US" sz="1100"/>
          </a:p>
        </p:txBody>
      </p:sp>
      <p:sp>
        <p:nvSpPr>
          <p:cNvPr id="35" name="TextBox 35"/>
          <p:cNvSpPr txBox="1"/>
          <p:nvPr/>
        </p:nvSpPr>
        <p:spPr>
          <a:xfrm>
            <a:off x="1143000" y="7810500"/>
            <a:ext cx="13957300" cy="368300"/>
          </a:xfrm>
          <a:prstGeom prst="rect">
            <a:avLst/>
          </a:prstGeom>
          <a:solidFill>
            <a:srgbClr val="000000">
              <a:alpha val="0"/>
            </a:srgbClr>
          </a:solidFill>
        </p:spPr>
        <p:txBody>
          <a:bodyPr lIns="0" tIns="0" rIns="0" bIns="0" rtlCol="0" anchor="ctr"/>
          <a:lstStyle/>
          <a:p>
            <a:pPr indent="0" algn="l">
              <a:lnSpc>
                <a:spcPct val="150000"/>
              </a:lnSpc>
              <a:defRPr/>
            </a:pPr>
            <a:r>
              <a:rPr lang="en-US" sz="1900" b="1">
                <a:solidFill>
                  <a:srgbClr val="000000"/>
                </a:solidFill>
                <a:latin typeface="Poppins"/>
              </a:rPr>
              <a:t>Standard workstation prioritizing API responsiveness</a:t>
            </a:r>
            <a:endParaRPr lang="en-US" sz="110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16256000" cy="9144000"/>
          </a:xfrm>
          <a:prstGeom prst="rect">
            <a:avLst/>
          </a:prstGeom>
          <a:solidFill>
            <a:srgbClr val="0D0A2C">
              <a:alpha val="74902"/>
            </a:srgbClr>
          </a:solidFill>
        </p:spPr>
      </p:sp>
      <p:pic>
        <p:nvPicPr>
          <p:cNvPr id="3" name="Picture 3"/>
          <p:cNvPicPr>
            <a:picLocks noChangeAspect="1"/>
          </p:cNvPicPr>
          <p:nvPr/>
        </p:nvPicPr>
        <p:blipFill>
          <a:blip r:embed="rId2"/>
          <a:srcRect t="56" b="56"/>
          <a:stretch>
            <a:fillRect/>
          </a:stretch>
        </p:blipFill>
        <p:spPr>
          <a:xfrm>
            <a:off x="0" y="0"/>
            <a:ext cx="16256000" cy="9144000"/>
          </a:xfrm>
          <a:prstGeom prst="rect">
            <a:avLst/>
          </a:prstGeom>
        </p:spPr>
      </p:pic>
      <p:sp>
        <p:nvSpPr>
          <p:cNvPr id="4" name="AutoShape 4"/>
          <p:cNvSpPr/>
          <p:nvPr/>
        </p:nvSpPr>
        <p:spPr>
          <a:xfrm>
            <a:off x="876300" y="3149600"/>
            <a:ext cx="14490700" cy="4318000"/>
          </a:xfrm>
          <a:prstGeom prst="rect">
            <a:avLst/>
          </a:prstGeom>
          <a:solidFill>
            <a:srgbClr val="000000">
              <a:alpha val="0"/>
            </a:srgbClr>
          </a:solidFill>
        </p:spPr>
      </p:sp>
      <p:sp>
        <p:nvSpPr>
          <p:cNvPr id="5" name="AutoShape 5"/>
          <p:cNvSpPr/>
          <p:nvPr/>
        </p:nvSpPr>
        <p:spPr>
          <a:xfrm>
            <a:off x="876300" y="3149600"/>
            <a:ext cx="3378200" cy="2603500"/>
          </a:xfrm>
          <a:prstGeom prst="rect">
            <a:avLst/>
          </a:prstGeom>
          <a:solidFill>
            <a:srgbClr val="000000">
              <a:alpha val="0"/>
            </a:srgbClr>
          </a:solidFill>
        </p:spPr>
      </p:sp>
      <p:sp>
        <p:nvSpPr>
          <p:cNvPr id="6" name="AutoShape 6"/>
          <p:cNvSpPr/>
          <p:nvPr/>
        </p:nvSpPr>
        <p:spPr>
          <a:xfrm>
            <a:off x="876300" y="3149600"/>
            <a:ext cx="558800" cy="558800"/>
          </a:xfrm>
          <a:prstGeom prst="roundRect">
            <a:avLst>
              <a:gd name="adj" fmla="val 15909"/>
            </a:avLst>
          </a:prstGeom>
          <a:solidFill>
            <a:srgbClr val="D1D1D1"/>
          </a:solidFill>
        </p:spPr>
      </p:sp>
      <p:sp>
        <p:nvSpPr>
          <p:cNvPr id="7" name="AutoShape 7"/>
          <p:cNvSpPr/>
          <p:nvPr/>
        </p:nvSpPr>
        <p:spPr>
          <a:xfrm>
            <a:off x="4572000" y="3149600"/>
            <a:ext cx="3378200" cy="2603500"/>
          </a:xfrm>
          <a:prstGeom prst="rect">
            <a:avLst/>
          </a:prstGeom>
          <a:solidFill>
            <a:srgbClr val="000000">
              <a:alpha val="0"/>
            </a:srgbClr>
          </a:solidFill>
        </p:spPr>
      </p:sp>
      <p:sp>
        <p:nvSpPr>
          <p:cNvPr id="8" name="AutoShape 8"/>
          <p:cNvSpPr/>
          <p:nvPr/>
        </p:nvSpPr>
        <p:spPr>
          <a:xfrm>
            <a:off x="4572000" y="3149600"/>
            <a:ext cx="558800" cy="558800"/>
          </a:xfrm>
          <a:prstGeom prst="roundRect">
            <a:avLst>
              <a:gd name="adj" fmla="val 15909"/>
            </a:avLst>
          </a:prstGeom>
          <a:solidFill>
            <a:srgbClr val="D1D1D1"/>
          </a:solidFill>
        </p:spPr>
      </p:sp>
      <p:sp>
        <p:nvSpPr>
          <p:cNvPr id="9" name="AutoShape 9"/>
          <p:cNvSpPr/>
          <p:nvPr/>
        </p:nvSpPr>
        <p:spPr>
          <a:xfrm>
            <a:off x="8280400" y="3149600"/>
            <a:ext cx="3378200" cy="2603500"/>
          </a:xfrm>
          <a:prstGeom prst="rect">
            <a:avLst/>
          </a:prstGeom>
          <a:solidFill>
            <a:srgbClr val="000000">
              <a:alpha val="0"/>
            </a:srgbClr>
          </a:solidFill>
        </p:spPr>
      </p:sp>
      <p:sp>
        <p:nvSpPr>
          <p:cNvPr id="10" name="AutoShape 10"/>
          <p:cNvSpPr/>
          <p:nvPr/>
        </p:nvSpPr>
        <p:spPr>
          <a:xfrm>
            <a:off x="8280400" y="3149600"/>
            <a:ext cx="558800" cy="558800"/>
          </a:xfrm>
          <a:prstGeom prst="roundRect">
            <a:avLst>
              <a:gd name="adj" fmla="val 15909"/>
            </a:avLst>
          </a:prstGeom>
          <a:solidFill>
            <a:srgbClr val="D1D1D1"/>
          </a:solidFill>
        </p:spPr>
      </p:sp>
      <p:sp>
        <p:nvSpPr>
          <p:cNvPr id="11" name="AutoShape 11"/>
          <p:cNvSpPr/>
          <p:nvPr/>
        </p:nvSpPr>
        <p:spPr>
          <a:xfrm>
            <a:off x="11976100" y="3149600"/>
            <a:ext cx="3378200" cy="2603500"/>
          </a:xfrm>
          <a:prstGeom prst="rect">
            <a:avLst/>
          </a:prstGeom>
          <a:solidFill>
            <a:srgbClr val="000000">
              <a:alpha val="0"/>
            </a:srgbClr>
          </a:solidFill>
        </p:spPr>
      </p:sp>
      <p:sp>
        <p:nvSpPr>
          <p:cNvPr id="12" name="AutoShape 12"/>
          <p:cNvSpPr/>
          <p:nvPr/>
        </p:nvSpPr>
        <p:spPr>
          <a:xfrm>
            <a:off x="11976100" y="3149600"/>
            <a:ext cx="558800" cy="558800"/>
          </a:xfrm>
          <a:prstGeom prst="roundRect">
            <a:avLst>
              <a:gd name="adj" fmla="val 15909"/>
            </a:avLst>
          </a:prstGeom>
          <a:solidFill>
            <a:srgbClr val="D1D1D1"/>
          </a:solidFill>
        </p:spPr>
      </p:sp>
      <p:sp>
        <p:nvSpPr>
          <p:cNvPr id="13" name="AutoShape 13"/>
          <p:cNvSpPr/>
          <p:nvPr/>
        </p:nvSpPr>
        <p:spPr>
          <a:xfrm>
            <a:off x="876300" y="6388100"/>
            <a:ext cx="14490700" cy="1092200"/>
          </a:xfrm>
          <a:prstGeom prst="rect">
            <a:avLst/>
          </a:prstGeom>
          <a:solidFill>
            <a:srgbClr val="000000">
              <a:alpha val="0"/>
            </a:srgbClr>
          </a:solidFill>
        </p:spPr>
      </p:sp>
      <p:sp>
        <p:nvSpPr>
          <p:cNvPr id="14" name="AutoShape 14"/>
          <p:cNvSpPr/>
          <p:nvPr/>
        </p:nvSpPr>
        <p:spPr>
          <a:xfrm>
            <a:off x="876300" y="6388100"/>
            <a:ext cx="558800" cy="558800"/>
          </a:xfrm>
          <a:prstGeom prst="roundRect">
            <a:avLst>
              <a:gd name="adj" fmla="val 15909"/>
            </a:avLst>
          </a:prstGeom>
          <a:solidFill>
            <a:srgbClr val="D1D1D1"/>
          </a:solidFill>
        </p:spPr>
      </p:sp>
      <p:sp>
        <p:nvSpPr>
          <p:cNvPr id="15" name="TextBox 15"/>
          <p:cNvSpPr txBox="1"/>
          <p:nvPr/>
        </p:nvSpPr>
        <p:spPr>
          <a:xfrm>
            <a:off x="876300" y="1651000"/>
            <a:ext cx="14490700" cy="1206500"/>
          </a:xfrm>
          <a:prstGeom prst="rect">
            <a:avLst/>
          </a:prstGeom>
          <a:solidFill>
            <a:srgbClr val="000000">
              <a:alpha val="0"/>
            </a:srgbClr>
          </a:solidFill>
        </p:spPr>
        <p:txBody>
          <a:bodyPr lIns="0" tIns="0" rIns="0" bIns="0" rtlCol="0" anchor="ctr"/>
          <a:lstStyle/>
          <a:p>
            <a:pPr indent="0" algn="l">
              <a:lnSpc>
                <a:spcPct val="120000"/>
              </a:lnSpc>
              <a:defRPr/>
            </a:pPr>
            <a:r>
              <a:rPr lang="en-US" sz="3900" b="1">
                <a:solidFill>
                  <a:srgbClr val="000000"/>
                </a:solidFill>
                <a:latin typeface="Ubuntu"/>
              </a:rPr>
              <a:t>Testing and Validation: Structured Implementation Test Cases</a:t>
            </a:r>
            <a:endParaRPr lang="en-US" sz="1100"/>
          </a:p>
        </p:txBody>
      </p:sp>
      <p:sp>
        <p:nvSpPr>
          <p:cNvPr id="16" name="TextBox 16"/>
          <p:cNvSpPr txBox="1"/>
          <p:nvPr/>
        </p:nvSpPr>
        <p:spPr>
          <a:xfrm>
            <a:off x="1066800" y="3238500"/>
            <a:ext cx="304800" cy="368300"/>
          </a:xfrm>
          <a:prstGeom prst="rect">
            <a:avLst/>
          </a:prstGeom>
          <a:solidFill>
            <a:srgbClr val="000000">
              <a:alpha val="0"/>
            </a:srgbClr>
          </a:solidFill>
        </p:spPr>
        <p:txBody>
          <a:bodyPr lIns="0" tIns="0" rIns="0" bIns="0" rtlCol="0" anchor="ctr"/>
          <a:lstStyle/>
          <a:p>
            <a:pPr indent="0" algn="l">
              <a:lnSpc>
                <a:spcPct val="120000"/>
              </a:lnSpc>
              <a:defRPr/>
            </a:pPr>
            <a:r>
              <a:rPr lang="en-US" sz="2400" b="1">
                <a:solidFill>
                  <a:srgbClr val="000000"/>
                </a:solidFill>
                <a:highlight>
                  <a:srgbClr val="000000">
                    <a:alpha val="0"/>
                  </a:srgbClr>
                </a:highlight>
                <a:latin typeface="Ubuntu"/>
              </a:rPr>
              <a:t>1</a:t>
            </a:r>
            <a:endParaRPr lang="en-US" sz="1100"/>
          </a:p>
        </p:txBody>
      </p:sp>
      <p:sp>
        <p:nvSpPr>
          <p:cNvPr id="17" name="TextBox 17"/>
          <p:cNvSpPr txBox="1"/>
          <p:nvPr/>
        </p:nvSpPr>
        <p:spPr>
          <a:xfrm>
            <a:off x="1689100" y="3238500"/>
            <a:ext cx="2565400" cy="444500"/>
          </a:xfrm>
          <a:prstGeom prst="rect">
            <a:avLst/>
          </a:prstGeom>
          <a:solidFill>
            <a:srgbClr val="000000">
              <a:alpha val="0"/>
            </a:srgbClr>
          </a:solidFill>
        </p:spPr>
        <p:txBody>
          <a:bodyPr lIns="0" tIns="0" rIns="0" bIns="0" rtlCol="0" anchor="ctr"/>
          <a:lstStyle/>
          <a:p>
            <a:pPr indent="0" algn="l">
              <a:lnSpc>
                <a:spcPct val="120000"/>
              </a:lnSpc>
              <a:defRPr/>
            </a:pPr>
            <a:r>
              <a:rPr lang="en-US" sz="2900" b="1">
                <a:solidFill>
                  <a:srgbClr val="000000"/>
                </a:solidFill>
                <a:latin typeface="Ubuntu"/>
              </a:rPr>
              <a:t>TC-01</a:t>
            </a:r>
            <a:endParaRPr lang="en-US" sz="1100"/>
          </a:p>
        </p:txBody>
      </p:sp>
      <p:sp>
        <p:nvSpPr>
          <p:cNvPr id="18" name="TextBox 18"/>
          <p:cNvSpPr txBox="1"/>
          <p:nvPr/>
        </p:nvSpPr>
        <p:spPr>
          <a:xfrm>
            <a:off x="4775200" y="3238500"/>
            <a:ext cx="304800" cy="368300"/>
          </a:xfrm>
          <a:prstGeom prst="rect">
            <a:avLst/>
          </a:prstGeom>
          <a:solidFill>
            <a:srgbClr val="000000">
              <a:alpha val="0"/>
            </a:srgbClr>
          </a:solidFill>
        </p:spPr>
        <p:txBody>
          <a:bodyPr lIns="0" tIns="0" rIns="0" bIns="0" rtlCol="0" anchor="ctr"/>
          <a:lstStyle/>
          <a:p>
            <a:pPr indent="0" algn="l">
              <a:lnSpc>
                <a:spcPct val="120000"/>
              </a:lnSpc>
              <a:defRPr/>
            </a:pPr>
            <a:r>
              <a:rPr lang="en-US" sz="2400" b="1">
                <a:solidFill>
                  <a:srgbClr val="000000"/>
                </a:solidFill>
                <a:highlight>
                  <a:srgbClr val="000000">
                    <a:alpha val="0"/>
                  </a:srgbClr>
                </a:highlight>
                <a:latin typeface="Ubuntu"/>
              </a:rPr>
              <a:t>2</a:t>
            </a:r>
            <a:endParaRPr lang="en-US" sz="1100"/>
          </a:p>
        </p:txBody>
      </p:sp>
      <p:sp>
        <p:nvSpPr>
          <p:cNvPr id="19" name="TextBox 19"/>
          <p:cNvSpPr txBox="1"/>
          <p:nvPr/>
        </p:nvSpPr>
        <p:spPr>
          <a:xfrm>
            <a:off x="5397500" y="3238500"/>
            <a:ext cx="2565400" cy="444500"/>
          </a:xfrm>
          <a:prstGeom prst="rect">
            <a:avLst/>
          </a:prstGeom>
          <a:solidFill>
            <a:srgbClr val="000000">
              <a:alpha val="0"/>
            </a:srgbClr>
          </a:solidFill>
        </p:spPr>
        <p:txBody>
          <a:bodyPr lIns="0" tIns="0" rIns="0" bIns="0" rtlCol="0" anchor="ctr"/>
          <a:lstStyle/>
          <a:p>
            <a:pPr indent="0" algn="l">
              <a:lnSpc>
                <a:spcPct val="120000"/>
              </a:lnSpc>
              <a:defRPr/>
            </a:pPr>
            <a:r>
              <a:rPr lang="en-US" sz="2900" b="1">
                <a:solidFill>
                  <a:srgbClr val="000000"/>
                </a:solidFill>
                <a:latin typeface="Ubuntu"/>
              </a:rPr>
              <a:t>TC-02</a:t>
            </a:r>
            <a:endParaRPr lang="en-US" sz="1100"/>
          </a:p>
        </p:txBody>
      </p:sp>
      <p:sp>
        <p:nvSpPr>
          <p:cNvPr id="20" name="TextBox 20"/>
          <p:cNvSpPr txBox="1"/>
          <p:nvPr/>
        </p:nvSpPr>
        <p:spPr>
          <a:xfrm>
            <a:off x="8470900" y="3238500"/>
            <a:ext cx="304800" cy="368300"/>
          </a:xfrm>
          <a:prstGeom prst="rect">
            <a:avLst/>
          </a:prstGeom>
          <a:solidFill>
            <a:srgbClr val="000000">
              <a:alpha val="0"/>
            </a:srgbClr>
          </a:solidFill>
        </p:spPr>
        <p:txBody>
          <a:bodyPr lIns="0" tIns="0" rIns="0" bIns="0" rtlCol="0" anchor="ctr"/>
          <a:lstStyle/>
          <a:p>
            <a:pPr indent="0" algn="l">
              <a:lnSpc>
                <a:spcPct val="120000"/>
              </a:lnSpc>
              <a:defRPr/>
            </a:pPr>
            <a:r>
              <a:rPr lang="en-US" sz="2400" b="1">
                <a:solidFill>
                  <a:srgbClr val="000000"/>
                </a:solidFill>
                <a:highlight>
                  <a:srgbClr val="000000">
                    <a:alpha val="0"/>
                  </a:srgbClr>
                </a:highlight>
                <a:latin typeface="Ubuntu"/>
              </a:rPr>
              <a:t>3</a:t>
            </a:r>
            <a:endParaRPr lang="en-US" sz="1100"/>
          </a:p>
        </p:txBody>
      </p:sp>
      <p:sp>
        <p:nvSpPr>
          <p:cNvPr id="21" name="TextBox 21"/>
          <p:cNvSpPr txBox="1"/>
          <p:nvPr/>
        </p:nvSpPr>
        <p:spPr>
          <a:xfrm>
            <a:off x="9093200" y="3238500"/>
            <a:ext cx="2565400" cy="444500"/>
          </a:xfrm>
          <a:prstGeom prst="rect">
            <a:avLst/>
          </a:prstGeom>
          <a:solidFill>
            <a:srgbClr val="000000">
              <a:alpha val="0"/>
            </a:srgbClr>
          </a:solidFill>
        </p:spPr>
        <p:txBody>
          <a:bodyPr lIns="0" tIns="0" rIns="0" bIns="0" rtlCol="0" anchor="ctr"/>
          <a:lstStyle/>
          <a:p>
            <a:pPr indent="0" algn="l">
              <a:lnSpc>
                <a:spcPct val="120000"/>
              </a:lnSpc>
              <a:defRPr/>
            </a:pPr>
            <a:r>
              <a:rPr lang="en-US" sz="2900" b="1">
                <a:solidFill>
                  <a:srgbClr val="000000"/>
                </a:solidFill>
                <a:latin typeface="Ubuntu"/>
              </a:rPr>
              <a:t>TC-03</a:t>
            </a:r>
            <a:endParaRPr lang="en-US" sz="1100"/>
          </a:p>
        </p:txBody>
      </p:sp>
      <p:sp>
        <p:nvSpPr>
          <p:cNvPr id="22" name="TextBox 22"/>
          <p:cNvSpPr txBox="1"/>
          <p:nvPr/>
        </p:nvSpPr>
        <p:spPr>
          <a:xfrm>
            <a:off x="12179300" y="3238500"/>
            <a:ext cx="304800" cy="368300"/>
          </a:xfrm>
          <a:prstGeom prst="rect">
            <a:avLst/>
          </a:prstGeom>
          <a:solidFill>
            <a:srgbClr val="000000">
              <a:alpha val="0"/>
            </a:srgbClr>
          </a:solidFill>
        </p:spPr>
        <p:txBody>
          <a:bodyPr lIns="0" tIns="0" rIns="0" bIns="0" rtlCol="0" anchor="ctr"/>
          <a:lstStyle/>
          <a:p>
            <a:pPr indent="0" algn="l">
              <a:lnSpc>
                <a:spcPct val="120000"/>
              </a:lnSpc>
              <a:defRPr/>
            </a:pPr>
            <a:r>
              <a:rPr lang="en-US" sz="2400" b="1">
                <a:solidFill>
                  <a:srgbClr val="000000"/>
                </a:solidFill>
                <a:highlight>
                  <a:srgbClr val="000000">
                    <a:alpha val="0"/>
                  </a:srgbClr>
                </a:highlight>
                <a:latin typeface="Ubuntu"/>
              </a:rPr>
              <a:t>4</a:t>
            </a:r>
            <a:endParaRPr lang="en-US" sz="1100"/>
          </a:p>
        </p:txBody>
      </p:sp>
      <p:sp>
        <p:nvSpPr>
          <p:cNvPr id="23" name="TextBox 23"/>
          <p:cNvSpPr txBox="1"/>
          <p:nvPr/>
        </p:nvSpPr>
        <p:spPr>
          <a:xfrm>
            <a:off x="12801600" y="3238500"/>
            <a:ext cx="2565400" cy="444500"/>
          </a:xfrm>
          <a:prstGeom prst="rect">
            <a:avLst/>
          </a:prstGeom>
          <a:solidFill>
            <a:srgbClr val="000000">
              <a:alpha val="0"/>
            </a:srgbClr>
          </a:solidFill>
        </p:spPr>
        <p:txBody>
          <a:bodyPr lIns="0" tIns="0" rIns="0" bIns="0" rtlCol="0" anchor="ctr"/>
          <a:lstStyle/>
          <a:p>
            <a:pPr indent="0" algn="l">
              <a:lnSpc>
                <a:spcPct val="120000"/>
              </a:lnSpc>
              <a:defRPr/>
            </a:pPr>
            <a:r>
              <a:rPr lang="en-US" sz="2900" b="1">
                <a:solidFill>
                  <a:srgbClr val="000000"/>
                </a:solidFill>
                <a:latin typeface="Ubuntu"/>
              </a:rPr>
              <a:t>TC-04</a:t>
            </a:r>
            <a:endParaRPr lang="en-US" sz="1100"/>
          </a:p>
        </p:txBody>
      </p:sp>
      <p:sp>
        <p:nvSpPr>
          <p:cNvPr id="24" name="TextBox 24"/>
          <p:cNvSpPr txBox="1"/>
          <p:nvPr/>
        </p:nvSpPr>
        <p:spPr>
          <a:xfrm>
            <a:off x="1066800" y="6477000"/>
            <a:ext cx="304800" cy="368300"/>
          </a:xfrm>
          <a:prstGeom prst="rect">
            <a:avLst/>
          </a:prstGeom>
          <a:solidFill>
            <a:srgbClr val="000000">
              <a:alpha val="0"/>
            </a:srgbClr>
          </a:solidFill>
        </p:spPr>
        <p:txBody>
          <a:bodyPr lIns="0" tIns="0" rIns="0" bIns="0" rtlCol="0" anchor="ctr"/>
          <a:lstStyle/>
          <a:p>
            <a:pPr indent="0" algn="l">
              <a:lnSpc>
                <a:spcPct val="120000"/>
              </a:lnSpc>
              <a:defRPr/>
            </a:pPr>
            <a:r>
              <a:rPr lang="en-US" sz="2400" b="1">
                <a:solidFill>
                  <a:srgbClr val="000000"/>
                </a:solidFill>
                <a:highlight>
                  <a:srgbClr val="000000">
                    <a:alpha val="0"/>
                  </a:srgbClr>
                </a:highlight>
                <a:latin typeface="Ubuntu"/>
              </a:rPr>
              <a:t>5</a:t>
            </a:r>
            <a:endParaRPr lang="en-US" sz="1100"/>
          </a:p>
        </p:txBody>
      </p:sp>
      <p:sp>
        <p:nvSpPr>
          <p:cNvPr id="25" name="TextBox 25"/>
          <p:cNvSpPr txBox="1"/>
          <p:nvPr/>
        </p:nvSpPr>
        <p:spPr>
          <a:xfrm>
            <a:off x="1689100" y="6464300"/>
            <a:ext cx="13665200" cy="444500"/>
          </a:xfrm>
          <a:prstGeom prst="rect">
            <a:avLst/>
          </a:prstGeom>
          <a:solidFill>
            <a:srgbClr val="000000">
              <a:alpha val="0"/>
            </a:srgbClr>
          </a:solidFill>
        </p:spPr>
        <p:txBody>
          <a:bodyPr lIns="0" tIns="0" rIns="0" bIns="0" rtlCol="0" anchor="ctr"/>
          <a:lstStyle/>
          <a:p>
            <a:pPr indent="0" algn="l">
              <a:lnSpc>
                <a:spcPct val="120000"/>
              </a:lnSpc>
              <a:defRPr/>
            </a:pPr>
            <a:r>
              <a:rPr lang="en-US" sz="2900" b="1">
                <a:solidFill>
                  <a:srgbClr val="000000"/>
                </a:solidFill>
                <a:latin typeface="Ubuntu"/>
              </a:rPr>
              <a:t>TC-05 to TC-08</a:t>
            </a:r>
            <a:endParaRPr lang="en-US" sz="1100"/>
          </a:p>
        </p:txBody>
      </p:sp>
      <p:sp>
        <p:nvSpPr>
          <p:cNvPr id="26" name="TextBox 26"/>
          <p:cNvSpPr txBox="1"/>
          <p:nvPr/>
        </p:nvSpPr>
        <p:spPr>
          <a:xfrm>
            <a:off x="1689100" y="3860800"/>
            <a:ext cx="2565400" cy="1511300"/>
          </a:xfrm>
          <a:prstGeom prst="rect">
            <a:avLst/>
          </a:prstGeom>
          <a:solidFill>
            <a:srgbClr val="000000">
              <a:alpha val="0"/>
            </a:srgbClr>
          </a:solidFill>
        </p:spPr>
        <p:txBody>
          <a:bodyPr lIns="0" tIns="0" rIns="0" bIns="0" rtlCol="0" anchor="ctr"/>
          <a:lstStyle/>
          <a:p>
            <a:pPr indent="0" algn="l">
              <a:lnSpc>
                <a:spcPct val="150000"/>
              </a:lnSpc>
              <a:defRPr/>
            </a:pPr>
            <a:r>
              <a:rPr lang="en-US" sz="1900" b="1">
                <a:solidFill>
                  <a:srgbClr val="000000"/>
                </a:solidFill>
                <a:latin typeface="Poppins"/>
              </a:rPr>
              <a:t>Baseline behavior validation under normal operating profile</a:t>
            </a:r>
            <a:endParaRPr lang="en-US" sz="1100"/>
          </a:p>
        </p:txBody>
      </p:sp>
      <p:sp>
        <p:nvSpPr>
          <p:cNvPr id="27" name="TextBox 27"/>
          <p:cNvSpPr txBox="1"/>
          <p:nvPr/>
        </p:nvSpPr>
        <p:spPr>
          <a:xfrm>
            <a:off x="5397500" y="3860800"/>
            <a:ext cx="2565400" cy="1130300"/>
          </a:xfrm>
          <a:prstGeom prst="rect">
            <a:avLst/>
          </a:prstGeom>
          <a:solidFill>
            <a:srgbClr val="000000">
              <a:alpha val="0"/>
            </a:srgbClr>
          </a:solidFill>
        </p:spPr>
        <p:txBody>
          <a:bodyPr lIns="0" tIns="0" rIns="0" bIns="0" rtlCol="0" anchor="ctr"/>
          <a:lstStyle/>
          <a:p>
            <a:pPr indent="0" algn="l">
              <a:lnSpc>
                <a:spcPct val="150000"/>
              </a:lnSpc>
              <a:defRPr/>
            </a:pPr>
            <a:r>
              <a:rPr lang="en-US" sz="1900" b="1">
                <a:solidFill>
                  <a:srgbClr val="000000"/>
                </a:solidFill>
                <a:latin typeface="Poppins"/>
              </a:rPr>
              <a:t>Anomaly scoring validation with injected deviations</a:t>
            </a:r>
            <a:endParaRPr lang="en-US" sz="1100"/>
          </a:p>
        </p:txBody>
      </p:sp>
      <p:sp>
        <p:nvSpPr>
          <p:cNvPr id="28" name="TextBox 28"/>
          <p:cNvSpPr txBox="1"/>
          <p:nvPr/>
        </p:nvSpPr>
        <p:spPr>
          <a:xfrm>
            <a:off x="9093200" y="3860800"/>
            <a:ext cx="2565400" cy="1511300"/>
          </a:xfrm>
          <a:prstGeom prst="rect">
            <a:avLst/>
          </a:prstGeom>
          <a:solidFill>
            <a:srgbClr val="000000">
              <a:alpha val="0"/>
            </a:srgbClr>
          </a:solidFill>
        </p:spPr>
        <p:txBody>
          <a:bodyPr lIns="0" tIns="0" rIns="0" bIns="0" rtlCol="0" anchor="ctr"/>
          <a:lstStyle/>
          <a:p>
            <a:pPr indent="0" algn="l">
              <a:lnSpc>
                <a:spcPct val="150000"/>
              </a:lnSpc>
              <a:defRPr/>
            </a:pPr>
            <a:r>
              <a:rPr lang="en-US" sz="1900" b="1">
                <a:solidFill>
                  <a:srgbClr val="000000"/>
                </a:solidFill>
                <a:latin typeface="Poppins"/>
              </a:rPr>
              <a:t>Audit escalation logic when risk score exceeds threshold</a:t>
            </a:r>
            <a:endParaRPr lang="en-US" sz="1100"/>
          </a:p>
        </p:txBody>
      </p:sp>
      <p:sp>
        <p:nvSpPr>
          <p:cNvPr id="29" name="TextBox 29"/>
          <p:cNvSpPr txBox="1"/>
          <p:nvPr/>
        </p:nvSpPr>
        <p:spPr>
          <a:xfrm>
            <a:off x="12801600" y="3860800"/>
            <a:ext cx="2565400" cy="1879600"/>
          </a:xfrm>
          <a:prstGeom prst="rect">
            <a:avLst/>
          </a:prstGeom>
          <a:solidFill>
            <a:srgbClr val="000000">
              <a:alpha val="0"/>
            </a:srgbClr>
          </a:solidFill>
        </p:spPr>
        <p:txBody>
          <a:bodyPr lIns="0" tIns="0" rIns="0" bIns="0" rtlCol="0" anchor="ctr"/>
          <a:lstStyle/>
          <a:p>
            <a:pPr indent="0" algn="l">
              <a:lnSpc>
                <a:spcPct val="150000"/>
              </a:lnSpc>
              <a:defRPr/>
            </a:pPr>
            <a:r>
              <a:rPr lang="en-US" sz="1900" b="1">
                <a:solidFill>
                  <a:srgbClr val="000000"/>
                </a:solidFill>
                <a:latin typeface="Poppins"/>
              </a:rPr>
              <a:t>Rapid SCADA integration via Web API and authenticated bridge</a:t>
            </a:r>
            <a:endParaRPr lang="en-US" sz="1100"/>
          </a:p>
        </p:txBody>
      </p:sp>
      <p:sp>
        <p:nvSpPr>
          <p:cNvPr id="30" name="TextBox 30"/>
          <p:cNvSpPr txBox="1"/>
          <p:nvPr/>
        </p:nvSpPr>
        <p:spPr>
          <a:xfrm>
            <a:off x="1689100" y="7099300"/>
            <a:ext cx="13665200" cy="368300"/>
          </a:xfrm>
          <a:prstGeom prst="rect">
            <a:avLst/>
          </a:prstGeom>
          <a:solidFill>
            <a:srgbClr val="000000">
              <a:alpha val="0"/>
            </a:srgbClr>
          </a:solidFill>
        </p:spPr>
        <p:txBody>
          <a:bodyPr lIns="0" tIns="0" rIns="0" bIns="0" rtlCol="0" anchor="ctr"/>
          <a:lstStyle/>
          <a:p>
            <a:pPr indent="0" algn="l">
              <a:lnSpc>
                <a:spcPct val="150000"/>
              </a:lnSpc>
              <a:defRPr/>
            </a:pPr>
            <a:r>
              <a:rPr lang="en-US" sz="1900" b="1">
                <a:solidFill>
                  <a:srgbClr val="000000"/>
                </a:solidFill>
                <a:latin typeface="Poppins"/>
              </a:rPr>
              <a:t>Batched ingest, dashboard correctness, explainability, runtime stability - All test cases passed</a:t>
            </a:r>
            <a:endParaRPr lang="en-US" sz="110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16256000" cy="9144000"/>
          </a:xfrm>
          <a:prstGeom prst="rect">
            <a:avLst/>
          </a:prstGeom>
          <a:solidFill>
            <a:srgbClr val="0D0A2C">
              <a:alpha val="74902"/>
            </a:srgbClr>
          </a:solidFill>
        </p:spPr>
      </p:sp>
      <p:pic>
        <p:nvPicPr>
          <p:cNvPr id="3" name="Picture 3"/>
          <p:cNvPicPr>
            <a:picLocks noChangeAspect="1"/>
          </p:cNvPicPr>
          <p:nvPr/>
        </p:nvPicPr>
        <p:blipFill>
          <a:blip r:embed="rId2"/>
          <a:srcRect t="56" b="56"/>
          <a:stretch>
            <a:fillRect/>
          </a:stretch>
        </p:blipFill>
        <p:spPr>
          <a:xfrm>
            <a:off x="0" y="0"/>
            <a:ext cx="16256000" cy="9144000"/>
          </a:xfrm>
          <a:prstGeom prst="rect">
            <a:avLst/>
          </a:prstGeom>
        </p:spPr>
      </p:pic>
      <p:sp>
        <p:nvSpPr>
          <p:cNvPr id="4" name="AutoShape 4"/>
          <p:cNvSpPr/>
          <p:nvPr/>
        </p:nvSpPr>
        <p:spPr>
          <a:xfrm>
            <a:off x="876300" y="2044700"/>
            <a:ext cx="14490700" cy="6438900"/>
          </a:xfrm>
          <a:prstGeom prst="rect">
            <a:avLst/>
          </a:prstGeom>
          <a:solidFill>
            <a:srgbClr val="000000">
              <a:alpha val="0"/>
            </a:srgbClr>
          </a:solidFill>
        </p:spPr>
      </p:sp>
      <p:sp>
        <p:nvSpPr>
          <p:cNvPr id="5" name="AutoShape 5"/>
          <p:cNvSpPr/>
          <p:nvPr/>
        </p:nvSpPr>
        <p:spPr>
          <a:xfrm>
            <a:off x="876300" y="2044700"/>
            <a:ext cx="3429000" cy="3848100"/>
          </a:xfrm>
          <a:prstGeom prst="roundRect">
            <a:avLst>
              <a:gd name="adj" fmla="val 2222"/>
            </a:avLst>
          </a:prstGeom>
          <a:solidFill>
            <a:srgbClr val="D1D1D1">
              <a:alpha val="71765"/>
            </a:srgbClr>
          </a:solidFill>
        </p:spPr>
      </p:sp>
      <p:sp>
        <p:nvSpPr>
          <p:cNvPr id="6" name="AutoShape 6"/>
          <p:cNvSpPr/>
          <p:nvPr/>
        </p:nvSpPr>
        <p:spPr>
          <a:xfrm>
            <a:off x="1155700" y="2273300"/>
            <a:ext cx="698500" cy="698500"/>
          </a:xfrm>
          <a:prstGeom prst="roundRect">
            <a:avLst>
              <a:gd name="adj" fmla="val 49090"/>
            </a:avLst>
          </a:prstGeom>
          <a:solidFill>
            <a:srgbClr val="000000"/>
          </a:solidFill>
        </p:spPr>
      </p:sp>
      <p:sp>
        <p:nvSpPr>
          <p:cNvPr id="7" name="AutoShape 7"/>
          <p:cNvSpPr/>
          <p:nvPr/>
        </p:nvSpPr>
        <p:spPr>
          <a:xfrm>
            <a:off x="4559300" y="2044700"/>
            <a:ext cx="3429000" cy="3848100"/>
          </a:xfrm>
          <a:prstGeom prst="roundRect">
            <a:avLst>
              <a:gd name="adj" fmla="val 2222"/>
            </a:avLst>
          </a:prstGeom>
          <a:solidFill>
            <a:srgbClr val="D1D1D1">
              <a:alpha val="71765"/>
            </a:srgbClr>
          </a:solidFill>
        </p:spPr>
      </p:sp>
      <p:sp>
        <p:nvSpPr>
          <p:cNvPr id="8" name="AutoShape 8"/>
          <p:cNvSpPr/>
          <p:nvPr/>
        </p:nvSpPr>
        <p:spPr>
          <a:xfrm>
            <a:off x="4838700" y="2273300"/>
            <a:ext cx="698500" cy="698500"/>
          </a:xfrm>
          <a:prstGeom prst="roundRect">
            <a:avLst>
              <a:gd name="adj" fmla="val 49090"/>
            </a:avLst>
          </a:prstGeom>
          <a:solidFill>
            <a:srgbClr val="000000"/>
          </a:solidFill>
        </p:spPr>
      </p:sp>
      <p:sp>
        <p:nvSpPr>
          <p:cNvPr id="9" name="AutoShape 9"/>
          <p:cNvSpPr/>
          <p:nvPr/>
        </p:nvSpPr>
        <p:spPr>
          <a:xfrm>
            <a:off x="8242300" y="2044700"/>
            <a:ext cx="3429000" cy="3848100"/>
          </a:xfrm>
          <a:prstGeom prst="roundRect">
            <a:avLst>
              <a:gd name="adj" fmla="val 2222"/>
            </a:avLst>
          </a:prstGeom>
          <a:solidFill>
            <a:srgbClr val="D1D1D1">
              <a:alpha val="71765"/>
            </a:srgbClr>
          </a:solidFill>
        </p:spPr>
      </p:sp>
      <p:sp>
        <p:nvSpPr>
          <p:cNvPr id="10" name="AutoShape 10"/>
          <p:cNvSpPr/>
          <p:nvPr/>
        </p:nvSpPr>
        <p:spPr>
          <a:xfrm>
            <a:off x="8521700" y="2273300"/>
            <a:ext cx="698500" cy="698500"/>
          </a:xfrm>
          <a:prstGeom prst="roundRect">
            <a:avLst>
              <a:gd name="adj" fmla="val 49090"/>
            </a:avLst>
          </a:prstGeom>
          <a:solidFill>
            <a:srgbClr val="000000"/>
          </a:solidFill>
        </p:spPr>
      </p:sp>
      <p:sp>
        <p:nvSpPr>
          <p:cNvPr id="11" name="AutoShape 11"/>
          <p:cNvSpPr/>
          <p:nvPr/>
        </p:nvSpPr>
        <p:spPr>
          <a:xfrm>
            <a:off x="11938000" y="2044700"/>
            <a:ext cx="3429000" cy="3848100"/>
          </a:xfrm>
          <a:prstGeom prst="roundRect">
            <a:avLst>
              <a:gd name="adj" fmla="val 2222"/>
            </a:avLst>
          </a:prstGeom>
          <a:solidFill>
            <a:srgbClr val="D1D1D1">
              <a:alpha val="71765"/>
            </a:srgbClr>
          </a:solidFill>
        </p:spPr>
      </p:sp>
      <p:sp>
        <p:nvSpPr>
          <p:cNvPr id="12" name="AutoShape 12"/>
          <p:cNvSpPr/>
          <p:nvPr/>
        </p:nvSpPr>
        <p:spPr>
          <a:xfrm>
            <a:off x="12204700" y="2273300"/>
            <a:ext cx="698500" cy="698500"/>
          </a:xfrm>
          <a:prstGeom prst="roundRect">
            <a:avLst>
              <a:gd name="adj" fmla="val 49090"/>
            </a:avLst>
          </a:prstGeom>
          <a:solidFill>
            <a:srgbClr val="000000"/>
          </a:solidFill>
        </p:spPr>
      </p:sp>
      <p:sp>
        <p:nvSpPr>
          <p:cNvPr id="13" name="AutoShape 13"/>
          <p:cNvSpPr/>
          <p:nvPr/>
        </p:nvSpPr>
        <p:spPr>
          <a:xfrm>
            <a:off x="876300" y="6121400"/>
            <a:ext cx="14490700" cy="2349500"/>
          </a:xfrm>
          <a:prstGeom prst="roundRect">
            <a:avLst>
              <a:gd name="adj" fmla="val 3243"/>
            </a:avLst>
          </a:prstGeom>
          <a:solidFill>
            <a:srgbClr val="D1D1D1">
              <a:alpha val="71765"/>
            </a:srgbClr>
          </a:solidFill>
        </p:spPr>
      </p:sp>
      <p:sp>
        <p:nvSpPr>
          <p:cNvPr id="14" name="AutoShape 14"/>
          <p:cNvSpPr/>
          <p:nvPr/>
        </p:nvSpPr>
        <p:spPr>
          <a:xfrm>
            <a:off x="1155700" y="6362700"/>
            <a:ext cx="698500" cy="698500"/>
          </a:xfrm>
          <a:prstGeom prst="roundRect">
            <a:avLst>
              <a:gd name="adj" fmla="val 49090"/>
            </a:avLst>
          </a:prstGeom>
          <a:solidFill>
            <a:srgbClr val="000000"/>
          </a:solidFill>
        </p:spPr>
      </p:sp>
      <p:sp>
        <p:nvSpPr>
          <p:cNvPr id="15" name="TextBox 15"/>
          <p:cNvSpPr txBox="1"/>
          <p:nvPr/>
        </p:nvSpPr>
        <p:spPr>
          <a:xfrm>
            <a:off x="876300" y="647700"/>
            <a:ext cx="14490700" cy="1130300"/>
          </a:xfrm>
          <a:prstGeom prst="rect">
            <a:avLst/>
          </a:prstGeom>
          <a:solidFill>
            <a:srgbClr val="000000">
              <a:alpha val="0"/>
            </a:srgbClr>
          </a:solidFill>
        </p:spPr>
        <p:txBody>
          <a:bodyPr lIns="0" tIns="0" rIns="0" bIns="0" rtlCol="0" anchor="ctr"/>
          <a:lstStyle/>
          <a:p>
            <a:pPr indent="0" algn="l">
              <a:lnSpc>
                <a:spcPct val="120000"/>
              </a:lnSpc>
              <a:defRPr/>
            </a:pPr>
            <a:r>
              <a:rPr lang="en-US" sz="3700" b="1">
                <a:solidFill>
                  <a:srgbClr val="000000"/>
                </a:solidFill>
                <a:latin typeface="Ubuntu"/>
              </a:rPr>
              <a:t>Live SCADA Validation: 100-Agent Operational Confirmation</a:t>
            </a:r>
            <a:endParaRPr lang="en-US" sz="1100"/>
          </a:p>
        </p:txBody>
      </p:sp>
      <p:sp>
        <p:nvSpPr>
          <p:cNvPr id="16" name="TextBox 16"/>
          <p:cNvSpPr txBox="1"/>
          <p:nvPr/>
        </p:nvSpPr>
        <p:spPr>
          <a:xfrm>
            <a:off x="1130300" y="3225800"/>
            <a:ext cx="2921000" cy="419100"/>
          </a:xfrm>
          <a:prstGeom prst="rect">
            <a:avLst/>
          </a:prstGeom>
          <a:solidFill>
            <a:srgbClr val="000000">
              <a:alpha val="0"/>
            </a:srgbClr>
          </a:solidFill>
        </p:spPr>
        <p:txBody>
          <a:bodyPr lIns="0" tIns="0" rIns="0" bIns="0" rtlCol="0" anchor="ctr"/>
          <a:lstStyle/>
          <a:p>
            <a:pPr indent="0" algn="l">
              <a:lnSpc>
                <a:spcPct val="120000"/>
              </a:lnSpc>
              <a:defRPr/>
            </a:pPr>
            <a:r>
              <a:rPr lang="en-US" sz="2700" b="1">
                <a:solidFill>
                  <a:srgbClr val="000000"/>
                </a:solidFill>
                <a:latin typeface="Ubuntu"/>
              </a:rPr>
              <a:t>Verification</a:t>
            </a:r>
            <a:endParaRPr lang="en-US" sz="1100"/>
          </a:p>
        </p:txBody>
      </p:sp>
      <p:sp>
        <p:nvSpPr>
          <p:cNvPr id="17" name="TextBox 17"/>
          <p:cNvSpPr txBox="1"/>
          <p:nvPr/>
        </p:nvSpPr>
        <p:spPr>
          <a:xfrm>
            <a:off x="4813300" y="3225800"/>
            <a:ext cx="2921000" cy="838200"/>
          </a:xfrm>
          <a:prstGeom prst="rect">
            <a:avLst/>
          </a:prstGeom>
          <a:solidFill>
            <a:srgbClr val="000000">
              <a:alpha val="0"/>
            </a:srgbClr>
          </a:solidFill>
        </p:spPr>
        <p:txBody>
          <a:bodyPr lIns="0" tIns="0" rIns="0" bIns="0" rtlCol="0" anchor="ctr"/>
          <a:lstStyle/>
          <a:p>
            <a:pPr indent="0" algn="l">
              <a:lnSpc>
                <a:spcPct val="120000"/>
              </a:lnSpc>
              <a:defRPr/>
            </a:pPr>
            <a:r>
              <a:rPr lang="en-US" sz="2700" b="1">
                <a:solidFill>
                  <a:srgbClr val="000000"/>
                </a:solidFill>
                <a:latin typeface="Ubuntu"/>
              </a:rPr>
              <a:t>Pipeline Validation</a:t>
            </a:r>
            <a:endParaRPr lang="en-US" sz="1100"/>
          </a:p>
        </p:txBody>
      </p:sp>
      <p:sp>
        <p:nvSpPr>
          <p:cNvPr id="18" name="TextBox 18"/>
          <p:cNvSpPr txBox="1"/>
          <p:nvPr/>
        </p:nvSpPr>
        <p:spPr>
          <a:xfrm>
            <a:off x="8496300" y="3225800"/>
            <a:ext cx="2921000" cy="838200"/>
          </a:xfrm>
          <a:prstGeom prst="rect">
            <a:avLst/>
          </a:prstGeom>
          <a:solidFill>
            <a:srgbClr val="000000">
              <a:alpha val="0"/>
            </a:srgbClr>
          </a:solidFill>
        </p:spPr>
        <p:txBody>
          <a:bodyPr lIns="0" tIns="0" rIns="0" bIns="0" rtlCol="0" anchor="ctr"/>
          <a:lstStyle/>
          <a:p>
            <a:pPr indent="0" algn="l">
              <a:lnSpc>
                <a:spcPct val="120000"/>
              </a:lnSpc>
              <a:defRPr/>
            </a:pPr>
            <a:r>
              <a:rPr lang="en-US" sz="2700" b="1">
                <a:solidFill>
                  <a:srgbClr val="000000"/>
                </a:solidFill>
                <a:latin typeface="Ubuntu"/>
              </a:rPr>
              <a:t>Telemetry Retrieval</a:t>
            </a:r>
            <a:endParaRPr lang="en-US" sz="1100"/>
          </a:p>
        </p:txBody>
      </p:sp>
      <p:sp>
        <p:nvSpPr>
          <p:cNvPr id="19" name="TextBox 19"/>
          <p:cNvSpPr txBox="1"/>
          <p:nvPr/>
        </p:nvSpPr>
        <p:spPr>
          <a:xfrm>
            <a:off x="12179300" y="3225800"/>
            <a:ext cx="2921000" cy="419100"/>
          </a:xfrm>
          <a:prstGeom prst="rect">
            <a:avLst/>
          </a:prstGeom>
          <a:solidFill>
            <a:srgbClr val="000000">
              <a:alpha val="0"/>
            </a:srgbClr>
          </a:solidFill>
        </p:spPr>
        <p:txBody>
          <a:bodyPr lIns="0" tIns="0" rIns="0" bIns="0" rtlCol="0" anchor="ctr"/>
          <a:lstStyle/>
          <a:p>
            <a:pPr indent="0" algn="l">
              <a:lnSpc>
                <a:spcPct val="120000"/>
              </a:lnSpc>
              <a:defRPr/>
            </a:pPr>
            <a:r>
              <a:rPr lang="en-US" sz="2700" b="1">
                <a:solidFill>
                  <a:srgbClr val="000000"/>
                </a:solidFill>
                <a:latin typeface="Ubuntu"/>
              </a:rPr>
              <a:t>Integration</a:t>
            </a:r>
            <a:endParaRPr lang="en-US" sz="1100"/>
          </a:p>
        </p:txBody>
      </p:sp>
      <p:sp>
        <p:nvSpPr>
          <p:cNvPr id="20" name="TextBox 20"/>
          <p:cNvSpPr txBox="1"/>
          <p:nvPr/>
        </p:nvSpPr>
        <p:spPr>
          <a:xfrm>
            <a:off x="1130300" y="7302500"/>
            <a:ext cx="13982700" cy="419100"/>
          </a:xfrm>
          <a:prstGeom prst="rect">
            <a:avLst/>
          </a:prstGeom>
          <a:solidFill>
            <a:srgbClr val="000000">
              <a:alpha val="0"/>
            </a:srgbClr>
          </a:solidFill>
        </p:spPr>
        <p:txBody>
          <a:bodyPr lIns="0" tIns="0" rIns="0" bIns="0" rtlCol="0" anchor="ctr"/>
          <a:lstStyle/>
          <a:p>
            <a:pPr indent="0" algn="l">
              <a:lnSpc>
                <a:spcPct val="120000"/>
              </a:lnSpc>
              <a:defRPr/>
            </a:pPr>
            <a:r>
              <a:rPr lang="en-US" sz="2700" b="1">
                <a:solidFill>
                  <a:srgbClr val="000000"/>
                </a:solidFill>
                <a:latin typeface="Ubuntu"/>
              </a:rPr>
              <a:t>Operational Note</a:t>
            </a:r>
            <a:endParaRPr lang="en-US" sz="1100"/>
          </a:p>
        </p:txBody>
      </p:sp>
      <p:sp>
        <p:nvSpPr>
          <p:cNvPr id="21" name="TextBox 21"/>
          <p:cNvSpPr txBox="1"/>
          <p:nvPr/>
        </p:nvSpPr>
        <p:spPr>
          <a:xfrm>
            <a:off x="1130300" y="3810000"/>
            <a:ext cx="2921000" cy="1054100"/>
          </a:xfrm>
          <a:prstGeom prst="rect">
            <a:avLst/>
          </a:prstGeom>
          <a:solidFill>
            <a:srgbClr val="000000">
              <a:alpha val="0"/>
            </a:srgbClr>
          </a:solidFill>
        </p:spPr>
        <p:txBody>
          <a:bodyPr lIns="0" tIns="0" rIns="0" bIns="0" rtlCol="0" anchor="ctr"/>
          <a:lstStyle/>
          <a:p>
            <a:pPr indent="0" algn="l">
              <a:lnSpc>
                <a:spcPct val="150000"/>
              </a:lnSpc>
              <a:defRPr/>
            </a:pPr>
            <a:r>
              <a:rPr lang="en-US" sz="1800" b="1">
                <a:solidFill>
                  <a:srgbClr val="000000"/>
                </a:solidFill>
                <a:latin typeface="Poppins"/>
              </a:rPr>
              <a:t>100 live agents, 0 non-live agents confirmed operational</a:t>
            </a:r>
            <a:endParaRPr lang="en-US" sz="1100"/>
          </a:p>
        </p:txBody>
      </p:sp>
      <p:sp>
        <p:nvSpPr>
          <p:cNvPr id="22" name="TextBox 22"/>
          <p:cNvSpPr txBox="1"/>
          <p:nvPr/>
        </p:nvSpPr>
        <p:spPr>
          <a:xfrm>
            <a:off x="4813300" y="4241800"/>
            <a:ext cx="2921000" cy="1409700"/>
          </a:xfrm>
          <a:prstGeom prst="rect">
            <a:avLst/>
          </a:prstGeom>
          <a:solidFill>
            <a:srgbClr val="000000">
              <a:alpha val="0"/>
            </a:srgbClr>
          </a:solidFill>
        </p:spPr>
        <p:txBody>
          <a:bodyPr lIns="0" tIns="0" rIns="0" bIns="0" rtlCol="0" anchor="ctr"/>
          <a:lstStyle/>
          <a:p>
            <a:pPr indent="0" algn="l">
              <a:lnSpc>
                <a:spcPct val="150000"/>
              </a:lnSpc>
              <a:defRPr/>
            </a:pPr>
            <a:r>
              <a:rPr lang="en-US" sz="1800" b="1">
                <a:solidFill>
                  <a:srgbClr val="000000"/>
                </a:solidFill>
                <a:latin typeface="Poppins"/>
              </a:rPr>
              <a:t>Full SCADA-to-backend-to-dashboard pipeline validated</a:t>
            </a:r>
            <a:endParaRPr lang="en-US" sz="1100"/>
          </a:p>
        </p:txBody>
      </p:sp>
      <p:sp>
        <p:nvSpPr>
          <p:cNvPr id="23" name="TextBox 23"/>
          <p:cNvSpPr txBox="1"/>
          <p:nvPr/>
        </p:nvSpPr>
        <p:spPr>
          <a:xfrm>
            <a:off x="8496300" y="4241800"/>
            <a:ext cx="2921000" cy="1054100"/>
          </a:xfrm>
          <a:prstGeom prst="rect">
            <a:avLst/>
          </a:prstGeom>
          <a:solidFill>
            <a:srgbClr val="000000">
              <a:alpha val="0"/>
            </a:srgbClr>
          </a:solidFill>
        </p:spPr>
        <p:txBody>
          <a:bodyPr lIns="0" tIns="0" rIns="0" bIns="0" rtlCol="0" anchor="ctr"/>
          <a:lstStyle/>
          <a:p>
            <a:pPr indent="0" algn="l">
              <a:lnSpc>
                <a:spcPct val="150000"/>
              </a:lnSpc>
              <a:defRPr/>
            </a:pPr>
            <a:r>
              <a:rPr lang="en-US" sz="1800" b="1">
                <a:solidFill>
                  <a:srgbClr val="000000"/>
                </a:solidFill>
                <a:latin typeface="Poppins"/>
              </a:rPr>
              <a:t>Continuous real-time telemetry retrieval through Web API</a:t>
            </a:r>
            <a:endParaRPr lang="en-US" sz="1100"/>
          </a:p>
        </p:txBody>
      </p:sp>
      <p:sp>
        <p:nvSpPr>
          <p:cNvPr id="24" name="TextBox 24"/>
          <p:cNvSpPr txBox="1"/>
          <p:nvPr/>
        </p:nvSpPr>
        <p:spPr>
          <a:xfrm>
            <a:off x="12179300" y="3810000"/>
            <a:ext cx="2921000" cy="1409700"/>
          </a:xfrm>
          <a:prstGeom prst="rect">
            <a:avLst/>
          </a:prstGeom>
          <a:solidFill>
            <a:srgbClr val="000000">
              <a:alpha val="0"/>
            </a:srgbClr>
          </a:solidFill>
        </p:spPr>
        <p:txBody>
          <a:bodyPr lIns="0" tIns="0" rIns="0" bIns="0" rtlCol="0" anchor="ctr"/>
          <a:lstStyle/>
          <a:p>
            <a:pPr indent="0" algn="l">
              <a:lnSpc>
                <a:spcPct val="150000"/>
              </a:lnSpc>
              <a:defRPr/>
            </a:pPr>
            <a:r>
              <a:rPr lang="en-US" sz="1800" b="1">
                <a:solidFill>
                  <a:srgbClr val="000000"/>
                </a:solidFill>
                <a:latin typeface="Poppins"/>
              </a:rPr>
              <a:t>Successful integration with anomaly scoring and audit decision layers</a:t>
            </a:r>
            <a:endParaRPr lang="en-US" sz="1100"/>
          </a:p>
        </p:txBody>
      </p:sp>
      <p:sp>
        <p:nvSpPr>
          <p:cNvPr id="25" name="TextBox 25"/>
          <p:cNvSpPr txBox="1"/>
          <p:nvPr/>
        </p:nvSpPr>
        <p:spPr>
          <a:xfrm>
            <a:off x="1130300" y="7899400"/>
            <a:ext cx="13982700" cy="342900"/>
          </a:xfrm>
          <a:prstGeom prst="rect">
            <a:avLst/>
          </a:prstGeom>
          <a:solidFill>
            <a:srgbClr val="000000">
              <a:alpha val="0"/>
            </a:srgbClr>
          </a:solidFill>
        </p:spPr>
        <p:txBody>
          <a:bodyPr lIns="0" tIns="0" rIns="0" bIns="0" rtlCol="0" anchor="ctr"/>
          <a:lstStyle/>
          <a:p>
            <a:pPr indent="0" algn="l">
              <a:lnSpc>
                <a:spcPct val="150000"/>
              </a:lnSpc>
              <a:defRPr/>
            </a:pPr>
            <a:r>
              <a:rPr lang="en-US" sz="1800" b="1">
                <a:solidFill>
                  <a:srgbClr val="000000"/>
                </a:solidFill>
                <a:latin typeface="Poppins"/>
              </a:rPr>
              <a:t>SCADA pipeline operational; telemetry generated via calculated channels (not physical devices)</a:t>
            </a:r>
            <a:endParaRPr lang="en-US" sz="1100"/>
          </a:p>
        </p:txBody>
      </p:sp>
      <p:pic>
        <p:nvPicPr>
          <p:cNvPr id="26" name="Picture 26"/>
          <p:cNvPicPr>
            <a:picLocks noChangeAspect="1"/>
          </p:cNvPicPr>
          <p:nvPr/>
        </p:nvPicPr>
        <p:blipFill>
          <a:blip r:embed="rId3"/>
          <a:stretch>
            <a:fillRect/>
          </a:stretch>
        </p:blipFill>
        <p:spPr>
          <a:xfrm>
            <a:off x="1397000" y="2514600"/>
            <a:ext cx="215900" cy="215900"/>
          </a:xfrm>
          <a:prstGeom prst="rect">
            <a:avLst/>
          </a:prstGeom>
        </p:spPr>
      </p:pic>
      <p:pic>
        <p:nvPicPr>
          <p:cNvPr id="27" name="Picture 27"/>
          <p:cNvPicPr>
            <a:picLocks noChangeAspect="1"/>
          </p:cNvPicPr>
          <p:nvPr/>
        </p:nvPicPr>
        <p:blipFill>
          <a:blip r:embed="rId3"/>
          <a:stretch>
            <a:fillRect/>
          </a:stretch>
        </p:blipFill>
        <p:spPr>
          <a:xfrm>
            <a:off x="5080000" y="2514600"/>
            <a:ext cx="215900" cy="215900"/>
          </a:xfrm>
          <a:prstGeom prst="rect">
            <a:avLst/>
          </a:prstGeom>
        </p:spPr>
      </p:pic>
      <p:pic>
        <p:nvPicPr>
          <p:cNvPr id="28" name="Picture 28"/>
          <p:cNvPicPr>
            <a:picLocks noChangeAspect="1"/>
          </p:cNvPicPr>
          <p:nvPr/>
        </p:nvPicPr>
        <p:blipFill>
          <a:blip r:embed="rId3"/>
          <a:stretch>
            <a:fillRect/>
          </a:stretch>
        </p:blipFill>
        <p:spPr>
          <a:xfrm>
            <a:off x="8763000" y="2514600"/>
            <a:ext cx="215900" cy="215900"/>
          </a:xfrm>
          <a:prstGeom prst="rect">
            <a:avLst/>
          </a:prstGeom>
        </p:spPr>
      </p:pic>
      <p:pic>
        <p:nvPicPr>
          <p:cNvPr id="29" name="Picture 29"/>
          <p:cNvPicPr>
            <a:picLocks noChangeAspect="1"/>
          </p:cNvPicPr>
          <p:nvPr/>
        </p:nvPicPr>
        <p:blipFill>
          <a:blip r:embed="rId3"/>
          <a:stretch>
            <a:fillRect/>
          </a:stretch>
        </p:blipFill>
        <p:spPr>
          <a:xfrm>
            <a:off x="12458700" y="2514600"/>
            <a:ext cx="215900" cy="215900"/>
          </a:xfrm>
          <a:prstGeom prst="rect">
            <a:avLst/>
          </a:prstGeom>
        </p:spPr>
      </p:pic>
      <p:pic>
        <p:nvPicPr>
          <p:cNvPr id="30" name="Picture 30"/>
          <p:cNvPicPr>
            <a:picLocks noChangeAspect="1"/>
          </p:cNvPicPr>
          <p:nvPr/>
        </p:nvPicPr>
        <p:blipFill>
          <a:blip r:embed="rId3"/>
          <a:stretch>
            <a:fillRect/>
          </a:stretch>
        </p:blipFill>
        <p:spPr>
          <a:xfrm>
            <a:off x="1397000" y="6604000"/>
            <a:ext cx="215900" cy="21590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16256000" cy="9144000"/>
          </a:xfrm>
          <a:prstGeom prst="rect">
            <a:avLst/>
          </a:prstGeom>
          <a:solidFill>
            <a:srgbClr val="0D0A2C">
              <a:alpha val="74902"/>
            </a:srgbClr>
          </a:solidFill>
        </p:spPr>
      </p:sp>
      <p:pic>
        <p:nvPicPr>
          <p:cNvPr id="3" name="Picture 3"/>
          <p:cNvPicPr>
            <a:picLocks noChangeAspect="1"/>
          </p:cNvPicPr>
          <p:nvPr/>
        </p:nvPicPr>
        <p:blipFill>
          <a:blip r:embed="rId2"/>
          <a:srcRect t="56" b="56"/>
          <a:stretch>
            <a:fillRect/>
          </a:stretch>
        </p:blipFill>
        <p:spPr>
          <a:xfrm>
            <a:off x="0" y="0"/>
            <a:ext cx="16256000" cy="9144000"/>
          </a:xfrm>
          <a:prstGeom prst="rect">
            <a:avLst/>
          </a:prstGeom>
        </p:spPr>
      </p:pic>
      <p:sp>
        <p:nvSpPr>
          <p:cNvPr id="4" name="AutoShape 4"/>
          <p:cNvSpPr/>
          <p:nvPr/>
        </p:nvSpPr>
        <p:spPr>
          <a:xfrm>
            <a:off x="876300" y="2260600"/>
            <a:ext cx="14490700" cy="3035300"/>
          </a:xfrm>
          <a:prstGeom prst="roundRect">
            <a:avLst>
              <a:gd name="adj" fmla="val 2510"/>
            </a:avLst>
          </a:prstGeom>
          <a:solidFill>
            <a:srgbClr val="000000">
              <a:alpha val="0"/>
            </a:srgbClr>
          </a:solidFill>
        </p:spPr>
      </p:sp>
      <p:sp>
        <p:nvSpPr>
          <p:cNvPr id="5" name="AutoShape 5"/>
          <p:cNvSpPr/>
          <p:nvPr/>
        </p:nvSpPr>
        <p:spPr>
          <a:xfrm>
            <a:off x="876300" y="2260600"/>
            <a:ext cx="3378200" cy="3035300"/>
          </a:xfrm>
          <a:prstGeom prst="roundRect">
            <a:avLst>
              <a:gd name="adj" fmla="val 2510"/>
            </a:avLst>
          </a:prstGeom>
          <a:solidFill>
            <a:srgbClr val="000000">
              <a:alpha val="0"/>
            </a:srgbClr>
          </a:solidFill>
        </p:spPr>
      </p:sp>
      <p:sp>
        <p:nvSpPr>
          <p:cNvPr id="6" name="AutoShape 6"/>
          <p:cNvSpPr/>
          <p:nvPr/>
        </p:nvSpPr>
        <p:spPr>
          <a:xfrm>
            <a:off x="4572000" y="2260600"/>
            <a:ext cx="3378200" cy="3035300"/>
          </a:xfrm>
          <a:prstGeom prst="roundRect">
            <a:avLst>
              <a:gd name="adj" fmla="val 2510"/>
            </a:avLst>
          </a:prstGeom>
          <a:solidFill>
            <a:srgbClr val="000000">
              <a:alpha val="0"/>
            </a:srgbClr>
          </a:solidFill>
        </p:spPr>
      </p:sp>
      <p:sp>
        <p:nvSpPr>
          <p:cNvPr id="7" name="AutoShape 7"/>
          <p:cNvSpPr/>
          <p:nvPr/>
        </p:nvSpPr>
        <p:spPr>
          <a:xfrm>
            <a:off x="8280400" y="2260600"/>
            <a:ext cx="3378200" cy="3035300"/>
          </a:xfrm>
          <a:prstGeom prst="roundRect">
            <a:avLst>
              <a:gd name="adj" fmla="val 2510"/>
            </a:avLst>
          </a:prstGeom>
          <a:solidFill>
            <a:srgbClr val="000000">
              <a:alpha val="0"/>
            </a:srgbClr>
          </a:solidFill>
        </p:spPr>
      </p:sp>
      <p:sp>
        <p:nvSpPr>
          <p:cNvPr id="8" name="AutoShape 8"/>
          <p:cNvSpPr/>
          <p:nvPr/>
        </p:nvSpPr>
        <p:spPr>
          <a:xfrm>
            <a:off x="11976100" y="2260600"/>
            <a:ext cx="3378200" cy="3035300"/>
          </a:xfrm>
          <a:prstGeom prst="roundRect">
            <a:avLst>
              <a:gd name="adj" fmla="val 2510"/>
            </a:avLst>
          </a:prstGeom>
          <a:solidFill>
            <a:srgbClr val="000000">
              <a:alpha val="0"/>
            </a:srgbClr>
          </a:solidFill>
        </p:spPr>
      </p:sp>
      <p:sp>
        <p:nvSpPr>
          <p:cNvPr id="9" name="AutoShape 9"/>
          <p:cNvSpPr/>
          <p:nvPr/>
        </p:nvSpPr>
        <p:spPr>
          <a:xfrm>
            <a:off x="876300" y="5486400"/>
            <a:ext cx="14490700" cy="2209800"/>
          </a:xfrm>
          <a:prstGeom prst="roundRect">
            <a:avLst>
              <a:gd name="adj" fmla="val 3448"/>
            </a:avLst>
          </a:prstGeom>
          <a:solidFill>
            <a:srgbClr val="000000">
              <a:alpha val="0"/>
            </a:srgbClr>
          </a:solidFill>
        </p:spPr>
      </p:sp>
      <p:sp>
        <p:nvSpPr>
          <p:cNvPr id="10" name="AutoShape 10"/>
          <p:cNvSpPr/>
          <p:nvPr/>
        </p:nvSpPr>
        <p:spPr>
          <a:xfrm>
            <a:off x="876300" y="5486400"/>
            <a:ext cx="4610100" cy="2209800"/>
          </a:xfrm>
          <a:prstGeom prst="roundRect">
            <a:avLst>
              <a:gd name="adj" fmla="val 3448"/>
            </a:avLst>
          </a:prstGeom>
          <a:solidFill>
            <a:srgbClr val="000000">
              <a:alpha val="0"/>
            </a:srgbClr>
          </a:solidFill>
        </p:spPr>
      </p:sp>
      <p:sp>
        <p:nvSpPr>
          <p:cNvPr id="11" name="AutoShape 11"/>
          <p:cNvSpPr/>
          <p:nvPr/>
        </p:nvSpPr>
        <p:spPr>
          <a:xfrm>
            <a:off x="5816600" y="5486400"/>
            <a:ext cx="4610100" cy="2209800"/>
          </a:xfrm>
          <a:prstGeom prst="roundRect">
            <a:avLst>
              <a:gd name="adj" fmla="val 3448"/>
            </a:avLst>
          </a:prstGeom>
          <a:solidFill>
            <a:srgbClr val="000000">
              <a:alpha val="0"/>
            </a:srgbClr>
          </a:solidFill>
        </p:spPr>
      </p:sp>
      <p:sp>
        <p:nvSpPr>
          <p:cNvPr id="12" name="AutoShape 12"/>
          <p:cNvSpPr/>
          <p:nvPr/>
        </p:nvSpPr>
        <p:spPr>
          <a:xfrm>
            <a:off x="10744200" y="5486400"/>
            <a:ext cx="4610100" cy="2209800"/>
          </a:xfrm>
          <a:prstGeom prst="roundRect">
            <a:avLst>
              <a:gd name="adj" fmla="val 3448"/>
            </a:avLst>
          </a:prstGeom>
          <a:solidFill>
            <a:srgbClr val="000000">
              <a:alpha val="0"/>
            </a:srgbClr>
          </a:solidFill>
        </p:spPr>
      </p:sp>
      <p:sp>
        <p:nvSpPr>
          <p:cNvPr id="13" name="TextBox 13"/>
          <p:cNvSpPr txBox="1"/>
          <p:nvPr/>
        </p:nvSpPr>
        <p:spPr>
          <a:xfrm>
            <a:off x="876300" y="774700"/>
            <a:ext cx="14490700" cy="1206500"/>
          </a:xfrm>
          <a:prstGeom prst="rect">
            <a:avLst/>
          </a:prstGeom>
          <a:solidFill>
            <a:srgbClr val="000000">
              <a:alpha val="0"/>
            </a:srgbClr>
          </a:solidFill>
        </p:spPr>
        <p:txBody>
          <a:bodyPr lIns="0" tIns="0" rIns="0" bIns="0" rtlCol="0" anchor="ctr"/>
          <a:lstStyle/>
          <a:p>
            <a:pPr indent="0" algn="l">
              <a:lnSpc>
                <a:spcPct val="120000"/>
              </a:lnSpc>
              <a:defRPr/>
            </a:pPr>
            <a:r>
              <a:rPr lang="en-US" sz="3900" b="1">
                <a:solidFill>
                  <a:srgbClr val="000000"/>
                </a:solidFill>
                <a:latin typeface="Ubuntu"/>
              </a:rPr>
              <a:t>Primary Thesis Result (N=100): Validated Operational Profile</a:t>
            </a:r>
            <a:endParaRPr lang="en-US" sz="1100"/>
          </a:p>
        </p:txBody>
      </p:sp>
      <p:sp>
        <p:nvSpPr>
          <p:cNvPr id="14" name="TextBox 14"/>
          <p:cNvSpPr txBox="1"/>
          <p:nvPr/>
        </p:nvSpPr>
        <p:spPr>
          <a:xfrm>
            <a:off x="876300" y="3086100"/>
            <a:ext cx="3378200" cy="901700"/>
          </a:xfrm>
          <a:prstGeom prst="rect">
            <a:avLst/>
          </a:prstGeom>
          <a:solidFill>
            <a:srgbClr val="000000">
              <a:alpha val="0"/>
            </a:srgbClr>
          </a:solidFill>
        </p:spPr>
        <p:txBody>
          <a:bodyPr lIns="0" tIns="0" rIns="0" bIns="0" rtlCol="0" anchor="ctr"/>
          <a:lstStyle/>
          <a:p>
            <a:pPr indent="0" algn="ctr">
              <a:lnSpc>
                <a:spcPct val="120000"/>
              </a:lnSpc>
              <a:defRPr/>
            </a:pPr>
            <a:r>
              <a:rPr lang="en-US" sz="2900" b="1">
                <a:solidFill>
                  <a:srgbClr val="000000"/>
                </a:solidFill>
                <a:latin typeface="Ubuntu"/>
              </a:rPr>
              <a:t>Attack Rate Reduction</a:t>
            </a:r>
            <a:endParaRPr lang="en-US" sz="1100"/>
          </a:p>
        </p:txBody>
      </p:sp>
      <p:sp>
        <p:nvSpPr>
          <p:cNvPr id="15" name="TextBox 15"/>
          <p:cNvSpPr txBox="1"/>
          <p:nvPr/>
        </p:nvSpPr>
        <p:spPr>
          <a:xfrm>
            <a:off x="4572000" y="3086100"/>
            <a:ext cx="3378200" cy="444500"/>
          </a:xfrm>
          <a:prstGeom prst="rect">
            <a:avLst/>
          </a:prstGeom>
          <a:solidFill>
            <a:srgbClr val="000000">
              <a:alpha val="0"/>
            </a:srgbClr>
          </a:solidFill>
        </p:spPr>
        <p:txBody>
          <a:bodyPr lIns="0" tIns="0" rIns="0" bIns="0" rtlCol="0" anchor="ctr"/>
          <a:lstStyle/>
          <a:p>
            <a:pPr indent="0" algn="ctr">
              <a:lnSpc>
                <a:spcPct val="120000"/>
              </a:lnSpc>
              <a:defRPr/>
            </a:pPr>
            <a:r>
              <a:rPr lang="en-US" sz="2900" b="1">
                <a:solidFill>
                  <a:srgbClr val="000000"/>
                </a:solidFill>
                <a:latin typeface="Ubuntu"/>
              </a:rPr>
              <a:t>Cost Efficiency</a:t>
            </a:r>
            <a:endParaRPr lang="en-US" sz="1100"/>
          </a:p>
        </p:txBody>
      </p:sp>
      <p:sp>
        <p:nvSpPr>
          <p:cNvPr id="16" name="TextBox 16"/>
          <p:cNvSpPr txBox="1"/>
          <p:nvPr/>
        </p:nvSpPr>
        <p:spPr>
          <a:xfrm>
            <a:off x="8280400" y="3086100"/>
            <a:ext cx="3378200" cy="444500"/>
          </a:xfrm>
          <a:prstGeom prst="rect">
            <a:avLst/>
          </a:prstGeom>
          <a:solidFill>
            <a:srgbClr val="000000">
              <a:alpha val="0"/>
            </a:srgbClr>
          </a:solidFill>
        </p:spPr>
        <p:txBody>
          <a:bodyPr lIns="0" tIns="0" rIns="0" bIns="0" rtlCol="0" anchor="ctr"/>
          <a:lstStyle/>
          <a:p>
            <a:pPr indent="0" algn="ctr">
              <a:lnSpc>
                <a:spcPct val="120000"/>
              </a:lnSpc>
              <a:defRPr/>
            </a:pPr>
            <a:r>
              <a:rPr lang="en-US" sz="2900" b="1">
                <a:solidFill>
                  <a:srgbClr val="000000"/>
                </a:solidFill>
                <a:latin typeface="Ubuntu"/>
              </a:rPr>
              <a:t>Risk Mitigation</a:t>
            </a:r>
            <a:endParaRPr lang="en-US" sz="1100"/>
          </a:p>
        </p:txBody>
      </p:sp>
      <p:sp>
        <p:nvSpPr>
          <p:cNvPr id="17" name="TextBox 17"/>
          <p:cNvSpPr txBox="1"/>
          <p:nvPr/>
        </p:nvSpPr>
        <p:spPr>
          <a:xfrm>
            <a:off x="11976100" y="3086100"/>
            <a:ext cx="3378200" cy="444500"/>
          </a:xfrm>
          <a:prstGeom prst="rect">
            <a:avLst/>
          </a:prstGeom>
          <a:solidFill>
            <a:srgbClr val="000000">
              <a:alpha val="0"/>
            </a:srgbClr>
          </a:solidFill>
        </p:spPr>
        <p:txBody>
          <a:bodyPr lIns="0" tIns="0" rIns="0" bIns="0" rtlCol="0" anchor="ctr"/>
          <a:lstStyle/>
          <a:p>
            <a:pPr indent="0" algn="ctr">
              <a:lnSpc>
                <a:spcPct val="120000"/>
              </a:lnSpc>
              <a:defRPr/>
            </a:pPr>
            <a:r>
              <a:rPr lang="en-US" sz="2900" b="1">
                <a:solidFill>
                  <a:srgbClr val="000000"/>
                </a:solidFill>
                <a:latin typeface="Ubuntu"/>
              </a:rPr>
              <a:t>Accuracy</a:t>
            </a:r>
            <a:endParaRPr lang="en-US" sz="1100"/>
          </a:p>
        </p:txBody>
      </p:sp>
      <p:sp>
        <p:nvSpPr>
          <p:cNvPr id="18" name="TextBox 18"/>
          <p:cNvSpPr txBox="1"/>
          <p:nvPr/>
        </p:nvSpPr>
        <p:spPr>
          <a:xfrm>
            <a:off x="876300" y="6311900"/>
            <a:ext cx="4610100" cy="444500"/>
          </a:xfrm>
          <a:prstGeom prst="rect">
            <a:avLst/>
          </a:prstGeom>
          <a:solidFill>
            <a:srgbClr val="000000">
              <a:alpha val="0"/>
            </a:srgbClr>
          </a:solidFill>
        </p:spPr>
        <p:txBody>
          <a:bodyPr lIns="0" tIns="0" rIns="0" bIns="0" rtlCol="0" anchor="ctr"/>
          <a:lstStyle/>
          <a:p>
            <a:pPr indent="0" algn="ctr">
              <a:lnSpc>
                <a:spcPct val="120000"/>
              </a:lnSpc>
              <a:defRPr/>
            </a:pPr>
            <a:r>
              <a:rPr lang="en-US" sz="2900" b="1">
                <a:solidFill>
                  <a:srgbClr val="000000"/>
                </a:solidFill>
                <a:latin typeface="Ubuntu"/>
              </a:rPr>
              <a:t>Recall</a:t>
            </a:r>
            <a:endParaRPr lang="en-US" sz="1100"/>
          </a:p>
        </p:txBody>
      </p:sp>
      <p:sp>
        <p:nvSpPr>
          <p:cNvPr id="19" name="TextBox 19"/>
          <p:cNvSpPr txBox="1"/>
          <p:nvPr/>
        </p:nvSpPr>
        <p:spPr>
          <a:xfrm>
            <a:off x="5816600" y="6311900"/>
            <a:ext cx="4610100" cy="444500"/>
          </a:xfrm>
          <a:prstGeom prst="rect">
            <a:avLst/>
          </a:prstGeom>
          <a:solidFill>
            <a:srgbClr val="000000">
              <a:alpha val="0"/>
            </a:srgbClr>
          </a:solidFill>
        </p:spPr>
        <p:txBody>
          <a:bodyPr lIns="0" tIns="0" rIns="0" bIns="0" rtlCol="0" anchor="ctr"/>
          <a:lstStyle/>
          <a:p>
            <a:pPr indent="0" algn="ctr">
              <a:lnSpc>
                <a:spcPct val="120000"/>
              </a:lnSpc>
              <a:defRPr/>
            </a:pPr>
            <a:r>
              <a:rPr lang="en-US" sz="2900" b="1">
                <a:solidFill>
                  <a:srgbClr val="000000"/>
                </a:solidFill>
                <a:latin typeface="Ubuntu"/>
              </a:rPr>
              <a:t>F1 Score</a:t>
            </a:r>
            <a:endParaRPr lang="en-US" sz="1100"/>
          </a:p>
        </p:txBody>
      </p:sp>
      <p:sp>
        <p:nvSpPr>
          <p:cNvPr id="20" name="TextBox 20"/>
          <p:cNvSpPr txBox="1"/>
          <p:nvPr/>
        </p:nvSpPr>
        <p:spPr>
          <a:xfrm>
            <a:off x="10744200" y="6311900"/>
            <a:ext cx="4610100" cy="444500"/>
          </a:xfrm>
          <a:prstGeom prst="rect">
            <a:avLst/>
          </a:prstGeom>
          <a:solidFill>
            <a:srgbClr val="000000">
              <a:alpha val="0"/>
            </a:srgbClr>
          </a:solidFill>
        </p:spPr>
        <p:txBody>
          <a:bodyPr lIns="0" tIns="0" rIns="0" bIns="0" rtlCol="0" anchor="ctr"/>
          <a:lstStyle/>
          <a:p>
            <a:pPr indent="0" algn="ctr">
              <a:lnSpc>
                <a:spcPct val="120000"/>
              </a:lnSpc>
              <a:defRPr/>
            </a:pPr>
            <a:r>
              <a:rPr lang="en-US" sz="2900" b="1">
                <a:solidFill>
                  <a:srgbClr val="000000"/>
                </a:solidFill>
                <a:latin typeface="Ubuntu"/>
              </a:rPr>
              <a:t>Audit Coverage</a:t>
            </a:r>
            <a:endParaRPr lang="en-US" sz="1100"/>
          </a:p>
        </p:txBody>
      </p:sp>
      <p:sp>
        <p:nvSpPr>
          <p:cNvPr id="21" name="TextBox 21"/>
          <p:cNvSpPr txBox="1"/>
          <p:nvPr/>
        </p:nvSpPr>
        <p:spPr>
          <a:xfrm>
            <a:off x="876300" y="2298700"/>
            <a:ext cx="3543300" cy="749300"/>
          </a:xfrm>
          <a:prstGeom prst="roundRect">
            <a:avLst>
              <a:gd name="adj" fmla="val 11864"/>
            </a:avLst>
          </a:prstGeom>
          <a:solidFill>
            <a:srgbClr val="000000">
              <a:alpha val="0"/>
            </a:srgbClr>
          </a:solidFill>
        </p:spPr>
        <p:txBody>
          <a:bodyPr lIns="0" tIns="0" rIns="0" bIns="0" rtlCol="0" anchor="ctr"/>
          <a:lstStyle/>
          <a:p>
            <a:pPr indent="0" algn="ctr">
              <a:lnSpc>
                <a:spcPct val="100000"/>
              </a:lnSpc>
              <a:defRPr/>
            </a:pPr>
            <a:r>
              <a:rPr lang="en-US" sz="5200" b="1">
                <a:solidFill>
                  <a:srgbClr val="000000"/>
                </a:solidFill>
                <a:highlight>
                  <a:srgbClr val="000000">
                    <a:alpha val="0"/>
                  </a:srgbClr>
                </a:highlight>
                <a:latin typeface="Ubuntu"/>
              </a:rPr>
              <a:t>77.47%</a:t>
            </a:r>
            <a:endParaRPr lang="en-US" sz="1100"/>
          </a:p>
        </p:txBody>
      </p:sp>
      <p:sp>
        <p:nvSpPr>
          <p:cNvPr id="22" name="TextBox 22"/>
          <p:cNvSpPr txBox="1"/>
          <p:nvPr/>
        </p:nvSpPr>
        <p:spPr>
          <a:xfrm>
            <a:off x="876300" y="4178300"/>
            <a:ext cx="3378200" cy="1130300"/>
          </a:xfrm>
          <a:prstGeom prst="rect">
            <a:avLst/>
          </a:prstGeom>
          <a:solidFill>
            <a:srgbClr val="000000">
              <a:alpha val="0"/>
            </a:srgbClr>
          </a:solidFill>
        </p:spPr>
        <p:txBody>
          <a:bodyPr lIns="0" tIns="0" rIns="0" bIns="0" rtlCol="0" anchor="ctr"/>
          <a:lstStyle/>
          <a:p>
            <a:pPr indent="0" algn="ctr">
              <a:lnSpc>
                <a:spcPct val="150000"/>
              </a:lnSpc>
              <a:defRPr/>
            </a:pPr>
            <a:r>
              <a:rPr lang="en-US" sz="1900" b="1">
                <a:solidFill>
                  <a:srgbClr val="000000"/>
                </a:solidFill>
                <a:latin typeface="Poppins"/>
              </a:rPr>
              <a:t>Measured reduction in successful attacks compared to baseline</a:t>
            </a:r>
            <a:endParaRPr lang="en-US" sz="1100"/>
          </a:p>
        </p:txBody>
      </p:sp>
      <p:sp>
        <p:nvSpPr>
          <p:cNvPr id="23" name="TextBox 23"/>
          <p:cNvSpPr txBox="1"/>
          <p:nvPr/>
        </p:nvSpPr>
        <p:spPr>
          <a:xfrm>
            <a:off x="4572000" y="2298700"/>
            <a:ext cx="3556000" cy="749300"/>
          </a:xfrm>
          <a:prstGeom prst="roundRect">
            <a:avLst>
              <a:gd name="adj" fmla="val 11864"/>
            </a:avLst>
          </a:prstGeom>
          <a:solidFill>
            <a:srgbClr val="000000">
              <a:alpha val="0"/>
            </a:srgbClr>
          </a:solidFill>
        </p:spPr>
        <p:txBody>
          <a:bodyPr lIns="0" tIns="0" rIns="0" bIns="0" rtlCol="0" anchor="ctr"/>
          <a:lstStyle/>
          <a:p>
            <a:pPr indent="0" algn="ctr">
              <a:lnSpc>
                <a:spcPct val="100000"/>
              </a:lnSpc>
              <a:defRPr/>
            </a:pPr>
            <a:r>
              <a:rPr lang="en-US" sz="5200" b="1">
                <a:solidFill>
                  <a:srgbClr val="000000"/>
                </a:solidFill>
                <a:highlight>
                  <a:srgbClr val="000000">
                    <a:alpha val="0"/>
                  </a:srgbClr>
                </a:highlight>
                <a:latin typeface="Ubuntu"/>
              </a:rPr>
              <a:t>54.83%</a:t>
            </a:r>
            <a:endParaRPr lang="en-US" sz="1100"/>
          </a:p>
        </p:txBody>
      </p:sp>
      <p:sp>
        <p:nvSpPr>
          <p:cNvPr id="24" name="TextBox 24"/>
          <p:cNvSpPr txBox="1"/>
          <p:nvPr/>
        </p:nvSpPr>
        <p:spPr>
          <a:xfrm>
            <a:off x="4572000" y="3721100"/>
            <a:ext cx="3378200" cy="1130300"/>
          </a:xfrm>
          <a:prstGeom prst="rect">
            <a:avLst/>
          </a:prstGeom>
          <a:solidFill>
            <a:srgbClr val="000000">
              <a:alpha val="0"/>
            </a:srgbClr>
          </a:solidFill>
        </p:spPr>
        <p:txBody>
          <a:bodyPr lIns="0" tIns="0" rIns="0" bIns="0" rtlCol="0" anchor="ctr"/>
          <a:lstStyle/>
          <a:p>
            <a:pPr indent="0" algn="ctr">
              <a:lnSpc>
                <a:spcPct val="150000"/>
              </a:lnSpc>
              <a:defRPr/>
            </a:pPr>
            <a:r>
              <a:rPr lang="en-US" sz="1900" b="1">
                <a:solidFill>
                  <a:srgbClr val="000000"/>
                </a:solidFill>
                <a:latin typeface="Poppins"/>
              </a:rPr>
              <a:t>Operational cost savings relative to prior implementation</a:t>
            </a:r>
            <a:endParaRPr lang="en-US" sz="1100"/>
          </a:p>
        </p:txBody>
      </p:sp>
      <p:sp>
        <p:nvSpPr>
          <p:cNvPr id="25" name="TextBox 25"/>
          <p:cNvSpPr txBox="1"/>
          <p:nvPr/>
        </p:nvSpPr>
        <p:spPr>
          <a:xfrm>
            <a:off x="8280400" y="2298700"/>
            <a:ext cx="3543300" cy="749300"/>
          </a:xfrm>
          <a:prstGeom prst="roundRect">
            <a:avLst>
              <a:gd name="adj" fmla="val 11864"/>
            </a:avLst>
          </a:prstGeom>
          <a:solidFill>
            <a:srgbClr val="000000">
              <a:alpha val="0"/>
            </a:srgbClr>
          </a:solidFill>
        </p:spPr>
        <p:txBody>
          <a:bodyPr lIns="0" tIns="0" rIns="0" bIns="0" rtlCol="0" anchor="ctr"/>
          <a:lstStyle/>
          <a:p>
            <a:pPr indent="0" algn="ctr">
              <a:lnSpc>
                <a:spcPct val="100000"/>
              </a:lnSpc>
              <a:defRPr/>
            </a:pPr>
            <a:r>
              <a:rPr lang="en-US" sz="5200" b="1">
                <a:solidFill>
                  <a:srgbClr val="000000"/>
                </a:solidFill>
                <a:highlight>
                  <a:srgbClr val="000000">
                    <a:alpha val="0"/>
                  </a:srgbClr>
                </a:highlight>
                <a:latin typeface="Ubuntu"/>
              </a:rPr>
              <a:t>95.93%</a:t>
            </a:r>
            <a:endParaRPr lang="en-US" sz="1100"/>
          </a:p>
        </p:txBody>
      </p:sp>
      <p:sp>
        <p:nvSpPr>
          <p:cNvPr id="26" name="TextBox 26"/>
          <p:cNvSpPr txBox="1"/>
          <p:nvPr/>
        </p:nvSpPr>
        <p:spPr>
          <a:xfrm>
            <a:off x="8280400" y="3721100"/>
            <a:ext cx="3378200" cy="749300"/>
          </a:xfrm>
          <a:prstGeom prst="rect">
            <a:avLst/>
          </a:prstGeom>
          <a:solidFill>
            <a:srgbClr val="000000">
              <a:alpha val="0"/>
            </a:srgbClr>
          </a:solidFill>
        </p:spPr>
        <p:txBody>
          <a:bodyPr lIns="0" tIns="0" rIns="0" bIns="0" rtlCol="0" anchor="ctr"/>
          <a:lstStyle/>
          <a:p>
            <a:pPr indent="0" algn="ctr">
              <a:lnSpc>
                <a:spcPct val="150000"/>
              </a:lnSpc>
              <a:defRPr/>
            </a:pPr>
            <a:r>
              <a:rPr lang="en-US" sz="1900" b="1">
                <a:solidFill>
                  <a:srgbClr val="000000"/>
                </a:solidFill>
                <a:latin typeface="Poppins"/>
              </a:rPr>
              <a:t>Effectiveness in mitigating identified operational risks</a:t>
            </a:r>
            <a:endParaRPr lang="en-US" sz="1100"/>
          </a:p>
        </p:txBody>
      </p:sp>
      <p:sp>
        <p:nvSpPr>
          <p:cNvPr id="27" name="TextBox 27"/>
          <p:cNvSpPr txBox="1"/>
          <p:nvPr/>
        </p:nvSpPr>
        <p:spPr>
          <a:xfrm>
            <a:off x="11976100" y="2298700"/>
            <a:ext cx="3556000" cy="749300"/>
          </a:xfrm>
          <a:prstGeom prst="roundRect">
            <a:avLst>
              <a:gd name="adj" fmla="val 11864"/>
            </a:avLst>
          </a:prstGeom>
          <a:solidFill>
            <a:srgbClr val="000000">
              <a:alpha val="0"/>
            </a:srgbClr>
          </a:solidFill>
        </p:spPr>
        <p:txBody>
          <a:bodyPr lIns="0" tIns="0" rIns="0" bIns="0" rtlCol="0" anchor="ctr"/>
          <a:lstStyle/>
          <a:p>
            <a:pPr indent="0" algn="ctr">
              <a:lnSpc>
                <a:spcPct val="100000"/>
              </a:lnSpc>
              <a:defRPr/>
            </a:pPr>
            <a:r>
              <a:rPr lang="en-US" sz="5200" b="1">
                <a:solidFill>
                  <a:srgbClr val="000000"/>
                </a:solidFill>
                <a:highlight>
                  <a:srgbClr val="000000">
                    <a:alpha val="0"/>
                  </a:srgbClr>
                </a:highlight>
                <a:latin typeface="Ubuntu"/>
              </a:rPr>
              <a:t>99.14%</a:t>
            </a:r>
            <a:endParaRPr lang="en-US" sz="1100"/>
          </a:p>
        </p:txBody>
      </p:sp>
      <p:sp>
        <p:nvSpPr>
          <p:cNvPr id="28" name="TextBox 28"/>
          <p:cNvSpPr txBox="1"/>
          <p:nvPr/>
        </p:nvSpPr>
        <p:spPr>
          <a:xfrm>
            <a:off x="11976100" y="3721100"/>
            <a:ext cx="3378200" cy="749300"/>
          </a:xfrm>
          <a:prstGeom prst="rect">
            <a:avLst/>
          </a:prstGeom>
          <a:solidFill>
            <a:srgbClr val="000000">
              <a:alpha val="0"/>
            </a:srgbClr>
          </a:solidFill>
        </p:spPr>
        <p:txBody>
          <a:bodyPr lIns="0" tIns="0" rIns="0" bIns="0" rtlCol="0" anchor="ctr"/>
          <a:lstStyle/>
          <a:p>
            <a:pPr indent="0" algn="ctr">
              <a:lnSpc>
                <a:spcPct val="150000"/>
              </a:lnSpc>
              <a:defRPr/>
            </a:pPr>
            <a:r>
              <a:rPr lang="en-US" sz="1900" b="1">
                <a:solidFill>
                  <a:srgbClr val="000000"/>
                </a:solidFill>
                <a:latin typeface="Poppins"/>
              </a:rPr>
              <a:t>Overall accuracy of the operational model</a:t>
            </a:r>
            <a:endParaRPr lang="en-US" sz="1100"/>
          </a:p>
        </p:txBody>
      </p:sp>
      <p:sp>
        <p:nvSpPr>
          <p:cNvPr id="29" name="TextBox 29"/>
          <p:cNvSpPr txBox="1"/>
          <p:nvPr/>
        </p:nvSpPr>
        <p:spPr>
          <a:xfrm>
            <a:off x="876300" y="5524500"/>
            <a:ext cx="4851400" cy="749300"/>
          </a:xfrm>
          <a:prstGeom prst="roundRect">
            <a:avLst>
              <a:gd name="adj" fmla="val 11864"/>
            </a:avLst>
          </a:prstGeom>
          <a:solidFill>
            <a:srgbClr val="000000">
              <a:alpha val="0"/>
            </a:srgbClr>
          </a:solidFill>
        </p:spPr>
        <p:txBody>
          <a:bodyPr lIns="0" tIns="0" rIns="0" bIns="0" rtlCol="0" anchor="ctr"/>
          <a:lstStyle/>
          <a:p>
            <a:pPr indent="0" algn="ctr">
              <a:lnSpc>
                <a:spcPct val="100000"/>
              </a:lnSpc>
              <a:defRPr/>
            </a:pPr>
            <a:r>
              <a:rPr lang="en-US" sz="5200" b="1">
                <a:solidFill>
                  <a:srgbClr val="000000"/>
                </a:solidFill>
                <a:highlight>
                  <a:srgbClr val="000000">
                    <a:alpha val="0"/>
                  </a:srgbClr>
                </a:highlight>
                <a:latin typeface="Ubuntu"/>
              </a:rPr>
              <a:t>100.0%</a:t>
            </a:r>
            <a:endParaRPr lang="en-US" sz="1100"/>
          </a:p>
        </p:txBody>
      </p:sp>
      <p:sp>
        <p:nvSpPr>
          <p:cNvPr id="30" name="TextBox 30"/>
          <p:cNvSpPr txBox="1"/>
          <p:nvPr/>
        </p:nvSpPr>
        <p:spPr>
          <a:xfrm>
            <a:off x="876300" y="6946900"/>
            <a:ext cx="4610100" cy="368300"/>
          </a:xfrm>
          <a:prstGeom prst="rect">
            <a:avLst/>
          </a:prstGeom>
          <a:solidFill>
            <a:srgbClr val="000000">
              <a:alpha val="0"/>
            </a:srgbClr>
          </a:solidFill>
        </p:spPr>
        <p:txBody>
          <a:bodyPr lIns="0" tIns="0" rIns="0" bIns="0" rtlCol="0" anchor="ctr"/>
          <a:lstStyle/>
          <a:p>
            <a:pPr indent="0" algn="ctr">
              <a:lnSpc>
                <a:spcPct val="150000"/>
              </a:lnSpc>
              <a:defRPr/>
            </a:pPr>
            <a:r>
              <a:rPr lang="en-US" sz="1900" b="1">
                <a:solidFill>
                  <a:srgbClr val="000000"/>
                </a:solidFill>
                <a:latin typeface="Poppins"/>
              </a:rPr>
              <a:t>Sensitivity of detection mechanisms</a:t>
            </a:r>
            <a:endParaRPr lang="en-US" sz="1100"/>
          </a:p>
        </p:txBody>
      </p:sp>
      <p:sp>
        <p:nvSpPr>
          <p:cNvPr id="31" name="TextBox 31"/>
          <p:cNvSpPr txBox="1"/>
          <p:nvPr/>
        </p:nvSpPr>
        <p:spPr>
          <a:xfrm>
            <a:off x="5816600" y="5524500"/>
            <a:ext cx="4851400" cy="749300"/>
          </a:xfrm>
          <a:prstGeom prst="roundRect">
            <a:avLst>
              <a:gd name="adj" fmla="val 11864"/>
            </a:avLst>
          </a:prstGeom>
          <a:solidFill>
            <a:srgbClr val="000000">
              <a:alpha val="0"/>
            </a:srgbClr>
          </a:solidFill>
        </p:spPr>
        <p:txBody>
          <a:bodyPr lIns="0" tIns="0" rIns="0" bIns="0" rtlCol="0" anchor="ctr"/>
          <a:lstStyle/>
          <a:p>
            <a:pPr indent="0" algn="ctr">
              <a:lnSpc>
                <a:spcPct val="100000"/>
              </a:lnSpc>
              <a:defRPr/>
            </a:pPr>
            <a:r>
              <a:rPr lang="en-US" sz="5200" b="1">
                <a:solidFill>
                  <a:srgbClr val="000000"/>
                </a:solidFill>
                <a:highlight>
                  <a:srgbClr val="000000">
                    <a:alpha val="0"/>
                  </a:srgbClr>
                </a:highlight>
                <a:latin typeface="Ubuntu"/>
              </a:rPr>
              <a:t>25.67%</a:t>
            </a:r>
            <a:endParaRPr lang="en-US" sz="1100"/>
          </a:p>
        </p:txBody>
      </p:sp>
      <p:sp>
        <p:nvSpPr>
          <p:cNvPr id="32" name="TextBox 32"/>
          <p:cNvSpPr txBox="1"/>
          <p:nvPr/>
        </p:nvSpPr>
        <p:spPr>
          <a:xfrm>
            <a:off x="5816600" y="6946900"/>
            <a:ext cx="4610100" cy="749300"/>
          </a:xfrm>
          <a:prstGeom prst="rect">
            <a:avLst/>
          </a:prstGeom>
          <a:solidFill>
            <a:srgbClr val="000000">
              <a:alpha val="0"/>
            </a:srgbClr>
          </a:solidFill>
        </p:spPr>
        <p:txBody>
          <a:bodyPr lIns="0" tIns="0" rIns="0" bIns="0" rtlCol="0" anchor="ctr"/>
          <a:lstStyle/>
          <a:p>
            <a:pPr indent="0" algn="ctr">
              <a:lnSpc>
                <a:spcPct val="150000"/>
              </a:lnSpc>
              <a:defRPr/>
            </a:pPr>
            <a:r>
              <a:rPr lang="en-US" sz="1900" b="1">
                <a:solidFill>
                  <a:srgbClr val="000000"/>
                </a:solidFill>
                <a:latin typeface="Poppins"/>
              </a:rPr>
              <a:t>Harmonic mean of precision and recall</a:t>
            </a:r>
            <a:endParaRPr lang="en-US" sz="1100"/>
          </a:p>
        </p:txBody>
      </p:sp>
      <p:sp>
        <p:nvSpPr>
          <p:cNvPr id="33" name="TextBox 33"/>
          <p:cNvSpPr txBox="1"/>
          <p:nvPr/>
        </p:nvSpPr>
        <p:spPr>
          <a:xfrm>
            <a:off x="10744200" y="5524500"/>
            <a:ext cx="4851400" cy="749300"/>
          </a:xfrm>
          <a:prstGeom prst="roundRect">
            <a:avLst>
              <a:gd name="adj" fmla="val 11864"/>
            </a:avLst>
          </a:prstGeom>
          <a:solidFill>
            <a:srgbClr val="000000">
              <a:alpha val="0"/>
            </a:srgbClr>
          </a:solidFill>
        </p:spPr>
        <p:txBody>
          <a:bodyPr lIns="0" tIns="0" rIns="0" bIns="0" rtlCol="0" anchor="ctr"/>
          <a:lstStyle/>
          <a:p>
            <a:pPr indent="0" algn="ctr">
              <a:lnSpc>
                <a:spcPct val="100000"/>
              </a:lnSpc>
              <a:defRPr/>
            </a:pPr>
            <a:r>
              <a:rPr lang="en-US" sz="5200" b="1">
                <a:solidFill>
                  <a:srgbClr val="000000"/>
                </a:solidFill>
                <a:highlight>
                  <a:srgbClr val="000000">
                    <a:alpha val="0"/>
                  </a:srgbClr>
                </a:highlight>
                <a:latin typeface="Ubuntu"/>
              </a:rPr>
              <a:t>100.0%</a:t>
            </a:r>
            <a:endParaRPr lang="en-US" sz="1100"/>
          </a:p>
        </p:txBody>
      </p:sp>
      <p:sp>
        <p:nvSpPr>
          <p:cNvPr id="34" name="TextBox 34"/>
          <p:cNvSpPr txBox="1"/>
          <p:nvPr/>
        </p:nvSpPr>
        <p:spPr>
          <a:xfrm>
            <a:off x="10744200" y="6946900"/>
            <a:ext cx="4610100" cy="749300"/>
          </a:xfrm>
          <a:prstGeom prst="rect">
            <a:avLst/>
          </a:prstGeom>
          <a:solidFill>
            <a:srgbClr val="000000">
              <a:alpha val="0"/>
            </a:srgbClr>
          </a:solidFill>
        </p:spPr>
        <p:txBody>
          <a:bodyPr lIns="0" tIns="0" rIns="0" bIns="0" rtlCol="0" anchor="ctr"/>
          <a:lstStyle/>
          <a:p>
            <a:pPr indent="0" algn="ctr">
              <a:lnSpc>
                <a:spcPct val="150000"/>
              </a:lnSpc>
              <a:defRPr/>
            </a:pPr>
            <a:r>
              <a:rPr lang="en-US" sz="1900" b="1">
                <a:solidFill>
                  <a:srgbClr val="000000"/>
                </a:solidFill>
                <a:latin typeface="Poppins"/>
              </a:rPr>
              <a:t>Proportion of operations covered by audit procedures</a:t>
            </a:r>
            <a:endParaRPr lang="en-US" sz="1100"/>
          </a:p>
        </p:txBody>
      </p:sp>
      <p:sp>
        <p:nvSpPr>
          <p:cNvPr id="35" name="TextBox 35"/>
          <p:cNvSpPr txBox="1"/>
          <p:nvPr/>
        </p:nvSpPr>
        <p:spPr>
          <a:xfrm>
            <a:off x="876300" y="7988300"/>
            <a:ext cx="14490700" cy="368300"/>
          </a:xfrm>
          <a:prstGeom prst="rect">
            <a:avLst/>
          </a:prstGeom>
          <a:solidFill>
            <a:srgbClr val="000000">
              <a:alpha val="0"/>
            </a:srgbClr>
          </a:solidFill>
        </p:spPr>
        <p:txBody>
          <a:bodyPr lIns="0" tIns="0" rIns="0" bIns="0" rtlCol="0" anchor="ctr"/>
          <a:lstStyle/>
          <a:p>
            <a:pPr indent="0" algn="l">
              <a:lnSpc>
                <a:spcPct val="150000"/>
              </a:lnSpc>
              <a:defRPr/>
            </a:pPr>
            <a:r>
              <a:rPr lang="en-US" sz="1900" b="1">
                <a:solidFill>
                  <a:srgbClr val="000000"/>
                </a:solidFill>
                <a:latin typeface="Poppins"/>
              </a:rPr>
              <a:t>Note: Exceeds base paper on all primary operational metrics</a:t>
            </a:r>
            <a:endParaRPr lang="en-US" sz="110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16256000" cy="9144000"/>
          </a:xfrm>
          <a:prstGeom prst="rect">
            <a:avLst/>
          </a:prstGeom>
          <a:solidFill>
            <a:srgbClr val="0D0A2C">
              <a:alpha val="74902"/>
            </a:srgbClr>
          </a:solidFill>
        </p:spPr>
      </p:sp>
      <p:pic>
        <p:nvPicPr>
          <p:cNvPr id="3" name="Picture 3"/>
          <p:cNvPicPr>
            <a:picLocks noChangeAspect="1"/>
          </p:cNvPicPr>
          <p:nvPr/>
        </p:nvPicPr>
        <p:blipFill>
          <a:blip r:embed="rId2"/>
          <a:srcRect t="56" b="56"/>
          <a:stretch>
            <a:fillRect/>
          </a:stretch>
        </p:blipFill>
        <p:spPr>
          <a:xfrm>
            <a:off x="0" y="0"/>
            <a:ext cx="16256000" cy="9144000"/>
          </a:xfrm>
          <a:prstGeom prst="rect">
            <a:avLst/>
          </a:prstGeom>
        </p:spPr>
      </p:pic>
      <p:sp>
        <p:nvSpPr>
          <p:cNvPr id="4" name="AutoShape 4"/>
          <p:cNvSpPr/>
          <p:nvPr/>
        </p:nvSpPr>
        <p:spPr>
          <a:xfrm>
            <a:off x="876300" y="4127500"/>
            <a:ext cx="14490700" cy="2806700"/>
          </a:xfrm>
          <a:prstGeom prst="rect">
            <a:avLst/>
          </a:prstGeom>
          <a:solidFill>
            <a:srgbClr val="000000">
              <a:alpha val="0"/>
            </a:srgbClr>
          </a:solidFill>
          <a:ln w="12700">
            <a:solidFill>
              <a:srgbClr val="A1A1A1"/>
            </a:solidFill>
          </a:ln>
        </p:spPr>
      </p:sp>
      <p:sp>
        <p:nvSpPr>
          <p:cNvPr id="5" name="AutoShape 5"/>
          <p:cNvSpPr/>
          <p:nvPr/>
        </p:nvSpPr>
        <p:spPr>
          <a:xfrm>
            <a:off x="889000" y="4140200"/>
            <a:ext cx="3365500" cy="546100"/>
          </a:xfrm>
          <a:prstGeom prst="rect">
            <a:avLst/>
          </a:prstGeom>
          <a:solidFill>
            <a:srgbClr val="D1D1D1">
              <a:alpha val="71765"/>
            </a:srgbClr>
          </a:solidFill>
          <a:ln w="12700">
            <a:solidFill>
              <a:srgbClr val="A1A1A1"/>
            </a:solidFill>
          </a:ln>
        </p:spPr>
      </p:sp>
      <p:sp>
        <p:nvSpPr>
          <p:cNvPr id="6" name="AutoShape 6"/>
          <p:cNvSpPr/>
          <p:nvPr/>
        </p:nvSpPr>
        <p:spPr>
          <a:xfrm>
            <a:off x="4267200" y="4140200"/>
            <a:ext cx="2527300" cy="546100"/>
          </a:xfrm>
          <a:prstGeom prst="rect">
            <a:avLst/>
          </a:prstGeom>
          <a:solidFill>
            <a:srgbClr val="D1D1D1">
              <a:alpha val="71765"/>
            </a:srgbClr>
          </a:solidFill>
          <a:ln w="12700">
            <a:solidFill>
              <a:srgbClr val="A1A1A1"/>
            </a:solidFill>
          </a:ln>
        </p:spPr>
      </p:sp>
      <p:sp>
        <p:nvSpPr>
          <p:cNvPr id="7" name="AutoShape 7"/>
          <p:cNvSpPr/>
          <p:nvPr/>
        </p:nvSpPr>
        <p:spPr>
          <a:xfrm>
            <a:off x="6807200" y="4140200"/>
            <a:ext cx="5473700" cy="546100"/>
          </a:xfrm>
          <a:prstGeom prst="rect">
            <a:avLst/>
          </a:prstGeom>
          <a:solidFill>
            <a:srgbClr val="D1D1D1">
              <a:alpha val="71765"/>
            </a:srgbClr>
          </a:solidFill>
          <a:ln w="12700">
            <a:solidFill>
              <a:srgbClr val="A1A1A1"/>
            </a:solidFill>
          </a:ln>
        </p:spPr>
      </p:sp>
      <p:sp>
        <p:nvSpPr>
          <p:cNvPr id="8" name="AutoShape 8"/>
          <p:cNvSpPr/>
          <p:nvPr/>
        </p:nvSpPr>
        <p:spPr>
          <a:xfrm>
            <a:off x="12280900" y="4140200"/>
            <a:ext cx="3060700" cy="546100"/>
          </a:xfrm>
          <a:prstGeom prst="rect">
            <a:avLst/>
          </a:prstGeom>
          <a:solidFill>
            <a:srgbClr val="D1D1D1">
              <a:alpha val="71765"/>
            </a:srgbClr>
          </a:solidFill>
          <a:ln w="12700">
            <a:solidFill>
              <a:srgbClr val="A1A1A1"/>
            </a:solidFill>
          </a:ln>
        </p:spPr>
      </p:sp>
      <p:sp>
        <p:nvSpPr>
          <p:cNvPr id="9" name="AutoShape 9"/>
          <p:cNvSpPr/>
          <p:nvPr/>
        </p:nvSpPr>
        <p:spPr>
          <a:xfrm>
            <a:off x="889000" y="4699000"/>
            <a:ext cx="3365500" cy="546100"/>
          </a:xfrm>
          <a:prstGeom prst="rect">
            <a:avLst/>
          </a:prstGeom>
          <a:solidFill>
            <a:srgbClr val="000000">
              <a:alpha val="0"/>
            </a:srgbClr>
          </a:solidFill>
          <a:ln w="12700">
            <a:solidFill>
              <a:srgbClr val="A1A1A1"/>
            </a:solidFill>
          </a:ln>
        </p:spPr>
      </p:sp>
      <p:sp>
        <p:nvSpPr>
          <p:cNvPr id="10" name="AutoShape 10"/>
          <p:cNvSpPr/>
          <p:nvPr/>
        </p:nvSpPr>
        <p:spPr>
          <a:xfrm>
            <a:off x="4267200" y="4699000"/>
            <a:ext cx="2527300" cy="546100"/>
          </a:xfrm>
          <a:prstGeom prst="rect">
            <a:avLst/>
          </a:prstGeom>
          <a:solidFill>
            <a:srgbClr val="000000">
              <a:alpha val="0"/>
            </a:srgbClr>
          </a:solidFill>
          <a:ln w="12700">
            <a:solidFill>
              <a:srgbClr val="A1A1A1"/>
            </a:solidFill>
          </a:ln>
        </p:spPr>
      </p:sp>
      <p:sp>
        <p:nvSpPr>
          <p:cNvPr id="11" name="AutoShape 11"/>
          <p:cNvSpPr/>
          <p:nvPr/>
        </p:nvSpPr>
        <p:spPr>
          <a:xfrm>
            <a:off x="6807200" y="4699000"/>
            <a:ext cx="5473700" cy="546100"/>
          </a:xfrm>
          <a:prstGeom prst="rect">
            <a:avLst/>
          </a:prstGeom>
          <a:solidFill>
            <a:srgbClr val="000000">
              <a:alpha val="0"/>
            </a:srgbClr>
          </a:solidFill>
          <a:ln w="12700">
            <a:solidFill>
              <a:srgbClr val="A1A1A1"/>
            </a:solidFill>
          </a:ln>
        </p:spPr>
      </p:sp>
      <p:sp>
        <p:nvSpPr>
          <p:cNvPr id="12" name="AutoShape 12"/>
          <p:cNvSpPr/>
          <p:nvPr/>
        </p:nvSpPr>
        <p:spPr>
          <a:xfrm>
            <a:off x="12280900" y="4699000"/>
            <a:ext cx="3060700" cy="546100"/>
          </a:xfrm>
          <a:prstGeom prst="rect">
            <a:avLst/>
          </a:prstGeom>
          <a:solidFill>
            <a:srgbClr val="000000">
              <a:alpha val="0"/>
            </a:srgbClr>
          </a:solidFill>
          <a:ln w="12700">
            <a:solidFill>
              <a:srgbClr val="A1A1A1"/>
            </a:solidFill>
          </a:ln>
        </p:spPr>
      </p:sp>
      <p:sp>
        <p:nvSpPr>
          <p:cNvPr id="13" name="AutoShape 13"/>
          <p:cNvSpPr/>
          <p:nvPr/>
        </p:nvSpPr>
        <p:spPr>
          <a:xfrm>
            <a:off x="889000" y="5245100"/>
            <a:ext cx="3365500" cy="546100"/>
          </a:xfrm>
          <a:prstGeom prst="rect">
            <a:avLst/>
          </a:prstGeom>
          <a:solidFill>
            <a:srgbClr val="000000">
              <a:alpha val="0"/>
            </a:srgbClr>
          </a:solidFill>
          <a:ln w="12700">
            <a:solidFill>
              <a:srgbClr val="A1A1A1"/>
            </a:solidFill>
          </a:ln>
        </p:spPr>
      </p:sp>
      <p:sp>
        <p:nvSpPr>
          <p:cNvPr id="14" name="AutoShape 14"/>
          <p:cNvSpPr/>
          <p:nvPr/>
        </p:nvSpPr>
        <p:spPr>
          <a:xfrm>
            <a:off x="4267200" y="5245100"/>
            <a:ext cx="2527300" cy="546100"/>
          </a:xfrm>
          <a:prstGeom prst="rect">
            <a:avLst/>
          </a:prstGeom>
          <a:solidFill>
            <a:srgbClr val="000000">
              <a:alpha val="0"/>
            </a:srgbClr>
          </a:solidFill>
          <a:ln w="12700">
            <a:solidFill>
              <a:srgbClr val="A1A1A1"/>
            </a:solidFill>
          </a:ln>
        </p:spPr>
      </p:sp>
      <p:sp>
        <p:nvSpPr>
          <p:cNvPr id="15" name="AutoShape 15"/>
          <p:cNvSpPr/>
          <p:nvPr/>
        </p:nvSpPr>
        <p:spPr>
          <a:xfrm>
            <a:off x="6807200" y="5245100"/>
            <a:ext cx="5473700" cy="546100"/>
          </a:xfrm>
          <a:prstGeom prst="rect">
            <a:avLst/>
          </a:prstGeom>
          <a:solidFill>
            <a:srgbClr val="000000">
              <a:alpha val="0"/>
            </a:srgbClr>
          </a:solidFill>
          <a:ln w="12700">
            <a:solidFill>
              <a:srgbClr val="A1A1A1"/>
            </a:solidFill>
          </a:ln>
        </p:spPr>
      </p:sp>
      <p:sp>
        <p:nvSpPr>
          <p:cNvPr id="16" name="AutoShape 16"/>
          <p:cNvSpPr/>
          <p:nvPr/>
        </p:nvSpPr>
        <p:spPr>
          <a:xfrm>
            <a:off x="12280900" y="5245100"/>
            <a:ext cx="3060700" cy="546100"/>
          </a:xfrm>
          <a:prstGeom prst="rect">
            <a:avLst/>
          </a:prstGeom>
          <a:solidFill>
            <a:srgbClr val="000000">
              <a:alpha val="0"/>
            </a:srgbClr>
          </a:solidFill>
          <a:ln w="12700">
            <a:solidFill>
              <a:srgbClr val="A1A1A1"/>
            </a:solidFill>
          </a:ln>
        </p:spPr>
      </p:sp>
      <p:sp>
        <p:nvSpPr>
          <p:cNvPr id="17" name="AutoShape 17"/>
          <p:cNvSpPr/>
          <p:nvPr/>
        </p:nvSpPr>
        <p:spPr>
          <a:xfrm>
            <a:off x="889000" y="5803900"/>
            <a:ext cx="3365500" cy="546100"/>
          </a:xfrm>
          <a:prstGeom prst="rect">
            <a:avLst/>
          </a:prstGeom>
          <a:solidFill>
            <a:srgbClr val="000000">
              <a:alpha val="0"/>
            </a:srgbClr>
          </a:solidFill>
          <a:ln w="12700">
            <a:solidFill>
              <a:srgbClr val="A1A1A1"/>
            </a:solidFill>
          </a:ln>
        </p:spPr>
      </p:sp>
      <p:sp>
        <p:nvSpPr>
          <p:cNvPr id="18" name="AutoShape 18"/>
          <p:cNvSpPr/>
          <p:nvPr/>
        </p:nvSpPr>
        <p:spPr>
          <a:xfrm>
            <a:off x="4267200" y="5803900"/>
            <a:ext cx="2527300" cy="546100"/>
          </a:xfrm>
          <a:prstGeom prst="rect">
            <a:avLst/>
          </a:prstGeom>
          <a:solidFill>
            <a:srgbClr val="000000">
              <a:alpha val="0"/>
            </a:srgbClr>
          </a:solidFill>
          <a:ln w="12700">
            <a:solidFill>
              <a:srgbClr val="A1A1A1"/>
            </a:solidFill>
          </a:ln>
        </p:spPr>
      </p:sp>
      <p:sp>
        <p:nvSpPr>
          <p:cNvPr id="19" name="AutoShape 19"/>
          <p:cNvSpPr/>
          <p:nvPr/>
        </p:nvSpPr>
        <p:spPr>
          <a:xfrm>
            <a:off x="6807200" y="5803900"/>
            <a:ext cx="5473700" cy="546100"/>
          </a:xfrm>
          <a:prstGeom prst="rect">
            <a:avLst/>
          </a:prstGeom>
          <a:solidFill>
            <a:srgbClr val="000000">
              <a:alpha val="0"/>
            </a:srgbClr>
          </a:solidFill>
          <a:ln w="12700">
            <a:solidFill>
              <a:srgbClr val="A1A1A1"/>
            </a:solidFill>
          </a:ln>
        </p:spPr>
      </p:sp>
      <p:sp>
        <p:nvSpPr>
          <p:cNvPr id="20" name="AutoShape 20"/>
          <p:cNvSpPr/>
          <p:nvPr/>
        </p:nvSpPr>
        <p:spPr>
          <a:xfrm>
            <a:off x="12280900" y="5803900"/>
            <a:ext cx="3060700" cy="546100"/>
          </a:xfrm>
          <a:prstGeom prst="rect">
            <a:avLst/>
          </a:prstGeom>
          <a:solidFill>
            <a:srgbClr val="000000">
              <a:alpha val="0"/>
            </a:srgbClr>
          </a:solidFill>
          <a:ln w="12700">
            <a:solidFill>
              <a:srgbClr val="A1A1A1"/>
            </a:solidFill>
          </a:ln>
        </p:spPr>
      </p:sp>
      <p:sp>
        <p:nvSpPr>
          <p:cNvPr id="21" name="AutoShape 21"/>
          <p:cNvSpPr/>
          <p:nvPr/>
        </p:nvSpPr>
        <p:spPr>
          <a:xfrm>
            <a:off x="889000" y="6362700"/>
            <a:ext cx="3365500" cy="546100"/>
          </a:xfrm>
          <a:prstGeom prst="rect">
            <a:avLst/>
          </a:prstGeom>
          <a:solidFill>
            <a:srgbClr val="000000">
              <a:alpha val="0"/>
            </a:srgbClr>
          </a:solidFill>
          <a:ln w="12700">
            <a:solidFill>
              <a:srgbClr val="A1A1A1"/>
            </a:solidFill>
          </a:ln>
        </p:spPr>
      </p:sp>
      <p:sp>
        <p:nvSpPr>
          <p:cNvPr id="22" name="AutoShape 22"/>
          <p:cNvSpPr/>
          <p:nvPr/>
        </p:nvSpPr>
        <p:spPr>
          <a:xfrm>
            <a:off x="4267200" y="6362700"/>
            <a:ext cx="2527300" cy="546100"/>
          </a:xfrm>
          <a:prstGeom prst="rect">
            <a:avLst/>
          </a:prstGeom>
          <a:solidFill>
            <a:srgbClr val="000000">
              <a:alpha val="0"/>
            </a:srgbClr>
          </a:solidFill>
          <a:ln w="12700">
            <a:solidFill>
              <a:srgbClr val="A1A1A1"/>
            </a:solidFill>
          </a:ln>
        </p:spPr>
      </p:sp>
      <p:sp>
        <p:nvSpPr>
          <p:cNvPr id="23" name="AutoShape 23"/>
          <p:cNvSpPr/>
          <p:nvPr/>
        </p:nvSpPr>
        <p:spPr>
          <a:xfrm>
            <a:off x="6807200" y="6362700"/>
            <a:ext cx="5473700" cy="546100"/>
          </a:xfrm>
          <a:prstGeom prst="rect">
            <a:avLst/>
          </a:prstGeom>
          <a:solidFill>
            <a:srgbClr val="000000">
              <a:alpha val="0"/>
            </a:srgbClr>
          </a:solidFill>
          <a:ln w="12700">
            <a:solidFill>
              <a:srgbClr val="A1A1A1"/>
            </a:solidFill>
          </a:ln>
        </p:spPr>
      </p:sp>
      <p:sp>
        <p:nvSpPr>
          <p:cNvPr id="24" name="AutoShape 24"/>
          <p:cNvSpPr/>
          <p:nvPr/>
        </p:nvSpPr>
        <p:spPr>
          <a:xfrm>
            <a:off x="12280900" y="6362700"/>
            <a:ext cx="3060700" cy="546100"/>
          </a:xfrm>
          <a:prstGeom prst="rect">
            <a:avLst/>
          </a:prstGeom>
          <a:solidFill>
            <a:srgbClr val="000000">
              <a:alpha val="0"/>
            </a:srgbClr>
          </a:solidFill>
          <a:ln w="12700">
            <a:solidFill>
              <a:srgbClr val="A1A1A1"/>
            </a:solidFill>
          </a:ln>
        </p:spPr>
      </p:sp>
      <p:sp>
        <p:nvSpPr>
          <p:cNvPr id="25" name="TextBox 25"/>
          <p:cNvSpPr txBox="1"/>
          <p:nvPr/>
        </p:nvSpPr>
        <p:spPr>
          <a:xfrm>
            <a:off x="876300" y="2197100"/>
            <a:ext cx="14490700" cy="596900"/>
          </a:xfrm>
          <a:prstGeom prst="rect">
            <a:avLst/>
          </a:prstGeom>
          <a:solidFill>
            <a:srgbClr val="000000">
              <a:alpha val="0"/>
            </a:srgbClr>
          </a:solidFill>
        </p:spPr>
        <p:txBody>
          <a:bodyPr lIns="0" tIns="0" rIns="0" bIns="0" rtlCol="0" anchor="ctr"/>
          <a:lstStyle/>
          <a:p>
            <a:pPr indent="0" algn="l">
              <a:lnSpc>
                <a:spcPct val="120000"/>
              </a:lnSpc>
              <a:defRPr/>
            </a:pPr>
            <a:r>
              <a:rPr lang="en-US" sz="3900" b="1">
                <a:solidFill>
                  <a:srgbClr val="000000"/>
                </a:solidFill>
                <a:latin typeface="Ubuntu"/>
              </a:rPr>
              <a:t>Base Paper vs Proposed System Comparison</a:t>
            </a:r>
            <a:endParaRPr lang="en-US" sz="1100"/>
          </a:p>
        </p:txBody>
      </p:sp>
      <p:sp>
        <p:nvSpPr>
          <p:cNvPr id="26" name="TextBox 26"/>
          <p:cNvSpPr txBox="1"/>
          <p:nvPr/>
        </p:nvSpPr>
        <p:spPr>
          <a:xfrm>
            <a:off x="876300" y="3086100"/>
            <a:ext cx="14490700" cy="749300"/>
          </a:xfrm>
          <a:prstGeom prst="rect">
            <a:avLst/>
          </a:prstGeom>
          <a:solidFill>
            <a:srgbClr val="000000">
              <a:alpha val="0"/>
            </a:srgbClr>
          </a:solidFill>
        </p:spPr>
        <p:txBody>
          <a:bodyPr lIns="0" tIns="0" rIns="0" bIns="0" rtlCol="0" anchor="ctr"/>
          <a:lstStyle/>
          <a:p>
            <a:pPr indent="0" algn="l">
              <a:lnSpc>
                <a:spcPct val="150000"/>
              </a:lnSpc>
              <a:defRPr/>
            </a:pPr>
            <a:r>
              <a:rPr lang="en-US" sz="1900" b="1">
                <a:solidFill>
                  <a:srgbClr val="000000"/>
                </a:solidFill>
                <a:latin typeface="Poppins"/>
              </a:rPr>
              <a:t>Validated N=100 configuration demonstrates substantial improvements across all primary operational metrics, confirming the effectiveness of SCADA-integrated explainable audit framework.</a:t>
            </a:r>
            <a:endParaRPr lang="en-US" sz="1100"/>
          </a:p>
        </p:txBody>
      </p:sp>
      <p:sp>
        <p:nvSpPr>
          <p:cNvPr id="27" name="TextBox 27"/>
          <p:cNvSpPr txBox="1"/>
          <p:nvPr/>
        </p:nvSpPr>
        <p:spPr>
          <a:xfrm>
            <a:off x="977900" y="4229100"/>
            <a:ext cx="3187700" cy="368300"/>
          </a:xfrm>
          <a:prstGeom prst="rect">
            <a:avLst/>
          </a:prstGeom>
          <a:solidFill>
            <a:srgbClr val="000000">
              <a:alpha val="0"/>
            </a:srgbClr>
          </a:solidFill>
        </p:spPr>
        <p:txBody>
          <a:bodyPr lIns="0" tIns="0" rIns="0" bIns="0" rtlCol="0" anchor="ctr"/>
          <a:lstStyle/>
          <a:p>
            <a:pPr indent="0" algn="l">
              <a:lnSpc>
                <a:spcPct val="150000"/>
              </a:lnSpc>
              <a:defRPr/>
            </a:pPr>
            <a:r>
              <a:rPr lang="en-US" sz="1900" b="1">
                <a:solidFill>
                  <a:srgbClr val="000000"/>
                </a:solidFill>
                <a:latin typeface="Poppins"/>
              </a:rPr>
              <a:t>Metric</a:t>
            </a:r>
            <a:endParaRPr lang="en-US" sz="1100"/>
          </a:p>
        </p:txBody>
      </p:sp>
      <p:sp>
        <p:nvSpPr>
          <p:cNvPr id="28" name="TextBox 28"/>
          <p:cNvSpPr txBox="1"/>
          <p:nvPr/>
        </p:nvSpPr>
        <p:spPr>
          <a:xfrm>
            <a:off x="4356100" y="4229100"/>
            <a:ext cx="2349500" cy="368300"/>
          </a:xfrm>
          <a:prstGeom prst="rect">
            <a:avLst/>
          </a:prstGeom>
          <a:solidFill>
            <a:srgbClr val="000000">
              <a:alpha val="0"/>
            </a:srgbClr>
          </a:solidFill>
        </p:spPr>
        <p:txBody>
          <a:bodyPr lIns="0" tIns="0" rIns="0" bIns="0" rtlCol="0" anchor="ctr"/>
          <a:lstStyle/>
          <a:p>
            <a:pPr indent="0" algn="l">
              <a:lnSpc>
                <a:spcPct val="150000"/>
              </a:lnSpc>
              <a:defRPr/>
            </a:pPr>
            <a:r>
              <a:rPr lang="en-US" sz="1900" b="1">
                <a:solidFill>
                  <a:srgbClr val="000000"/>
                </a:solidFill>
                <a:latin typeface="Poppins"/>
              </a:rPr>
              <a:t>Base Paper</a:t>
            </a:r>
            <a:endParaRPr lang="en-US" sz="1100"/>
          </a:p>
        </p:txBody>
      </p:sp>
      <p:sp>
        <p:nvSpPr>
          <p:cNvPr id="29" name="TextBox 29"/>
          <p:cNvSpPr txBox="1"/>
          <p:nvPr/>
        </p:nvSpPr>
        <p:spPr>
          <a:xfrm>
            <a:off x="6896100" y="4229100"/>
            <a:ext cx="5295900" cy="368300"/>
          </a:xfrm>
          <a:prstGeom prst="rect">
            <a:avLst/>
          </a:prstGeom>
          <a:solidFill>
            <a:srgbClr val="000000">
              <a:alpha val="0"/>
            </a:srgbClr>
          </a:solidFill>
        </p:spPr>
        <p:txBody>
          <a:bodyPr lIns="0" tIns="0" rIns="0" bIns="0" rtlCol="0" anchor="ctr"/>
          <a:lstStyle/>
          <a:p>
            <a:pPr indent="0" algn="l">
              <a:lnSpc>
                <a:spcPct val="150000"/>
              </a:lnSpc>
              <a:defRPr/>
            </a:pPr>
            <a:r>
              <a:rPr lang="en-US" sz="1900" b="1">
                <a:solidFill>
                  <a:srgbClr val="000000"/>
                </a:solidFill>
                <a:latin typeface="Poppins"/>
              </a:rPr>
              <a:t>Proposed System (N=100)</a:t>
            </a:r>
            <a:endParaRPr lang="en-US" sz="1100"/>
          </a:p>
        </p:txBody>
      </p:sp>
      <p:sp>
        <p:nvSpPr>
          <p:cNvPr id="30" name="TextBox 30"/>
          <p:cNvSpPr txBox="1"/>
          <p:nvPr/>
        </p:nvSpPr>
        <p:spPr>
          <a:xfrm>
            <a:off x="12369800" y="4229100"/>
            <a:ext cx="2882900" cy="368300"/>
          </a:xfrm>
          <a:prstGeom prst="rect">
            <a:avLst/>
          </a:prstGeom>
          <a:solidFill>
            <a:srgbClr val="000000">
              <a:alpha val="0"/>
            </a:srgbClr>
          </a:solidFill>
        </p:spPr>
        <p:txBody>
          <a:bodyPr lIns="0" tIns="0" rIns="0" bIns="0" rtlCol="0" anchor="ctr"/>
          <a:lstStyle/>
          <a:p>
            <a:pPr indent="0" algn="l">
              <a:lnSpc>
                <a:spcPct val="150000"/>
              </a:lnSpc>
              <a:defRPr/>
            </a:pPr>
            <a:r>
              <a:rPr lang="en-US" sz="1900" b="1">
                <a:solidFill>
                  <a:srgbClr val="000000"/>
                </a:solidFill>
                <a:latin typeface="Poppins"/>
              </a:rPr>
              <a:t>Improvement</a:t>
            </a:r>
            <a:endParaRPr lang="en-US" sz="1100"/>
          </a:p>
        </p:txBody>
      </p:sp>
      <p:sp>
        <p:nvSpPr>
          <p:cNvPr id="31" name="TextBox 31"/>
          <p:cNvSpPr txBox="1"/>
          <p:nvPr/>
        </p:nvSpPr>
        <p:spPr>
          <a:xfrm>
            <a:off x="977900" y="4787900"/>
            <a:ext cx="3187700" cy="368300"/>
          </a:xfrm>
          <a:prstGeom prst="rect">
            <a:avLst/>
          </a:prstGeom>
          <a:solidFill>
            <a:srgbClr val="000000">
              <a:alpha val="0"/>
            </a:srgbClr>
          </a:solidFill>
        </p:spPr>
        <p:txBody>
          <a:bodyPr lIns="0" tIns="0" rIns="0" bIns="0" rtlCol="0" anchor="ctr"/>
          <a:lstStyle/>
          <a:p>
            <a:pPr indent="0" algn="l">
              <a:lnSpc>
                <a:spcPct val="150000"/>
              </a:lnSpc>
              <a:defRPr/>
            </a:pPr>
            <a:r>
              <a:rPr lang="en-US" sz="1900" b="1">
                <a:solidFill>
                  <a:srgbClr val="000000"/>
                </a:solidFill>
                <a:latin typeface="Poppins"/>
              </a:rPr>
              <a:t>Cost Efficiency</a:t>
            </a:r>
            <a:endParaRPr lang="en-US" sz="1100"/>
          </a:p>
        </p:txBody>
      </p:sp>
      <p:sp>
        <p:nvSpPr>
          <p:cNvPr id="32" name="TextBox 32"/>
          <p:cNvSpPr txBox="1"/>
          <p:nvPr/>
        </p:nvSpPr>
        <p:spPr>
          <a:xfrm>
            <a:off x="4356100" y="4787900"/>
            <a:ext cx="2349500" cy="368300"/>
          </a:xfrm>
          <a:prstGeom prst="rect">
            <a:avLst/>
          </a:prstGeom>
          <a:solidFill>
            <a:srgbClr val="000000">
              <a:alpha val="0"/>
            </a:srgbClr>
          </a:solidFill>
        </p:spPr>
        <p:txBody>
          <a:bodyPr lIns="0" tIns="0" rIns="0" bIns="0" rtlCol="0" anchor="ctr"/>
          <a:lstStyle/>
          <a:p>
            <a:pPr indent="0" algn="l">
              <a:lnSpc>
                <a:spcPct val="150000"/>
              </a:lnSpc>
              <a:defRPr/>
            </a:pPr>
            <a:r>
              <a:rPr lang="en-US" sz="1900" b="1">
                <a:solidFill>
                  <a:srgbClr val="000000"/>
                </a:solidFill>
                <a:latin typeface="Poppins"/>
              </a:rPr>
              <a:t>42.5%</a:t>
            </a:r>
            <a:endParaRPr lang="en-US" sz="1100"/>
          </a:p>
        </p:txBody>
      </p:sp>
      <p:sp>
        <p:nvSpPr>
          <p:cNvPr id="33" name="TextBox 33"/>
          <p:cNvSpPr txBox="1"/>
          <p:nvPr/>
        </p:nvSpPr>
        <p:spPr>
          <a:xfrm>
            <a:off x="6896100" y="4787900"/>
            <a:ext cx="5295900" cy="368300"/>
          </a:xfrm>
          <a:prstGeom prst="rect">
            <a:avLst/>
          </a:prstGeom>
          <a:solidFill>
            <a:srgbClr val="000000">
              <a:alpha val="0"/>
            </a:srgbClr>
          </a:solidFill>
        </p:spPr>
        <p:txBody>
          <a:bodyPr lIns="0" tIns="0" rIns="0" bIns="0" rtlCol="0" anchor="ctr"/>
          <a:lstStyle/>
          <a:p>
            <a:pPr indent="0" algn="l">
              <a:lnSpc>
                <a:spcPct val="150000"/>
              </a:lnSpc>
              <a:defRPr/>
            </a:pPr>
            <a:r>
              <a:rPr lang="en-US" sz="1900" b="1">
                <a:solidFill>
                  <a:srgbClr val="000000"/>
                </a:solidFill>
                <a:latin typeface="Poppins"/>
              </a:rPr>
              <a:t>54.83%</a:t>
            </a:r>
            <a:endParaRPr lang="en-US" sz="1100"/>
          </a:p>
        </p:txBody>
      </p:sp>
      <p:sp>
        <p:nvSpPr>
          <p:cNvPr id="34" name="TextBox 34"/>
          <p:cNvSpPr txBox="1"/>
          <p:nvPr/>
        </p:nvSpPr>
        <p:spPr>
          <a:xfrm>
            <a:off x="12369800" y="4787900"/>
            <a:ext cx="2882900" cy="368300"/>
          </a:xfrm>
          <a:prstGeom prst="rect">
            <a:avLst/>
          </a:prstGeom>
          <a:solidFill>
            <a:srgbClr val="000000">
              <a:alpha val="0"/>
            </a:srgbClr>
          </a:solidFill>
        </p:spPr>
        <p:txBody>
          <a:bodyPr lIns="0" tIns="0" rIns="0" bIns="0" rtlCol="0" anchor="ctr"/>
          <a:lstStyle/>
          <a:p>
            <a:pPr indent="0" algn="l">
              <a:lnSpc>
                <a:spcPct val="150000"/>
              </a:lnSpc>
              <a:defRPr/>
            </a:pPr>
            <a:r>
              <a:rPr lang="en-US" sz="1900" b="1">
                <a:solidFill>
                  <a:srgbClr val="000000"/>
                </a:solidFill>
                <a:latin typeface="Poppins"/>
              </a:rPr>
              <a:t>+12.33%</a:t>
            </a:r>
            <a:endParaRPr lang="en-US" sz="1100"/>
          </a:p>
        </p:txBody>
      </p:sp>
      <p:sp>
        <p:nvSpPr>
          <p:cNvPr id="35" name="TextBox 35"/>
          <p:cNvSpPr txBox="1"/>
          <p:nvPr/>
        </p:nvSpPr>
        <p:spPr>
          <a:xfrm>
            <a:off x="977900" y="5346700"/>
            <a:ext cx="3187700" cy="368300"/>
          </a:xfrm>
          <a:prstGeom prst="rect">
            <a:avLst/>
          </a:prstGeom>
          <a:solidFill>
            <a:srgbClr val="000000">
              <a:alpha val="0"/>
            </a:srgbClr>
          </a:solidFill>
        </p:spPr>
        <p:txBody>
          <a:bodyPr lIns="0" tIns="0" rIns="0" bIns="0" rtlCol="0" anchor="ctr"/>
          <a:lstStyle/>
          <a:p>
            <a:pPr indent="0" algn="l">
              <a:lnSpc>
                <a:spcPct val="150000"/>
              </a:lnSpc>
              <a:defRPr/>
            </a:pPr>
            <a:r>
              <a:rPr lang="en-US" sz="1900" b="1">
                <a:solidFill>
                  <a:srgbClr val="000000"/>
                </a:solidFill>
                <a:latin typeface="Poppins"/>
              </a:rPr>
              <a:t>Audit Coverage</a:t>
            </a:r>
            <a:endParaRPr lang="en-US" sz="1100"/>
          </a:p>
        </p:txBody>
      </p:sp>
      <p:sp>
        <p:nvSpPr>
          <p:cNvPr id="36" name="TextBox 36"/>
          <p:cNvSpPr txBox="1"/>
          <p:nvPr/>
        </p:nvSpPr>
        <p:spPr>
          <a:xfrm>
            <a:off x="4356100" y="5346700"/>
            <a:ext cx="2349500" cy="368300"/>
          </a:xfrm>
          <a:prstGeom prst="rect">
            <a:avLst/>
          </a:prstGeom>
          <a:solidFill>
            <a:srgbClr val="000000">
              <a:alpha val="0"/>
            </a:srgbClr>
          </a:solidFill>
        </p:spPr>
        <p:txBody>
          <a:bodyPr lIns="0" tIns="0" rIns="0" bIns="0" rtlCol="0" anchor="ctr"/>
          <a:lstStyle/>
          <a:p>
            <a:pPr indent="0" algn="l">
              <a:lnSpc>
                <a:spcPct val="150000"/>
              </a:lnSpc>
              <a:defRPr/>
            </a:pPr>
            <a:r>
              <a:rPr lang="en-US" sz="1900" b="1">
                <a:solidFill>
                  <a:srgbClr val="000000"/>
                </a:solidFill>
                <a:latin typeface="Poppins"/>
              </a:rPr>
              <a:t>93.8%</a:t>
            </a:r>
            <a:endParaRPr lang="en-US" sz="1100"/>
          </a:p>
        </p:txBody>
      </p:sp>
      <p:sp>
        <p:nvSpPr>
          <p:cNvPr id="37" name="TextBox 37"/>
          <p:cNvSpPr txBox="1"/>
          <p:nvPr/>
        </p:nvSpPr>
        <p:spPr>
          <a:xfrm>
            <a:off x="6896100" y="5346700"/>
            <a:ext cx="5295900" cy="368300"/>
          </a:xfrm>
          <a:prstGeom prst="rect">
            <a:avLst/>
          </a:prstGeom>
          <a:solidFill>
            <a:srgbClr val="000000">
              <a:alpha val="0"/>
            </a:srgbClr>
          </a:solidFill>
        </p:spPr>
        <p:txBody>
          <a:bodyPr lIns="0" tIns="0" rIns="0" bIns="0" rtlCol="0" anchor="ctr"/>
          <a:lstStyle/>
          <a:p>
            <a:pPr indent="0" algn="l">
              <a:lnSpc>
                <a:spcPct val="150000"/>
              </a:lnSpc>
              <a:defRPr/>
            </a:pPr>
            <a:r>
              <a:rPr lang="en-US" sz="1900" b="1">
                <a:solidFill>
                  <a:srgbClr val="000000"/>
                </a:solidFill>
                <a:latin typeface="Poppins"/>
              </a:rPr>
              <a:t>100%</a:t>
            </a:r>
            <a:endParaRPr lang="en-US" sz="1100"/>
          </a:p>
        </p:txBody>
      </p:sp>
      <p:sp>
        <p:nvSpPr>
          <p:cNvPr id="38" name="TextBox 38"/>
          <p:cNvSpPr txBox="1"/>
          <p:nvPr/>
        </p:nvSpPr>
        <p:spPr>
          <a:xfrm>
            <a:off x="12369800" y="5346700"/>
            <a:ext cx="2882900" cy="368300"/>
          </a:xfrm>
          <a:prstGeom prst="rect">
            <a:avLst/>
          </a:prstGeom>
          <a:solidFill>
            <a:srgbClr val="000000">
              <a:alpha val="0"/>
            </a:srgbClr>
          </a:solidFill>
        </p:spPr>
        <p:txBody>
          <a:bodyPr lIns="0" tIns="0" rIns="0" bIns="0" rtlCol="0" anchor="ctr"/>
          <a:lstStyle/>
          <a:p>
            <a:pPr indent="0" algn="l">
              <a:lnSpc>
                <a:spcPct val="150000"/>
              </a:lnSpc>
              <a:defRPr/>
            </a:pPr>
            <a:r>
              <a:rPr lang="en-US" sz="1900" b="1">
                <a:solidFill>
                  <a:srgbClr val="000000"/>
                </a:solidFill>
                <a:latin typeface="Poppins"/>
              </a:rPr>
              <a:t>+6.2%</a:t>
            </a:r>
            <a:endParaRPr lang="en-US" sz="1100"/>
          </a:p>
        </p:txBody>
      </p:sp>
      <p:sp>
        <p:nvSpPr>
          <p:cNvPr id="39" name="TextBox 39"/>
          <p:cNvSpPr txBox="1"/>
          <p:nvPr/>
        </p:nvSpPr>
        <p:spPr>
          <a:xfrm>
            <a:off x="977900" y="5892800"/>
            <a:ext cx="3187700" cy="368300"/>
          </a:xfrm>
          <a:prstGeom prst="rect">
            <a:avLst/>
          </a:prstGeom>
          <a:solidFill>
            <a:srgbClr val="000000">
              <a:alpha val="0"/>
            </a:srgbClr>
          </a:solidFill>
        </p:spPr>
        <p:txBody>
          <a:bodyPr lIns="0" tIns="0" rIns="0" bIns="0" rtlCol="0" anchor="ctr"/>
          <a:lstStyle/>
          <a:p>
            <a:pPr indent="0" algn="l">
              <a:lnSpc>
                <a:spcPct val="150000"/>
              </a:lnSpc>
              <a:defRPr/>
            </a:pPr>
            <a:r>
              <a:rPr lang="en-US" sz="1900" b="1">
                <a:solidFill>
                  <a:srgbClr val="000000"/>
                </a:solidFill>
                <a:latin typeface="Poppins"/>
              </a:rPr>
              <a:t>Accuracy</a:t>
            </a:r>
            <a:endParaRPr lang="en-US" sz="1100"/>
          </a:p>
        </p:txBody>
      </p:sp>
      <p:sp>
        <p:nvSpPr>
          <p:cNvPr id="40" name="TextBox 40"/>
          <p:cNvSpPr txBox="1"/>
          <p:nvPr/>
        </p:nvSpPr>
        <p:spPr>
          <a:xfrm>
            <a:off x="4356100" y="5892800"/>
            <a:ext cx="2349500" cy="368300"/>
          </a:xfrm>
          <a:prstGeom prst="rect">
            <a:avLst/>
          </a:prstGeom>
          <a:solidFill>
            <a:srgbClr val="000000">
              <a:alpha val="0"/>
            </a:srgbClr>
          </a:solidFill>
        </p:spPr>
        <p:txBody>
          <a:bodyPr lIns="0" tIns="0" rIns="0" bIns="0" rtlCol="0" anchor="ctr"/>
          <a:lstStyle/>
          <a:p>
            <a:pPr indent="0" algn="l">
              <a:lnSpc>
                <a:spcPct val="150000"/>
              </a:lnSpc>
              <a:defRPr/>
            </a:pPr>
            <a:r>
              <a:rPr lang="en-US" sz="1900" b="1">
                <a:solidFill>
                  <a:srgbClr val="000000"/>
                </a:solidFill>
                <a:latin typeface="Poppins"/>
              </a:rPr>
              <a:t>98.4%</a:t>
            </a:r>
            <a:endParaRPr lang="en-US" sz="1100"/>
          </a:p>
        </p:txBody>
      </p:sp>
      <p:sp>
        <p:nvSpPr>
          <p:cNvPr id="41" name="TextBox 41"/>
          <p:cNvSpPr txBox="1"/>
          <p:nvPr/>
        </p:nvSpPr>
        <p:spPr>
          <a:xfrm>
            <a:off x="6896100" y="5892800"/>
            <a:ext cx="5295900" cy="368300"/>
          </a:xfrm>
          <a:prstGeom prst="rect">
            <a:avLst/>
          </a:prstGeom>
          <a:solidFill>
            <a:srgbClr val="000000">
              <a:alpha val="0"/>
            </a:srgbClr>
          </a:solidFill>
        </p:spPr>
        <p:txBody>
          <a:bodyPr lIns="0" tIns="0" rIns="0" bIns="0" rtlCol="0" anchor="ctr"/>
          <a:lstStyle/>
          <a:p>
            <a:pPr indent="0" algn="l">
              <a:lnSpc>
                <a:spcPct val="150000"/>
              </a:lnSpc>
              <a:defRPr/>
            </a:pPr>
            <a:r>
              <a:rPr lang="en-US" sz="1900" b="1">
                <a:solidFill>
                  <a:srgbClr val="000000"/>
                </a:solidFill>
                <a:latin typeface="Poppins"/>
              </a:rPr>
              <a:t>99.14%</a:t>
            </a:r>
            <a:endParaRPr lang="en-US" sz="1100"/>
          </a:p>
        </p:txBody>
      </p:sp>
      <p:sp>
        <p:nvSpPr>
          <p:cNvPr id="42" name="TextBox 42"/>
          <p:cNvSpPr txBox="1"/>
          <p:nvPr/>
        </p:nvSpPr>
        <p:spPr>
          <a:xfrm>
            <a:off x="12369800" y="5892800"/>
            <a:ext cx="2882900" cy="368300"/>
          </a:xfrm>
          <a:prstGeom prst="rect">
            <a:avLst/>
          </a:prstGeom>
          <a:solidFill>
            <a:srgbClr val="000000">
              <a:alpha val="0"/>
            </a:srgbClr>
          </a:solidFill>
        </p:spPr>
        <p:txBody>
          <a:bodyPr lIns="0" tIns="0" rIns="0" bIns="0" rtlCol="0" anchor="ctr"/>
          <a:lstStyle/>
          <a:p>
            <a:pPr indent="0" algn="l">
              <a:lnSpc>
                <a:spcPct val="150000"/>
              </a:lnSpc>
              <a:defRPr/>
            </a:pPr>
            <a:r>
              <a:rPr lang="en-US" sz="1900" b="1">
                <a:solidFill>
                  <a:srgbClr val="000000"/>
                </a:solidFill>
                <a:latin typeface="Poppins"/>
              </a:rPr>
              <a:t>+0.74%</a:t>
            </a:r>
            <a:endParaRPr lang="en-US" sz="1100"/>
          </a:p>
        </p:txBody>
      </p:sp>
      <p:sp>
        <p:nvSpPr>
          <p:cNvPr id="43" name="TextBox 43"/>
          <p:cNvSpPr txBox="1"/>
          <p:nvPr/>
        </p:nvSpPr>
        <p:spPr>
          <a:xfrm>
            <a:off x="977900" y="6451600"/>
            <a:ext cx="3187700" cy="368300"/>
          </a:xfrm>
          <a:prstGeom prst="rect">
            <a:avLst/>
          </a:prstGeom>
          <a:solidFill>
            <a:srgbClr val="000000">
              <a:alpha val="0"/>
            </a:srgbClr>
          </a:solidFill>
        </p:spPr>
        <p:txBody>
          <a:bodyPr lIns="0" tIns="0" rIns="0" bIns="0" rtlCol="0" anchor="ctr"/>
          <a:lstStyle/>
          <a:p>
            <a:pPr indent="0" algn="l">
              <a:lnSpc>
                <a:spcPct val="150000"/>
              </a:lnSpc>
              <a:defRPr/>
            </a:pPr>
            <a:r>
              <a:rPr lang="en-US" sz="1900" b="1">
                <a:solidFill>
                  <a:srgbClr val="000000"/>
                </a:solidFill>
                <a:latin typeface="Poppins"/>
              </a:rPr>
              <a:t>Risk Mitigation</a:t>
            </a:r>
            <a:endParaRPr lang="en-US" sz="1100"/>
          </a:p>
        </p:txBody>
      </p:sp>
      <p:sp>
        <p:nvSpPr>
          <p:cNvPr id="44" name="TextBox 44"/>
          <p:cNvSpPr txBox="1"/>
          <p:nvPr/>
        </p:nvSpPr>
        <p:spPr>
          <a:xfrm>
            <a:off x="4356100" y="6451600"/>
            <a:ext cx="2349500" cy="368300"/>
          </a:xfrm>
          <a:prstGeom prst="rect">
            <a:avLst/>
          </a:prstGeom>
          <a:solidFill>
            <a:srgbClr val="000000">
              <a:alpha val="0"/>
            </a:srgbClr>
          </a:solidFill>
        </p:spPr>
        <p:txBody>
          <a:bodyPr lIns="0" tIns="0" rIns="0" bIns="0" rtlCol="0" anchor="ctr"/>
          <a:lstStyle/>
          <a:p>
            <a:pPr indent="0" algn="l">
              <a:lnSpc>
                <a:spcPct val="150000"/>
              </a:lnSpc>
              <a:defRPr/>
            </a:pPr>
            <a:r>
              <a:rPr lang="en-US" sz="1900" b="1">
                <a:solidFill>
                  <a:srgbClr val="000000"/>
                </a:solidFill>
                <a:latin typeface="Poppins"/>
              </a:rPr>
              <a:t>87.9%</a:t>
            </a:r>
            <a:endParaRPr lang="en-US" sz="1100"/>
          </a:p>
        </p:txBody>
      </p:sp>
      <p:sp>
        <p:nvSpPr>
          <p:cNvPr id="45" name="TextBox 45"/>
          <p:cNvSpPr txBox="1"/>
          <p:nvPr/>
        </p:nvSpPr>
        <p:spPr>
          <a:xfrm>
            <a:off x="6896100" y="6451600"/>
            <a:ext cx="5295900" cy="368300"/>
          </a:xfrm>
          <a:prstGeom prst="rect">
            <a:avLst/>
          </a:prstGeom>
          <a:solidFill>
            <a:srgbClr val="000000">
              <a:alpha val="0"/>
            </a:srgbClr>
          </a:solidFill>
        </p:spPr>
        <p:txBody>
          <a:bodyPr lIns="0" tIns="0" rIns="0" bIns="0" rtlCol="0" anchor="ctr"/>
          <a:lstStyle/>
          <a:p>
            <a:pPr indent="0" algn="l">
              <a:lnSpc>
                <a:spcPct val="150000"/>
              </a:lnSpc>
              <a:defRPr/>
            </a:pPr>
            <a:r>
              <a:rPr lang="en-US" sz="1900" b="1">
                <a:solidFill>
                  <a:srgbClr val="000000"/>
                </a:solidFill>
                <a:latin typeface="Poppins"/>
              </a:rPr>
              <a:t>95.93%</a:t>
            </a:r>
            <a:endParaRPr lang="en-US" sz="1100"/>
          </a:p>
        </p:txBody>
      </p:sp>
      <p:sp>
        <p:nvSpPr>
          <p:cNvPr id="46" name="TextBox 46"/>
          <p:cNvSpPr txBox="1"/>
          <p:nvPr/>
        </p:nvSpPr>
        <p:spPr>
          <a:xfrm>
            <a:off x="12369800" y="6451600"/>
            <a:ext cx="2882900" cy="368300"/>
          </a:xfrm>
          <a:prstGeom prst="rect">
            <a:avLst/>
          </a:prstGeom>
          <a:solidFill>
            <a:srgbClr val="000000">
              <a:alpha val="0"/>
            </a:srgbClr>
          </a:solidFill>
        </p:spPr>
        <p:txBody>
          <a:bodyPr lIns="0" tIns="0" rIns="0" bIns="0" rtlCol="0" anchor="ctr"/>
          <a:lstStyle/>
          <a:p>
            <a:pPr indent="0" algn="l">
              <a:lnSpc>
                <a:spcPct val="150000"/>
              </a:lnSpc>
              <a:defRPr/>
            </a:pPr>
            <a:r>
              <a:rPr lang="en-US" sz="1900" b="1">
                <a:solidFill>
                  <a:srgbClr val="000000"/>
                </a:solidFill>
                <a:latin typeface="Poppins"/>
              </a:rPr>
              <a:t>+8.03%</a:t>
            </a:r>
            <a:endParaRPr lang="en-US" sz="110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16256000" cy="9144000"/>
          </a:xfrm>
          <a:prstGeom prst="rect">
            <a:avLst/>
          </a:prstGeom>
          <a:solidFill>
            <a:srgbClr val="0D0A2C">
              <a:alpha val="74902"/>
            </a:srgbClr>
          </a:solidFill>
        </p:spPr>
      </p:sp>
      <p:pic>
        <p:nvPicPr>
          <p:cNvPr id="3" name="Picture 3"/>
          <p:cNvPicPr>
            <a:picLocks noChangeAspect="1"/>
          </p:cNvPicPr>
          <p:nvPr/>
        </p:nvPicPr>
        <p:blipFill>
          <a:blip r:embed="rId2"/>
          <a:srcRect t="56" b="56"/>
          <a:stretch>
            <a:fillRect/>
          </a:stretch>
        </p:blipFill>
        <p:spPr>
          <a:xfrm>
            <a:off x="0" y="0"/>
            <a:ext cx="16256000" cy="9144000"/>
          </a:xfrm>
          <a:prstGeom prst="rect">
            <a:avLst/>
          </a:prstGeom>
        </p:spPr>
      </p:pic>
      <p:sp>
        <p:nvSpPr>
          <p:cNvPr id="4" name="AutoShape 4"/>
          <p:cNvSpPr/>
          <p:nvPr/>
        </p:nvSpPr>
        <p:spPr>
          <a:xfrm>
            <a:off x="876300" y="4406900"/>
            <a:ext cx="14490700" cy="2247900"/>
          </a:xfrm>
          <a:prstGeom prst="rect">
            <a:avLst/>
          </a:prstGeom>
          <a:solidFill>
            <a:srgbClr val="000000">
              <a:alpha val="0"/>
            </a:srgbClr>
          </a:solidFill>
          <a:ln w="12700">
            <a:solidFill>
              <a:srgbClr val="A1A1A1"/>
            </a:solidFill>
          </a:ln>
        </p:spPr>
      </p:sp>
      <p:sp>
        <p:nvSpPr>
          <p:cNvPr id="5" name="AutoShape 5"/>
          <p:cNvSpPr/>
          <p:nvPr/>
        </p:nvSpPr>
        <p:spPr>
          <a:xfrm>
            <a:off x="889000" y="4419600"/>
            <a:ext cx="1638300" cy="546100"/>
          </a:xfrm>
          <a:prstGeom prst="rect">
            <a:avLst/>
          </a:prstGeom>
          <a:solidFill>
            <a:srgbClr val="D1D1D1">
              <a:alpha val="71765"/>
            </a:srgbClr>
          </a:solidFill>
          <a:ln w="12700">
            <a:solidFill>
              <a:srgbClr val="A1A1A1"/>
            </a:solidFill>
          </a:ln>
        </p:spPr>
      </p:sp>
      <p:sp>
        <p:nvSpPr>
          <p:cNvPr id="6" name="AutoShape 6"/>
          <p:cNvSpPr/>
          <p:nvPr/>
        </p:nvSpPr>
        <p:spPr>
          <a:xfrm>
            <a:off x="2527300" y="4419600"/>
            <a:ext cx="3086100" cy="546100"/>
          </a:xfrm>
          <a:prstGeom prst="rect">
            <a:avLst/>
          </a:prstGeom>
          <a:solidFill>
            <a:srgbClr val="D1D1D1">
              <a:alpha val="71765"/>
            </a:srgbClr>
          </a:solidFill>
          <a:ln w="12700">
            <a:solidFill>
              <a:srgbClr val="A1A1A1"/>
            </a:solidFill>
          </a:ln>
        </p:spPr>
      </p:sp>
      <p:sp>
        <p:nvSpPr>
          <p:cNvPr id="7" name="AutoShape 7"/>
          <p:cNvSpPr/>
          <p:nvPr/>
        </p:nvSpPr>
        <p:spPr>
          <a:xfrm>
            <a:off x="5626100" y="4419600"/>
            <a:ext cx="2654300" cy="546100"/>
          </a:xfrm>
          <a:prstGeom prst="rect">
            <a:avLst/>
          </a:prstGeom>
          <a:solidFill>
            <a:srgbClr val="D1D1D1">
              <a:alpha val="71765"/>
            </a:srgbClr>
          </a:solidFill>
          <a:ln w="12700">
            <a:solidFill>
              <a:srgbClr val="A1A1A1"/>
            </a:solidFill>
          </a:ln>
        </p:spPr>
      </p:sp>
      <p:sp>
        <p:nvSpPr>
          <p:cNvPr id="8" name="AutoShape 8"/>
          <p:cNvSpPr/>
          <p:nvPr/>
        </p:nvSpPr>
        <p:spPr>
          <a:xfrm>
            <a:off x="8293100" y="4419600"/>
            <a:ext cx="2679700" cy="546100"/>
          </a:xfrm>
          <a:prstGeom prst="rect">
            <a:avLst/>
          </a:prstGeom>
          <a:solidFill>
            <a:srgbClr val="D1D1D1">
              <a:alpha val="71765"/>
            </a:srgbClr>
          </a:solidFill>
          <a:ln w="12700">
            <a:solidFill>
              <a:srgbClr val="A1A1A1"/>
            </a:solidFill>
          </a:ln>
        </p:spPr>
      </p:sp>
      <p:sp>
        <p:nvSpPr>
          <p:cNvPr id="9" name="AutoShape 9"/>
          <p:cNvSpPr/>
          <p:nvPr/>
        </p:nvSpPr>
        <p:spPr>
          <a:xfrm>
            <a:off x="10972800" y="4419600"/>
            <a:ext cx="1816100" cy="546100"/>
          </a:xfrm>
          <a:prstGeom prst="rect">
            <a:avLst/>
          </a:prstGeom>
          <a:solidFill>
            <a:srgbClr val="D1D1D1">
              <a:alpha val="71765"/>
            </a:srgbClr>
          </a:solidFill>
          <a:ln w="12700">
            <a:solidFill>
              <a:srgbClr val="A1A1A1"/>
            </a:solidFill>
          </a:ln>
        </p:spPr>
      </p:sp>
      <p:sp>
        <p:nvSpPr>
          <p:cNvPr id="10" name="AutoShape 10"/>
          <p:cNvSpPr/>
          <p:nvPr/>
        </p:nvSpPr>
        <p:spPr>
          <a:xfrm>
            <a:off x="12788900" y="4419600"/>
            <a:ext cx="2552700" cy="546100"/>
          </a:xfrm>
          <a:prstGeom prst="rect">
            <a:avLst/>
          </a:prstGeom>
          <a:solidFill>
            <a:srgbClr val="D1D1D1">
              <a:alpha val="71765"/>
            </a:srgbClr>
          </a:solidFill>
          <a:ln w="12700">
            <a:solidFill>
              <a:srgbClr val="A1A1A1"/>
            </a:solidFill>
          </a:ln>
        </p:spPr>
      </p:sp>
      <p:sp>
        <p:nvSpPr>
          <p:cNvPr id="11" name="AutoShape 11"/>
          <p:cNvSpPr/>
          <p:nvPr/>
        </p:nvSpPr>
        <p:spPr>
          <a:xfrm>
            <a:off x="889000" y="4978400"/>
            <a:ext cx="1638300" cy="546100"/>
          </a:xfrm>
          <a:prstGeom prst="rect">
            <a:avLst/>
          </a:prstGeom>
          <a:solidFill>
            <a:srgbClr val="000000">
              <a:alpha val="0"/>
            </a:srgbClr>
          </a:solidFill>
          <a:ln w="12700">
            <a:solidFill>
              <a:srgbClr val="A1A1A1"/>
            </a:solidFill>
          </a:ln>
        </p:spPr>
      </p:sp>
      <p:sp>
        <p:nvSpPr>
          <p:cNvPr id="12" name="AutoShape 12"/>
          <p:cNvSpPr/>
          <p:nvPr/>
        </p:nvSpPr>
        <p:spPr>
          <a:xfrm>
            <a:off x="2527300" y="4978400"/>
            <a:ext cx="3086100" cy="546100"/>
          </a:xfrm>
          <a:prstGeom prst="rect">
            <a:avLst/>
          </a:prstGeom>
          <a:solidFill>
            <a:srgbClr val="000000">
              <a:alpha val="0"/>
            </a:srgbClr>
          </a:solidFill>
          <a:ln w="12700">
            <a:solidFill>
              <a:srgbClr val="A1A1A1"/>
            </a:solidFill>
          </a:ln>
        </p:spPr>
      </p:sp>
      <p:sp>
        <p:nvSpPr>
          <p:cNvPr id="13" name="AutoShape 13"/>
          <p:cNvSpPr/>
          <p:nvPr/>
        </p:nvSpPr>
        <p:spPr>
          <a:xfrm>
            <a:off x="5626100" y="4978400"/>
            <a:ext cx="2654300" cy="546100"/>
          </a:xfrm>
          <a:prstGeom prst="rect">
            <a:avLst/>
          </a:prstGeom>
          <a:solidFill>
            <a:srgbClr val="000000">
              <a:alpha val="0"/>
            </a:srgbClr>
          </a:solidFill>
          <a:ln w="12700">
            <a:solidFill>
              <a:srgbClr val="A1A1A1"/>
            </a:solidFill>
          </a:ln>
        </p:spPr>
      </p:sp>
      <p:sp>
        <p:nvSpPr>
          <p:cNvPr id="14" name="AutoShape 14"/>
          <p:cNvSpPr/>
          <p:nvPr/>
        </p:nvSpPr>
        <p:spPr>
          <a:xfrm>
            <a:off x="8293100" y="4978400"/>
            <a:ext cx="2679700" cy="546100"/>
          </a:xfrm>
          <a:prstGeom prst="rect">
            <a:avLst/>
          </a:prstGeom>
          <a:solidFill>
            <a:srgbClr val="000000">
              <a:alpha val="0"/>
            </a:srgbClr>
          </a:solidFill>
          <a:ln w="12700">
            <a:solidFill>
              <a:srgbClr val="A1A1A1"/>
            </a:solidFill>
          </a:ln>
        </p:spPr>
      </p:sp>
      <p:sp>
        <p:nvSpPr>
          <p:cNvPr id="15" name="AutoShape 15"/>
          <p:cNvSpPr/>
          <p:nvPr/>
        </p:nvSpPr>
        <p:spPr>
          <a:xfrm>
            <a:off x="10972800" y="4978400"/>
            <a:ext cx="1816100" cy="546100"/>
          </a:xfrm>
          <a:prstGeom prst="rect">
            <a:avLst/>
          </a:prstGeom>
          <a:solidFill>
            <a:srgbClr val="000000">
              <a:alpha val="0"/>
            </a:srgbClr>
          </a:solidFill>
          <a:ln w="12700">
            <a:solidFill>
              <a:srgbClr val="A1A1A1"/>
            </a:solidFill>
          </a:ln>
        </p:spPr>
      </p:sp>
      <p:sp>
        <p:nvSpPr>
          <p:cNvPr id="16" name="AutoShape 16"/>
          <p:cNvSpPr/>
          <p:nvPr/>
        </p:nvSpPr>
        <p:spPr>
          <a:xfrm>
            <a:off x="12788900" y="4978400"/>
            <a:ext cx="2552700" cy="546100"/>
          </a:xfrm>
          <a:prstGeom prst="rect">
            <a:avLst/>
          </a:prstGeom>
          <a:solidFill>
            <a:srgbClr val="000000">
              <a:alpha val="0"/>
            </a:srgbClr>
          </a:solidFill>
          <a:ln w="12700">
            <a:solidFill>
              <a:srgbClr val="A1A1A1"/>
            </a:solidFill>
          </a:ln>
        </p:spPr>
      </p:sp>
      <p:sp>
        <p:nvSpPr>
          <p:cNvPr id="17" name="AutoShape 17"/>
          <p:cNvSpPr/>
          <p:nvPr/>
        </p:nvSpPr>
        <p:spPr>
          <a:xfrm>
            <a:off x="889000" y="5524500"/>
            <a:ext cx="1638300" cy="546100"/>
          </a:xfrm>
          <a:prstGeom prst="rect">
            <a:avLst/>
          </a:prstGeom>
          <a:solidFill>
            <a:srgbClr val="000000">
              <a:alpha val="0"/>
            </a:srgbClr>
          </a:solidFill>
          <a:ln w="12700">
            <a:solidFill>
              <a:srgbClr val="A1A1A1"/>
            </a:solidFill>
          </a:ln>
        </p:spPr>
      </p:sp>
      <p:sp>
        <p:nvSpPr>
          <p:cNvPr id="18" name="AutoShape 18"/>
          <p:cNvSpPr/>
          <p:nvPr/>
        </p:nvSpPr>
        <p:spPr>
          <a:xfrm>
            <a:off x="2527300" y="5524500"/>
            <a:ext cx="3086100" cy="546100"/>
          </a:xfrm>
          <a:prstGeom prst="rect">
            <a:avLst/>
          </a:prstGeom>
          <a:solidFill>
            <a:srgbClr val="000000">
              <a:alpha val="0"/>
            </a:srgbClr>
          </a:solidFill>
          <a:ln w="12700">
            <a:solidFill>
              <a:srgbClr val="A1A1A1"/>
            </a:solidFill>
          </a:ln>
        </p:spPr>
      </p:sp>
      <p:sp>
        <p:nvSpPr>
          <p:cNvPr id="19" name="AutoShape 19"/>
          <p:cNvSpPr/>
          <p:nvPr/>
        </p:nvSpPr>
        <p:spPr>
          <a:xfrm>
            <a:off x="5626100" y="5524500"/>
            <a:ext cx="2654300" cy="546100"/>
          </a:xfrm>
          <a:prstGeom prst="rect">
            <a:avLst/>
          </a:prstGeom>
          <a:solidFill>
            <a:srgbClr val="000000">
              <a:alpha val="0"/>
            </a:srgbClr>
          </a:solidFill>
          <a:ln w="12700">
            <a:solidFill>
              <a:srgbClr val="A1A1A1"/>
            </a:solidFill>
          </a:ln>
        </p:spPr>
      </p:sp>
      <p:sp>
        <p:nvSpPr>
          <p:cNvPr id="20" name="AutoShape 20"/>
          <p:cNvSpPr/>
          <p:nvPr/>
        </p:nvSpPr>
        <p:spPr>
          <a:xfrm>
            <a:off x="8293100" y="5524500"/>
            <a:ext cx="2679700" cy="546100"/>
          </a:xfrm>
          <a:prstGeom prst="rect">
            <a:avLst/>
          </a:prstGeom>
          <a:solidFill>
            <a:srgbClr val="000000">
              <a:alpha val="0"/>
            </a:srgbClr>
          </a:solidFill>
          <a:ln w="12700">
            <a:solidFill>
              <a:srgbClr val="A1A1A1"/>
            </a:solidFill>
          </a:ln>
        </p:spPr>
      </p:sp>
      <p:sp>
        <p:nvSpPr>
          <p:cNvPr id="21" name="AutoShape 21"/>
          <p:cNvSpPr/>
          <p:nvPr/>
        </p:nvSpPr>
        <p:spPr>
          <a:xfrm>
            <a:off x="10972800" y="5524500"/>
            <a:ext cx="1816100" cy="546100"/>
          </a:xfrm>
          <a:prstGeom prst="rect">
            <a:avLst/>
          </a:prstGeom>
          <a:solidFill>
            <a:srgbClr val="000000">
              <a:alpha val="0"/>
            </a:srgbClr>
          </a:solidFill>
          <a:ln w="12700">
            <a:solidFill>
              <a:srgbClr val="A1A1A1"/>
            </a:solidFill>
          </a:ln>
        </p:spPr>
      </p:sp>
      <p:sp>
        <p:nvSpPr>
          <p:cNvPr id="22" name="AutoShape 22"/>
          <p:cNvSpPr/>
          <p:nvPr/>
        </p:nvSpPr>
        <p:spPr>
          <a:xfrm>
            <a:off x="12788900" y="5524500"/>
            <a:ext cx="2552700" cy="546100"/>
          </a:xfrm>
          <a:prstGeom prst="rect">
            <a:avLst/>
          </a:prstGeom>
          <a:solidFill>
            <a:srgbClr val="000000">
              <a:alpha val="0"/>
            </a:srgbClr>
          </a:solidFill>
          <a:ln w="12700">
            <a:solidFill>
              <a:srgbClr val="A1A1A1"/>
            </a:solidFill>
          </a:ln>
        </p:spPr>
      </p:sp>
      <p:sp>
        <p:nvSpPr>
          <p:cNvPr id="23" name="AutoShape 23"/>
          <p:cNvSpPr/>
          <p:nvPr/>
        </p:nvSpPr>
        <p:spPr>
          <a:xfrm>
            <a:off x="889000" y="6083300"/>
            <a:ext cx="1638300" cy="546100"/>
          </a:xfrm>
          <a:prstGeom prst="rect">
            <a:avLst/>
          </a:prstGeom>
          <a:solidFill>
            <a:srgbClr val="000000">
              <a:alpha val="0"/>
            </a:srgbClr>
          </a:solidFill>
          <a:ln w="12700">
            <a:solidFill>
              <a:srgbClr val="A1A1A1"/>
            </a:solidFill>
          </a:ln>
        </p:spPr>
      </p:sp>
      <p:sp>
        <p:nvSpPr>
          <p:cNvPr id="24" name="AutoShape 24"/>
          <p:cNvSpPr/>
          <p:nvPr/>
        </p:nvSpPr>
        <p:spPr>
          <a:xfrm>
            <a:off x="2527300" y="6083300"/>
            <a:ext cx="3086100" cy="546100"/>
          </a:xfrm>
          <a:prstGeom prst="rect">
            <a:avLst/>
          </a:prstGeom>
          <a:solidFill>
            <a:srgbClr val="000000">
              <a:alpha val="0"/>
            </a:srgbClr>
          </a:solidFill>
          <a:ln w="12700">
            <a:solidFill>
              <a:srgbClr val="A1A1A1"/>
            </a:solidFill>
          </a:ln>
        </p:spPr>
      </p:sp>
      <p:sp>
        <p:nvSpPr>
          <p:cNvPr id="25" name="AutoShape 25"/>
          <p:cNvSpPr/>
          <p:nvPr/>
        </p:nvSpPr>
        <p:spPr>
          <a:xfrm>
            <a:off x="5626100" y="6083300"/>
            <a:ext cx="2654300" cy="546100"/>
          </a:xfrm>
          <a:prstGeom prst="rect">
            <a:avLst/>
          </a:prstGeom>
          <a:solidFill>
            <a:srgbClr val="000000">
              <a:alpha val="0"/>
            </a:srgbClr>
          </a:solidFill>
          <a:ln w="12700">
            <a:solidFill>
              <a:srgbClr val="A1A1A1"/>
            </a:solidFill>
          </a:ln>
        </p:spPr>
      </p:sp>
      <p:sp>
        <p:nvSpPr>
          <p:cNvPr id="26" name="AutoShape 26"/>
          <p:cNvSpPr/>
          <p:nvPr/>
        </p:nvSpPr>
        <p:spPr>
          <a:xfrm>
            <a:off x="8293100" y="6083300"/>
            <a:ext cx="2679700" cy="546100"/>
          </a:xfrm>
          <a:prstGeom prst="rect">
            <a:avLst/>
          </a:prstGeom>
          <a:solidFill>
            <a:srgbClr val="000000">
              <a:alpha val="0"/>
            </a:srgbClr>
          </a:solidFill>
          <a:ln w="12700">
            <a:solidFill>
              <a:srgbClr val="A1A1A1"/>
            </a:solidFill>
          </a:ln>
        </p:spPr>
      </p:sp>
      <p:sp>
        <p:nvSpPr>
          <p:cNvPr id="27" name="AutoShape 27"/>
          <p:cNvSpPr/>
          <p:nvPr/>
        </p:nvSpPr>
        <p:spPr>
          <a:xfrm>
            <a:off x="10972800" y="6083300"/>
            <a:ext cx="1816100" cy="546100"/>
          </a:xfrm>
          <a:prstGeom prst="rect">
            <a:avLst/>
          </a:prstGeom>
          <a:solidFill>
            <a:srgbClr val="000000">
              <a:alpha val="0"/>
            </a:srgbClr>
          </a:solidFill>
          <a:ln w="12700">
            <a:solidFill>
              <a:srgbClr val="A1A1A1"/>
            </a:solidFill>
          </a:ln>
        </p:spPr>
      </p:sp>
      <p:sp>
        <p:nvSpPr>
          <p:cNvPr id="28" name="AutoShape 28"/>
          <p:cNvSpPr/>
          <p:nvPr/>
        </p:nvSpPr>
        <p:spPr>
          <a:xfrm>
            <a:off x="12788900" y="6083300"/>
            <a:ext cx="2552700" cy="546100"/>
          </a:xfrm>
          <a:prstGeom prst="rect">
            <a:avLst/>
          </a:prstGeom>
          <a:solidFill>
            <a:srgbClr val="000000">
              <a:alpha val="0"/>
            </a:srgbClr>
          </a:solidFill>
          <a:ln w="12700">
            <a:solidFill>
              <a:srgbClr val="A1A1A1"/>
            </a:solidFill>
          </a:ln>
        </p:spPr>
      </p:sp>
      <p:sp>
        <p:nvSpPr>
          <p:cNvPr id="29" name="TextBox 29"/>
          <p:cNvSpPr txBox="1"/>
          <p:nvPr/>
        </p:nvSpPr>
        <p:spPr>
          <a:xfrm>
            <a:off x="876300" y="2476500"/>
            <a:ext cx="14490700" cy="596900"/>
          </a:xfrm>
          <a:prstGeom prst="rect">
            <a:avLst/>
          </a:prstGeom>
          <a:solidFill>
            <a:srgbClr val="000000">
              <a:alpha val="0"/>
            </a:srgbClr>
          </a:solidFill>
        </p:spPr>
        <p:txBody>
          <a:bodyPr lIns="0" tIns="0" rIns="0" bIns="0" rtlCol="0" anchor="ctr"/>
          <a:lstStyle/>
          <a:p>
            <a:pPr indent="0" algn="l">
              <a:lnSpc>
                <a:spcPct val="120000"/>
              </a:lnSpc>
              <a:defRPr/>
            </a:pPr>
            <a:r>
              <a:rPr lang="en-US" sz="3900" b="1">
                <a:solidFill>
                  <a:srgbClr val="000000"/>
                </a:solidFill>
                <a:latin typeface="Ubuntu"/>
              </a:rPr>
              <a:t>Scaled Results: Performance Across Grid Sizes</a:t>
            </a:r>
            <a:endParaRPr lang="en-US" sz="1100"/>
          </a:p>
        </p:txBody>
      </p:sp>
      <p:sp>
        <p:nvSpPr>
          <p:cNvPr id="30" name="TextBox 30"/>
          <p:cNvSpPr txBox="1"/>
          <p:nvPr/>
        </p:nvSpPr>
        <p:spPr>
          <a:xfrm>
            <a:off x="876300" y="3365500"/>
            <a:ext cx="14490700" cy="749300"/>
          </a:xfrm>
          <a:prstGeom prst="rect">
            <a:avLst/>
          </a:prstGeom>
          <a:solidFill>
            <a:srgbClr val="000000">
              <a:alpha val="0"/>
            </a:srgbClr>
          </a:solidFill>
        </p:spPr>
        <p:txBody>
          <a:bodyPr lIns="0" tIns="0" rIns="0" bIns="0" rtlCol="0" anchor="ctr"/>
          <a:lstStyle/>
          <a:p>
            <a:pPr indent="0" algn="l">
              <a:lnSpc>
                <a:spcPct val="150000"/>
              </a:lnSpc>
              <a:defRPr/>
            </a:pPr>
            <a:r>
              <a:rPr lang="en-US" sz="1900" b="1">
                <a:solidFill>
                  <a:srgbClr val="000000"/>
                </a:solidFill>
                <a:latin typeface="Poppins"/>
              </a:rPr>
              <a:t>System evaluated across N=100, N=200, and N=500 agents to analyze scalability characteristics, revealing tradeoffs between mitigation strength and operational efficiency.</a:t>
            </a:r>
            <a:endParaRPr lang="en-US" sz="1100"/>
          </a:p>
        </p:txBody>
      </p:sp>
      <p:sp>
        <p:nvSpPr>
          <p:cNvPr id="31" name="TextBox 31"/>
          <p:cNvSpPr txBox="1"/>
          <p:nvPr/>
        </p:nvSpPr>
        <p:spPr>
          <a:xfrm>
            <a:off x="977900" y="4508500"/>
            <a:ext cx="1460500" cy="368300"/>
          </a:xfrm>
          <a:prstGeom prst="rect">
            <a:avLst/>
          </a:prstGeom>
          <a:solidFill>
            <a:srgbClr val="000000">
              <a:alpha val="0"/>
            </a:srgbClr>
          </a:solidFill>
        </p:spPr>
        <p:txBody>
          <a:bodyPr lIns="0" tIns="0" rIns="0" bIns="0" rtlCol="0" anchor="ctr"/>
          <a:lstStyle/>
          <a:p>
            <a:pPr indent="0" algn="l">
              <a:lnSpc>
                <a:spcPct val="150000"/>
              </a:lnSpc>
              <a:defRPr/>
            </a:pPr>
            <a:r>
              <a:rPr lang="en-US" sz="1900" b="1">
                <a:solidFill>
                  <a:srgbClr val="000000"/>
                </a:solidFill>
                <a:latin typeface="Poppins"/>
              </a:rPr>
              <a:t>Grid Size</a:t>
            </a:r>
            <a:endParaRPr lang="en-US" sz="1100"/>
          </a:p>
        </p:txBody>
      </p:sp>
      <p:sp>
        <p:nvSpPr>
          <p:cNvPr id="32" name="TextBox 32"/>
          <p:cNvSpPr txBox="1"/>
          <p:nvPr/>
        </p:nvSpPr>
        <p:spPr>
          <a:xfrm>
            <a:off x="2616200" y="4508500"/>
            <a:ext cx="2908300" cy="368300"/>
          </a:xfrm>
          <a:prstGeom prst="rect">
            <a:avLst/>
          </a:prstGeom>
          <a:solidFill>
            <a:srgbClr val="000000">
              <a:alpha val="0"/>
            </a:srgbClr>
          </a:solidFill>
        </p:spPr>
        <p:txBody>
          <a:bodyPr lIns="0" tIns="0" rIns="0" bIns="0" rtlCol="0" anchor="ctr"/>
          <a:lstStyle/>
          <a:p>
            <a:pPr indent="0" algn="l">
              <a:lnSpc>
                <a:spcPct val="150000"/>
              </a:lnSpc>
              <a:defRPr/>
            </a:pPr>
            <a:r>
              <a:rPr lang="en-US" sz="1900" b="1">
                <a:solidFill>
                  <a:srgbClr val="000000"/>
                </a:solidFill>
                <a:latin typeface="Poppins"/>
              </a:rPr>
              <a:t>Attack Reduction</a:t>
            </a:r>
            <a:endParaRPr lang="en-US" sz="1100"/>
          </a:p>
        </p:txBody>
      </p:sp>
      <p:sp>
        <p:nvSpPr>
          <p:cNvPr id="33" name="TextBox 33"/>
          <p:cNvSpPr txBox="1"/>
          <p:nvPr/>
        </p:nvSpPr>
        <p:spPr>
          <a:xfrm>
            <a:off x="5715000" y="4508500"/>
            <a:ext cx="2476500" cy="368300"/>
          </a:xfrm>
          <a:prstGeom prst="rect">
            <a:avLst/>
          </a:prstGeom>
          <a:solidFill>
            <a:srgbClr val="000000">
              <a:alpha val="0"/>
            </a:srgbClr>
          </a:solidFill>
        </p:spPr>
        <p:txBody>
          <a:bodyPr lIns="0" tIns="0" rIns="0" bIns="0" rtlCol="0" anchor="ctr"/>
          <a:lstStyle/>
          <a:p>
            <a:pPr indent="0" algn="l">
              <a:lnSpc>
                <a:spcPct val="150000"/>
              </a:lnSpc>
              <a:defRPr/>
            </a:pPr>
            <a:r>
              <a:rPr lang="en-US" sz="1900" b="1">
                <a:solidFill>
                  <a:srgbClr val="000000"/>
                </a:solidFill>
                <a:latin typeface="Poppins"/>
              </a:rPr>
              <a:t>Cost Efficiency</a:t>
            </a:r>
            <a:endParaRPr lang="en-US" sz="1100"/>
          </a:p>
        </p:txBody>
      </p:sp>
      <p:sp>
        <p:nvSpPr>
          <p:cNvPr id="34" name="TextBox 34"/>
          <p:cNvSpPr txBox="1"/>
          <p:nvPr/>
        </p:nvSpPr>
        <p:spPr>
          <a:xfrm>
            <a:off x="8382000" y="4508500"/>
            <a:ext cx="2501900" cy="368300"/>
          </a:xfrm>
          <a:prstGeom prst="rect">
            <a:avLst/>
          </a:prstGeom>
          <a:solidFill>
            <a:srgbClr val="000000">
              <a:alpha val="0"/>
            </a:srgbClr>
          </a:solidFill>
        </p:spPr>
        <p:txBody>
          <a:bodyPr lIns="0" tIns="0" rIns="0" bIns="0" rtlCol="0" anchor="ctr"/>
          <a:lstStyle/>
          <a:p>
            <a:pPr indent="0" algn="l">
              <a:lnSpc>
                <a:spcPct val="150000"/>
              </a:lnSpc>
              <a:defRPr/>
            </a:pPr>
            <a:r>
              <a:rPr lang="en-US" sz="1900" b="1">
                <a:solidFill>
                  <a:srgbClr val="000000"/>
                </a:solidFill>
                <a:latin typeface="Poppins"/>
              </a:rPr>
              <a:t>Risk Mitigation</a:t>
            </a:r>
            <a:endParaRPr lang="en-US" sz="1100"/>
          </a:p>
        </p:txBody>
      </p:sp>
      <p:sp>
        <p:nvSpPr>
          <p:cNvPr id="35" name="TextBox 35"/>
          <p:cNvSpPr txBox="1"/>
          <p:nvPr/>
        </p:nvSpPr>
        <p:spPr>
          <a:xfrm>
            <a:off x="11061700" y="4508500"/>
            <a:ext cx="1638300" cy="368300"/>
          </a:xfrm>
          <a:prstGeom prst="rect">
            <a:avLst/>
          </a:prstGeom>
          <a:solidFill>
            <a:srgbClr val="000000">
              <a:alpha val="0"/>
            </a:srgbClr>
          </a:solidFill>
        </p:spPr>
        <p:txBody>
          <a:bodyPr lIns="0" tIns="0" rIns="0" bIns="0" rtlCol="0" anchor="ctr"/>
          <a:lstStyle/>
          <a:p>
            <a:pPr indent="0" algn="l">
              <a:lnSpc>
                <a:spcPct val="150000"/>
              </a:lnSpc>
              <a:defRPr/>
            </a:pPr>
            <a:r>
              <a:rPr lang="en-US" sz="1900" b="1">
                <a:solidFill>
                  <a:srgbClr val="000000"/>
                </a:solidFill>
                <a:latin typeface="Poppins"/>
              </a:rPr>
              <a:t>Accuracy</a:t>
            </a:r>
            <a:endParaRPr lang="en-US" sz="1100"/>
          </a:p>
        </p:txBody>
      </p:sp>
      <p:sp>
        <p:nvSpPr>
          <p:cNvPr id="36" name="TextBox 36"/>
          <p:cNvSpPr txBox="1"/>
          <p:nvPr/>
        </p:nvSpPr>
        <p:spPr>
          <a:xfrm>
            <a:off x="12877800" y="4508500"/>
            <a:ext cx="2374900" cy="368300"/>
          </a:xfrm>
          <a:prstGeom prst="rect">
            <a:avLst/>
          </a:prstGeom>
          <a:solidFill>
            <a:srgbClr val="000000">
              <a:alpha val="0"/>
            </a:srgbClr>
          </a:solidFill>
        </p:spPr>
        <p:txBody>
          <a:bodyPr lIns="0" tIns="0" rIns="0" bIns="0" rtlCol="0" anchor="ctr"/>
          <a:lstStyle/>
          <a:p>
            <a:pPr indent="0" algn="l">
              <a:lnSpc>
                <a:spcPct val="150000"/>
              </a:lnSpc>
              <a:defRPr/>
            </a:pPr>
            <a:r>
              <a:rPr lang="en-US" sz="1900" b="1">
                <a:solidFill>
                  <a:srgbClr val="000000"/>
                </a:solidFill>
                <a:latin typeface="Poppins"/>
              </a:rPr>
              <a:t>Latency (avg)</a:t>
            </a:r>
            <a:endParaRPr lang="en-US" sz="1100"/>
          </a:p>
        </p:txBody>
      </p:sp>
      <p:sp>
        <p:nvSpPr>
          <p:cNvPr id="37" name="TextBox 37"/>
          <p:cNvSpPr txBox="1"/>
          <p:nvPr/>
        </p:nvSpPr>
        <p:spPr>
          <a:xfrm>
            <a:off x="977900" y="5067300"/>
            <a:ext cx="1460500" cy="368300"/>
          </a:xfrm>
          <a:prstGeom prst="rect">
            <a:avLst/>
          </a:prstGeom>
          <a:solidFill>
            <a:srgbClr val="000000">
              <a:alpha val="0"/>
            </a:srgbClr>
          </a:solidFill>
        </p:spPr>
        <p:txBody>
          <a:bodyPr lIns="0" tIns="0" rIns="0" bIns="0" rtlCol="0" anchor="ctr"/>
          <a:lstStyle/>
          <a:p>
            <a:pPr indent="0" algn="l">
              <a:lnSpc>
                <a:spcPct val="150000"/>
              </a:lnSpc>
              <a:defRPr/>
            </a:pPr>
            <a:r>
              <a:rPr lang="en-US" sz="1900" b="1">
                <a:solidFill>
                  <a:srgbClr val="000000"/>
                </a:solidFill>
                <a:latin typeface="Poppins"/>
              </a:rPr>
              <a:t>N=100</a:t>
            </a:r>
            <a:endParaRPr lang="en-US" sz="1100"/>
          </a:p>
        </p:txBody>
      </p:sp>
      <p:sp>
        <p:nvSpPr>
          <p:cNvPr id="38" name="TextBox 38"/>
          <p:cNvSpPr txBox="1"/>
          <p:nvPr/>
        </p:nvSpPr>
        <p:spPr>
          <a:xfrm>
            <a:off x="2616200" y="5067300"/>
            <a:ext cx="2908300" cy="368300"/>
          </a:xfrm>
          <a:prstGeom prst="rect">
            <a:avLst/>
          </a:prstGeom>
          <a:solidFill>
            <a:srgbClr val="000000">
              <a:alpha val="0"/>
            </a:srgbClr>
          </a:solidFill>
        </p:spPr>
        <p:txBody>
          <a:bodyPr lIns="0" tIns="0" rIns="0" bIns="0" rtlCol="0" anchor="ctr"/>
          <a:lstStyle/>
          <a:p>
            <a:pPr indent="0" algn="l">
              <a:lnSpc>
                <a:spcPct val="150000"/>
              </a:lnSpc>
              <a:defRPr/>
            </a:pPr>
            <a:r>
              <a:rPr lang="en-US" sz="1900" b="1">
                <a:solidFill>
                  <a:srgbClr val="000000"/>
                </a:solidFill>
                <a:latin typeface="Poppins"/>
              </a:rPr>
              <a:t>77.47%</a:t>
            </a:r>
            <a:endParaRPr lang="en-US" sz="1100"/>
          </a:p>
        </p:txBody>
      </p:sp>
      <p:sp>
        <p:nvSpPr>
          <p:cNvPr id="39" name="TextBox 39"/>
          <p:cNvSpPr txBox="1"/>
          <p:nvPr/>
        </p:nvSpPr>
        <p:spPr>
          <a:xfrm>
            <a:off x="5715000" y="5067300"/>
            <a:ext cx="2476500" cy="368300"/>
          </a:xfrm>
          <a:prstGeom prst="rect">
            <a:avLst/>
          </a:prstGeom>
          <a:solidFill>
            <a:srgbClr val="000000">
              <a:alpha val="0"/>
            </a:srgbClr>
          </a:solidFill>
        </p:spPr>
        <p:txBody>
          <a:bodyPr lIns="0" tIns="0" rIns="0" bIns="0" rtlCol="0" anchor="ctr"/>
          <a:lstStyle/>
          <a:p>
            <a:pPr indent="0" algn="l">
              <a:lnSpc>
                <a:spcPct val="150000"/>
              </a:lnSpc>
              <a:defRPr/>
            </a:pPr>
            <a:r>
              <a:rPr lang="en-US" sz="1900" b="1">
                <a:solidFill>
                  <a:srgbClr val="000000"/>
                </a:solidFill>
                <a:latin typeface="Poppins"/>
              </a:rPr>
              <a:t>54.83%</a:t>
            </a:r>
            <a:endParaRPr lang="en-US" sz="1100"/>
          </a:p>
        </p:txBody>
      </p:sp>
      <p:sp>
        <p:nvSpPr>
          <p:cNvPr id="40" name="TextBox 40"/>
          <p:cNvSpPr txBox="1"/>
          <p:nvPr/>
        </p:nvSpPr>
        <p:spPr>
          <a:xfrm>
            <a:off x="8382000" y="5067300"/>
            <a:ext cx="2501900" cy="368300"/>
          </a:xfrm>
          <a:prstGeom prst="rect">
            <a:avLst/>
          </a:prstGeom>
          <a:solidFill>
            <a:srgbClr val="000000">
              <a:alpha val="0"/>
            </a:srgbClr>
          </a:solidFill>
        </p:spPr>
        <p:txBody>
          <a:bodyPr lIns="0" tIns="0" rIns="0" bIns="0" rtlCol="0" anchor="ctr"/>
          <a:lstStyle/>
          <a:p>
            <a:pPr indent="0" algn="l">
              <a:lnSpc>
                <a:spcPct val="150000"/>
              </a:lnSpc>
              <a:defRPr/>
            </a:pPr>
            <a:r>
              <a:rPr lang="en-US" sz="1900" b="1">
                <a:solidFill>
                  <a:srgbClr val="000000"/>
                </a:solidFill>
                <a:latin typeface="Poppins"/>
              </a:rPr>
              <a:t>95.93%</a:t>
            </a:r>
            <a:endParaRPr lang="en-US" sz="1100"/>
          </a:p>
        </p:txBody>
      </p:sp>
      <p:sp>
        <p:nvSpPr>
          <p:cNvPr id="41" name="TextBox 41"/>
          <p:cNvSpPr txBox="1"/>
          <p:nvPr/>
        </p:nvSpPr>
        <p:spPr>
          <a:xfrm>
            <a:off x="11061700" y="5067300"/>
            <a:ext cx="1638300" cy="368300"/>
          </a:xfrm>
          <a:prstGeom prst="rect">
            <a:avLst/>
          </a:prstGeom>
          <a:solidFill>
            <a:srgbClr val="000000">
              <a:alpha val="0"/>
            </a:srgbClr>
          </a:solidFill>
        </p:spPr>
        <p:txBody>
          <a:bodyPr lIns="0" tIns="0" rIns="0" bIns="0" rtlCol="0" anchor="ctr"/>
          <a:lstStyle/>
          <a:p>
            <a:pPr indent="0" algn="l">
              <a:lnSpc>
                <a:spcPct val="150000"/>
              </a:lnSpc>
              <a:defRPr/>
            </a:pPr>
            <a:r>
              <a:rPr lang="en-US" sz="1900" b="1">
                <a:solidFill>
                  <a:srgbClr val="000000"/>
                </a:solidFill>
                <a:latin typeface="Poppins"/>
              </a:rPr>
              <a:t>99.14%</a:t>
            </a:r>
            <a:endParaRPr lang="en-US" sz="1100"/>
          </a:p>
        </p:txBody>
      </p:sp>
      <p:sp>
        <p:nvSpPr>
          <p:cNvPr id="42" name="TextBox 42"/>
          <p:cNvSpPr txBox="1"/>
          <p:nvPr/>
        </p:nvSpPr>
        <p:spPr>
          <a:xfrm>
            <a:off x="12877800" y="5067300"/>
            <a:ext cx="2374900" cy="368300"/>
          </a:xfrm>
          <a:prstGeom prst="rect">
            <a:avLst/>
          </a:prstGeom>
          <a:solidFill>
            <a:srgbClr val="000000">
              <a:alpha val="0"/>
            </a:srgbClr>
          </a:solidFill>
        </p:spPr>
        <p:txBody>
          <a:bodyPr lIns="0" tIns="0" rIns="0" bIns="0" rtlCol="0" anchor="ctr"/>
          <a:lstStyle/>
          <a:p>
            <a:pPr indent="0" algn="l">
              <a:lnSpc>
                <a:spcPct val="150000"/>
              </a:lnSpc>
              <a:defRPr/>
            </a:pPr>
            <a:r>
              <a:rPr lang="en-US" sz="1900" b="1">
                <a:solidFill>
                  <a:srgbClr val="000000"/>
                </a:solidFill>
                <a:latin typeface="Poppins"/>
              </a:rPr>
              <a:t>58.79 ms</a:t>
            </a:r>
            <a:endParaRPr lang="en-US" sz="1100"/>
          </a:p>
        </p:txBody>
      </p:sp>
      <p:sp>
        <p:nvSpPr>
          <p:cNvPr id="43" name="TextBox 43"/>
          <p:cNvSpPr txBox="1"/>
          <p:nvPr/>
        </p:nvSpPr>
        <p:spPr>
          <a:xfrm>
            <a:off x="977900" y="5613400"/>
            <a:ext cx="1460500" cy="368300"/>
          </a:xfrm>
          <a:prstGeom prst="rect">
            <a:avLst/>
          </a:prstGeom>
          <a:solidFill>
            <a:srgbClr val="000000">
              <a:alpha val="0"/>
            </a:srgbClr>
          </a:solidFill>
        </p:spPr>
        <p:txBody>
          <a:bodyPr lIns="0" tIns="0" rIns="0" bIns="0" rtlCol="0" anchor="ctr"/>
          <a:lstStyle/>
          <a:p>
            <a:pPr indent="0" algn="l">
              <a:lnSpc>
                <a:spcPct val="150000"/>
              </a:lnSpc>
              <a:defRPr/>
            </a:pPr>
            <a:r>
              <a:rPr lang="en-US" sz="1900" b="1">
                <a:solidFill>
                  <a:srgbClr val="000000"/>
                </a:solidFill>
                <a:latin typeface="Poppins"/>
              </a:rPr>
              <a:t>N=200</a:t>
            </a:r>
            <a:endParaRPr lang="en-US" sz="1100"/>
          </a:p>
        </p:txBody>
      </p:sp>
      <p:sp>
        <p:nvSpPr>
          <p:cNvPr id="44" name="TextBox 44"/>
          <p:cNvSpPr txBox="1"/>
          <p:nvPr/>
        </p:nvSpPr>
        <p:spPr>
          <a:xfrm>
            <a:off x="2616200" y="5613400"/>
            <a:ext cx="2908300" cy="368300"/>
          </a:xfrm>
          <a:prstGeom prst="rect">
            <a:avLst/>
          </a:prstGeom>
          <a:solidFill>
            <a:srgbClr val="000000">
              <a:alpha val="0"/>
            </a:srgbClr>
          </a:solidFill>
        </p:spPr>
        <p:txBody>
          <a:bodyPr lIns="0" tIns="0" rIns="0" bIns="0" rtlCol="0" anchor="ctr"/>
          <a:lstStyle/>
          <a:p>
            <a:pPr indent="0" algn="l">
              <a:lnSpc>
                <a:spcPct val="150000"/>
              </a:lnSpc>
              <a:defRPr/>
            </a:pPr>
            <a:r>
              <a:rPr lang="en-US" sz="1900" b="1">
                <a:solidFill>
                  <a:srgbClr val="000000"/>
                </a:solidFill>
                <a:latin typeface="Poppins"/>
              </a:rPr>
              <a:t>75.13%</a:t>
            </a:r>
            <a:endParaRPr lang="en-US" sz="1100"/>
          </a:p>
        </p:txBody>
      </p:sp>
      <p:sp>
        <p:nvSpPr>
          <p:cNvPr id="45" name="TextBox 45"/>
          <p:cNvSpPr txBox="1"/>
          <p:nvPr/>
        </p:nvSpPr>
        <p:spPr>
          <a:xfrm>
            <a:off x="5715000" y="5613400"/>
            <a:ext cx="2476500" cy="368300"/>
          </a:xfrm>
          <a:prstGeom prst="rect">
            <a:avLst/>
          </a:prstGeom>
          <a:solidFill>
            <a:srgbClr val="000000">
              <a:alpha val="0"/>
            </a:srgbClr>
          </a:solidFill>
        </p:spPr>
        <p:txBody>
          <a:bodyPr lIns="0" tIns="0" rIns="0" bIns="0" rtlCol="0" anchor="ctr"/>
          <a:lstStyle/>
          <a:p>
            <a:pPr indent="0" algn="l">
              <a:lnSpc>
                <a:spcPct val="150000"/>
              </a:lnSpc>
              <a:defRPr/>
            </a:pPr>
            <a:r>
              <a:rPr lang="en-US" sz="1900" b="1">
                <a:solidFill>
                  <a:srgbClr val="000000"/>
                </a:solidFill>
                <a:latin typeface="Poppins"/>
              </a:rPr>
              <a:t>49.22%</a:t>
            </a:r>
            <a:endParaRPr lang="en-US" sz="1100"/>
          </a:p>
        </p:txBody>
      </p:sp>
      <p:sp>
        <p:nvSpPr>
          <p:cNvPr id="46" name="TextBox 46"/>
          <p:cNvSpPr txBox="1"/>
          <p:nvPr/>
        </p:nvSpPr>
        <p:spPr>
          <a:xfrm>
            <a:off x="8382000" y="5613400"/>
            <a:ext cx="2501900" cy="368300"/>
          </a:xfrm>
          <a:prstGeom prst="rect">
            <a:avLst/>
          </a:prstGeom>
          <a:solidFill>
            <a:srgbClr val="000000">
              <a:alpha val="0"/>
            </a:srgbClr>
          </a:solidFill>
        </p:spPr>
        <p:txBody>
          <a:bodyPr lIns="0" tIns="0" rIns="0" bIns="0" rtlCol="0" anchor="ctr"/>
          <a:lstStyle/>
          <a:p>
            <a:pPr indent="0" algn="l">
              <a:lnSpc>
                <a:spcPct val="150000"/>
              </a:lnSpc>
              <a:defRPr/>
            </a:pPr>
            <a:r>
              <a:rPr lang="en-US" sz="1900" b="1">
                <a:solidFill>
                  <a:srgbClr val="000000"/>
                </a:solidFill>
                <a:latin typeface="Poppins"/>
              </a:rPr>
              <a:t>96.65%</a:t>
            </a:r>
            <a:endParaRPr lang="en-US" sz="1100"/>
          </a:p>
        </p:txBody>
      </p:sp>
      <p:sp>
        <p:nvSpPr>
          <p:cNvPr id="47" name="TextBox 47"/>
          <p:cNvSpPr txBox="1"/>
          <p:nvPr/>
        </p:nvSpPr>
        <p:spPr>
          <a:xfrm>
            <a:off x="11061700" y="5613400"/>
            <a:ext cx="1638300" cy="368300"/>
          </a:xfrm>
          <a:prstGeom prst="rect">
            <a:avLst/>
          </a:prstGeom>
          <a:solidFill>
            <a:srgbClr val="000000">
              <a:alpha val="0"/>
            </a:srgbClr>
          </a:solidFill>
        </p:spPr>
        <p:txBody>
          <a:bodyPr lIns="0" tIns="0" rIns="0" bIns="0" rtlCol="0" anchor="ctr"/>
          <a:lstStyle/>
          <a:p>
            <a:pPr indent="0" algn="l">
              <a:lnSpc>
                <a:spcPct val="150000"/>
              </a:lnSpc>
              <a:defRPr/>
            </a:pPr>
            <a:r>
              <a:rPr lang="en-US" sz="1900" b="1">
                <a:solidFill>
                  <a:srgbClr val="000000"/>
                </a:solidFill>
                <a:latin typeface="Poppins"/>
              </a:rPr>
              <a:t>99.01%</a:t>
            </a:r>
            <a:endParaRPr lang="en-US" sz="1100"/>
          </a:p>
        </p:txBody>
      </p:sp>
      <p:sp>
        <p:nvSpPr>
          <p:cNvPr id="48" name="TextBox 48"/>
          <p:cNvSpPr txBox="1"/>
          <p:nvPr/>
        </p:nvSpPr>
        <p:spPr>
          <a:xfrm>
            <a:off x="12877800" y="5613400"/>
            <a:ext cx="2374900" cy="368300"/>
          </a:xfrm>
          <a:prstGeom prst="rect">
            <a:avLst/>
          </a:prstGeom>
          <a:solidFill>
            <a:srgbClr val="000000">
              <a:alpha val="0"/>
            </a:srgbClr>
          </a:solidFill>
        </p:spPr>
        <p:txBody>
          <a:bodyPr lIns="0" tIns="0" rIns="0" bIns="0" rtlCol="0" anchor="ctr"/>
          <a:lstStyle/>
          <a:p>
            <a:pPr indent="0" algn="l">
              <a:lnSpc>
                <a:spcPct val="150000"/>
              </a:lnSpc>
              <a:defRPr/>
            </a:pPr>
            <a:r>
              <a:rPr lang="en-US" sz="1900" b="1">
                <a:solidFill>
                  <a:srgbClr val="000000"/>
                </a:solidFill>
                <a:latin typeface="Poppins"/>
              </a:rPr>
              <a:t>118.85 ms</a:t>
            </a:r>
            <a:endParaRPr lang="en-US" sz="1100"/>
          </a:p>
        </p:txBody>
      </p:sp>
      <p:sp>
        <p:nvSpPr>
          <p:cNvPr id="49" name="TextBox 49"/>
          <p:cNvSpPr txBox="1"/>
          <p:nvPr/>
        </p:nvSpPr>
        <p:spPr>
          <a:xfrm>
            <a:off x="977900" y="6172200"/>
            <a:ext cx="1460500" cy="368300"/>
          </a:xfrm>
          <a:prstGeom prst="rect">
            <a:avLst/>
          </a:prstGeom>
          <a:solidFill>
            <a:srgbClr val="000000">
              <a:alpha val="0"/>
            </a:srgbClr>
          </a:solidFill>
        </p:spPr>
        <p:txBody>
          <a:bodyPr lIns="0" tIns="0" rIns="0" bIns="0" rtlCol="0" anchor="ctr"/>
          <a:lstStyle/>
          <a:p>
            <a:pPr indent="0" algn="l">
              <a:lnSpc>
                <a:spcPct val="150000"/>
              </a:lnSpc>
              <a:defRPr/>
            </a:pPr>
            <a:r>
              <a:rPr lang="en-US" sz="1900" b="1">
                <a:solidFill>
                  <a:srgbClr val="000000"/>
                </a:solidFill>
                <a:latin typeface="Poppins"/>
              </a:rPr>
              <a:t>N=500</a:t>
            </a:r>
            <a:endParaRPr lang="en-US" sz="1100"/>
          </a:p>
        </p:txBody>
      </p:sp>
      <p:sp>
        <p:nvSpPr>
          <p:cNvPr id="50" name="TextBox 50"/>
          <p:cNvSpPr txBox="1"/>
          <p:nvPr/>
        </p:nvSpPr>
        <p:spPr>
          <a:xfrm>
            <a:off x="2616200" y="6172200"/>
            <a:ext cx="2908300" cy="368300"/>
          </a:xfrm>
          <a:prstGeom prst="rect">
            <a:avLst/>
          </a:prstGeom>
          <a:solidFill>
            <a:srgbClr val="000000">
              <a:alpha val="0"/>
            </a:srgbClr>
          </a:solidFill>
        </p:spPr>
        <p:txBody>
          <a:bodyPr lIns="0" tIns="0" rIns="0" bIns="0" rtlCol="0" anchor="ctr"/>
          <a:lstStyle/>
          <a:p>
            <a:pPr indent="0" algn="l">
              <a:lnSpc>
                <a:spcPct val="150000"/>
              </a:lnSpc>
              <a:defRPr/>
            </a:pPr>
            <a:r>
              <a:rPr lang="en-US" sz="1900" b="1">
                <a:solidFill>
                  <a:srgbClr val="000000"/>
                </a:solidFill>
                <a:latin typeface="Poppins"/>
              </a:rPr>
              <a:t>34.20%</a:t>
            </a:r>
            <a:endParaRPr lang="en-US" sz="1100"/>
          </a:p>
        </p:txBody>
      </p:sp>
      <p:sp>
        <p:nvSpPr>
          <p:cNvPr id="51" name="TextBox 51"/>
          <p:cNvSpPr txBox="1"/>
          <p:nvPr/>
        </p:nvSpPr>
        <p:spPr>
          <a:xfrm>
            <a:off x="5715000" y="6172200"/>
            <a:ext cx="2476500" cy="368300"/>
          </a:xfrm>
          <a:prstGeom prst="rect">
            <a:avLst/>
          </a:prstGeom>
          <a:solidFill>
            <a:srgbClr val="000000">
              <a:alpha val="0"/>
            </a:srgbClr>
          </a:solidFill>
        </p:spPr>
        <p:txBody>
          <a:bodyPr lIns="0" tIns="0" rIns="0" bIns="0" rtlCol="0" anchor="ctr"/>
          <a:lstStyle/>
          <a:p>
            <a:pPr indent="0" algn="l">
              <a:lnSpc>
                <a:spcPct val="150000"/>
              </a:lnSpc>
              <a:defRPr/>
            </a:pPr>
            <a:r>
              <a:rPr lang="en-US" sz="1900" b="1">
                <a:solidFill>
                  <a:srgbClr val="000000"/>
                </a:solidFill>
                <a:latin typeface="Poppins"/>
              </a:rPr>
              <a:t>73.19%</a:t>
            </a:r>
            <a:endParaRPr lang="en-US" sz="1100"/>
          </a:p>
        </p:txBody>
      </p:sp>
      <p:sp>
        <p:nvSpPr>
          <p:cNvPr id="52" name="TextBox 52"/>
          <p:cNvSpPr txBox="1"/>
          <p:nvPr/>
        </p:nvSpPr>
        <p:spPr>
          <a:xfrm>
            <a:off x="8382000" y="6172200"/>
            <a:ext cx="2501900" cy="368300"/>
          </a:xfrm>
          <a:prstGeom prst="rect">
            <a:avLst/>
          </a:prstGeom>
          <a:solidFill>
            <a:srgbClr val="000000">
              <a:alpha val="0"/>
            </a:srgbClr>
          </a:solidFill>
        </p:spPr>
        <p:txBody>
          <a:bodyPr lIns="0" tIns="0" rIns="0" bIns="0" rtlCol="0" anchor="ctr"/>
          <a:lstStyle/>
          <a:p>
            <a:pPr indent="0" algn="l">
              <a:lnSpc>
                <a:spcPct val="150000"/>
              </a:lnSpc>
              <a:defRPr/>
            </a:pPr>
            <a:r>
              <a:rPr lang="en-US" sz="1900" b="1">
                <a:solidFill>
                  <a:srgbClr val="000000"/>
                </a:solidFill>
                <a:latin typeface="Poppins"/>
              </a:rPr>
              <a:t>82.36%</a:t>
            </a:r>
            <a:endParaRPr lang="en-US" sz="1100"/>
          </a:p>
        </p:txBody>
      </p:sp>
      <p:sp>
        <p:nvSpPr>
          <p:cNvPr id="53" name="TextBox 53"/>
          <p:cNvSpPr txBox="1"/>
          <p:nvPr/>
        </p:nvSpPr>
        <p:spPr>
          <a:xfrm>
            <a:off x="11061700" y="6172200"/>
            <a:ext cx="1638300" cy="368300"/>
          </a:xfrm>
          <a:prstGeom prst="rect">
            <a:avLst/>
          </a:prstGeom>
          <a:solidFill>
            <a:srgbClr val="000000">
              <a:alpha val="0"/>
            </a:srgbClr>
          </a:solidFill>
        </p:spPr>
        <p:txBody>
          <a:bodyPr lIns="0" tIns="0" rIns="0" bIns="0" rtlCol="0" anchor="ctr"/>
          <a:lstStyle/>
          <a:p>
            <a:pPr indent="0" algn="l">
              <a:lnSpc>
                <a:spcPct val="150000"/>
              </a:lnSpc>
              <a:defRPr/>
            </a:pPr>
            <a:r>
              <a:rPr lang="en-US" sz="1900" b="1">
                <a:solidFill>
                  <a:srgbClr val="000000"/>
                </a:solidFill>
                <a:latin typeface="Poppins"/>
              </a:rPr>
              <a:t>99.08%</a:t>
            </a:r>
            <a:endParaRPr lang="en-US" sz="1100"/>
          </a:p>
        </p:txBody>
      </p:sp>
      <p:sp>
        <p:nvSpPr>
          <p:cNvPr id="54" name="TextBox 54"/>
          <p:cNvSpPr txBox="1"/>
          <p:nvPr/>
        </p:nvSpPr>
        <p:spPr>
          <a:xfrm>
            <a:off x="12877800" y="6172200"/>
            <a:ext cx="2374900" cy="368300"/>
          </a:xfrm>
          <a:prstGeom prst="rect">
            <a:avLst/>
          </a:prstGeom>
          <a:solidFill>
            <a:srgbClr val="000000">
              <a:alpha val="0"/>
            </a:srgbClr>
          </a:solidFill>
        </p:spPr>
        <p:txBody>
          <a:bodyPr lIns="0" tIns="0" rIns="0" bIns="0" rtlCol="0" anchor="ctr"/>
          <a:lstStyle/>
          <a:p>
            <a:pPr indent="0" algn="l">
              <a:lnSpc>
                <a:spcPct val="150000"/>
              </a:lnSpc>
              <a:defRPr/>
            </a:pPr>
            <a:r>
              <a:rPr lang="en-US" sz="1900" b="1">
                <a:solidFill>
                  <a:srgbClr val="000000"/>
                </a:solidFill>
                <a:latin typeface="Poppins"/>
              </a:rPr>
              <a:t>288.46 ms</a:t>
            </a:r>
            <a:endParaRPr lang="en-US" sz="110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16256000" cy="9144000"/>
          </a:xfrm>
          <a:prstGeom prst="rect">
            <a:avLst/>
          </a:prstGeom>
          <a:solidFill>
            <a:srgbClr val="0D0A2C">
              <a:alpha val="74902"/>
            </a:srgbClr>
          </a:solidFill>
        </p:spPr>
      </p:sp>
      <p:pic>
        <p:nvPicPr>
          <p:cNvPr id="3" name="Picture 3"/>
          <p:cNvPicPr>
            <a:picLocks noChangeAspect="1"/>
          </p:cNvPicPr>
          <p:nvPr/>
        </p:nvPicPr>
        <p:blipFill>
          <a:blip r:embed="rId2"/>
          <a:srcRect t="56" b="56"/>
          <a:stretch>
            <a:fillRect/>
          </a:stretch>
        </p:blipFill>
        <p:spPr>
          <a:xfrm>
            <a:off x="0" y="0"/>
            <a:ext cx="16256000" cy="9144000"/>
          </a:xfrm>
          <a:prstGeom prst="rect">
            <a:avLst/>
          </a:prstGeom>
        </p:spPr>
      </p:pic>
      <p:sp>
        <p:nvSpPr>
          <p:cNvPr id="4" name="AutoShape 4"/>
          <p:cNvSpPr/>
          <p:nvPr/>
        </p:nvSpPr>
        <p:spPr>
          <a:xfrm>
            <a:off x="876300" y="2070100"/>
            <a:ext cx="14490700" cy="6400800"/>
          </a:xfrm>
          <a:prstGeom prst="rect">
            <a:avLst/>
          </a:prstGeom>
          <a:solidFill>
            <a:srgbClr val="000000">
              <a:alpha val="0"/>
            </a:srgbClr>
          </a:solidFill>
        </p:spPr>
      </p:sp>
      <p:sp>
        <p:nvSpPr>
          <p:cNvPr id="5" name="AutoShape 5"/>
          <p:cNvSpPr/>
          <p:nvPr/>
        </p:nvSpPr>
        <p:spPr>
          <a:xfrm>
            <a:off x="876300" y="2070100"/>
            <a:ext cx="3429000" cy="4330700"/>
          </a:xfrm>
          <a:prstGeom prst="roundRect">
            <a:avLst>
              <a:gd name="adj" fmla="val 2592"/>
            </a:avLst>
          </a:prstGeom>
          <a:solidFill>
            <a:srgbClr val="000000">
              <a:alpha val="0"/>
            </a:srgbClr>
          </a:solidFill>
          <a:ln w="12700">
            <a:solidFill>
              <a:srgbClr val="A1A1A1"/>
            </a:solidFill>
          </a:ln>
        </p:spPr>
      </p:sp>
      <p:sp>
        <p:nvSpPr>
          <p:cNvPr id="6" name="AutoShape 6"/>
          <p:cNvSpPr/>
          <p:nvPr/>
        </p:nvSpPr>
        <p:spPr>
          <a:xfrm>
            <a:off x="4559300" y="2070100"/>
            <a:ext cx="3429000" cy="4330700"/>
          </a:xfrm>
          <a:prstGeom prst="roundRect">
            <a:avLst>
              <a:gd name="adj" fmla="val 2592"/>
            </a:avLst>
          </a:prstGeom>
          <a:solidFill>
            <a:srgbClr val="000000">
              <a:alpha val="0"/>
            </a:srgbClr>
          </a:solidFill>
          <a:ln w="12700">
            <a:solidFill>
              <a:srgbClr val="A1A1A1"/>
            </a:solidFill>
          </a:ln>
        </p:spPr>
      </p:sp>
      <p:sp>
        <p:nvSpPr>
          <p:cNvPr id="7" name="AutoShape 7"/>
          <p:cNvSpPr/>
          <p:nvPr/>
        </p:nvSpPr>
        <p:spPr>
          <a:xfrm>
            <a:off x="8242300" y="2070100"/>
            <a:ext cx="3429000" cy="4330700"/>
          </a:xfrm>
          <a:prstGeom prst="roundRect">
            <a:avLst>
              <a:gd name="adj" fmla="val 2592"/>
            </a:avLst>
          </a:prstGeom>
          <a:solidFill>
            <a:srgbClr val="000000">
              <a:alpha val="0"/>
            </a:srgbClr>
          </a:solidFill>
          <a:ln w="12700">
            <a:solidFill>
              <a:srgbClr val="A1A1A1"/>
            </a:solidFill>
          </a:ln>
        </p:spPr>
      </p:sp>
      <p:sp>
        <p:nvSpPr>
          <p:cNvPr id="8" name="AutoShape 8"/>
          <p:cNvSpPr/>
          <p:nvPr/>
        </p:nvSpPr>
        <p:spPr>
          <a:xfrm>
            <a:off x="11938000" y="2070100"/>
            <a:ext cx="3429000" cy="4330700"/>
          </a:xfrm>
          <a:prstGeom prst="roundRect">
            <a:avLst>
              <a:gd name="adj" fmla="val 2592"/>
            </a:avLst>
          </a:prstGeom>
          <a:solidFill>
            <a:srgbClr val="000000">
              <a:alpha val="0"/>
            </a:srgbClr>
          </a:solidFill>
          <a:ln w="12700">
            <a:solidFill>
              <a:srgbClr val="A1A1A1"/>
            </a:solidFill>
          </a:ln>
        </p:spPr>
      </p:sp>
      <p:sp>
        <p:nvSpPr>
          <p:cNvPr id="9" name="AutoShape 9"/>
          <p:cNvSpPr/>
          <p:nvPr/>
        </p:nvSpPr>
        <p:spPr>
          <a:xfrm>
            <a:off x="876300" y="6654800"/>
            <a:ext cx="14490700" cy="1816100"/>
          </a:xfrm>
          <a:prstGeom prst="roundRect">
            <a:avLst>
              <a:gd name="adj" fmla="val 4895"/>
            </a:avLst>
          </a:prstGeom>
          <a:solidFill>
            <a:srgbClr val="000000">
              <a:alpha val="0"/>
            </a:srgbClr>
          </a:solidFill>
          <a:ln w="12700">
            <a:solidFill>
              <a:srgbClr val="A1A1A1"/>
            </a:solidFill>
          </a:ln>
        </p:spPr>
      </p:sp>
      <p:sp>
        <p:nvSpPr>
          <p:cNvPr id="10" name="TextBox 10"/>
          <p:cNvSpPr txBox="1"/>
          <p:nvPr/>
        </p:nvSpPr>
        <p:spPr>
          <a:xfrm>
            <a:off x="876300" y="647700"/>
            <a:ext cx="14490700" cy="1143000"/>
          </a:xfrm>
          <a:prstGeom prst="rect">
            <a:avLst/>
          </a:prstGeom>
          <a:solidFill>
            <a:srgbClr val="000000">
              <a:alpha val="0"/>
            </a:srgbClr>
          </a:solidFill>
        </p:spPr>
        <p:txBody>
          <a:bodyPr lIns="0" tIns="0" rIns="0" bIns="0" rtlCol="0" anchor="ctr"/>
          <a:lstStyle/>
          <a:p>
            <a:pPr indent="0" algn="l">
              <a:lnSpc>
                <a:spcPct val="120000"/>
              </a:lnSpc>
              <a:defRPr/>
            </a:pPr>
            <a:r>
              <a:rPr lang="en-US" sz="3700" b="1">
                <a:solidFill>
                  <a:srgbClr val="000000"/>
                </a:solidFill>
                <a:latin typeface="Ubuntu"/>
              </a:rPr>
              <a:t>Discussion: Tradeoffs Between Efficiency, Mitigation, and Scale</a:t>
            </a:r>
            <a:endParaRPr lang="en-US" sz="1100"/>
          </a:p>
        </p:txBody>
      </p:sp>
      <p:sp>
        <p:nvSpPr>
          <p:cNvPr id="11" name="TextBox 11"/>
          <p:cNvSpPr txBox="1"/>
          <p:nvPr/>
        </p:nvSpPr>
        <p:spPr>
          <a:xfrm>
            <a:off x="1143000" y="2324100"/>
            <a:ext cx="2895600" cy="419100"/>
          </a:xfrm>
          <a:prstGeom prst="rect">
            <a:avLst/>
          </a:prstGeom>
          <a:solidFill>
            <a:srgbClr val="000000">
              <a:alpha val="0"/>
            </a:srgbClr>
          </a:solidFill>
        </p:spPr>
        <p:txBody>
          <a:bodyPr lIns="0" tIns="0" rIns="0" bIns="0" rtlCol="0" anchor="ctr"/>
          <a:lstStyle/>
          <a:p>
            <a:pPr indent="0" algn="l">
              <a:lnSpc>
                <a:spcPct val="120000"/>
              </a:lnSpc>
              <a:defRPr/>
            </a:pPr>
            <a:r>
              <a:rPr lang="en-US" sz="2800" b="1">
                <a:solidFill>
                  <a:srgbClr val="000000"/>
                </a:solidFill>
                <a:latin typeface="Ubuntu"/>
              </a:rPr>
              <a:t>Observation 1</a:t>
            </a:r>
            <a:endParaRPr lang="en-US" sz="1100"/>
          </a:p>
        </p:txBody>
      </p:sp>
      <p:sp>
        <p:nvSpPr>
          <p:cNvPr id="12" name="TextBox 12"/>
          <p:cNvSpPr txBox="1"/>
          <p:nvPr/>
        </p:nvSpPr>
        <p:spPr>
          <a:xfrm>
            <a:off x="4826000" y="2324100"/>
            <a:ext cx="2895600" cy="419100"/>
          </a:xfrm>
          <a:prstGeom prst="rect">
            <a:avLst/>
          </a:prstGeom>
          <a:solidFill>
            <a:srgbClr val="000000">
              <a:alpha val="0"/>
            </a:srgbClr>
          </a:solidFill>
        </p:spPr>
        <p:txBody>
          <a:bodyPr lIns="0" tIns="0" rIns="0" bIns="0" rtlCol="0" anchor="ctr"/>
          <a:lstStyle/>
          <a:p>
            <a:pPr indent="0" algn="l">
              <a:lnSpc>
                <a:spcPct val="120000"/>
              </a:lnSpc>
              <a:defRPr/>
            </a:pPr>
            <a:r>
              <a:rPr lang="en-US" sz="2800" b="1">
                <a:solidFill>
                  <a:srgbClr val="000000"/>
                </a:solidFill>
                <a:latin typeface="Ubuntu"/>
              </a:rPr>
              <a:t>Observation 2</a:t>
            </a:r>
            <a:endParaRPr lang="en-US" sz="1100"/>
          </a:p>
        </p:txBody>
      </p:sp>
      <p:sp>
        <p:nvSpPr>
          <p:cNvPr id="13" name="TextBox 13"/>
          <p:cNvSpPr txBox="1"/>
          <p:nvPr/>
        </p:nvSpPr>
        <p:spPr>
          <a:xfrm>
            <a:off x="8509000" y="2324100"/>
            <a:ext cx="2895600" cy="419100"/>
          </a:xfrm>
          <a:prstGeom prst="rect">
            <a:avLst/>
          </a:prstGeom>
          <a:solidFill>
            <a:srgbClr val="000000">
              <a:alpha val="0"/>
            </a:srgbClr>
          </a:solidFill>
        </p:spPr>
        <p:txBody>
          <a:bodyPr lIns="0" tIns="0" rIns="0" bIns="0" rtlCol="0" anchor="ctr"/>
          <a:lstStyle/>
          <a:p>
            <a:pPr indent="0" algn="l">
              <a:lnSpc>
                <a:spcPct val="120000"/>
              </a:lnSpc>
              <a:defRPr/>
            </a:pPr>
            <a:r>
              <a:rPr lang="en-US" sz="2800" b="1">
                <a:solidFill>
                  <a:srgbClr val="000000"/>
                </a:solidFill>
                <a:latin typeface="Ubuntu"/>
              </a:rPr>
              <a:t>Observation 3</a:t>
            </a:r>
            <a:endParaRPr lang="en-US" sz="1100"/>
          </a:p>
        </p:txBody>
      </p:sp>
      <p:sp>
        <p:nvSpPr>
          <p:cNvPr id="14" name="TextBox 14"/>
          <p:cNvSpPr txBox="1"/>
          <p:nvPr/>
        </p:nvSpPr>
        <p:spPr>
          <a:xfrm>
            <a:off x="12204700" y="2324100"/>
            <a:ext cx="2895600" cy="419100"/>
          </a:xfrm>
          <a:prstGeom prst="rect">
            <a:avLst/>
          </a:prstGeom>
          <a:solidFill>
            <a:srgbClr val="000000">
              <a:alpha val="0"/>
            </a:srgbClr>
          </a:solidFill>
        </p:spPr>
        <p:txBody>
          <a:bodyPr lIns="0" tIns="0" rIns="0" bIns="0" rtlCol="0" anchor="ctr"/>
          <a:lstStyle/>
          <a:p>
            <a:pPr indent="0" algn="l">
              <a:lnSpc>
                <a:spcPct val="120000"/>
              </a:lnSpc>
              <a:defRPr/>
            </a:pPr>
            <a:r>
              <a:rPr lang="en-US" sz="2800" b="1">
                <a:solidFill>
                  <a:srgbClr val="000000"/>
                </a:solidFill>
                <a:latin typeface="Ubuntu"/>
              </a:rPr>
              <a:t>Observation 4</a:t>
            </a:r>
            <a:endParaRPr lang="en-US" sz="1100"/>
          </a:p>
        </p:txBody>
      </p:sp>
      <p:sp>
        <p:nvSpPr>
          <p:cNvPr id="15" name="TextBox 15"/>
          <p:cNvSpPr txBox="1"/>
          <p:nvPr/>
        </p:nvSpPr>
        <p:spPr>
          <a:xfrm>
            <a:off x="1143000" y="6908800"/>
            <a:ext cx="13957300" cy="419100"/>
          </a:xfrm>
          <a:prstGeom prst="rect">
            <a:avLst/>
          </a:prstGeom>
          <a:solidFill>
            <a:srgbClr val="000000">
              <a:alpha val="0"/>
            </a:srgbClr>
          </a:solidFill>
        </p:spPr>
        <p:txBody>
          <a:bodyPr lIns="0" tIns="0" rIns="0" bIns="0" rtlCol="0" anchor="ctr"/>
          <a:lstStyle/>
          <a:p>
            <a:pPr indent="0" algn="l">
              <a:lnSpc>
                <a:spcPct val="120000"/>
              </a:lnSpc>
              <a:defRPr/>
            </a:pPr>
            <a:r>
              <a:rPr lang="en-US" sz="2800" b="1">
                <a:solidFill>
                  <a:srgbClr val="000000"/>
                </a:solidFill>
                <a:latin typeface="Ubuntu"/>
              </a:rPr>
              <a:t>Observation 5</a:t>
            </a:r>
            <a:endParaRPr lang="en-US" sz="1100"/>
          </a:p>
        </p:txBody>
      </p:sp>
      <p:sp>
        <p:nvSpPr>
          <p:cNvPr id="16" name="TextBox 16"/>
          <p:cNvSpPr txBox="1"/>
          <p:nvPr/>
        </p:nvSpPr>
        <p:spPr>
          <a:xfrm>
            <a:off x="1143000" y="2921000"/>
            <a:ext cx="2895600" cy="3225800"/>
          </a:xfrm>
          <a:prstGeom prst="rect">
            <a:avLst/>
          </a:prstGeom>
          <a:solidFill>
            <a:srgbClr val="000000">
              <a:alpha val="0"/>
            </a:srgbClr>
          </a:solidFill>
        </p:spPr>
        <p:txBody>
          <a:bodyPr lIns="0" tIns="0" rIns="0" bIns="0" rtlCol="0" anchor="ctr"/>
          <a:lstStyle/>
          <a:p>
            <a:pPr indent="0" algn="l">
              <a:lnSpc>
                <a:spcPct val="150000"/>
              </a:lnSpc>
              <a:defRPr/>
            </a:pPr>
            <a:r>
              <a:rPr lang="en-US" sz="1800" b="1">
                <a:solidFill>
                  <a:srgbClr val="000000"/>
                </a:solidFill>
                <a:latin typeface="Poppins"/>
              </a:rPr>
              <a:t>Medium-scale (N=200) preserves strongest mitigation performance at 96.65%, indicating an optimal balance between scale and detection effectiveness.</a:t>
            </a:r>
            <a:endParaRPr lang="en-US" sz="1100"/>
          </a:p>
        </p:txBody>
      </p:sp>
      <p:sp>
        <p:nvSpPr>
          <p:cNvPr id="17" name="TextBox 17"/>
          <p:cNvSpPr txBox="1"/>
          <p:nvPr/>
        </p:nvSpPr>
        <p:spPr>
          <a:xfrm>
            <a:off x="4826000" y="2921000"/>
            <a:ext cx="2895600" cy="2870200"/>
          </a:xfrm>
          <a:prstGeom prst="rect">
            <a:avLst/>
          </a:prstGeom>
          <a:solidFill>
            <a:srgbClr val="000000">
              <a:alpha val="0"/>
            </a:srgbClr>
          </a:solidFill>
        </p:spPr>
        <p:txBody>
          <a:bodyPr lIns="0" tIns="0" rIns="0" bIns="0" rtlCol="0" anchor="ctr"/>
          <a:lstStyle/>
          <a:p>
            <a:pPr indent="0" algn="l">
              <a:lnSpc>
                <a:spcPct val="150000"/>
              </a:lnSpc>
              <a:defRPr/>
            </a:pPr>
            <a:r>
              <a:rPr lang="en-US" sz="1800" b="1">
                <a:solidFill>
                  <a:srgbClr val="000000"/>
                </a:solidFill>
                <a:latin typeface="Poppins"/>
              </a:rPr>
              <a:t>Large-scale (N=500) achieves higher cost savings of 73.19% but experiences weaker mitigation performance at 82.36%, reflecting a tradeoff with scale.</a:t>
            </a:r>
            <a:endParaRPr lang="en-US" sz="1100"/>
          </a:p>
        </p:txBody>
      </p:sp>
      <p:sp>
        <p:nvSpPr>
          <p:cNvPr id="18" name="TextBox 18"/>
          <p:cNvSpPr txBox="1"/>
          <p:nvPr/>
        </p:nvSpPr>
        <p:spPr>
          <a:xfrm>
            <a:off x="8509000" y="2921000"/>
            <a:ext cx="2895600" cy="2514600"/>
          </a:xfrm>
          <a:prstGeom prst="rect">
            <a:avLst/>
          </a:prstGeom>
          <a:solidFill>
            <a:srgbClr val="000000">
              <a:alpha val="0"/>
            </a:srgbClr>
          </a:solidFill>
        </p:spPr>
        <p:txBody>
          <a:bodyPr lIns="0" tIns="0" rIns="0" bIns="0" rtlCol="0" anchor="ctr"/>
          <a:lstStyle/>
          <a:p>
            <a:pPr indent="0" algn="l">
              <a:lnSpc>
                <a:spcPct val="150000"/>
              </a:lnSpc>
              <a:defRPr/>
            </a:pPr>
            <a:r>
              <a:rPr lang="en-US" sz="1800" b="1">
                <a:solidFill>
                  <a:srgbClr val="000000"/>
                </a:solidFill>
                <a:latin typeface="Poppins"/>
              </a:rPr>
              <a:t>Attack reduction declines significantly at N=500 to 34.20%, suggesting diminishing returns for mitigation as scale increases.</a:t>
            </a:r>
            <a:endParaRPr lang="en-US" sz="1100"/>
          </a:p>
        </p:txBody>
      </p:sp>
      <p:sp>
        <p:nvSpPr>
          <p:cNvPr id="19" name="TextBox 19"/>
          <p:cNvSpPr txBox="1"/>
          <p:nvPr/>
        </p:nvSpPr>
        <p:spPr>
          <a:xfrm>
            <a:off x="12204700" y="2921000"/>
            <a:ext cx="2895600" cy="2146300"/>
          </a:xfrm>
          <a:prstGeom prst="rect">
            <a:avLst/>
          </a:prstGeom>
          <a:solidFill>
            <a:srgbClr val="000000">
              <a:alpha val="0"/>
            </a:srgbClr>
          </a:solidFill>
        </p:spPr>
        <p:txBody>
          <a:bodyPr lIns="0" tIns="0" rIns="0" bIns="0" rtlCol="0" anchor="ctr"/>
          <a:lstStyle/>
          <a:p>
            <a:pPr indent="0" algn="l">
              <a:lnSpc>
                <a:spcPct val="150000"/>
              </a:lnSpc>
              <a:defRPr/>
            </a:pPr>
            <a:r>
              <a:rPr lang="en-US" sz="1800" b="1">
                <a:solidFill>
                  <a:srgbClr val="000000"/>
                </a:solidFill>
                <a:latin typeface="Poppins"/>
              </a:rPr>
              <a:t>System latency scales linearly across tested sizes, and the system remains operationally usable across the evaluated range.</a:t>
            </a:r>
            <a:endParaRPr lang="en-US" sz="1100"/>
          </a:p>
        </p:txBody>
      </p:sp>
      <p:sp>
        <p:nvSpPr>
          <p:cNvPr id="20" name="TextBox 20"/>
          <p:cNvSpPr txBox="1"/>
          <p:nvPr/>
        </p:nvSpPr>
        <p:spPr>
          <a:xfrm>
            <a:off x="1143000" y="7505700"/>
            <a:ext cx="13957300" cy="711200"/>
          </a:xfrm>
          <a:prstGeom prst="rect">
            <a:avLst/>
          </a:prstGeom>
          <a:solidFill>
            <a:srgbClr val="000000">
              <a:alpha val="0"/>
            </a:srgbClr>
          </a:solidFill>
        </p:spPr>
        <p:txBody>
          <a:bodyPr lIns="0" tIns="0" rIns="0" bIns="0" rtlCol="0" anchor="ctr"/>
          <a:lstStyle/>
          <a:p>
            <a:pPr indent="0" algn="l">
              <a:lnSpc>
                <a:spcPct val="150000"/>
              </a:lnSpc>
              <a:defRPr/>
            </a:pPr>
            <a:r>
              <a:rPr lang="en-US" sz="1800" b="1">
                <a:solidFill>
                  <a:srgbClr val="000000"/>
                </a:solidFill>
                <a:latin typeface="Poppins"/>
              </a:rPr>
              <a:t>There is an inherent tradeoff between operational efficiency and detection effectiveness in distributed environments that must be managed when choosing scale.</a:t>
            </a:r>
            <a:endParaRPr lang="en-US" sz="110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16256000" cy="9144000"/>
          </a:xfrm>
          <a:prstGeom prst="rect">
            <a:avLst/>
          </a:prstGeom>
          <a:solidFill>
            <a:srgbClr val="0D0A2C">
              <a:alpha val="74902"/>
            </a:srgbClr>
          </a:solidFill>
        </p:spPr>
      </p:sp>
      <p:pic>
        <p:nvPicPr>
          <p:cNvPr id="3" name="Picture 3"/>
          <p:cNvPicPr>
            <a:picLocks noChangeAspect="1"/>
          </p:cNvPicPr>
          <p:nvPr/>
        </p:nvPicPr>
        <p:blipFill>
          <a:blip r:embed="rId2"/>
          <a:srcRect t="56" b="56"/>
          <a:stretch>
            <a:fillRect/>
          </a:stretch>
        </p:blipFill>
        <p:spPr>
          <a:xfrm>
            <a:off x="0" y="0"/>
            <a:ext cx="16256000" cy="9144000"/>
          </a:xfrm>
          <a:prstGeom prst="rect">
            <a:avLst/>
          </a:prstGeom>
        </p:spPr>
      </p:pic>
      <p:sp>
        <p:nvSpPr>
          <p:cNvPr id="4" name="AutoShape 4"/>
          <p:cNvSpPr/>
          <p:nvPr/>
        </p:nvSpPr>
        <p:spPr>
          <a:xfrm>
            <a:off x="876300" y="3048000"/>
            <a:ext cx="14490700" cy="3924300"/>
          </a:xfrm>
          <a:prstGeom prst="rect">
            <a:avLst/>
          </a:prstGeom>
          <a:solidFill>
            <a:srgbClr val="000000">
              <a:alpha val="0"/>
            </a:srgbClr>
          </a:solidFill>
        </p:spPr>
      </p:sp>
      <p:sp>
        <p:nvSpPr>
          <p:cNvPr id="5" name="AutoShape 5"/>
          <p:cNvSpPr/>
          <p:nvPr/>
        </p:nvSpPr>
        <p:spPr>
          <a:xfrm>
            <a:off x="876300" y="3048000"/>
            <a:ext cx="3378200" cy="2730500"/>
          </a:xfrm>
          <a:prstGeom prst="rect">
            <a:avLst/>
          </a:prstGeom>
          <a:solidFill>
            <a:srgbClr val="000000">
              <a:alpha val="0"/>
            </a:srgbClr>
          </a:solidFill>
        </p:spPr>
      </p:sp>
      <p:sp>
        <p:nvSpPr>
          <p:cNvPr id="6" name="AutoShape 6"/>
          <p:cNvSpPr/>
          <p:nvPr/>
        </p:nvSpPr>
        <p:spPr>
          <a:xfrm>
            <a:off x="876300" y="3048000"/>
            <a:ext cx="558800" cy="558800"/>
          </a:xfrm>
          <a:prstGeom prst="roundRect">
            <a:avLst>
              <a:gd name="adj" fmla="val 15909"/>
            </a:avLst>
          </a:prstGeom>
          <a:solidFill>
            <a:srgbClr val="D1D1D1"/>
          </a:solidFill>
        </p:spPr>
      </p:sp>
      <p:sp>
        <p:nvSpPr>
          <p:cNvPr id="7" name="AutoShape 7"/>
          <p:cNvSpPr/>
          <p:nvPr/>
        </p:nvSpPr>
        <p:spPr>
          <a:xfrm>
            <a:off x="4572000" y="3048000"/>
            <a:ext cx="3378200" cy="2730500"/>
          </a:xfrm>
          <a:prstGeom prst="rect">
            <a:avLst/>
          </a:prstGeom>
          <a:solidFill>
            <a:srgbClr val="000000">
              <a:alpha val="0"/>
            </a:srgbClr>
          </a:solidFill>
        </p:spPr>
      </p:sp>
      <p:sp>
        <p:nvSpPr>
          <p:cNvPr id="8" name="AutoShape 8"/>
          <p:cNvSpPr/>
          <p:nvPr/>
        </p:nvSpPr>
        <p:spPr>
          <a:xfrm>
            <a:off x="4572000" y="3048000"/>
            <a:ext cx="558800" cy="558800"/>
          </a:xfrm>
          <a:prstGeom prst="roundRect">
            <a:avLst>
              <a:gd name="adj" fmla="val 15909"/>
            </a:avLst>
          </a:prstGeom>
          <a:solidFill>
            <a:srgbClr val="D1D1D1"/>
          </a:solidFill>
        </p:spPr>
      </p:sp>
      <p:sp>
        <p:nvSpPr>
          <p:cNvPr id="9" name="AutoShape 9"/>
          <p:cNvSpPr/>
          <p:nvPr/>
        </p:nvSpPr>
        <p:spPr>
          <a:xfrm>
            <a:off x="8280400" y="3048000"/>
            <a:ext cx="3378200" cy="2730500"/>
          </a:xfrm>
          <a:prstGeom prst="rect">
            <a:avLst/>
          </a:prstGeom>
          <a:solidFill>
            <a:srgbClr val="000000">
              <a:alpha val="0"/>
            </a:srgbClr>
          </a:solidFill>
        </p:spPr>
      </p:sp>
      <p:sp>
        <p:nvSpPr>
          <p:cNvPr id="10" name="AutoShape 10"/>
          <p:cNvSpPr/>
          <p:nvPr/>
        </p:nvSpPr>
        <p:spPr>
          <a:xfrm>
            <a:off x="8280400" y="3048000"/>
            <a:ext cx="558800" cy="558800"/>
          </a:xfrm>
          <a:prstGeom prst="roundRect">
            <a:avLst>
              <a:gd name="adj" fmla="val 15909"/>
            </a:avLst>
          </a:prstGeom>
          <a:solidFill>
            <a:srgbClr val="D1D1D1"/>
          </a:solidFill>
        </p:spPr>
      </p:sp>
      <p:sp>
        <p:nvSpPr>
          <p:cNvPr id="11" name="AutoShape 11"/>
          <p:cNvSpPr/>
          <p:nvPr/>
        </p:nvSpPr>
        <p:spPr>
          <a:xfrm>
            <a:off x="11976100" y="3048000"/>
            <a:ext cx="3378200" cy="2730500"/>
          </a:xfrm>
          <a:prstGeom prst="rect">
            <a:avLst/>
          </a:prstGeom>
          <a:solidFill>
            <a:srgbClr val="000000">
              <a:alpha val="0"/>
            </a:srgbClr>
          </a:solidFill>
        </p:spPr>
      </p:sp>
      <p:sp>
        <p:nvSpPr>
          <p:cNvPr id="12" name="AutoShape 12"/>
          <p:cNvSpPr/>
          <p:nvPr/>
        </p:nvSpPr>
        <p:spPr>
          <a:xfrm>
            <a:off x="11976100" y="3048000"/>
            <a:ext cx="558800" cy="558800"/>
          </a:xfrm>
          <a:prstGeom prst="roundRect">
            <a:avLst>
              <a:gd name="adj" fmla="val 15909"/>
            </a:avLst>
          </a:prstGeom>
          <a:solidFill>
            <a:srgbClr val="D1D1D1"/>
          </a:solidFill>
        </p:spPr>
      </p:sp>
      <p:sp>
        <p:nvSpPr>
          <p:cNvPr id="13" name="AutoShape 13"/>
          <p:cNvSpPr/>
          <p:nvPr/>
        </p:nvSpPr>
        <p:spPr>
          <a:xfrm>
            <a:off x="876300" y="6413500"/>
            <a:ext cx="14490700" cy="558800"/>
          </a:xfrm>
          <a:prstGeom prst="rect">
            <a:avLst/>
          </a:prstGeom>
          <a:solidFill>
            <a:srgbClr val="000000">
              <a:alpha val="0"/>
            </a:srgbClr>
          </a:solidFill>
        </p:spPr>
      </p:sp>
      <p:sp>
        <p:nvSpPr>
          <p:cNvPr id="14" name="AutoShape 14"/>
          <p:cNvSpPr/>
          <p:nvPr/>
        </p:nvSpPr>
        <p:spPr>
          <a:xfrm>
            <a:off x="876300" y="6413500"/>
            <a:ext cx="558800" cy="558800"/>
          </a:xfrm>
          <a:prstGeom prst="roundRect">
            <a:avLst>
              <a:gd name="adj" fmla="val 15909"/>
            </a:avLst>
          </a:prstGeom>
          <a:solidFill>
            <a:srgbClr val="D1D1D1"/>
          </a:solidFill>
        </p:spPr>
      </p:sp>
      <p:sp>
        <p:nvSpPr>
          <p:cNvPr id="15" name="TextBox 15"/>
          <p:cNvSpPr txBox="1"/>
          <p:nvPr/>
        </p:nvSpPr>
        <p:spPr>
          <a:xfrm>
            <a:off x="876300" y="2159000"/>
            <a:ext cx="14490700" cy="596900"/>
          </a:xfrm>
          <a:prstGeom prst="rect">
            <a:avLst/>
          </a:prstGeom>
          <a:solidFill>
            <a:srgbClr val="000000">
              <a:alpha val="0"/>
            </a:srgbClr>
          </a:solidFill>
        </p:spPr>
        <p:txBody>
          <a:bodyPr lIns="0" tIns="0" rIns="0" bIns="0" rtlCol="0" anchor="ctr"/>
          <a:lstStyle/>
          <a:p>
            <a:pPr indent="0" algn="l">
              <a:lnSpc>
                <a:spcPct val="120000"/>
              </a:lnSpc>
              <a:defRPr/>
            </a:pPr>
            <a:r>
              <a:rPr lang="en-US" sz="3900" b="1">
                <a:solidFill>
                  <a:srgbClr val="000000"/>
                </a:solidFill>
                <a:latin typeface="Ubuntu"/>
              </a:rPr>
              <a:t>Limitations: Scope and Deployment Constraints</a:t>
            </a:r>
            <a:endParaRPr lang="en-US" sz="1100"/>
          </a:p>
        </p:txBody>
      </p:sp>
      <p:sp>
        <p:nvSpPr>
          <p:cNvPr id="16" name="TextBox 16"/>
          <p:cNvSpPr txBox="1"/>
          <p:nvPr/>
        </p:nvSpPr>
        <p:spPr>
          <a:xfrm>
            <a:off x="1066800" y="3136900"/>
            <a:ext cx="304800" cy="368300"/>
          </a:xfrm>
          <a:prstGeom prst="rect">
            <a:avLst/>
          </a:prstGeom>
          <a:solidFill>
            <a:srgbClr val="000000">
              <a:alpha val="0"/>
            </a:srgbClr>
          </a:solidFill>
        </p:spPr>
        <p:txBody>
          <a:bodyPr lIns="0" tIns="0" rIns="0" bIns="0" rtlCol="0" anchor="ctr"/>
          <a:lstStyle/>
          <a:p>
            <a:pPr indent="0" algn="l">
              <a:lnSpc>
                <a:spcPct val="120000"/>
              </a:lnSpc>
              <a:defRPr/>
            </a:pPr>
            <a:r>
              <a:rPr lang="en-US" sz="2400" b="1">
                <a:solidFill>
                  <a:srgbClr val="000000"/>
                </a:solidFill>
                <a:highlight>
                  <a:srgbClr val="000000">
                    <a:alpha val="0"/>
                  </a:srgbClr>
                </a:highlight>
                <a:latin typeface="Ubuntu"/>
              </a:rPr>
              <a:t>1</a:t>
            </a:r>
            <a:endParaRPr lang="en-US" sz="1100"/>
          </a:p>
        </p:txBody>
      </p:sp>
      <p:sp>
        <p:nvSpPr>
          <p:cNvPr id="17" name="TextBox 17"/>
          <p:cNvSpPr txBox="1"/>
          <p:nvPr/>
        </p:nvSpPr>
        <p:spPr>
          <a:xfrm>
            <a:off x="4775200" y="3136900"/>
            <a:ext cx="304800" cy="368300"/>
          </a:xfrm>
          <a:prstGeom prst="rect">
            <a:avLst/>
          </a:prstGeom>
          <a:solidFill>
            <a:srgbClr val="000000">
              <a:alpha val="0"/>
            </a:srgbClr>
          </a:solidFill>
        </p:spPr>
        <p:txBody>
          <a:bodyPr lIns="0" tIns="0" rIns="0" bIns="0" rtlCol="0" anchor="ctr"/>
          <a:lstStyle/>
          <a:p>
            <a:pPr indent="0" algn="l">
              <a:lnSpc>
                <a:spcPct val="120000"/>
              </a:lnSpc>
              <a:defRPr/>
            </a:pPr>
            <a:r>
              <a:rPr lang="en-US" sz="2400" b="1">
                <a:solidFill>
                  <a:srgbClr val="000000"/>
                </a:solidFill>
                <a:highlight>
                  <a:srgbClr val="000000">
                    <a:alpha val="0"/>
                  </a:srgbClr>
                </a:highlight>
                <a:latin typeface="Ubuntu"/>
              </a:rPr>
              <a:t>2</a:t>
            </a:r>
            <a:endParaRPr lang="en-US" sz="1100"/>
          </a:p>
        </p:txBody>
      </p:sp>
      <p:sp>
        <p:nvSpPr>
          <p:cNvPr id="18" name="TextBox 18"/>
          <p:cNvSpPr txBox="1"/>
          <p:nvPr/>
        </p:nvSpPr>
        <p:spPr>
          <a:xfrm>
            <a:off x="8470900" y="3136900"/>
            <a:ext cx="304800" cy="368300"/>
          </a:xfrm>
          <a:prstGeom prst="rect">
            <a:avLst/>
          </a:prstGeom>
          <a:solidFill>
            <a:srgbClr val="000000">
              <a:alpha val="0"/>
            </a:srgbClr>
          </a:solidFill>
        </p:spPr>
        <p:txBody>
          <a:bodyPr lIns="0" tIns="0" rIns="0" bIns="0" rtlCol="0" anchor="ctr"/>
          <a:lstStyle/>
          <a:p>
            <a:pPr indent="0" algn="l">
              <a:lnSpc>
                <a:spcPct val="120000"/>
              </a:lnSpc>
              <a:defRPr/>
            </a:pPr>
            <a:r>
              <a:rPr lang="en-US" sz="2400" b="1">
                <a:solidFill>
                  <a:srgbClr val="000000"/>
                </a:solidFill>
                <a:highlight>
                  <a:srgbClr val="000000">
                    <a:alpha val="0"/>
                  </a:srgbClr>
                </a:highlight>
                <a:latin typeface="Ubuntu"/>
              </a:rPr>
              <a:t>3</a:t>
            </a:r>
            <a:endParaRPr lang="en-US" sz="1100"/>
          </a:p>
        </p:txBody>
      </p:sp>
      <p:sp>
        <p:nvSpPr>
          <p:cNvPr id="19" name="TextBox 19"/>
          <p:cNvSpPr txBox="1"/>
          <p:nvPr/>
        </p:nvSpPr>
        <p:spPr>
          <a:xfrm>
            <a:off x="12179300" y="3136900"/>
            <a:ext cx="304800" cy="368300"/>
          </a:xfrm>
          <a:prstGeom prst="rect">
            <a:avLst/>
          </a:prstGeom>
          <a:solidFill>
            <a:srgbClr val="000000">
              <a:alpha val="0"/>
            </a:srgbClr>
          </a:solidFill>
        </p:spPr>
        <p:txBody>
          <a:bodyPr lIns="0" tIns="0" rIns="0" bIns="0" rtlCol="0" anchor="ctr"/>
          <a:lstStyle/>
          <a:p>
            <a:pPr indent="0" algn="l">
              <a:lnSpc>
                <a:spcPct val="120000"/>
              </a:lnSpc>
              <a:defRPr/>
            </a:pPr>
            <a:r>
              <a:rPr lang="en-US" sz="2400" b="1">
                <a:solidFill>
                  <a:srgbClr val="000000"/>
                </a:solidFill>
                <a:highlight>
                  <a:srgbClr val="000000">
                    <a:alpha val="0"/>
                  </a:srgbClr>
                </a:highlight>
                <a:latin typeface="Ubuntu"/>
              </a:rPr>
              <a:t>4</a:t>
            </a:r>
            <a:endParaRPr lang="en-US" sz="1100"/>
          </a:p>
        </p:txBody>
      </p:sp>
      <p:sp>
        <p:nvSpPr>
          <p:cNvPr id="20" name="TextBox 20"/>
          <p:cNvSpPr txBox="1"/>
          <p:nvPr/>
        </p:nvSpPr>
        <p:spPr>
          <a:xfrm>
            <a:off x="1066800" y="6502400"/>
            <a:ext cx="304800" cy="368300"/>
          </a:xfrm>
          <a:prstGeom prst="rect">
            <a:avLst/>
          </a:prstGeom>
          <a:solidFill>
            <a:srgbClr val="000000">
              <a:alpha val="0"/>
            </a:srgbClr>
          </a:solidFill>
        </p:spPr>
        <p:txBody>
          <a:bodyPr lIns="0" tIns="0" rIns="0" bIns="0" rtlCol="0" anchor="ctr"/>
          <a:lstStyle/>
          <a:p>
            <a:pPr indent="0" algn="l">
              <a:lnSpc>
                <a:spcPct val="120000"/>
              </a:lnSpc>
              <a:defRPr/>
            </a:pPr>
            <a:r>
              <a:rPr lang="en-US" sz="2400" b="1">
                <a:solidFill>
                  <a:srgbClr val="000000"/>
                </a:solidFill>
                <a:highlight>
                  <a:srgbClr val="000000">
                    <a:alpha val="0"/>
                  </a:srgbClr>
                </a:highlight>
                <a:latin typeface="Ubuntu"/>
              </a:rPr>
              <a:t>5</a:t>
            </a:r>
            <a:endParaRPr lang="en-US" sz="1100"/>
          </a:p>
        </p:txBody>
      </p:sp>
      <p:sp>
        <p:nvSpPr>
          <p:cNvPr id="21" name="TextBox 21"/>
          <p:cNvSpPr txBox="1"/>
          <p:nvPr/>
        </p:nvSpPr>
        <p:spPr>
          <a:xfrm>
            <a:off x="1689100" y="3136900"/>
            <a:ext cx="2565400" cy="2641600"/>
          </a:xfrm>
          <a:prstGeom prst="rect">
            <a:avLst/>
          </a:prstGeom>
          <a:solidFill>
            <a:srgbClr val="000000">
              <a:alpha val="0"/>
            </a:srgbClr>
          </a:solidFill>
        </p:spPr>
        <p:txBody>
          <a:bodyPr lIns="0" tIns="0" rIns="0" bIns="0" rtlCol="0" anchor="ctr"/>
          <a:lstStyle/>
          <a:p>
            <a:pPr indent="0" algn="l">
              <a:lnSpc>
                <a:spcPct val="150000"/>
              </a:lnSpc>
              <a:defRPr/>
            </a:pPr>
            <a:r>
              <a:rPr lang="en-US" sz="1900" b="1">
                <a:solidFill>
                  <a:srgbClr val="000000"/>
                </a:solidFill>
                <a:latin typeface="Poppins"/>
              </a:rPr>
              <a:t>Telemetry generated via Rapid SCADA calculated channels, not physical field devices</a:t>
            </a:r>
            <a:endParaRPr lang="en-US" sz="1100"/>
          </a:p>
        </p:txBody>
      </p:sp>
      <p:sp>
        <p:nvSpPr>
          <p:cNvPr id="22" name="TextBox 22"/>
          <p:cNvSpPr txBox="1"/>
          <p:nvPr/>
        </p:nvSpPr>
        <p:spPr>
          <a:xfrm>
            <a:off x="5397500" y="3136900"/>
            <a:ext cx="2565400" cy="1879600"/>
          </a:xfrm>
          <a:prstGeom prst="rect">
            <a:avLst/>
          </a:prstGeom>
          <a:solidFill>
            <a:srgbClr val="000000">
              <a:alpha val="0"/>
            </a:srgbClr>
          </a:solidFill>
        </p:spPr>
        <p:txBody>
          <a:bodyPr lIns="0" tIns="0" rIns="0" bIns="0" rtlCol="0" anchor="ctr"/>
          <a:lstStyle/>
          <a:p>
            <a:pPr indent="0" algn="l">
              <a:lnSpc>
                <a:spcPct val="150000"/>
              </a:lnSpc>
              <a:defRPr/>
            </a:pPr>
            <a:r>
              <a:rPr lang="en-US" sz="1900" b="1">
                <a:solidFill>
                  <a:srgbClr val="000000"/>
                </a:solidFill>
                <a:latin typeface="Poppins"/>
              </a:rPr>
              <a:t>System represents operational prototype, not full real-world utility deployment</a:t>
            </a:r>
            <a:endParaRPr lang="en-US" sz="1100"/>
          </a:p>
        </p:txBody>
      </p:sp>
      <p:sp>
        <p:nvSpPr>
          <p:cNvPr id="23" name="TextBox 23"/>
          <p:cNvSpPr txBox="1"/>
          <p:nvPr/>
        </p:nvSpPr>
        <p:spPr>
          <a:xfrm>
            <a:off x="9093200" y="3136900"/>
            <a:ext cx="2565400" cy="1879600"/>
          </a:xfrm>
          <a:prstGeom prst="rect">
            <a:avLst/>
          </a:prstGeom>
          <a:solidFill>
            <a:srgbClr val="000000">
              <a:alpha val="0"/>
            </a:srgbClr>
          </a:solidFill>
        </p:spPr>
        <p:txBody>
          <a:bodyPr lIns="0" tIns="0" rIns="0" bIns="0" rtlCol="0" anchor="ctr"/>
          <a:lstStyle/>
          <a:p>
            <a:pPr indent="0" algn="l">
              <a:lnSpc>
                <a:spcPct val="150000"/>
              </a:lnSpc>
              <a:defRPr/>
            </a:pPr>
            <a:r>
              <a:rPr lang="en-US" sz="1900" b="1">
                <a:solidFill>
                  <a:srgbClr val="000000"/>
                </a:solidFill>
                <a:latin typeface="Poppins"/>
              </a:rPr>
              <a:t>Baseline values currently hand-engineered rather than adaptively learned</a:t>
            </a:r>
            <a:endParaRPr lang="en-US" sz="1100"/>
          </a:p>
        </p:txBody>
      </p:sp>
      <p:sp>
        <p:nvSpPr>
          <p:cNvPr id="24" name="TextBox 24"/>
          <p:cNvSpPr txBox="1"/>
          <p:nvPr/>
        </p:nvSpPr>
        <p:spPr>
          <a:xfrm>
            <a:off x="12801600" y="3136900"/>
            <a:ext cx="2565400" cy="1879600"/>
          </a:xfrm>
          <a:prstGeom prst="rect">
            <a:avLst/>
          </a:prstGeom>
          <a:solidFill>
            <a:srgbClr val="000000">
              <a:alpha val="0"/>
            </a:srgbClr>
          </a:solidFill>
        </p:spPr>
        <p:txBody>
          <a:bodyPr lIns="0" tIns="0" rIns="0" bIns="0" rtlCol="0" anchor="ctr"/>
          <a:lstStyle/>
          <a:p>
            <a:pPr indent="0" algn="l">
              <a:lnSpc>
                <a:spcPct val="150000"/>
              </a:lnSpc>
              <a:defRPr/>
            </a:pPr>
            <a:r>
              <a:rPr lang="en-US" sz="1900" b="1" dirty="0">
                <a:solidFill>
                  <a:srgbClr val="000000"/>
                </a:solidFill>
                <a:latin typeface="Poppins"/>
              </a:rPr>
              <a:t>F1 Score reflects class imbalance; minority anomaly detection sensitivity lower</a:t>
            </a:r>
            <a:endParaRPr lang="en-US" sz="1100" dirty="0"/>
          </a:p>
        </p:txBody>
      </p:sp>
      <p:sp>
        <p:nvSpPr>
          <p:cNvPr id="25" name="TextBox 25"/>
          <p:cNvSpPr txBox="1"/>
          <p:nvPr/>
        </p:nvSpPr>
        <p:spPr>
          <a:xfrm>
            <a:off x="1689100" y="6489700"/>
            <a:ext cx="13665200" cy="368300"/>
          </a:xfrm>
          <a:prstGeom prst="rect">
            <a:avLst/>
          </a:prstGeom>
          <a:solidFill>
            <a:srgbClr val="000000">
              <a:alpha val="0"/>
            </a:srgbClr>
          </a:solidFill>
        </p:spPr>
        <p:txBody>
          <a:bodyPr lIns="0" tIns="0" rIns="0" bIns="0" rtlCol="0" anchor="ctr"/>
          <a:lstStyle/>
          <a:p>
            <a:pPr indent="0" algn="l">
              <a:lnSpc>
                <a:spcPct val="150000"/>
              </a:lnSpc>
              <a:defRPr/>
            </a:pPr>
            <a:r>
              <a:rPr lang="en-US" sz="1900" b="1">
                <a:solidFill>
                  <a:srgbClr val="000000"/>
                </a:solidFill>
                <a:latin typeface="Poppins"/>
              </a:rPr>
              <a:t>Scalability beyond N=500 not yet evaluated; live workspace tested at N=100 only</a:t>
            </a:r>
            <a:endParaRPr lang="en-US" sz="110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16256000" cy="9144000"/>
          </a:xfrm>
          <a:prstGeom prst="rect">
            <a:avLst/>
          </a:prstGeom>
          <a:solidFill>
            <a:srgbClr val="0D0A2C">
              <a:alpha val="74902"/>
            </a:srgbClr>
          </a:solidFill>
        </p:spPr>
      </p:sp>
      <p:pic>
        <p:nvPicPr>
          <p:cNvPr id="3" name="Picture 3"/>
          <p:cNvPicPr>
            <a:picLocks noChangeAspect="1"/>
          </p:cNvPicPr>
          <p:nvPr/>
        </p:nvPicPr>
        <p:blipFill>
          <a:blip r:embed="rId2"/>
          <a:srcRect t="56" b="56"/>
          <a:stretch>
            <a:fillRect/>
          </a:stretch>
        </p:blipFill>
        <p:spPr>
          <a:xfrm>
            <a:off x="0" y="0"/>
            <a:ext cx="16256000" cy="9144000"/>
          </a:xfrm>
          <a:prstGeom prst="rect">
            <a:avLst/>
          </a:prstGeom>
        </p:spPr>
      </p:pic>
      <p:sp>
        <p:nvSpPr>
          <p:cNvPr id="4" name="AutoShape 4"/>
          <p:cNvSpPr/>
          <p:nvPr/>
        </p:nvSpPr>
        <p:spPr>
          <a:xfrm>
            <a:off x="876300" y="1600200"/>
            <a:ext cx="14490700" cy="7010400"/>
          </a:xfrm>
          <a:prstGeom prst="rect">
            <a:avLst/>
          </a:prstGeom>
          <a:solidFill>
            <a:srgbClr val="000000">
              <a:alpha val="0"/>
            </a:srgbClr>
          </a:solidFill>
        </p:spPr>
      </p:sp>
      <p:sp>
        <p:nvSpPr>
          <p:cNvPr id="5" name="AutoShape 5"/>
          <p:cNvSpPr/>
          <p:nvPr/>
        </p:nvSpPr>
        <p:spPr>
          <a:xfrm>
            <a:off x="876300" y="1600200"/>
            <a:ext cx="3429000" cy="4699000"/>
          </a:xfrm>
          <a:prstGeom prst="roundRect">
            <a:avLst>
              <a:gd name="adj" fmla="val 1851"/>
            </a:avLst>
          </a:prstGeom>
          <a:solidFill>
            <a:srgbClr val="D1D1D1">
              <a:alpha val="71765"/>
            </a:srgbClr>
          </a:solidFill>
        </p:spPr>
      </p:sp>
      <p:sp>
        <p:nvSpPr>
          <p:cNvPr id="6" name="AutoShape 6"/>
          <p:cNvSpPr/>
          <p:nvPr/>
        </p:nvSpPr>
        <p:spPr>
          <a:xfrm>
            <a:off x="1231900" y="1790700"/>
            <a:ext cx="546100" cy="546100"/>
          </a:xfrm>
          <a:prstGeom prst="roundRect">
            <a:avLst>
              <a:gd name="adj" fmla="val 48837"/>
            </a:avLst>
          </a:prstGeom>
          <a:solidFill>
            <a:srgbClr val="000000"/>
          </a:solidFill>
        </p:spPr>
      </p:sp>
      <p:sp>
        <p:nvSpPr>
          <p:cNvPr id="7" name="AutoShape 7"/>
          <p:cNvSpPr/>
          <p:nvPr/>
        </p:nvSpPr>
        <p:spPr>
          <a:xfrm>
            <a:off x="4559300" y="1600200"/>
            <a:ext cx="3429000" cy="4699000"/>
          </a:xfrm>
          <a:prstGeom prst="roundRect">
            <a:avLst>
              <a:gd name="adj" fmla="val 1851"/>
            </a:avLst>
          </a:prstGeom>
          <a:solidFill>
            <a:srgbClr val="D1D1D1">
              <a:alpha val="71765"/>
            </a:srgbClr>
          </a:solidFill>
        </p:spPr>
      </p:sp>
      <p:sp>
        <p:nvSpPr>
          <p:cNvPr id="8" name="AutoShape 8"/>
          <p:cNvSpPr/>
          <p:nvPr/>
        </p:nvSpPr>
        <p:spPr>
          <a:xfrm>
            <a:off x="4914900" y="1790700"/>
            <a:ext cx="546100" cy="546100"/>
          </a:xfrm>
          <a:prstGeom prst="roundRect">
            <a:avLst>
              <a:gd name="adj" fmla="val 48837"/>
            </a:avLst>
          </a:prstGeom>
          <a:solidFill>
            <a:srgbClr val="000000"/>
          </a:solidFill>
        </p:spPr>
      </p:sp>
      <p:sp>
        <p:nvSpPr>
          <p:cNvPr id="9" name="AutoShape 9"/>
          <p:cNvSpPr/>
          <p:nvPr/>
        </p:nvSpPr>
        <p:spPr>
          <a:xfrm>
            <a:off x="8242300" y="1600200"/>
            <a:ext cx="3429000" cy="4699000"/>
          </a:xfrm>
          <a:prstGeom prst="roundRect">
            <a:avLst>
              <a:gd name="adj" fmla="val 1851"/>
            </a:avLst>
          </a:prstGeom>
          <a:solidFill>
            <a:srgbClr val="D1D1D1">
              <a:alpha val="71765"/>
            </a:srgbClr>
          </a:solidFill>
        </p:spPr>
      </p:sp>
      <p:sp>
        <p:nvSpPr>
          <p:cNvPr id="10" name="AutoShape 10"/>
          <p:cNvSpPr/>
          <p:nvPr/>
        </p:nvSpPr>
        <p:spPr>
          <a:xfrm>
            <a:off x="8597900" y="1790700"/>
            <a:ext cx="546100" cy="546100"/>
          </a:xfrm>
          <a:prstGeom prst="roundRect">
            <a:avLst>
              <a:gd name="adj" fmla="val 48837"/>
            </a:avLst>
          </a:prstGeom>
          <a:solidFill>
            <a:srgbClr val="000000"/>
          </a:solidFill>
        </p:spPr>
      </p:sp>
      <p:sp>
        <p:nvSpPr>
          <p:cNvPr id="11" name="AutoShape 11"/>
          <p:cNvSpPr/>
          <p:nvPr/>
        </p:nvSpPr>
        <p:spPr>
          <a:xfrm>
            <a:off x="11938000" y="1600200"/>
            <a:ext cx="3429000" cy="4699000"/>
          </a:xfrm>
          <a:prstGeom prst="roundRect">
            <a:avLst>
              <a:gd name="adj" fmla="val 1851"/>
            </a:avLst>
          </a:prstGeom>
          <a:solidFill>
            <a:srgbClr val="D1D1D1">
              <a:alpha val="71765"/>
            </a:srgbClr>
          </a:solidFill>
        </p:spPr>
      </p:sp>
      <p:sp>
        <p:nvSpPr>
          <p:cNvPr id="12" name="AutoShape 12"/>
          <p:cNvSpPr/>
          <p:nvPr/>
        </p:nvSpPr>
        <p:spPr>
          <a:xfrm>
            <a:off x="12280900" y="1790700"/>
            <a:ext cx="546100" cy="546100"/>
          </a:xfrm>
          <a:prstGeom prst="roundRect">
            <a:avLst>
              <a:gd name="adj" fmla="val 48837"/>
            </a:avLst>
          </a:prstGeom>
          <a:solidFill>
            <a:srgbClr val="000000"/>
          </a:solidFill>
        </p:spPr>
      </p:sp>
      <p:sp>
        <p:nvSpPr>
          <p:cNvPr id="13" name="AutoShape 13"/>
          <p:cNvSpPr/>
          <p:nvPr/>
        </p:nvSpPr>
        <p:spPr>
          <a:xfrm>
            <a:off x="876300" y="6489700"/>
            <a:ext cx="14490700" cy="2133600"/>
          </a:xfrm>
          <a:prstGeom prst="roundRect">
            <a:avLst>
              <a:gd name="adj" fmla="val 2976"/>
            </a:avLst>
          </a:prstGeom>
          <a:solidFill>
            <a:srgbClr val="D1D1D1">
              <a:alpha val="71765"/>
            </a:srgbClr>
          </a:solidFill>
        </p:spPr>
      </p:sp>
      <p:sp>
        <p:nvSpPr>
          <p:cNvPr id="14" name="AutoShape 14"/>
          <p:cNvSpPr/>
          <p:nvPr/>
        </p:nvSpPr>
        <p:spPr>
          <a:xfrm>
            <a:off x="1231900" y="6680200"/>
            <a:ext cx="546100" cy="546100"/>
          </a:xfrm>
          <a:prstGeom prst="roundRect">
            <a:avLst>
              <a:gd name="adj" fmla="val 48837"/>
            </a:avLst>
          </a:prstGeom>
          <a:solidFill>
            <a:srgbClr val="000000"/>
          </a:solidFill>
        </p:spPr>
      </p:sp>
      <p:sp>
        <p:nvSpPr>
          <p:cNvPr id="15" name="TextBox 15"/>
          <p:cNvSpPr txBox="1"/>
          <p:nvPr/>
        </p:nvSpPr>
        <p:spPr>
          <a:xfrm>
            <a:off x="876300" y="508000"/>
            <a:ext cx="14490700" cy="889000"/>
          </a:xfrm>
          <a:prstGeom prst="rect">
            <a:avLst/>
          </a:prstGeom>
          <a:solidFill>
            <a:srgbClr val="000000">
              <a:alpha val="0"/>
            </a:srgbClr>
          </a:solidFill>
        </p:spPr>
        <p:txBody>
          <a:bodyPr lIns="0" tIns="0" rIns="0" bIns="0" rtlCol="0" anchor="ctr"/>
          <a:lstStyle/>
          <a:p>
            <a:pPr indent="0" algn="l">
              <a:lnSpc>
                <a:spcPct val="120000"/>
              </a:lnSpc>
              <a:defRPr/>
            </a:pPr>
            <a:r>
              <a:rPr lang="en-US" sz="2900" b="1">
                <a:solidFill>
                  <a:srgbClr val="000000"/>
                </a:solidFill>
                <a:latin typeface="Ubuntu"/>
              </a:rPr>
              <a:t>Conclusion: Bridging Research and Operational Implementation</a:t>
            </a:r>
            <a:endParaRPr lang="en-US" sz="1100"/>
          </a:p>
        </p:txBody>
      </p:sp>
      <p:sp>
        <p:nvSpPr>
          <p:cNvPr id="16" name="TextBox 16"/>
          <p:cNvSpPr txBox="1"/>
          <p:nvPr/>
        </p:nvSpPr>
        <p:spPr>
          <a:xfrm>
            <a:off x="1130300" y="2540000"/>
            <a:ext cx="2921000" cy="660400"/>
          </a:xfrm>
          <a:prstGeom prst="rect">
            <a:avLst/>
          </a:prstGeom>
          <a:solidFill>
            <a:srgbClr val="000000">
              <a:alpha val="0"/>
            </a:srgbClr>
          </a:solidFill>
        </p:spPr>
        <p:txBody>
          <a:bodyPr lIns="0" tIns="0" rIns="0" bIns="0" rtlCol="0" anchor="ctr"/>
          <a:lstStyle/>
          <a:p>
            <a:pPr indent="0" algn="l">
              <a:lnSpc>
                <a:spcPct val="120000"/>
              </a:lnSpc>
              <a:defRPr/>
            </a:pPr>
            <a:r>
              <a:rPr lang="en-US" sz="2100" b="1">
                <a:solidFill>
                  <a:srgbClr val="000000"/>
                </a:solidFill>
                <a:latin typeface="Ubuntu"/>
              </a:rPr>
              <a:t>Integrated Systems</a:t>
            </a:r>
            <a:endParaRPr lang="en-US" sz="1100"/>
          </a:p>
        </p:txBody>
      </p:sp>
      <p:sp>
        <p:nvSpPr>
          <p:cNvPr id="17" name="TextBox 17"/>
          <p:cNvSpPr txBox="1"/>
          <p:nvPr/>
        </p:nvSpPr>
        <p:spPr>
          <a:xfrm>
            <a:off x="4813300" y="2540000"/>
            <a:ext cx="2921000" cy="660400"/>
          </a:xfrm>
          <a:prstGeom prst="rect">
            <a:avLst/>
          </a:prstGeom>
          <a:solidFill>
            <a:srgbClr val="000000">
              <a:alpha val="0"/>
            </a:srgbClr>
          </a:solidFill>
        </p:spPr>
        <p:txBody>
          <a:bodyPr lIns="0" tIns="0" rIns="0" bIns="0" rtlCol="0" anchor="ctr"/>
          <a:lstStyle/>
          <a:p>
            <a:pPr indent="0" algn="l">
              <a:lnSpc>
                <a:spcPct val="120000"/>
              </a:lnSpc>
              <a:defRPr/>
            </a:pPr>
            <a:r>
              <a:rPr lang="en-US" sz="2100" b="1">
                <a:solidFill>
                  <a:srgbClr val="000000"/>
                </a:solidFill>
                <a:latin typeface="Ubuntu"/>
              </a:rPr>
              <a:t>Workspace Separation</a:t>
            </a:r>
            <a:endParaRPr lang="en-US" sz="1100"/>
          </a:p>
        </p:txBody>
      </p:sp>
      <p:sp>
        <p:nvSpPr>
          <p:cNvPr id="18" name="TextBox 18"/>
          <p:cNvSpPr txBox="1"/>
          <p:nvPr/>
        </p:nvSpPr>
        <p:spPr>
          <a:xfrm>
            <a:off x="8496300" y="2540000"/>
            <a:ext cx="2921000" cy="660400"/>
          </a:xfrm>
          <a:prstGeom prst="rect">
            <a:avLst/>
          </a:prstGeom>
          <a:solidFill>
            <a:srgbClr val="000000">
              <a:alpha val="0"/>
            </a:srgbClr>
          </a:solidFill>
        </p:spPr>
        <p:txBody>
          <a:bodyPr lIns="0" tIns="0" rIns="0" bIns="0" rtlCol="0" anchor="ctr"/>
          <a:lstStyle/>
          <a:p>
            <a:pPr indent="0" algn="l">
              <a:lnSpc>
                <a:spcPct val="120000"/>
              </a:lnSpc>
              <a:defRPr/>
            </a:pPr>
            <a:r>
              <a:rPr lang="en-US" sz="2100" b="1">
                <a:solidFill>
                  <a:srgbClr val="000000"/>
                </a:solidFill>
                <a:latin typeface="Ubuntu"/>
              </a:rPr>
              <a:t>Empirical Validation</a:t>
            </a:r>
            <a:endParaRPr lang="en-US" sz="1100"/>
          </a:p>
        </p:txBody>
      </p:sp>
      <p:sp>
        <p:nvSpPr>
          <p:cNvPr id="19" name="TextBox 19"/>
          <p:cNvSpPr txBox="1"/>
          <p:nvPr/>
        </p:nvSpPr>
        <p:spPr>
          <a:xfrm>
            <a:off x="12179300" y="2540000"/>
            <a:ext cx="2921000" cy="660400"/>
          </a:xfrm>
          <a:prstGeom prst="rect">
            <a:avLst/>
          </a:prstGeom>
          <a:solidFill>
            <a:srgbClr val="000000">
              <a:alpha val="0"/>
            </a:srgbClr>
          </a:solidFill>
        </p:spPr>
        <p:txBody>
          <a:bodyPr lIns="0" tIns="0" rIns="0" bIns="0" rtlCol="0" anchor="ctr"/>
          <a:lstStyle/>
          <a:p>
            <a:pPr indent="0" algn="l">
              <a:lnSpc>
                <a:spcPct val="120000"/>
              </a:lnSpc>
              <a:defRPr/>
            </a:pPr>
            <a:r>
              <a:rPr lang="en-US" sz="2100" b="1">
                <a:solidFill>
                  <a:srgbClr val="000000"/>
                </a:solidFill>
                <a:latin typeface="Ubuntu"/>
              </a:rPr>
              <a:t>Explainable Framework</a:t>
            </a:r>
            <a:endParaRPr lang="en-US" sz="1100"/>
          </a:p>
        </p:txBody>
      </p:sp>
      <p:sp>
        <p:nvSpPr>
          <p:cNvPr id="20" name="TextBox 20"/>
          <p:cNvSpPr txBox="1"/>
          <p:nvPr/>
        </p:nvSpPr>
        <p:spPr>
          <a:xfrm>
            <a:off x="1130300" y="7416800"/>
            <a:ext cx="13982700" cy="330200"/>
          </a:xfrm>
          <a:prstGeom prst="rect">
            <a:avLst/>
          </a:prstGeom>
          <a:solidFill>
            <a:srgbClr val="000000">
              <a:alpha val="0"/>
            </a:srgbClr>
          </a:solidFill>
        </p:spPr>
        <p:txBody>
          <a:bodyPr lIns="0" tIns="0" rIns="0" bIns="0" rtlCol="0" anchor="ctr"/>
          <a:lstStyle/>
          <a:p>
            <a:pPr indent="0" algn="l">
              <a:lnSpc>
                <a:spcPct val="120000"/>
              </a:lnSpc>
              <a:defRPr/>
            </a:pPr>
            <a:r>
              <a:rPr lang="en-US" sz="2100" b="1">
                <a:solidFill>
                  <a:srgbClr val="000000"/>
                </a:solidFill>
                <a:latin typeface="Ubuntu"/>
              </a:rPr>
              <a:t>Operational Prototype</a:t>
            </a:r>
            <a:endParaRPr lang="en-US" sz="1100"/>
          </a:p>
        </p:txBody>
      </p:sp>
      <p:sp>
        <p:nvSpPr>
          <p:cNvPr id="21" name="TextBox 21"/>
          <p:cNvSpPr txBox="1"/>
          <p:nvPr/>
        </p:nvSpPr>
        <p:spPr>
          <a:xfrm>
            <a:off x="1130300" y="3327400"/>
            <a:ext cx="2921000" cy="2781300"/>
          </a:xfrm>
          <a:prstGeom prst="rect">
            <a:avLst/>
          </a:prstGeom>
          <a:solidFill>
            <a:srgbClr val="000000">
              <a:alpha val="0"/>
            </a:srgbClr>
          </a:solidFill>
        </p:spPr>
        <p:txBody>
          <a:bodyPr lIns="0" tIns="0" rIns="0" bIns="0" rtlCol="0" anchor="ctr"/>
          <a:lstStyle/>
          <a:p>
            <a:pPr indent="0" algn="l">
              <a:lnSpc>
                <a:spcPct val="150000"/>
              </a:lnSpc>
              <a:defRPr/>
            </a:pPr>
            <a:r>
              <a:rPr lang="en-US" sz="1400" b="1">
                <a:solidFill>
                  <a:srgbClr val="000000"/>
                </a:solidFill>
                <a:latin typeface="Poppins"/>
              </a:rPr>
              <a:t>Successfully integrated anomaly detection, audit intelligence, and SCADA monitoring into a unified pipeline for end-to-end operational observability and response.</a:t>
            </a:r>
            <a:endParaRPr lang="en-US" sz="1100"/>
          </a:p>
        </p:txBody>
      </p:sp>
      <p:sp>
        <p:nvSpPr>
          <p:cNvPr id="22" name="TextBox 22"/>
          <p:cNvSpPr txBox="1"/>
          <p:nvPr/>
        </p:nvSpPr>
        <p:spPr>
          <a:xfrm>
            <a:off x="4813300" y="3327400"/>
            <a:ext cx="2921000" cy="2501900"/>
          </a:xfrm>
          <a:prstGeom prst="rect">
            <a:avLst/>
          </a:prstGeom>
          <a:solidFill>
            <a:srgbClr val="000000">
              <a:alpha val="0"/>
            </a:srgbClr>
          </a:solidFill>
        </p:spPr>
        <p:txBody>
          <a:bodyPr lIns="0" tIns="0" rIns="0" bIns="0" rtlCol="0" anchor="ctr"/>
          <a:lstStyle/>
          <a:p>
            <a:pPr indent="0" algn="l">
              <a:lnSpc>
                <a:spcPct val="150000"/>
              </a:lnSpc>
              <a:defRPr/>
            </a:pPr>
            <a:r>
              <a:rPr lang="en-US" sz="1400" b="1">
                <a:solidFill>
                  <a:srgbClr val="000000"/>
                </a:solidFill>
                <a:latin typeface="Poppins"/>
              </a:rPr>
              <a:t>Clear workspace separation was enforced to guarantee experimental isolation and operational correctness, minimizing cross-environment interference.</a:t>
            </a:r>
            <a:endParaRPr lang="en-US" sz="1100"/>
          </a:p>
        </p:txBody>
      </p:sp>
      <p:sp>
        <p:nvSpPr>
          <p:cNvPr id="23" name="TextBox 23"/>
          <p:cNvSpPr txBox="1"/>
          <p:nvPr/>
        </p:nvSpPr>
        <p:spPr>
          <a:xfrm>
            <a:off x="8496300" y="3327400"/>
            <a:ext cx="2921000" cy="2501900"/>
          </a:xfrm>
          <a:prstGeom prst="rect">
            <a:avLst/>
          </a:prstGeom>
          <a:solidFill>
            <a:srgbClr val="000000">
              <a:alpha val="0"/>
            </a:srgbClr>
          </a:solidFill>
        </p:spPr>
        <p:txBody>
          <a:bodyPr lIns="0" tIns="0" rIns="0" bIns="0" rtlCol="0" anchor="ctr"/>
          <a:lstStyle/>
          <a:p>
            <a:pPr indent="0" algn="l">
              <a:lnSpc>
                <a:spcPct val="150000"/>
              </a:lnSpc>
              <a:defRPr/>
            </a:pPr>
            <a:r>
              <a:rPr lang="en-US" sz="1400" b="1">
                <a:solidFill>
                  <a:srgbClr val="000000"/>
                </a:solidFill>
                <a:latin typeface="Poppins"/>
              </a:rPr>
              <a:t>Validated an N=100 configuration which surpasses the baseline paper on primary operational metrics, demonstrating measurable performance improvements.</a:t>
            </a:r>
            <a:endParaRPr lang="en-US" sz="1100"/>
          </a:p>
        </p:txBody>
      </p:sp>
      <p:sp>
        <p:nvSpPr>
          <p:cNvPr id="24" name="TextBox 24"/>
          <p:cNvSpPr txBox="1"/>
          <p:nvPr/>
        </p:nvSpPr>
        <p:spPr>
          <a:xfrm>
            <a:off x="12179300" y="3327400"/>
            <a:ext cx="2921000" cy="1943100"/>
          </a:xfrm>
          <a:prstGeom prst="rect">
            <a:avLst/>
          </a:prstGeom>
          <a:solidFill>
            <a:srgbClr val="000000">
              <a:alpha val="0"/>
            </a:srgbClr>
          </a:solidFill>
        </p:spPr>
        <p:txBody>
          <a:bodyPr lIns="0" tIns="0" rIns="0" bIns="0" rtlCol="0" anchor="ctr"/>
          <a:lstStyle/>
          <a:p>
            <a:pPr indent="0" algn="l">
              <a:lnSpc>
                <a:spcPct val="150000"/>
              </a:lnSpc>
              <a:defRPr/>
            </a:pPr>
            <a:r>
              <a:rPr lang="en-US" sz="1400" b="1">
                <a:solidFill>
                  <a:srgbClr val="000000"/>
                </a:solidFill>
                <a:latin typeface="Poppins"/>
              </a:rPr>
              <a:t>Demonstrates a practical explainable cyber-physical audit framework that supports interpretable alerts and root-cause insights for operators.</a:t>
            </a:r>
            <a:endParaRPr lang="en-US" sz="1100"/>
          </a:p>
        </p:txBody>
      </p:sp>
      <p:sp>
        <p:nvSpPr>
          <p:cNvPr id="25" name="TextBox 25"/>
          <p:cNvSpPr txBox="1"/>
          <p:nvPr/>
        </p:nvSpPr>
        <p:spPr>
          <a:xfrm>
            <a:off x="1130300" y="7886700"/>
            <a:ext cx="13982700" cy="546100"/>
          </a:xfrm>
          <a:prstGeom prst="rect">
            <a:avLst/>
          </a:prstGeom>
          <a:solidFill>
            <a:srgbClr val="000000">
              <a:alpha val="0"/>
            </a:srgbClr>
          </a:solidFill>
        </p:spPr>
        <p:txBody>
          <a:bodyPr lIns="0" tIns="0" rIns="0" bIns="0" rtlCol="0" anchor="ctr"/>
          <a:lstStyle/>
          <a:p>
            <a:pPr indent="0" algn="l">
              <a:lnSpc>
                <a:spcPct val="150000"/>
              </a:lnSpc>
              <a:defRPr/>
            </a:pPr>
            <a:r>
              <a:rPr lang="en-US" sz="1400" b="1">
                <a:solidFill>
                  <a:srgbClr val="000000"/>
                </a:solidFill>
                <a:latin typeface="Poppins"/>
              </a:rPr>
              <a:t>Delivered a strong operational prototype that maintains transparency about deployment scope, limitations, and intended operational contexts.</a:t>
            </a:r>
            <a:endParaRPr lang="en-US" sz="1100"/>
          </a:p>
        </p:txBody>
      </p:sp>
      <p:pic>
        <p:nvPicPr>
          <p:cNvPr id="26" name="Picture 26"/>
          <p:cNvPicPr>
            <a:picLocks noChangeAspect="1"/>
          </p:cNvPicPr>
          <p:nvPr/>
        </p:nvPicPr>
        <p:blipFill>
          <a:blip r:embed="rId3"/>
          <a:stretch>
            <a:fillRect/>
          </a:stretch>
        </p:blipFill>
        <p:spPr>
          <a:xfrm>
            <a:off x="1409700" y="1981200"/>
            <a:ext cx="177800" cy="177800"/>
          </a:xfrm>
          <a:prstGeom prst="rect">
            <a:avLst/>
          </a:prstGeom>
        </p:spPr>
      </p:pic>
      <p:pic>
        <p:nvPicPr>
          <p:cNvPr id="27" name="Picture 27"/>
          <p:cNvPicPr>
            <a:picLocks noChangeAspect="1"/>
          </p:cNvPicPr>
          <p:nvPr/>
        </p:nvPicPr>
        <p:blipFill>
          <a:blip r:embed="rId3"/>
          <a:stretch>
            <a:fillRect/>
          </a:stretch>
        </p:blipFill>
        <p:spPr>
          <a:xfrm>
            <a:off x="5092700" y="1981200"/>
            <a:ext cx="177800" cy="177800"/>
          </a:xfrm>
          <a:prstGeom prst="rect">
            <a:avLst/>
          </a:prstGeom>
        </p:spPr>
      </p:pic>
      <p:pic>
        <p:nvPicPr>
          <p:cNvPr id="28" name="Picture 28"/>
          <p:cNvPicPr>
            <a:picLocks noChangeAspect="1"/>
          </p:cNvPicPr>
          <p:nvPr/>
        </p:nvPicPr>
        <p:blipFill>
          <a:blip r:embed="rId4"/>
          <a:stretch>
            <a:fillRect/>
          </a:stretch>
        </p:blipFill>
        <p:spPr>
          <a:xfrm>
            <a:off x="8775700" y="1981200"/>
            <a:ext cx="177800" cy="177800"/>
          </a:xfrm>
          <a:prstGeom prst="rect">
            <a:avLst/>
          </a:prstGeom>
        </p:spPr>
      </p:pic>
      <p:pic>
        <p:nvPicPr>
          <p:cNvPr id="29" name="Picture 29"/>
          <p:cNvPicPr>
            <a:picLocks noChangeAspect="1"/>
          </p:cNvPicPr>
          <p:nvPr/>
        </p:nvPicPr>
        <p:blipFill>
          <a:blip r:embed="rId5"/>
          <a:stretch>
            <a:fillRect/>
          </a:stretch>
        </p:blipFill>
        <p:spPr>
          <a:xfrm>
            <a:off x="12471400" y="1981200"/>
            <a:ext cx="177800" cy="177800"/>
          </a:xfrm>
          <a:prstGeom prst="rect">
            <a:avLst/>
          </a:prstGeom>
        </p:spPr>
      </p:pic>
      <p:pic>
        <p:nvPicPr>
          <p:cNvPr id="30" name="Picture 30"/>
          <p:cNvPicPr>
            <a:picLocks noChangeAspect="1"/>
          </p:cNvPicPr>
          <p:nvPr/>
        </p:nvPicPr>
        <p:blipFill>
          <a:blip r:embed="rId3"/>
          <a:stretch>
            <a:fillRect/>
          </a:stretch>
        </p:blipFill>
        <p:spPr>
          <a:xfrm>
            <a:off x="1409700" y="6858000"/>
            <a:ext cx="177800" cy="177800"/>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16256000" cy="9144000"/>
          </a:xfrm>
          <a:prstGeom prst="rect">
            <a:avLst/>
          </a:prstGeom>
          <a:solidFill>
            <a:srgbClr val="0D0A2C">
              <a:alpha val="74902"/>
            </a:srgbClr>
          </a:solidFill>
        </p:spPr>
      </p:sp>
      <p:pic>
        <p:nvPicPr>
          <p:cNvPr id="3" name="Picture 3"/>
          <p:cNvPicPr>
            <a:picLocks noChangeAspect="1"/>
          </p:cNvPicPr>
          <p:nvPr/>
        </p:nvPicPr>
        <p:blipFill>
          <a:blip r:embed="rId2"/>
          <a:srcRect t="56" b="56"/>
          <a:stretch>
            <a:fillRect/>
          </a:stretch>
        </p:blipFill>
        <p:spPr>
          <a:xfrm>
            <a:off x="0" y="0"/>
            <a:ext cx="16256000" cy="9144000"/>
          </a:xfrm>
          <a:prstGeom prst="rect">
            <a:avLst/>
          </a:prstGeom>
        </p:spPr>
      </p:pic>
      <p:sp>
        <p:nvSpPr>
          <p:cNvPr id="4" name="AutoShape 4"/>
          <p:cNvSpPr/>
          <p:nvPr/>
        </p:nvSpPr>
        <p:spPr>
          <a:xfrm>
            <a:off x="876300" y="1612900"/>
            <a:ext cx="14490700" cy="6794500"/>
          </a:xfrm>
          <a:prstGeom prst="rect">
            <a:avLst/>
          </a:prstGeom>
          <a:solidFill>
            <a:srgbClr val="000000">
              <a:alpha val="0"/>
            </a:srgbClr>
          </a:solidFill>
        </p:spPr>
      </p:sp>
      <p:sp>
        <p:nvSpPr>
          <p:cNvPr id="5" name="AutoShape 5"/>
          <p:cNvSpPr/>
          <p:nvPr/>
        </p:nvSpPr>
        <p:spPr>
          <a:xfrm>
            <a:off x="876300" y="1612900"/>
            <a:ext cx="14490700" cy="1511300"/>
          </a:xfrm>
          <a:prstGeom prst="rect">
            <a:avLst/>
          </a:prstGeom>
          <a:solidFill>
            <a:srgbClr val="000000">
              <a:alpha val="0"/>
            </a:srgbClr>
          </a:solidFill>
        </p:spPr>
      </p:sp>
      <p:sp>
        <p:nvSpPr>
          <p:cNvPr id="6" name="AutoShape 6"/>
          <p:cNvSpPr/>
          <p:nvPr/>
        </p:nvSpPr>
        <p:spPr>
          <a:xfrm>
            <a:off x="876300" y="1612900"/>
            <a:ext cx="1803400" cy="1511300"/>
          </a:xfrm>
          <a:prstGeom prst="roundRect">
            <a:avLst>
              <a:gd name="adj" fmla="val 5882"/>
            </a:avLst>
          </a:prstGeom>
          <a:solidFill>
            <a:srgbClr val="D1D1D1"/>
          </a:solidFill>
        </p:spPr>
      </p:sp>
      <p:sp>
        <p:nvSpPr>
          <p:cNvPr id="7" name="AutoShape 7"/>
          <p:cNvSpPr/>
          <p:nvPr/>
        </p:nvSpPr>
        <p:spPr>
          <a:xfrm>
            <a:off x="2806700" y="3111500"/>
            <a:ext cx="12420600" cy="12700"/>
          </a:xfrm>
          <a:prstGeom prst="rect">
            <a:avLst/>
          </a:prstGeom>
          <a:solidFill>
            <a:srgbClr val="A6A6A6"/>
          </a:solidFill>
        </p:spPr>
      </p:sp>
      <p:sp>
        <p:nvSpPr>
          <p:cNvPr id="8" name="AutoShape 8"/>
          <p:cNvSpPr/>
          <p:nvPr/>
        </p:nvSpPr>
        <p:spPr>
          <a:xfrm>
            <a:off x="876300" y="3251200"/>
            <a:ext cx="14490700" cy="1511300"/>
          </a:xfrm>
          <a:prstGeom prst="rect">
            <a:avLst/>
          </a:prstGeom>
          <a:solidFill>
            <a:srgbClr val="000000">
              <a:alpha val="0"/>
            </a:srgbClr>
          </a:solidFill>
        </p:spPr>
      </p:sp>
      <p:sp>
        <p:nvSpPr>
          <p:cNvPr id="9" name="AutoShape 9"/>
          <p:cNvSpPr/>
          <p:nvPr/>
        </p:nvSpPr>
        <p:spPr>
          <a:xfrm>
            <a:off x="876300" y="3251200"/>
            <a:ext cx="3619500" cy="1511300"/>
          </a:xfrm>
          <a:prstGeom prst="roundRect">
            <a:avLst>
              <a:gd name="adj" fmla="val 5882"/>
            </a:avLst>
          </a:prstGeom>
          <a:solidFill>
            <a:srgbClr val="D1D1D1"/>
          </a:solidFill>
        </p:spPr>
      </p:sp>
      <p:sp>
        <p:nvSpPr>
          <p:cNvPr id="10" name="AutoShape 10"/>
          <p:cNvSpPr/>
          <p:nvPr/>
        </p:nvSpPr>
        <p:spPr>
          <a:xfrm>
            <a:off x="4622800" y="4749800"/>
            <a:ext cx="10604500" cy="12700"/>
          </a:xfrm>
          <a:prstGeom prst="rect">
            <a:avLst/>
          </a:prstGeom>
          <a:solidFill>
            <a:srgbClr val="A6A6A6"/>
          </a:solidFill>
        </p:spPr>
      </p:sp>
      <p:sp>
        <p:nvSpPr>
          <p:cNvPr id="11" name="AutoShape 11"/>
          <p:cNvSpPr/>
          <p:nvPr/>
        </p:nvSpPr>
        <p:spPr>
          <a:xfrm>
            <a:off x="876300" y="4889500"/>
            <a:ext cx="14490700" cy="1511300"/>
          </a:xfrm>
          <a:prstGeom prst="rect">
            <a:avLst/>
          </a:prstGeom>
          <a:solidFill>
            <a:srgbClr val="000000">
              <a:alpha val="0"/>
            </a:srgbClr>
          </a:solidFill>
        </p:spPr>
      </p:sp>
      <p:sp>
        <p:nvSpPr>
          <p:cNvPr id="12" name="AutoShape 12"/>
          <p:cNvSpPr/>
          <p:nvPr/>
        </p:nvSpPr>
        <p:spPr>
          <a:xfrm>
            <a:off x="876300" y="4889500"/>
            <a:ext cx="5422900" cy="1511300"/>
          </a:xfrm>
          <a:prstGeom prst="roundRect">
            <a:avLst>
              <a:gd name="adj" fmla="val 5882"/>
            </a:avLst>
          </a:prstGeom>
          <a:solidFill>
            <a:srgbClr val="D1D1D1"/>
          </a:solidFill>
        </p:spPr>
      </p:sp>
      <p:sp>
        <p:nvSpPr>
          <p:cNvPr id="13" name="AutoShape 13"/>
          <p:cNvSpPr/>
          <p:nvPr/>
        </p:nvSpPr>
        <p:spPr>
          <a:xfrm>
            <a:off x="6438900" y="6388100"/>
            <a:ext cx="8801100" cy="12700"/>
          </a:xfrm>
          <a:prstGeom prst="rect">
            <a:avLst/>
          </a:prstGeom>
          <a:solidFill>
            <a:srgbClr val="A6A6A6"/>
          </a:solidFill>
        </p:spPr>
      </p:sp>
      <p:sp>
        <p:nvSpPr>
          <p:cNvPr id="14" name="AutoShape 14"/>
          <p:cNvSpPr/>
          <p:nvPr/>
        </p:nvSpPr>
        <p:spPr>
          <a:xfrm>
            <a:off x="876300" y="6527800"/>
            <a:ext cx="14490700" cy="1879600"/>
          </a:xfrm>
          <a:prstGeom prst="rect">
            <a:avLst/>
          </a:prstGeom>
          <a:solidFill>
            <a:srgbClr val="000000">
              <a:alpha val="0"/>
            </a:srgbClr>
          </a:solidFill>
        </p:spPr>
      </p:sp>
      <p:sp>
        <p:nvSpPr>
          <p:cNvPr id="15" name="AutoShape 15"/>
          <p:cNvSpPr/>
          <p:nvPr/>
        </p:nvSpPr>
        <p:spPr>
          <a:xfrm>
            <a:off x="876300" y="6527800"/>
            <a:ext cx="7239000" cy="1879600"/>
          </a:xfrm>
          <a:prstGeom prst="roundRect">
            <a:avLst>
              <a:gd name="adj" fmla="val 4729"/>
            </a:avLst>
          </a:prstGeom>
          <a:solidFill>
            <a:srgbClr val="D1D1D1"/>
          </a:solidFill>
        </p:spPr>
      </p:sp>
      <p:sp>
        <p:nvSpPr>
          <p:cNvPr id="16" name="AutoShape 16"/>
          <p:cNvSpPr/>
          <p:nvPr/>
        </p:nvSpPr>
        <p:spPr>
          <a:xfrm>
            <a:off x="8242300" y="8407400"/>
            <a:ext cx="6985000" cy="12700"/>
          </a:xfrm>
          <a:prstGeom prst="rect">
            <a:avLst/>
          </a:prstGeom>
          <a:solidFill>
            <a:srgbClr val="A6A6A6"/>
          </a:solidFill>
        </p:spPr>
      </p:sp>
      <p:sp>
        <p:nvSpPr>
          <p:cNvPr id="17" name="TextBox 17"/>
          <p:cNvSpPr txBox="1"/>
          <p:nvPr/>
        </p:nvSpPr>
        <p:spPr>
          <a:xfrm>
            <a:off x="876300" y="723900"/>
            <a:ext cx="14490700" cy="596900"/>
          </a:xfrm>
          <a:prstGeom prst="rect">
            <a:avLst/>
          </a:prstGeom>
          <a:solidFill>
            <a:srgbClr val="000000">
              <a:alpha val="0"/>
            </a:srgbClr>
          </a:solidFill>
        </p:spPr>
        <p:txBody>
          <a:bodyPr lIns="0" tIns="0" rIns="0" bIns="0" rtlCol="0" anchor="ctr"/>
          <a:lstStyle/>
          <a:p>
            <a:pPr indent="0" algn="l">
              <a:lnSpc>
                <a:spcPct val="120000"/>
              </a:lnSpc>
              <a:defRPr/>
            </a:pPr>
            <a:r>
              <a:rPr lang="en-US" sz="3900" b="1">
                <a:solidFill>
                  <a:srgbClr val="000000"/>
                </a:solidFill>
                <a:latin typeface="Ubuntu"/>
              </a:rPr>
              <a:t>Future Work: Pathway to Real-World Deployment</a:t>
            </a:r>
            <a:endParaRPr lang="en-US" sz="1100"/>
          </a:p>
        </p:txBody>
      </p:sp>
      <p:sp>
        <p:nvSpPr>
          <p:cNvPr id="18" name="TextBox 18"/>
          <p:cNvSpPr txBox="1"/>
          <p:nvPr/>
        </p:nvSpPr>
        <p:spPr>
          <a:xfrm>
            <a:off x="1689100" y="2171700"/>
            <a:ext cx="304800" cy="368300"/>
          </a:xfrm>
          <a:prstGeom prst="rect">
            <a:avLst/>
          </a:prstGeom>
          <a:solidFill>
            <a:srgbClr val="000000">
              <a:alpha val="0"/>
            </a:srgbClr>
          </a:solidFill>
        </p:spPr>
        <p:txBody>
          <a:bodyPr lIns="0" tIns="0" rIns="0" bIns="0" rtlCol="0" anchor="ctr"/>
          <a:lstStyle/>
          <a:p>
            <a:pPr indent="0" algn="l">
              <a:lnSpc>
                <a:spcPct val="120000"/>
              </a:lnSpc>
              <a:defRPr/>
            </a:pPr>
            <a:r>
              <a:rPr lang="en-US" sz="2400" b="1">
                <a:solidFill>
                  <a:srgbClr val="000000"/>
                </a:solidFill>
                <a:highlight>
                  <a:srgbClr val="000000">
                    <a:alpha val="0"/>
                  </a:srgbClr>
                </a:highlight>
                <a:latin typeface="Ubuntu"/>
              </a:rPr>
              <a:t>1</a:t>
            </a:r>
            <a:endParaRPr lang="en-US" sz="1100"/>
          </a:p>
        </p:txBody>
      </p:sp>
      <p:sp>
        <p:nvSpPr>
          <p:cNvPr id="19" name="TextBox 19"/>
          <p:cNvSpPr txBox="1"/>
          <p:nvPr/>
        </p:nvSpPr>
        <p:spPr>
          <a:xfrm>
            <a:off x="2933700" y="1854200"/>
            <a:ext cx="8597900" cy="444500"/>
          </a:xfrm>
          <a:prstGeom prst="rect">
            <a:avLst/>
          </a:prstGeom>
          <a:solidFill>
            <a:srgbClr val="000000">
              <a:alpha val="0"/>
            </a:srgbClr>
          </a:solidFill>
        </p:spPr>
        <p:txBody>
          <a:bodyPr lIns="0" tIns="0" rIns="0" bIns="0" rtlCol="0" anchor="ctr"/>
          <a:lstStyle/>
          <a:p>
            <a:pPr indent="0" algn="l">
              <a:lnSpc>
                <a:spcPct val="120000"/>
              </a:lnSpc>
              <a:defRPr/>
            </a:pPr>
            <a:r>
              <a:rPr lang="en-US" sz="2900" b="1">
                <a:solidFill>
                  <a:srgbClr val="000000"/>
                </a:solidFill>
                <a:latin typeface="Ubuntu"/>
              </a:rPr>
              <a:t>Step 1: Device Integration</a:t>
            </a:r>
            <a:endParaRPr lang="en-US" sz="1100"/>
          </a:p>
        </p:txBody>
      </p:sp>
      <p:sp>
        <p:nvSpPr>
          <p:cNvPr id="20" name="TextBox 20"/>
          <p:cNvSpPr txBox="1"/>
          <p:nvPr/>
        </p:nvSpPr>
        <p:spPr>
          <a:xfrm>
            <a:off x="2603500" y="3810000"/>
            <a:ext cx="304800" cy="368300"/>
          </a:xfrm>
          <a:prstGeom prst="rect">
            <a:avLst/>
          </a:prstGeom>
          <a:solidFill>
            <a:srgbClr val="000000">
              <a:alpha val="0"/>
            </a:srgbClr>
          </a:solidFill>
        </p:spPr>
        <p:txBody>
          <a:bodyPr lIns="0" tIns="0" rIns="0" bIns="0" rtlCol="0" anchor="ctr"/>
          <a:lstStyle/>
          <a:p>
            <a:pPr indent="0" algn="l">
              <a:lnSpc>
                <a:spcPct val="120000"/>
              </a:lnSpc>
              <a:defRPr/>
            </a:pPr>
            <a:r>
              <a:rPr lang="en-US" sz="2400" b="1">
                <a:solidFill>
                  <a:srgbClr val="000000"/>
                </a:solidFill>
                <a:highlight>
                  <a:srgbClr val="000000">
                    <a:alpha val="0"/>
                  </a:srgbClr>
                </a:highlight>
                <a:latin typeface="Ubuntu"/>
              </a:rPr>
              <a:t>2</a:t>
            </a:r>
            <a:endParaRPr lang="en-US" sz="1100"/>
          </a:p>
        </p:txBody>
      </p:sp>
      <p:sp>
        <p:nvSpPr>
          <p:cNvPr id="21" name="TextBox 21"/>
          <p:cNvSpPr txBox="1"/>
          <p:nvPr/>
        </p:nvSpPr>
        <p:spPr>
          <a:xfrm>
            <a:off x="4749800" y="3492500"/>
            <a:ext cx="9207500" cy="444500"/>
          </a:xfrm>
          <a:prstGeom prst="rect">
            <a:avLst/>
          </a:prstGeom>
          <a:solidFill>
            <a:srgbClr val="000000">
              <a:alpha val="0"/>
            </a:srgbClr>
          </a:solidFill>
        </p:spPr>
        <p:txBody>
          <a:bodyPr lIns="0" tIns="0" rIns="0" bIns="0" rtlCol="0" anchor="ctr"/>
          <a:lstStyle/>
          <a:p>
            <a:pPr indent="0" algn="l">
              <a:lnSpc>
                <a:spcPct val="120000"/>
              </a:lnSpc>
              <a:defRPr/>
            </a:pPr>
            <a:r>
              <a:rPr lang="en-US" sz="2900" b="1">
                <a:solidFill>
                  <a:srgbClr val="000000"/>
                </a:solidFill>
                <a:latin typeface="Ubuntu"/>
              </a:rPr>
              <a:t>Step 2: Adaptive Baselines</a:t>
            </a:r>
            <a:endParaRPr lang="en-US" sz="1100"/>
          </a:p>
        </p:txBody>
      </p:sp>
      <p:sp>
        <p:nvSpPr>
          <p:cNvPr id="22" name="TextBox 22"/>
          <p:cNvSpPr txBox="1"/>
          <p:nvPr/>
        </p:nvSpPr>
        <p:spPr>
          <a:xfrm>
            <a:off x="3505200" y="5448300"/>
            <a:ext cx="304800" cy="368300"/>
          </a:xfrm>
          <a:prstGeom prst="rect">
            <a:avLst/>
          </a:prstGeom>
          <a:solidFill>
            <a:srgbClr val="000000">
              <a:alpha val="0"/>
            </a:srgbClr>
          </a:solidFill>
        </p:spPr>
        <p:txBody>
          <a:bodyPr lIns="0" tIns="0" rIns="0" bIns="0" rtlCol="0" anchor="ctr"/>
          <a:lstStyle/>
          <a:p>
            <a:pPr indent="0" algn="l">
              <a:lnSpc>
                <a:spcPct val="120000"/>
              </a:lnSpc>
              <a:defRPr/>
            </a:pPr>
            <a:r>
              <a:rPr lang="en-US" sz="2400" b="1">
                <a:solidFill>
                  <a:srgbClr val="000000"/>
                </a:solidFill>
                <a:highlight>
                  <a:srgbClr val="000000">
                    <a:alpha val="0"/>
                  </a:srgbClr>
                </a:highlight>
                <a:latin typeface="Ubuntu"/>
              </a:rPr>
              <a:t>3</a:t>
            </a:r>
            <a:endParaRPr lang="en-US" sz="1100"/>
          </a:p>
        </p:txBody>
      </p:sp>
      <p:sp>
        <p:nvSpPr>
          <p:cNvPr id="23" name="TextBox 23"/>
          <p:cNvSpPr txBox="1"/>
          <p:nvPr/>
        </p:nvSpPr>
        <p:spPr>
          <a:xfrm>
            <a:off x="6565900" y="5130800"/>
            <a:ext cx="6388100" cy="444500"/>
          </a:xfrm>
          <a:prstGeom prst="rect">
            <a:avLst/>
          </a:prstGeom>
          <a:solidFill>
            <a:srgbClr val="000000">
              <a:alpha val="0"/>
            </a:srgbClr>
          </a:solidFill>
        </p:spPr>
        <p:txBody>
          <a:bodyPr lIns="0" tIns="0" rIns="0" bIns="0" rtlCol="0" anchor="ctr"/>
          <a:lstStyle/>
          <a:p>
            <a:pPr indent="0" algn="l">
              <a:lnSpc>
                <a:spcPct val="120000"/>
              </a:lnSpc>
              <a:defRPr/>
            </a:pPr>
            <a:r>
              <a:rPr lang="en-US" sz="2900" b="1">
                <a:solidFill>
                  <a:srgbClr val="000000"/>
                </a:solidFill>
                <a:latin typeface="Ubuntu"/>
              </a:rPr>
              <a:t>Step 3: Scalability Testing</a:t>
            </a:r>
            <a:endParaRPr lang="en-US" sz="1100"/>
          </a:p>
        </p:txBody>
      </p:sp>
      <p:sp>
        <p:nvSpPr>
          <p:cNvPr id="24" name="TextBox 24"/>
          <p:cNvSpPr txBox="1"/>
          <p:nvPr/>
        </p:nvSpPr>
        <p:spPr>
          <a:xfrm>
            <a:off x="4406900" y="7277100"/>
            <a:ext cx="304800" cy="368300"/>
          </a:xfrm>
          <a:prstGeom prst="rect">
            <a:avLst/>
          </a:prstGeom>
          <a:solidFill>
            <a:srgbClr val="000000">
              <a:alpha val="0"/>
            </a:srgbClr>
          </a:solidFill>
        </p:spPr>
        <p:txBody>
          <a:bodyPr lIns="0" tIns="0" rIns="0" bIns="0" rtlCol="0" anchor="ctr"/>
          <a:lstStyle/>
          <a:p>
            <a:pPr indent="0" algn="l">
              <a:lnSpc>
                <a:spcPct val="120000"/>
              </a:lnSpc>
              <a:defRPr/>
            </a:pPr>
            <a:r>
              <a:rPr lang="en-US" sz="2400" b="1">
                <a:solidFill>
                  <a:srgbClr val="000000"/>
                </a:solidFill>
                <a:highlight>
                  <a:srgbClr val="000000">
                    <a:alpha val="0"/>
                  </a:srgbClr>
                </a:highlight>
                <a:latin typeface="Ubuntu"/>
              </a:rPr>
              <a:t>4</a:t>
            </a:r>
            <a:endParaRPr lang="en-US" sz="1100"/>
          </a:p>
        </p:txBody>
      </p:sp>
      <p:sp>
        <p:nvSpPr>
          <p:cNvPr id="25" name="TextBox 25"/>
          <p:cNvSpPr txBox="1"/>
          <p:nvPr/>
        </p:nvSpPr>
        <p:spPr>
          <a:xfrm>
            <a:off x="8369300" y="6769100"/>
            <a:ext cx="6731000" cy="444500"/>
          </a:xfrm>
          <a:prstGeom prst="rect">
            <a:avLst/>
          </a:prstGeom>
          <a:solidFill>
            <a:srgbClr val="000000">
              <a:alpha val="0"/>
            </a:srgbClr>
          </a:solidFill>
        </p:spPr>
        <p:txBody>
          <a:bodyPr lIns="0" tIns="0" rIns="0" bIns="0" rtlCol="0" anchor="ctr"/>
          <a:lstStyle/>
          <a:p>
            <a:pPr indent="0" algn="l">
              <a:lnSpc>
                <a:spcPct val="120000"/>
              </a:lnSpc>
              <a:defRPr/>
            </a:pPr>
            <a:r>
              <a:rPr lang="en-US" sz="2900" b="1">
                <a:solidFill>
                  <a:srgbClr val="000000"/>
                </a:solidFill>
                <a:latin typeface="Ubuntu"/>
              </a:rPr>
              <a:t>Step 4: Multi-objective Optimization</a:t>
            </a:r>
            <a:endParaRPr lang="en-US" sz="1100"/>
          </a:p>
        </p:txBody>
      </p:sp>
      <p:sp>
        <p:nvSpPr>
          <p:cNvPr id="26" name="TextBox 26"/>
          <p:cNvSpPr txBox="1"/>
          <p:nvPr/>
        </p:nvSpPr>
        <p:spPr>
          <a:xfrm>
            <a:off x="2933700" y="2489200"/>
            <a:ext cx="8597900" cy="368300"/>
          </a:xfrm>
          <a:prstGeom prst="rect">
            <a:avLst/>
          </a:prstGeom>
          <a:solidFill>
            <a:srgbClr val="000000">
              <a:alpha val="0"/>
            </a:srgbClr>
          </a:solidFill>
        </p:spPr>
        <p:txBody>
          <a:bodyPr lIns="0" tIns="0" rIns="0" bIns="0" rtlCol="0" anchor="ctr"/>
          <a:lstStyle/>
          <a:p>
            <a:pPr indent="0" algn="l">
              <a:lnSpc>
                <a:spcPct val="150000"/>
              </a:lnSpc>
              <a:defRPr/>
            </a:pPr>
            <a:r>
              <a:rPr lang="en-US" sz="1900" b="1">
                <a:solidFill>
                  <a:srgbClr val="000000"/>
                </a:solidFill>
                <a:latin typeface="Poppins"/>
              </a:rPr>
              <a:t>Integration with physical field devices for true operational telemetry</a:t>
            </a:r>
            <a:endParaRPr lang="en-US" sz="1100"/>
          </a:p>
        </p:txBody>
      </p:sp>
      <p:sp>
        <p:nvSpPr>
          <p:cNvPr id="27" name="TextBox 27"/>
          <p:cNvSpPr txBox="1"/>
          <p:nvPr/>
        </p:nvSpPr>
        <p:spPr>
          <a:xfrm>
            <a:off x="4749800" y="4127500"/>
            <a:ext cx="9207500" cy="368300"/>
          </a:xfrm>
          <a:prstGeom prst="rect">
            <a:avLst/>
          </a:prstGeom>
          <a:solidFill>
            <a:srgbClr val="000000">
              <a:alpha val="0"/>
            </a:srgbClr>
          </a:solidFill>
        </p:spPr>
        <p:txBody>
          <a:bodyPr lIns="0" tIns="0" rIns="0" bIns="0" rtlCol="0" anchor="ctr"/>
          <a:lstStyle/>
          <a:p>
            <a:pPr indent="0" algn="l">
              <a:lnSpc>
                <a:spcPct val="150000"/>
              </a:lnSpc>
              <a:defRPr/>
            </a:pPr>
            <a:r>
              <a:rPr lang="en-US" sz="1900" b="1">
                <a:solidFill>
                  <a:srgbClr val="000000"/>
                </a:solidFill>
                <a:latin typeface="Poppins"/>
              </a:rPr>
              <a:t>Adaptive baseline learning replacing hand-engineered reference values</a:t>
            </a:r>
            <a:endParaRPr lang="en-US" sz="1100"/>
          </a:p>
        </p:txBody>
      </p:sp>
      <p:sp>
        <p:nvSpPr>
          <p:cNvPr id="28" name="TextBox 28"/>
          <p:cNvSpPr txBox="1"/>
          <p:nvPr/>
        </p:nvSpPr>
        <p:spPr>
          <a:xfrm>
            <a:off x="6565900" y="5765800"/>
            <a:ext cx="6388100" cy="368300"/>
          </a:xfrm>
          <a:prstGeom prst="rect">
            <a:avLst/>
          </a:prstGeom>
          <a:solidFill>
            <a:srgbClr val="000000">
              <a:alpha val="0"/>
            </a:srgbClr>
          </a:solidFill>
        </p:spPr>
        <p:txBody>
          <a:bodyPr lIns="0" tIns="0" rIns="0" bIns="0" rtlCol="0" anchor="ctr"/>
          <a:lstStyle/>
          <a:p>
            <a:pPr indent="0" algn="l">
              <a:lnSpc>
                <a:spcPct val="150000"/>
              </a:lnSpc>
              <a:defRPr/>
            </a:pPr>
            <a:r>
              <a:rPr lang="en-US" sz="1900" b="1">
                <a:solidFill>
                  <a:srgbClr val="000000"/>
                </a:solidFill>
                <a:latin typeface="Poppins"/>
              </a:rPr>
              <a:t>Extended scalability testing beyond N=500 agents</a:t>
            </a:r>
            <a:endParaRPr lang="en-US" sz="1100"/>
          </a:p>
        </p:txBody>
      </p:sp>
      <p:sp>
        <p:nvSpPr>
          <p:cNvPr id="29" name="TextBox 29"/>
          <p:cNvSpPr txBox="1"/>
          <p:nvPr/>
        </p:nvSpPr>
        <p:spPr>
          <a:xfrm>
            <a:off x="8369300" y="7404100"/>
            <a:ext cx="6731000" cy="749300"/>
          </a:xfrm>
          <a:prstGeom prst="rect">
            <a:avLst/>
          </a:prstGeom>
          <a:solidFill>
            <a:srgbClr val="000000">
              <a:alpha val="0"/>
            </a:srgbClr>
          </a:solidFill>
        </p:spPr>
        <p:txBody>
          <a:bodyPr lIns="0" tIns="0" rIns="0" bIns="0" rtlCol="0" anchor="ctr"/>
          <a:lstStyle/>
          <a:p>
            <a:pPr indent="0" algn="l">
              <a:lnSpc>
                <a:spcPct val="150000"/>
              </a:lnSpc>
              <a:defRPr/>
            </a:pPr>
            <a:r>
              <a:rPr lang="en-US" sz="1900" b="1">
                <a:solidFill>
                  <a:srgbClr val="000000"/>
                </a:solidFill>
                <a:latin typeface="Poppins"/>
              </a:rPr>
              <a:t>Multi-objective optimization balancing mitigation, cost, and latency</a:t>
            </a:r>
            <a:endParaRPr lang="en-US" sz="110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16256000" cy="9144000"/>
          </a:xfrm>
          <a:prstGeom prst="rect">
            <a:avLst/>
          </a:prstGeom>
          <a:solidFill>
            <a:srgbClr val="0D0A2C">
              <a:alpha val="74902"/>
            </a:srgbClr>
          </a:solidFill>
        </p:spPr>
      </p:sp>
      <p:pic>
        <p:nvPicPr>
          <p:cNvPr id="3" name="Picture 3"/>
          <p:cNvPicPr>
            <a:picLocks noChangeAspect="1"/>
          </p:cNvPicPr>
          <p:nvPr/>
        </p:nvPicPr>
        <p:blipFill>
          <a:blip r:embed="rId2"/>
          <a:srcRect t="56" b="56"/>
          <a:stretch>
            <a:fillRect/>
          </a:stretch>
        </p:blipFill>
        <p:spPr>
          <a:xfrm>
            <a:off x="0" y="0"/>
            <a:ext cx="16256000" cy="9144000"/>
          </a:xfrm>
          <a:prstGeom prst="rect">
            <a:avLst/>
          </a:prstGeom>
        </p:spPr>
      </p:pic>
      <p:pic>
        <p:nvPicPr>
          <p:cNvPr id="4" name="Picture 4"/>
          <p:cNvPicPr>
            <a:picLocks noChangeAspect="1"/>
          </p:cNvPicPr>
          <p:nvPr/>
        </p:nvPicPr>
        <p:blipFill>
          <a:blip r:embed="rId3"/>
          <a:srcRect t="34170" b="34170"/>
          <a:stretch>
            <a:fillRect/>
          </a:stretch>
        </p:blipFill>
        <p:spPr>
          <a:xfrm>
            <a:off x="0" y="0"/>
            <a:ext cx="16256000" cy="9144000"/>
          </a:xfrm>
          <a:prstGeom prst="roundRect">
            <a:avLst>
              <a:gd name="adj" fmla="val 2638"/>
            </a:avLst>
          </a:prstGeom>
        </p:spPr>
      </p:pic>
      <p:sp>
        <p:nvSpPr>
          <p:cNvPr id="5" name="AutoShape 5"/>
          <p:cNvSpPr/>
          <p:nvPr/>
        </p:nvSpPr>
        <p:spPr>
          <a:xfrm>
            <a:off x="0" y="0"/>
            <a:ext cx="16256000" cy="9144000"/>
          </a:xfrm>
          <a:prstGeom prst="roundRect">
            <a:avLst>
              <a:gd name="adj" fmla="val 2638"/>
            </a:avLst>
          </a:prstGeom>
          <a:solidFill>
            <a:srgbClr val="FFFFFF">
              <a:alpha val="60000"/>
            </a:srgbClr>
          </a:solidFill>
        </p:spPr>
      </p:sp>
      <p:sp>
        <p:nvSpPr>
          <p:cNvPr id="6" name="TextBox 6"/>
          <p:cNvSpPr txBox="1"/>
          <p:nvPr/>
        </p:nvSpPr>
        <p:spPr>
          <a:xfrm>
            <a:off x="876300" y="3289300"/>
            <a:ext cx="14490700" cy="749300"/>
          </a:xfrm>
          <a:prstGeom prst="rect">
            <a:avLst/>
          </a:prstGeom>
          <a:solidFill>
            <a:srgbClr val="000000">
              <a:alpha val="0"/>
            </a:srgbClr>
          </a:solidFill>
        </p:spPr>
        <p:txBody>
          <a:bodyPr lIns="0" tIns="0" rIns="0" bIns="0" rtlCol="0" anchor="ctr"/>
          <a:lstStyle/>
          <a:p>
            <a:pPr indent="0" algn="ctr">
              <a:lnSpc>
                <a:spcPct val="160000"/>
              </a:lnSpc>
              <a:defRPr/>
            </a:pPr>
            <a:r>
              <a:rPr lang="en-US" sz="4900" b="1">
                <a:solidFill>
                  <a:srgbClr val="000000"/>
                </a:solidFill>
                <a:latin typeface="Ubuntu"/>
              </a:rPr>
              <a:t>Thank You</a:t>
            </a:r>
            <a:endParaRPr lang="en-US" sz="1100"/>
          </a:p>
        </p:txBody>
      </p:sp>
      <p:sp>
        <p:nvSpPr>
          <p:cNvPr id="7" name="TextBox 7"/>
          <p:cNvSpPr txBox="1"/>
          <p:nvPr/>
        </p:nvSpPr>
        <p:spPr>
          <a:xfrm>
            <a:off x="876300" y="4330700"/>
            <a:ext cx="14490700" cy="1511300"/>
          </a:xfrm>
          <a:prstGeom prst="rect">
            <a:avLst/>
          </a:prstGeom>
          <a:solidFill>
            <a:srgbClr val="000000">
              <a:alpha val="0"/>
            </a:srgbClr>
          </a:solidFill>
        </p:spPr>
        <p:txBody>
          <a:bodyPr lIns="0" tIns="0" rIns="0" bIns="0" rtlCol="0" anchor="ctr"/>
          <a:lstStyle/>
          <a:p>
            <a:pPr indent="0" algn="ctr">
              <a:lnSpc>
                <a:spcPct val="160000"/>
              </a:lnSpc>
              <a:defRPr/>
            </a:pPr>
            <a:r>
              <a:rPr lang="en-US" sz="1600" b="1">
                <a:solidFill>
                  <a:srgbClr val="000000"/>
                </a:solidFill>
                <a:latin typeface="Ubuntu"/>
              </a:rPr>
              <a:t>Questions and Discussion - SmartGrid AI Audit Framework | Aditya Sanjay Jadhav (242050010) | Guide: Shrinivas Khedkar | VJTI Mumbai</a:t>
            </a:r>
            <a:endParaRPr lang="en-US" sz="110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activity xmlns="85fbe7e7-7a4c-4671-9cc6-f149d6f3026c"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8AA79AAB30863340830662318BB0A3A8" ma:contentTypeVersion="16" ma:contentTypeDescription="Create a new document." ma:contentTypeScope="" ma:versionID="f32602a5765b0c2843e3f8a13c6f0e8d">
  <xsd:schema xmlns:xsd="http://www.w3.org/2001/XMLSchema" xmlns:xs="http://www.w3.org/2001/XMLSchema" xmlns:p="http://schemas.microsoft.com/office/2006/metadata/properties" xmlns:ns3="c39e93df-7b1f-41a2-b706-a5f82eac8047" xmlns:ns4="85fbe7e7-7a4c-4671-9cc6-f149d6f3026c" targetNamespace="http://schemas.microsoft.com/office/2006/metadata/properties" ma:root="true" ma:fieldsID="e487a092d11d6d4f1451b6b07a944f43" ns3:_="" ns4:_="">
    <xsd:import namespace="c39e93df-7b1f-41a2-b706-a5f82eac8047"/>
    <xsd:import namespace="85fbe7e7-7a4c-4671-9cc6-f149d6f3026c"/>
    <xsd:element name="properties">
      <xsd:complexType>
        <xsd:sequence>
          <xsd:element name="documentManagement">
            <xsd:complexType>
              <xsd:all>
                <xsd:element ref="ns3:SharedWithUsers" minOccurs="0"/>
                <xsd:element ref="ns3:SharedWithDetails" minOccurs="0"/>
                <xsd:element ref="ns3:SharingHintHash" minOccurs="0"/>
                <xsd:element ref="ns4:MediaServiceMetadata" minOccurs="0"/>
                <xsd:element ref="ns4:MediaServiceFastMetadata" minOccurs="0"/>
                <xsd:element ref="ns4:MediaServiceAutoTags" minOccurs="0"/>
                <xsd:element ref="ns4:MediaServiceOCR" minOccurs="0"/>
                <xsd:element ref="ns4:MediaServiceGenerationTime" minOccurs="0"/>
                <xsd:element ref="ns4:MediaServiceEventHashCode" minOccurs="0"/>
                <xsd:element ref="ns4:MediaServiceAutoKeyPoints" minOccurs="0"/>
                <xsd:element ref="ns4:MediaServiceKeyPoints" minOccurs="0"/>
                <xsd:element ref="ns4:MediaServiceObjectDetectorVersions" minOccurs="0"/>
                <xsd:element ref="ns4:_activity" minOccurs="0"/>
                <xsd:element ref="ns4:MediaServiceDateTaken" minOccurs="0"/>
                <xsd:element ref="ns4:MediaLengthInSeconds" minOccurs="0"/>
                <xsd:element ref="ns4: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39e93df-7b1f-41a2-b706-a5f82eac8047"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SharingHintHash" ma:index="10" nillable="true" ma:displayName="Sharing Hint Hash" ma:hidden="true" ma:internalName="SharingHintHash"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85fbe7e7-7a4c-4671-9cc6-f149d6f3026c"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AutoKeyPoints" ma:index="17" nillable="true" ma:displayName="MediaServiceAutoKeyPoints" ma:hidden="true" ma:internalName="MediaServiceAutoKeyPoints" ma:readOnly="true">
      <xsd:simpleType>
        <xsd:restriction base="dms:Note"/>
      </xsd:simpleType>
    </xsd:element>
    <xsd:element name="MediaServiceKeyPoints" ma:index="18" nillable="true" ma:displayName="KeyPoints" ma:internalName="MediaServiceKeyPoints" ma:readOnly="true">
      <xsd:simpleType>
        <xsd:restriction base="dms:Note">
          <xsd:maxLength value="255"/>
        </xsd:restriction>
      </xsd:simpleType>
    </xsd:element>
    <xsd:element name="MediaServiceObjectDetectorVersions" ma:index="19" nillable="true" ma:displayName="MediaServiceObjectDetectorVersions" ma:hidden="true" ma:indexed="true" ma:internalName="MediaServiceObjectDetectorVersions" ma:readOnly="true">
      <xsd:simpleType>
        <xsd:restriction base="dms:Text"/>
      </xsd:simpleType>
    </xsd:element>
    <xsd:element name="_activity" ma:index="20" nillable="true" ma:displayName="_activity" ma:hidden="true" ma:internalName="_activity">
      <xsd:simpleType>
        <xsd:restriction base="dms:Note"/>
      </xsd:simpleType>
    </xsd:element>
    <xsd:element name="MediaServiceDateTaken" ma:index="21" nillable="true" ma:displayName="MediaServiceDateTaken" ma:hidden="true" ma:indexed="true" ma:internalName="MediaServiceDateTaken" ma:readOnly="true">
      <xsd:simpleType>
        <xsd:restriction base="dms:Text"/>
      </xsd:simpleType>
    </xsd:element>
    <xsd:element name="MediaLengthInSeconds" ma:index="22" nillable="true" ma:displayName="MediaLengthInSeconds" ma:hidden="true" ma:internalName="MediaLengthInSeconds" ma:readOnly="true">
      <xsd:simpleType>
        <xsd:restriction base="dms:Unknown"/>
      </xsd:simpleType>
    </xsd:element>
    <xsd:element name="MediaServiceSearchProperties" ma:index="23"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639C3F3-D05E-4642-AF7C-4C9EFC41CC7F}">
  <ds:schemaRefs>
    <ds:schemaRef ds:uri="http://schemas.microsoft.com/sharepoint/v3/contenttype/forms"/>
  </ds:schemaRefs>
</ds:datastoreItem>
</file>

<file path=customXml/itemProps2.xml><?xml version="1.0" encoding="utf-8"?>
<ds:datastoreItem xmlns:ds="http://schemas.openxmlformats.org/officeDocument/2006/customXml" ds:itemID="{28EC0233-1940-4BC4-9F2C-27B243FF7419}">
  <ds:schemaRefs>
    <ds:schemaRef ds:uri="http://purl.org/dc/elements/1.1/"/>
    <ds:schemaRef ds:uri="http://purl.org/dc/terms/"/>
    <ds:schemaRef ds:uri="http://purl.org/dc/dcmitype/"/>
    <ds:schemaRef ds:uri="85fbe7e7-7a4c-4671-9cc6-f149d6f3026c"/>
    <ds:schemaRef ds:uri="c39e93df-7b1f-41a2-b706-a5f82eac8047"/>
    <ds:schemaRef ds:uri="http://schemas.openxmlformats.org/package/2006/metadata/core-properties"/>
    <ds:schemaRef ds:uri="http://schemas.microsoft.com/office/2006/documentManagement/types"/>
    <ds:schemaRef ds:uri="http://schemas.microsoft.com/office/infopath/2007/PartnerControls"/>
    <ds:schemaRef ds:uri="http://schemas.microsoft.com/office/2006/metadata/properties"/>
    <ds:schemaRef ds:uri="http://www.w3.org/XML/1998/namespace"/>
  </ds:schemaRefs>
</ds:datastoreItem>
</file>

<file path=customXml/itemProps3.xml><?xml version="1.0" encoding="utf-8"?>
<ds:datastoreItem xmlns:ds="http://schemas.openxmlformats.org/officeDocument/2006/customXml" ds:itemID="{586C371F-C3D5-45D7-9B09-C3AC0F0F8D6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39e93df-7b1f-41a2-b706-a5f82eac8047"/>
    <ds:schemaRef ds:uri="85fbe7e7-7a4c-4671-9cc6-f149d6f3026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3</TotalTime>
  <Words>3345</Words>
  <Application>Microsoft Office PowerPoint</Application>
  <PresentationFormat>Custom</PresentationFormat>
  <Paragraphs>475</Paragraphs>
  <Slides>32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32</vt:i4>
      </vt:variant>
    </vt:vector>
  </HeadingPairs>
  <TitlesOfParts>
    <vt:vector size="37" baseType="lpstr">
      <vt:lpstr>Arial</vt:lpstr>
      <vt:lpstr>Calibri</vt:lpstr>
      <vt:lpstr>Poppins</vt:lpstr>
      <vt:lpstr>Ubuntu</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Aditya Jadhav</dc:creator>
  <cp:lastModifiedBy>JADHAV ADITYA SANJAY</cp:lastModifiedBy>
  <cp:revision>5</cp:revision>
  <dcterms:created xsi:type="dcterms:W3CDTF">2006-08-16T00:00:00Z</dcterms:created>
  <dcterms:modified xsi:type="dcterms:W3CDTF">2026-03-23T03:49:17Z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0x0101008AA79AAB30863340830662318BB0A3A8</vt:lpwstr>
  </property>
</Properties>
</file>