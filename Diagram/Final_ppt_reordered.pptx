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ns0:presentation xmlns:ns0="http://schemas.openxmlformats.org/presentationml/2006/main" xmlns:ns1="http://schemas.openxmlformats.org/officeDocument/2006/relationships" xmlns:ns2="http://schemas.openxmlformats.org/drawingml/2006/main" saveSubsetFonts="1">
  <ns0:sldMasterIdLst>
    <ns0:sldMasterId id="2147483648" ns1:id="rId1"/>
  </ns0:sldMasterIdLst>
  <ns0:sldIdLst>
    <ns0:sldId id="256" ns1:id="rId6"/>
    <ns0:sldId id="267" ns1:id="rId17"/>
    <ns0:sldId id="278" ns1:id="rId28"/>
    <ns0:sldId id="280" ns1:id="rId30"/>
    <ns0:sldId id="281" ns1:id="rId31"/>
    <ns0:sldId id="282" ns1:id="rId32"/>
    <ns0:sldId id="283" ns1:id="rId33"/>
    <ns0:sldId id="284" ns1:id="rId34"/>
    <ns0:sldId id="285" ns1:id="rId35"/>
    <ns0:sldId id="257" ns1:id="rId7"/>
    <ns0:sldId id="258" ns1:id="rId8"/>
    <ns0:sldId id="259" ns1:id="rId9"/>
    <ns0:sldId id="260" ns1:id="rId10"/>
    <ns0:sldId id="261" ns1:id="rId11"/>
    <ns0:sldId id="262" ns1:id="rId12"/>
    <ns0:sldId id="263" ns1:id="rId13"/>
    <ns0:sldId id="264" ns1:id="rId14"/>
    <ns0:sldId id="265" ns1:id="rId15"/>
    <ns0:sldId id="266" ns1:id="rId16"/>
    <ns0:sldId id="268" ns1:id="rId18"/>
    <ns0:sldId id="269" ns1:id="rId19"/>
    <ns0:sldId id="270" ns1:id="rId20"/>
    <ns0:sldId id="271" ns1:id="rId21"/>
    <ns0:sldId id="272" ns1:id="rId22"/>
    <ns0:sldId id="273" ns1:id="rId23"/>
    <ns0:sldId id="274" ns1:id="rId24"/>
    <ns0:sldId id="275" ns1:id="rId25"/>
    <ns0:sldId id="276" ns1:id="rId26"/>
    <ns0:sldId id="277" ns1:id="rId27"/>
    <ns0:sldId id="279" ns1:id="rId29"/>
  </ns0:sldIdLst>
  <ns0:sldSz cx="16256000" cy="9144000"/>
  <ns0:notesSz cx="6858000" cy="9144000"/>
  <ns0:defaultTextStyle>
    <ns2:defPPr>
      <ns2:defRPr lang="en-US"/>
    </ns2:defPPr>
    <ns2:lvl1pPr marL="0" algn="l" defTabSz="914400" rtl="0" eaLnBrk="1" latinLnBrk="0" hangingPunct="1">
      <ns2:defRPr sz="1800" kern="1200">
        <ns2:solidFill>
          <ns2:schemeClr val="tx1"/>
        </ns2:solidFill>
        <ns2:latin typeface="+mn-lt"/>
        <ns2:ea typeface="+mn-ea"/>
        <ns2:cs typeface="+mn-cs"/>
      </ns2:defRPr>
    </ns2:lvl1pPr>
    <ns2:lvl2pPr marL="457200" algn="l" defTabSz="914400" rtl="0" eaLnBrk="1" latinLnBrk="0" hangingPunct="1">
      <ns2:defRPr sz="1800" kern="1200">
        <ns2:solidFill>
          <ns2:schemeClr val="tx1"/>
        </ns2:solidFill>
        <ns2:latin typeface="+mn-lt"/>
        <ns2:ea typeface="+mn-ea"/>
        <ns2:cs typeface="+mn-cs"/>
      </ns2:defRPr>
    </ns2:lvl2pPr>
    <ns2:lvl3pPr marL="914400" algn="l" defTabSz="914400" rtl="0" eaLnBrk="1" latinLnBrk="0" hangingPunct="1">
      <ns2:defRPr sz="1800" kern="1200">
        <ns2:solidFill>
          <ns2:schemeClr val="tx1"/>
        </ns2:solidFill>
        <ns2:latin typeface="+mn-lt"/>
        <ns2:ea typeface="+mn-ea"/>
        <ns2:cs typeface="+mn-cs"/>
      </ns2:defRPr>
    </ns2:lvl3pPr>
    <ns2:lvl4pPr marL="1371600" algn="l" defTabSz="914400" rtl="0" eaLnBrk="1" latinLnBrk="0" hangingPunct="1">
      <ns2:defRPr sz="1800" kern="1200">
        <ns2:solidFill>
          <ns2:schemeClr val="tx1"/>
        </ns2:solidFill>
        <ns2:latin typeface="+mn-lt"/>
        <ns2:ea typeface="+mn-ea"/>
        <ns2:cs typeface="+mn-cs"/>
      </ns2:defRPr>
    </ns2:lvl4pPr>
    <ns2:lvl5pPr marL="1828800" algn="l" defTabSz="914400" rtl="0" eaLnBrk="1" latinLnBrk="0" hangingPunct="1">
      <ns2:defRPr sz="1800" kern="1200">
        <ns2:solidFill>
          <ns2:schemeClr val="tx1"/>
        </ns2:solidFill>
        <ns2:latin typeface="+mn-lt"/>
        <ns2:ea typeface="+mn-ea"/>
        <ns2:cs typeface="+mn-cs"/>
      </ns2:defRPr>
    </ns2:lvl5pPr>
    <ns2:lvl6pPr marL="2286000" algn="l" defTabSz="914400" rtl="0" eaLnBrk="1" latinLnBrk="0" hangingPunct="1">
      <ns2:defRPr sz="1800" kern="1200">
        <ns2:solidFill>
          <ns2:schemeClr val="tx1"/>
        </ns2:solidFill>
        <ns2:latin typeface="+mn-lt"/>
        <ns2:ea typeface="+mn-ea"/>
        <ns2:cs typeface="+mn-cs"/>
      </ns2:defRPr>
    </ns2:lvl6pPr>
    <ns2:lvl7pPr marL="2743200" algn="l" defTabSz="914400" rtl="0" eaLnBrk="1" latinLnBrk="0" hangingPunct="1">
      <ns2:defRPr sz="1800" kern="1200">
        <ns2:solidFill>
          <ns2:schemeClr val="tx1"/>
        </ns2:solidFill>
        <ns2:latin typeface="+mn-lt"/>
        <ns2:ea typeface="+mn-ea"/>
        <ns2:cs typeface="+mn-cs"/>
      </ns2:defRPr>
    </ns2:lvl7pPr>
    <ns2:lvl8pPr marL="3200400" algn="l" defTabSz="914400" rtl="0" eaLnBrk="1" latinLnBrk="0" hangingPunct="1">
      <ns2:defRPr sz="1800" kern="1200">
        <ns2:solidFill>
          <ns2:schemeClr val="tx1"/>
        </ns2:solidFill>
        <ns2:latin typeface="+mn-lt"/>
        <ns2:ea typeface="+mn-ea"/>
        <ns2:cs typeface="+mn-cs"/>
      </ns2:defRPr>
    </ns2:lvl8pPr>
    <ns2:lvl9pPr marL="3657600" algn="l" defTabSz="914400" rtl="0" eaLnBrk="1" latinLnBrk="0" hangingPunct="1">
      <ns2:defRPr sz="1800" kern="1200">
        <ns2:solidFill>
          <ns2:schemeClr val="tx1"/>
        </ns2:solidFill>
        <ns2:latin typeface="+mn-lt"/>
        <ns2:ea typeface="+mn-ea"/>
        <ns2:cs typeface="+mn-cs"/>
      </ns2:defRPr>
    </ns2:lvl9pPr>
  </ns0:defaultTextStyle>
</ns0: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alpha val="0"/>
          </a:srgbClr>
        </a:solidFill>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13.png" Type="http://schemas.openxmlformats.org/officeDocument/2006/relationships/image"/><Relationship Id="rId12" Target="../media/image14.png" Type="http://schemas.openxmlformats.org/officeDocument/2006/relationships/image"/><Relationship Id="rId13" Target="../media/image15.png" Type="http://schemas.openxmlformats.org/officeDocument/2006/relationships/image"/><Relationship Id="rId14" Target="../media/image16.png" Type="http://schemas.openxmlformats.org/officeDocument/2006/relationships/image"/><Relationship Id="rId15" Target="../media/image17.png" Type="http://schemas.openxmlformats.org/officeDocument/2006/relationships/image"/><Relationship Id="rId16" Target="../media/image18.png" Type="http://schemas.openxmlformats.org/officeDocument/2006/relationships/image"/><Relationship Id="rId17" Target="../media/image19.png" Type="http://schemas.openxmlformats.org/officeDocument/2006/relationships/image"/><Relationship Id="rId2" Target="../media/image1.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 Id="rId7" Target="../media/image9.png" Type="http://schemas.openxmlformats.org/officeDocument/2006/relationships/image"/><Relationship Id="rId8" Target="../media/image10.png" Type="http://schemas.openxmlformats.org/officeDocument/2006/relationships/image"/><Relationship Id="rId9" Target="../media/image1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png" Type="http://schemas.openxmlformats.org/officeDocument/2006/relationships/image"/><Relationship Id="rId11" Target="../media/image28.png" Type="http://schemas.openxmlformats.org/officeDocument/2006/relationships/image"/><Relationship Id="rId12" Target="../media/image29.png" Type="http://schemas.openxmlformats.org/officeDocument/2006/relationships/image"/><Relationship Id="rId13" Target="../media/image30.png" Type="http://schemas.openxmlformats.org/officeDocument/2006/relationships/image"/><Relationship Id="rId14" Target="../media/image31.png" Type="http://schemas.openxmlformats.org/officeDocument/2006/relationships/image"/><Relationship Id="rId15" Target="../media/image32.png" Type="http://schemas.openxmlformats.org/officeDocument/2006/relationships/image"/><Relationship Id="rId16" Target="../media/image33.png" Type="http://schemas.openxmlformats.org/officeDocument/2006/relationships/image"/><Relationship Id="rId17" Target="../media/image34.png" Type="http://schemas.openxmlformats.org/officeDocument/2006/relationships/image"/><Relationship Id="rId18" Target="../media/image35.png" Type="http://schemas.openxmlformats.org/officeDocument/2006/relationships/image"/><Relationship Id="rId19" Target="../media/image36.png" Type="http://schemas.openxmlformats.org/officeDocument/2006/relationships/image"/><Relationship Id="rId2" Target="../media/image1.png" Type="http://schemas.openxmlformats.org/officeDocument/2006/relationships/image"/><Relationship Id="rId20" Target="../media/image37.png" Type="http://schemas.openxmlformats.org/officeDocument/2006/relationships/image"/><Relationship Id="rId21" Target="../media/image38.png" Type="http://schemas.openxmlformats.org/officeDocument/2006/relationships/image"/><Relationship Id="rId22" Target="../media/image39.png" Type="http://schemas.openxmlformats.org/officeDocument/2006/relationships/image"/><Relationship Id="rId23" Target="../media/image40.pn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 Id="rId5" Target="../media/image22.png" Type="http://schemas.openxmlformats.org/officeDocument/2006/relationships/image"/><Relationship Id="rId6" Target="../media/image23.png" Type="http://schemas.openxmlformats.org/officeDocument/2006/relationships/image"/><Relationship Id="rId7" Target="../media/image24.png" Type="http://schemas.openxmlformats.org/officeDocument/2006/relationships/image"/><Relationship Id="rId8" Target="../media/image25.png" Type="http://schemas.openxmlformats.org/officeDocument/2006/relationships/image"/><Relationship Id="rId9" Target="../media/image2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1.png" Type="http://schemas.openxmlformats.org/officeDocument/2006/relationships/image"/><Relationship Id="rId4" Target="../media/image42.png" Type="http://schemas.openxmlformats.org/officeDocument/2006/relationships/image"/><Relationship Id="rId5" Target="../media/image43.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4.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5.png" Type="http://schemas.openxmlformats.org/officeDocument/2006/relationships/image"/><Relationship Id="rId4" Target="../media/image46.png" Type="http://schemas.openxmlformats.org/officeDocument/2006/relationships/image"/><Relationship Id="rId5" Target="../media/image47.png" Type="http://schemas.openxmlformats.org/officeDocument/2006/relationships/image"/><Relationship Id="rId6" Target="../media/image48.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9.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0" y="0"/>
            <a:ext cx="16256000" cy="9144000"/>
          </a:xfrm>
          <a:prstGeom prst="rect">
            <a:avLst/>
          </a:prstGeom>
          <a:solidFill>
            <a:srgbClr val="0D0A2C">
              <a:alpha val="74902"/>
            </a:srgbClr>
          </a:solidFill>
        </p:spPr>
      </p:sp>
      <p:pic>
        <p:nvPicPr>
          <p:cNvPr name="Picture 3" id="3"/>
          <p:cNvPicPr>
            <a:picLocks noChangeAspect="true"/>
          </p:cNvPicPr>
          <p:nvPr/>
        </p:nvPicPr>
        <p:blipFill>
          <a:blip r:embed="rId2"/>
          <a:srcRect t="56" b="56"/>
          <a:stretch>
            <a:fillRect/>
          </a:stretch>
        </p:blipFill>
        <p:spPr>
          <a:xfrm>
            <a:off x="0" y="0"/>
            <a:ext cx="16256000" cy="9144000"/>
          </a:xfrm>
          <a:prstGeom prst="rect">
            <a:avLst/>
          </a:prstGeom>
        </p:spPr>
      </p:pic>
      <p:pic>
        <p:nvPicPr>
          <p:cNvPr name="Picture 4" id="4"/>
          <p:cNvPicPr>
            <a:picLocks noChangeAspect="true"/>
          </p:cNvPicPr>
          <p:nvPr/>
        </p:nvPicPr>
        <p:blipFill>
          <a:blip r:embed="rId3"/>
          <a:srcRect t="56" b="56"/>
          <a:stretch>
            <a:fillRect/>
          </a:stretch>
        </p:blipFill>
        <p:spPr>
          <a:xfrm>
            <a:off x="0" y="0"/>
            <a:ext cx="16256000" cy="9144000"/>
          </a:xfrm>
          <a:prstGeom prst="roundRect">
            <a:avLst>
              <a:gd name="adj" fmla="val 2638"/>
            </a:avLst>
          </a:prstGeom>
        </p:spPr>
      </p:pic>
      <p:sp>
        <p:nvSpPr>
          <p:cNvPr name="AutoShape 5" id="5"/>
          <p:cNvSpPr/>
          <p:nvPr/>
        </p:nvSpPr>
        <p:spPr>
          <a:xfrm>
            <a:off x="0" y="0"/>
            <a:ext cx="16256000" cy="9144000"/>
          </a:xfrm>
          <a:prstGeom prst="roundRect">
            <a:avLst>
              <a:gd name="adj" fmla="val 2638"/>
            </a:avLst>
          </a:prstGeom>
          <a:solidFill>
            <a:srgbClr val="000000">
              <a:alpha val="0"/>
            </a:srgbClr>
          </a:solidFill>
        </p:spPr>
      </p:sp>
      <p:sp>
        <p:nvSpPr>
          <p:cNvPr name="TextBox 6" id="6"/>
          <p:cNvSpPr txBox="true"/>
          <p:nvPr/>
        </p:nvSpPr>
        <p:spPr>
          <a:xfrm>
            <a:off x="876300" y="2946400"/>
            <a:ext cx="14490700" cy="1511300"/>
          </a:xfrm>
          <a:prstGeom prst="rect">
            <a:avLst/>
          </a:prstGeom>
          <a:solidFill>
            <a:srgbClr val="000000">
              <a:alpha val="0"/>
            </a:srgbClr>
          </a:solidFill>
        </p:spPr>
        <p:txBody>
          <a:bodyPr anchor="ctr" rtlCol="false" rIns="0" lIns="0" tIns="0" bIns="0"/>
          <a:lstStyle/>
          <a:p>
            <a:pPr algn="ctr" indent="0">
              <a:lnSpc>
                <a:spcPct val="160000"/>
              </a:lnSpc>
              <a:defRPr/>
            </a:pPr>
            <a:r>
              <a:rPr lang="en-US"/>
              <a:t/>
            </a:r>
            <a:r>
              <a:rPr lang="en-US" sz="4900" b="true">
                <a:solidFill>
                  <a:srgbClr val="000000"/>
                </a:solidFill>
                <a:latin typeface="Ubuntu"/>
              </a:rPr>
              <a:t>SmartGrid AI Audit Framework for Cyber-Physical Monitoring and Audit Intelligence</a:t>
            </a:r>
            <a:endParaRPr lang="en-US" sz="1100"/>
          </a:p>
        </p:txBody>
      </p:sp>
      <p:sp>
        <p:nvSpPr>
          <p:cNvPr name="TextBox 7" id="7"/>
          <p:cNvSpPr txBox="true"/>
          <p:nvPr/>
        </p:nvSpPr>
        <p:spPr>
          <a:xfrm>
            <a:off x="876300" y="4749800"/>
            <a:ext cx="14490700" cy="368300"/>
          </a:xfrm>
          <a:prstGeom prst="rect">
            <a:avLst/>
          </a:prstGeom>
          <a:solidFill>
            <a:srgbClr val="000000">
              <a:alpha val="0"/>
            </a:srgbClr>
          </a:solidFill>
        </p:spPr>
        <p:txBody>
          <a:bodyPr anchor="ctr" rtlCol="false" rIns="0" lIns="0" tIns="0" bIns="0"/>
          <a:lstStyle/>
          <a:p>
            <a:pPr algn="ctr" indent="0">
              <a:lnSpc>
                <a:spcPct val="150000"/>
              </a:lnSpc>
              <a:defRPr/>
            </a:pPr>
            <a:r>
              <a:rPr lang="en-US"/>
              <a:t/>
            </a:r>
            <a:r>
              <a:rPr lang="en-US" sz="1900" b="true">
                <a:solidFill>
                  <a:srgbClr val="000000"/>
                </a:solidFill>
                <a:latin typeface="Poppins"/>
              </a:rPr>
              <a:t>M.Tech Project - Department of Computer Engineering &amp; Information Technology</a:t>
            </a:r>
            <a:endParaRPr lang="en-US" sz="1100"/>
          </a:p>
        </p:txBody>
      </p:sp>
      <p:sp>
        <p:nvSpPr>
          <p:cNvPr name="TextBox 8" id="8"/>
          <p:cNvSpPr txBox="true"/>
          <p:nvPr/>
        </p:nvSpPr>
        <p:spPr>
          <a:xfrm>
            <a:off x="876300" y="5410200"/>
            <a:ext cx="14490700" cy="469900"/>
          </a:xfrm>
          <a:prstGeom prst="rect">
            <a:avLst/>
          </a:prstGeom>
          <a:solidFill>
            <a:srgbClr val="000000">
              <a:alpha val="0"/>
            </a:srgbClr>
          </a:solidFill>
        </p:spPr>
        <p:txBody>
          <a:bodyPr anchor="ctr" rtlCol="false" rIns="0" lIns="0" tIns="0" bIns="0"/>
          <a:lstStyle/>
          <a:p>
            <a:pPr algn="ctr" indent="0">
              <a:lnSpc>
                <a:spcPct val="150000"/>
              </a:lnSpc>
              <a:defRPr/>
            </a:pPr>
            <a:r>
              <a:rPr lang="en-US"/>
              <a:t/>
            </a:r>
            <a:r>
              <a:rPr lang="en-US" sz="2400" b="true">
                <a:solidFill>
                  <a:srgbClr val="000000"/>
                </a:solidFill>
                <a:latin typeface="Poppins"/>
              </a:rPr>
              <a:t>By Aditya Sanjay Jadhav (242050010)</a:t>
            </a:r>
            <a:endParaRPr lang="en-US" sz="1100"/>
          </a:p>
        </p:txBody>
      </p:sp>
      <p:sp>
        <p:nvSpPr>
          <p:cNvPr name="TextBox 9" id="9"/>
          <p:cNvSpPr txBox="true"/>
          <p:nvPr/>
        </p:nvSpPr>
        <p:spPr>
          <a:xfrm>
            <a:off x="876300" y="5880100"/>
            <a:ext cx="14490700" cy="292100"/>
          </a:xfrm>
          <a:prstGeom prst="rect">
            <a:avLst/>
          </a:prstGeom>
          <a:solidFill>
            <a:srgbClr val="000000">
              <a:alpha val="0"/>
            </a:srgbClr>
          </a:solidFill>
        </p:spPr>
        <p:txBody>
          <a:bodyPr anchor="ctr" rtlCol="false" rIns="0" lIns="0" tIns="0" bIns="0"/>
          <a:lstStyle/>
          <a:p>
            <a:pPr algn="ctr" indent="0">
              <a:lnSpc>
                <a:spcPct val="150000"/>
              </a:lnSpc>
              <a:defRPr/>
            </a:pPr>
            <a:r>
              <a:rPr lang="en-US"/>
              <a:t/>
            </a:r>
            <a:r>
              <a:rPr lang="en-US" sz="1500" b="true">
                <a:solidFill>
                  <a:srgbClr val="000000"/>
                </a:solidFill>
                <a:latin typeface="Poppins"/>
              </a:rPr>
              <a:t>Guide: Shrinivas Khedkar | Veermata Jijabai Technological Institute, Mumbai | 2025-2026</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0" y="0"/>
            <a:ext cx="16256000" cy="9144000"/>
          </a:xfrm>
          <a:prstGeom prst="rect">
            <a:avLst/>
          </a:prstGeom>
          <a:solidFill>
            <a:srgbClr val="0D0A2C">
              <a:alpha val="74902"/>
            </a:srgbClr>
          </a:solidFill>
        </p:spPr>
      </p:sp>
      <p:pic>
        <p:nvPicPr>
          <p:cNvPr name="Picture 3" id="3"/>
          <p:cNvPicPr>
            <a:picLocks noChangeAspect="true"/>
          </p:cNvPicPr>
          <p:nvPr/>
        </p:nvPicPr>
        <p:blipFill>
          <a:blip r:embed="rId2"/>
          <a:srcRect t="56" b="56"/>
          <a:stretch>
            <a:fillRect/>
          </a:stretch>
        </p:blipFill>
        <p:spPr>
          <a:xfrm>
            <a:off x="0" y="0"/>
            <a:ext cx="16256000" cy="9144000"/>
          </a:xfrm>
          <a:prstGeom prst="rect">
            <a:avLst/>
          </a:prstGeom>
        </p:spPr>
      </p:pic>
      <p:sp>
        <p:nvSpPr>
          <p:cNvPr name="AutoShape 4" id="4"/>
          <p:cNvSpPr/>
          <p:nvPr/>
        </p:nvSpPr>
        <p:spPr>
          <a:xfrm>
            <a:off x="876300" y="3429000"/>
            <a:ext cx="14490700" cy="3162300"/>
          </a:xfrm>
          <a:prstGeom prst="rect">
            <a:avLst/>
          </a:prstGeom>
          <a:solidFill>
            <a:srgbClr val="000000">
              <a:alpha val="0"/>
            </a:srgbClr>
          </a:solidFill>
        </p:spPr>
      </p:sp>
      <p:sp>
        <p:nvSpPr>
          <p:cNvPr name="AutoShape 5" id="5"/>
          <p:cNvSpPr/>
          <p:nvPr/>
        </p:nvSpPr>
        <p:spPr>
          <a:xfrm>
            <a:off x="876300" y="3429000"/>
            <a:ext cx="3378200" cy="1968500"/>
          </a:xfrm>
          <a:prstGeom prst="rect">
            <a:avLst/>
          </a:prstGeom>
          <a:solidFill>
            <a:srgbClr val="000000">
              <a:alpha val="0"/>
            </a:srgbClr>
          </a:solidFill>
        </p:spPr>
      </p:sp>
      <p:sp>
        <p:nvSpPr>
          <p:cNvPr name="AutoShape 6" id="6"/>
          <p:cNvSpPr/>
          <p:nvPr/>
        </p:nvSpPr>
        <p:spPr>
          <a:xfrm>
            <a:off x="876300" y="3429000"/>
            <a:ext cx="558800" cy="558800"/>
          </a:xfrm>
          <a:prstGeom prst="roundRect">
            <a:avLst>
              <a:gd name="adj" fmla="val 15909"/>
            </a:avLst>
          </a:prstGeom>
          <a:solidFill>
            <a:srgbClr val="D1D1D1"/>
          </a:solidFill>
        </p:spPr>
      </p:sp>
      <p:sp>
        <p:nvSpPr>
          <p:cNvPr name="AutoShape 7" id="7"/>
          <p:cNvSpPr/>
          <p:nvPr/>
        </p:nvSpPr>
        <p:spPr>
          <a:xfrm>
            <a:off x="4572000" y="3429000"/>
            <a:ext cx="3378200" cy="1968500"/>
          </a:xfrm>
          <a:prstGeom prst="rect">
            <a:avLst/>
          </a:prstGeom>
          <a:solidFill>
            <a:srgbClr val="000000">
              <a:alpha val="0"/>
            </a:srgbClr>
          </a:solidFill>
        </p:spPr>
      </p:sp>
      <p:sp>
        <p:nvSpPr>
          <p:cNvPr name="AutoShape 8" id="8"/>
          <p:cNvSpPr/>
          <p:nvPr/>
        </p:nvSpPr>
        <p:spPr>
          <a:xfrm>
            <a:off x="4572000" y="3429000"/>
            <a:ext cx="558800" cy="558800"/>
          </a:xfrm>
          <a:prstGeom prst="roundRect">
            <a:avLst>
              <a:gd name="adj" fmla="val 15909"/>
            </a:avLst>
          </a:prstGeom>
          <a:solidFill>
            <a:srgbClr val="D1D1D1"/>
          </a:solidFill>
        </p:spPr>
      </p:sp>
      <p:sp>
        <p:nvSpPr>
          <p:cNvPr name="AutoShape 9" id="9"/>
          <p:cNvSpPr/>
          <p:nvPr/>
        </p:nvSpPr>
        <p:spPr>
          <a:xfrm>
            <a:off x="8280400" y="3429000"/>
            <a:ext cx="3378200" cy="1968500"/>
          </a:xfrm>
          <a:prstGeom prst="rect">
            <a:avLst/>
          </a:prstGeom>
          <a:solidFill>
            <a:srgbClr val="000000">
              <a:alpha val="0"/>
            </a:srgbClr>
          </a:solidFill>
        </p:spPr>
      </p:sp>
      <p:sp>
        <p:nvSpPr>
          <p:cNvPr name="AutoShape 10" id="10"/>
          <p:cNvSpPr/>
          <p:nvPr/>
        </p:nvSpPr>
        <p:spPr>
          <a:xfrm>
            <a:off x="8280400" y="3429000"/>
            <a:ext cx="558800" cy="558800"/>
          </a:xfrm>
          <a:prstGeom prst="roundRect">
            <a:avLst>
              <a:gd name="adj" fmla="val 15909"/>
            </a:avLst>
          </a:prstGeom>
          <a:solidFill>
            <a:srgbClr val="D1D1D1"/>
          </a:solidFill>
        </p:spPr>
      </p:sp>
      <p:sp>
        <p:nvSpPr>
          <p:cNvPr name="AutoShape 11" id="11"/>
          <p:cNvSpPr/>
          <p:nvPr/>
        </p:nvSpPr>
        <p:spPr>
          <a:xfrm>
            <a:off x="11976100" y="3429000"/>
            <a:ext cx="3378200" cy="1968500"/>
          </a:xfrm>
          <a:prstGeom prst="rect">
            <a:avLst/>
          </a:prstGeom>
          <a:solidFill>
            <a:srgbClr val="000000">
              <a:alpha val="0"/>
            </a:srgbClr>
          </a:solidFill>
        </p:spPr>
      </p:sp>
      <p:sp>
        <p:nvSpPr>
          <p:cNvPr name="AutoShape 12" id="12"/>
          <p:cNvSpPr/>
          <p:nvPr/>
        </p:nvSpPr>
        <p:spPr>
          <a:xfrm>
            <a:off x="11976100" y="3429000"/>
            <a:ext cx="558800" cy="558800"/>
          </a:xfrm>
          <a:prstGeom prst="roundRect">
            <a:avLst>
              <a:gd name="adj" fmla="val 15909"/>
            </a:avLst>
          </a:prstGeom>
          <a:solidFill>
            <a:srgbClr val="D1D1D1"/>
          </a:solidFill>
        </p:spPr>
      </p:sp>
      <p:sp>
        <p:nvSpPr>
          <p:cNvPr name="AutoShape 13" id="13"/>
          <p:cNvSpPr/>
          <p:nvPr/>
        </p:nvSpPr>
        <p:spPr>
          <a:xfrm>
            <a:off x="876300" y="6032500"/>
            <a:ext cx="14490700" cy="558800"/>
          </a:xfrm>
          <a:prstGeom prst="rect">
            <a:avLst/>
          </a:prstGeom>
          <a:solidFill>
            <a:srgbClr val="000000">
              <a:alpha val="0"/>
            </a:srgbClr>
          </a:solidFill>
        </p:spPr>
      </p:sp>
      <p:sp>
        <p:nvSpPr>
          <p:cNvPr name="AutoShape 14" id="14"/>
          <p:cNvSpPr/>
          <p:nvPr/>
        </p:nvSpPr>
        <p:spPr>
          <a:xfrm>
            <a:off x="876300" y="6032500"/>
            <a:ext cx="558800" cy="558800"/>
          </a:xfrm>
          <a:prstGeom prst="roundRect">
            <a:avLst>
              <a:gd name="adj" fmla="val 15909"/>
            </a:avLst>
          </a:prstGeom>
          <a:solidFill>
            <a:srgbClr val="D1D1D1"/>
          </a:solidFill>
        </p:spPr>
      </p:sp>
      <p:sp>
        <p:nvSpPr>
          <p:cNvPr name="TextBox 15" id="15"/>
          <p:cNvSpPr txBox="true"/>
          <p:nvPr/>
        </p:nvSpPr>
        <p:spPr>
          <a:xfrm>
            <a:off x="876300" y="2540000"/>
            <a:ext cx="14490700" cy="5969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3900" b="true">
                <a:solidFill>
                  <a:srgbClr val="000000"/>
                </a:solidFill>
                <a:latin typeface="Ubuntu"/>
              </a:rPr>
              <a:t>Problem Statement</a:t>
            </a:r>
            <a:endParaRPr lang="en-US" sz="1100"/>
          </a:p>
        </p:txBody>
      </p:sp>
      <p:sp>
        <p:nvSpPr>
          <p:cNvPr name="TextBox 16" id="16"/>
          <p:cNvSpPr txBox="true"/>
          <p:nvPr/>
        </p:nvSpPr>
        <p:spPr>
          <a:xfrm>
            <a:off x="1066800" y="35179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1</a:t>
            </a:r>
            <a:endParaRPr lang="en-US" sz="1100"/>
          </a:p>
        </p:txBody>
      </p:sp>
      <p:sp>
        <p:nvSpPr>
          <p:cNvPr name="TextBox 17" id="17"/>
          <p:cNvSpPr txBox="true"/>
          <p:nvPr/>
        </p:nvSpPr>
        <p:spPr>
          <a:xfrm>
            <a:off x="4775200" y="35179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2</a:t>
            </a:r>
            <a:endParaRPr lang="en-US" sz="1100"/>
          </a:p>
        </p:txBody>
      </p:sp>
      <p:sp>
        <p:nvSpPr>
          <p:cNvPr name="TextBox 18" id="18"/>
          <p:cNvSpPr txBox="true"/>
          <p:nvPr/>
        </p:nvSpPr>
        <p:spPr>
          <a:xfrm>
            <a:off x="8470900" y="35179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3</a:t>
            </a:r>
            <a:endParaRPr lang="en-US" sz="1100"/>
          </a:p>
        </p:txBody>
      </p:sp>
      <p:sp>
        <p:nvSpPr>
          <p:cNvPr name="TextBox 19" id="19"/>
          <p:cNvSpPr txBox="true"/>
          <p:nvPr/>
        </p:nvSpPr>
        <p:spPr>
          <a:xfrm>
            <a:off x="12179300" y="35179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4</a:t>
            </a:r>
            <a:endParaRPr lang="en-US" sz="1100"/>
          </a:p>
        </p:txBody>
      </p:sp>
      <p:sp>
        <p:nvSpPr>
          <p:cNvPr name="TextBox 20" id="20"/>
          <p:cNvSpPr txBox="true"/>
          <p:nvPr/>
        </p:nvSpPr>
        <p:spPr>
          <a:xfrm>
            <a:off x="1066800" y="61214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5</a:t>
            </a:r>
            <a:endParaRPr lang="en-US" sz="1100"/>
          </a:p>
        </p:txBody>
      </p:sp>
      <p:sp>
        <p:nvSpPr>
          <p:cNvPr name="TextBox 21" id="21"/>
          <p:cNvSpPr txBox="true"/>
          <p:nvPr/>
        </p:nvSpPr>
        <p:spPr>
          <a:xfrm>
            <a:off x="1689100" y="3505200"/>
            <a:ext cx="2565400" cy="1879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Static threshold-based monitoring insufficient for dynamic smart grids</a:t>
            </a:r>
            <a:endParaRPr lang="en-US" sz="1100"/>
          </a:p>
        </p:txBody>
      </p:sp>
      <p:sp>
        <p:nvSpPr>
          <p:cNvPr name="TextBox 22" id="22"/>
          <p:cNvSpPr txBox="true"/>
          <p:nvPr/>
        </p:nvSpPr>
        <p:spPr>
          <a:xfrm>
            <a:off x="5397500" y="3505200"/>
            <a:ext cx="2565400" cy="1511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Periodic audits unable to address distributed cyber-physical threats</a:t>
            </a:r>
            <a:endParaRPr lang="en-US" sz="1100"/>
          </a:p>
        </p:txBody>
      </p:sp>
      <p:sp>
        <p:nvSpPr>
          <p:cNvPr name="TextBox 23" id="23"/>
          <p:cNvSpPr txBox="true"/>
          <p:nvPr/>
        </p:nvSpPr>
        <p:spPr>
          <a:xfrm>
            <a:off x="9093200" y="3505200"/>
            <a:ext cx="2565400" cy="1879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Fixed audit schedules lead to resource wastage or missed vulnerabilities</a:t>
            </a:r>
            <a:endParaRPr lang="en-US" sz="1100"/>
          </a:p>
        </p:txBody>
      </p:sp>
      <p:sp>
        <p:nvSpPr>
          <p:cNvPr name="TextBox 24" id="24"/>
          <p:cNvSpPr txBox="true"/>
          <p:nvPr/>
        </p:nvSpPr>
        <p:spPr>
          <a:xfrm>
            <a:off x="12801600" y="3505200"/>
            <a:ext cx="2565400" cy="1130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Lack of real-time decision support for operators</a:t>
            </a:r>
            <a:endParaRPr lang="en-US" sz="1100"/>
          </a:p>
        </p:txBody>
      </p:sp>
      <p:sp>
        <p:nvSpPr>
          <p:cNvPr name="TextBox 25" id="25"/>
          <p:cNvSpPr txBox="true"/>
          <p:nvPr/>
        </p:nvSpPr>
        <p:spPr>
          <a:xfrm>
            <a:off x="1689100" y="6121400"/>
            <a:ext cx="136652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Traditional approaches do not consider both cyber and physical features</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0" y="0"/>
            <a:ext cx="16256000" cy="9144000"/>
          </a:xfrm>
          <a:prstGeom prst="rect">
            <a:avLst/>
          </a:prstGeom>
          <a:solidFill>
            <a:srgbClr val="0D0A2C">
              <a:alpha val="74902"/>
            </a:srgbClr>
          </a:solidFill>
        </p:spPr>
      </p:sp>
      <p:pic>
        <p:nvPicPr>
          <p:cNvPr name="Picture 3" id="3"/>
          <p:cNvPicPr>
            <a:picLocks noChangeAspect="true"/>
          </p:cNvPicPr>
          <p:nvPr/>
        </p:nvPicPr>
        <p:blipFill>
          <a:blip r:embed="rId2"/>
          <a:srcRect t="56" b="56"/>
          <a:stretch>
            <a:fillRect/>
          </a:stretch>
        </p:blipFill>
        <p:spPr>
          <a:xfrm>
            <a:off x="0" y="0"/>
            <a:ext cx="16256000" cy="9144000"/>
          </a:xfrm>
          <a:prstGeom prst="rect">
            <a:avLst/>
          </a:prstGeom>
        </p:spPr>
      </p:pic>
      <p:sp>
        <p:nvSpPr>
          <p:cNvPr name="AutoShape 4" id="4"/>
          <p:cNvSpPr/>
          <p:nvPr/>
        </p:nvSpPr>
        <p:spPr>
          <a:xfrm>
            <a:off x="876300" y="3606800"/>
            <a:ext cx="14490700" cy="2794000"/>
          </a:xfrm>
          <a:prstGeom prst="rect">
            <a:avLst/>
          </a:prstGeom>
          <a:solidFill>
            <a:srgbClr val="000000">
              <a:alpha val="0"/>
            </a:srgbClr>
          </a:solidFill>
        </p:spPr>
      </p:sp>
      <p:sp>
        <p:nvSpPr>
          <p:cNvPr name="AutoShape 5" id="5"/>
          <p:cNvSpPr/>
          <p:nvPr/>
        </p:nvSpPr>
        <p:spPr>
          <a:xfrm>
            <a:off x="876300" y="3606800"/>
            <a:ext cx="3378200" cy="1587500"/>
          </a:xfrm>
          <a:prstGeom prst="rect">
            <a:avLst/>
          </a:prstGeom>
          <a:solidFill>
            <a:srgbClr val="000000">
              <a:alpha val="0"/>
            </a:srgbClr>
          </a:solidFill>
        </p:spPr>
      </p:sp>
      <p:sp>
        <p:nvSpPr>
          <p:cNvPr name="AutoShape 6" id="6"/>
          <p:cNvSpPr/>
          <p:nvPr/>
        </p:nvSpPr>
        <p:spPr>
          <a:xfrm>
            <a:off x="876300" y="3606800"/>
            <a:ext cx="558800" cy="558800"/>
          </a:xfrm>
          <a:prstGeom prst="roundRect">
            <a:avLst>
              <a:gd name="adj" fmla="val 15909"/>
            </a:avLst>
          </a:prstGeom>
          <a:solidFill>
            <a:srgbClr val="D1D1D1"/>
          </a:solidFill>
        </p:spPr>
      </p:sp>
      <p:sp>
        <p:nvSpPr>
          <p:cNvPr name="AutoShape 7" id="7"/>
          <p:cNvSpPr/>
          <p:nvPr/>
        </p:nvSpPr>
        <p:spPr>
          <a:xfrm>
            <a:off x="4572000" y="3606800"/>
            <a:ext cx="3378200" cy="1587500"/>
          </a:xfrm>
          <a:prstGeom prst="rect">
            <a:avLst/>
          </a:prstGeom>
          <a:solidFill>
            <a:srgbClr val="000000">
              <a:alpha val="0"/>
            </a:srgbClr>
          </a:solidFill>
        </p:spPr>
      </p:sp>
      <p:sp>
        <p:nvSpPr>
          <p:cNvPr name="AutoShape 8" id="8"/>
          <p:cNvSpPr/>
          <p:nvPr/>
        </p:nvSpPr>
        <p:spPr>
          <a:xfrm>
            <a:off x="4572000" y="3606800"/>
            <a:ext cx="558800" cy="558800"/>
          </a:xfrm>
          <a:prstGeom prst="roundRect">
            <a:avLst>
              <a:gd name="adj" fmla="val 15909"/>
            </a:avLst>
          </a:prstGeom>
          <a:solidFill>
            <a:srgbClr val="D1D1D1"/>
          </a:solidFill>
        </p:spPr>
      </p:sp>
      <p:sp>
        <p:nvSpPr>
          <p:cNvPr name="AutoShape 9" id="9"/>
          <p:cNvSpPr/>
          <p:nvPr/>
        </p:nvSpPr>
        <p:spPr>
          <a:xfrm>
            <a:off x="8280400" y="3606800"/>
            <a:ext cx="3378200" cy="1587500"/>
          </a:xfrm>
          <a:prstGeom prst="rect">
            <a:avLst/>
          </a:prstGeom>
          <a:solidFill>
            <a:srgbClr val="000000">
              <a:alpha val="0"/>
            </a:srgbClr>
          </a:solidFill>
        </p:spPr>
      </p:sp>
      <p:sp>
        <p:nvSpPr>
          <p:cNvPr name="AutoShape 10" id="10"/>
          <p:cNvSpPr/>
          <p:nvPr/>
        </p:nvSpPr>
        <p:spPr>
          <a:xfrm>
            <a:off x="8280400" y="3606800"/>
            <a:ext cx="558800" cy="558800"/>
          </a:xfrm>
          <a:prstGeom prst="roundRect">
            <a:avLst>
              <a:gd name="adj" fmla="val 15909"/>
            </a:avLst>
          </a:prstGeom>
          <a:solidFill>
            <a:srgbClr val="D1D1D1"/>
          </a:solidFill>
        </p:spPr>
      </p:sp>
      <p:sp>
        <p:nvSpPr>
          <p:cNvPr name="AutoShape 11" id="11"/>
          <p:cNvSpPr/>
          <p:nvPr/>
        </p:nvSpPr>
        <p:spPr>
          <a:xfrm>
            <a:off x="11976100" y="3606800"/>
            <a:ext cx="3378200" cy="1587500"/>
          </a:xfrm>
          <a:prstGeom prst="rect">
            <a:avLst/>
          </a:prstGeom>
          <a:solidFill>
            <a:srgbClr val="000000">
              <a:alpha val="0"/>
            </a:srgbClr>
          </a:solidFill>
        </p:spPr>
      </p:sp>
      <p:sp>
        <p:nvSpPr>
          <p:cNvPr name="AutoShape 12" id="12"/>
          <p:cNvSpPr/>
          <p:nvPr/>
        </p:nvSpPr>
        <p:spPr>
          <a:xfrm>
            <a:off x="11976100" y="3606800"/>
            <a:ext cx="558800" cy="558800"/>
          </a:xfrm>
          <a:prstGeom prst="roundRect">
            <a:avLst>
              <a:gd name="adj" fmla="val 15909"/>
            </a:avLst>
          </a:prstGeom>
          <a:solidFill>
            <a:srgbClr val="D1D1D1"/>
          </a:solidFill>
        </p:spPr>
      </p:sp>
      <p:sp>
        <p:nvSpPr>
          <p:cNvPr name="AutoShape 13" id="13"/>
          <p:cNvSpPr/>
          <p:nvPr/>
        </p:nvSpPr>
        <p:spPr>
          <a:xfrm>
            <a:off x="876300" y="5842000"/>
            <a:ext cx="14490700" cy="558800"/>
          </a:xfrm>
          <a:prstGeom prst="rect">
            <a:avLst/>
          </a:prstGeom>
          <a:solidFill>
            <a:srgbClr val="000000">
              <a:alpha val="0"/>
            </a:srgbClr>
          </a:solidFill>
        </p:spPr>
      </p:sp>
      <p:sp>
        <p:nvSpPr>
          <p:cNvPr name="AutoShape 14" id="14"/>
          <p:cNvSpPr/>
          <p:nvPr/>
        </p:nvSpPr>
        <p:spPr>
          <a:xfrm>
            <a:off x="876300" y="5842000"/>
            <a:ext cx="558800" cy="558800"/>
          </a:xfrm>
          <a:prstGeom prst="roundRect">
            <a:avLst>
              <a:gd name="adj" fmla="val 15909"/>
            </a:avLst>
          </a:prstGeom>
          <a:solidFill>
            <a:srgbClr val="D1D1D1"/>
          </a:solidFill>
        </p:spPr>
      </p:sp>
      <p:sp>
        <p:nvSpPr>
          <p:cNvPr name="TextBox 15" id="15"/>
          <p:cNvSpPr txBox="true"/>
          <p:nvPr/>
        </p:nvSpPr>
        <p:spPr>
          <a:xfrm>
            <a:off x="876300" y="2717800"/>
            <a:ext cx="14490700" cy="5969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3900" b="true">
                <a:solidFill>
                  <a:srgbClr val="000000"/>
                </a:solidFill>
                <a:latin typeface="Ubuntu"/>
              </a:rPr>
              <a:t>Motivation</a:t>
            </a:r>
            <a:endParaRPr lang="en-US" sz="1100"/>
          </a:p>
        </p:txBody>
      </p:sp>
      <p:sp>
        <p:nvSpPr>
          <p:cNvPr name="TextBox 16" id="16"/>
          <p:cNvSpPr txBox="true"/>
          <p:nvPr/>
        </p:nvSpPr>
        <p:spPr>
          <a:xfrm>
            <a:off x="1066800" y="37084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1</a:t>
            </a:r>
            <a:endParaRPr lang="en-US" sz="1100"/>
          </a:p>
        </p:txBody>
      </p:sp>
      <p:sp>
        <p:nvSpPr>
          <p:cNvPr name="TextBox 17" id="17"/>
          <p:cNvSpPr txBox="true"/>
          <p:nvPr/>
        </p:nvSpPr>
        <p:spPr>
          <a:xfrm>
            <a:off x="4775200" y="37084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2</a:t>
            </a:r>
            <a:endParaRPr lang="en-US" sz="1100"/>
          </a:p>
        </p:txBody>
      </p:sp>
      <p:sp>
        <p:nvSpPr>
          <p:cNvPr name="TextBox 18" id="18"/>
          <p:cNvSpPr txBox="true"/>
          <p:nvPr/>
        </p:nvSpPr>
        <p:spPr>
          <a:xfrm>
            <a:off x="8470900" y="37084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3</a:t>
            </a:r>
            <a:endParaRPr lang="en-US" sz="1100"/>
          </a:p>
        </p:txBody>
      </p:sp>
      <p:sp>
        <p:nvSpPr>
          <p:cNvPr name="TextBox 19" id="19"/>
          <p:cNvSpPr txBox="true"/>
          <p:nvPr/>
        </p:nvSpPr>
        <p:spPr>
          <a:xfrm>
            <a:off x="12179300" y="37084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4</a:t>
            </a:r>
            <a:endParaRPr lang="en-US" sz="1100"/>
          </a:p>
        </p:txBody>
      </p:sp>
      <p:sp>
        <p:nvSpPr>
          <p:cNvPr name="TextBox 20" id="20"/>
          <p:cNvSpPr txBox="true"/>
          <p:nvPr/>
        </p:nvSpPr>
        <p:spPr>
          <a:xfrm>
            <a:off x="1066800" y="59309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5</a:t>
            </a:r>
            <a:endParaRPr lang="en-US" sz="1100"/>
          </a:p>
        </p:txBody>
      </p:sp>
      <p:sp>
        <p:nvSpPr>
          <p:cNvPr name="TextBox 21" id="21"/>
          <p:cNvSpPr txBox="true"/>
          <p:nvPr/>
        </p:nvSpPr>
        <p:spPr>
          <a:xfrm>
            <a:off x="1689100" y="3695700"/>
            <a:ext cx="2565400" cy="1511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Anomaly detection alone does not guide audit resource allocation</a:t>
            </a:r>
            <a:endParaRPr lang="en-US" sz="1100"/>
          </a:p>
        </p:txBody>
      </p:sp>
      <p:sp>
        <p:nvSpPr>
          <p:cNvPr name="TextBox 22" id="22"/>
          <p:cNvSpPr txBox="true"/>
          <p:nvPr/>
        </p:nvSpPr>
        <p:spPr>
          <a:xfrm>
            <a:off x="5397500" y="3695700"/>
            <a:ext cx="2565400" cy="1511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Need for audit intelligence to prioritize high-risk assets</a:t>
            </a:r>
            <a:endParaRPr lang="en-US" sz="1100"/>
          </a:p>
        </p:txBody>
      </p:sp>
      <p:sp>
        <p:nvSpPr>
          <p:cNvPr name="TextBox 23" id="23"/>
          <p:cNvSpPr txBox="true"/>
          <p:nvPr/>
        </p:nvSpPr>
        <p:spPr>
          <a:xfrm>
            <a:off x="9093200" y="3695700"/>
            <a:ext cx="2565400" cy="1511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Operators require explainability and transparency in decisions</a:t>
            </a:r>
            <a:endParaRPr lang="en-US" sz="1100"/>
          </a:p>
        </p:txBody>
      </p:sp>
      <p:sp>
        <p:nvSpPr>
          <p:cNvPr name="TextBox 24" id="24"/>
          <p:cNvSpPr txBox="true"/>
          <p:nvPr/>
        </p:nvSpPr>
        <p:spPr>
          <a:xfrm>
            <a:off x="12801600" y="3695700"/>
            <a:ext cx="2565400" cy="1511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Dynamic smart grids need adaptive monitoring and audit escalation</a:t>
            </a:r>
            <a:endParaRPr lang="en-US" sz="1100"/>
          </a:p>
        </p:txBody>
      </p:sp>
      <p:sp>
        <p:nvSpPr>
          <p:cNvPr name="TextBox 25" id="25"/>
          <p:cNvSpPr txBox="true"/>
          <p:nvPr/>
        </p:nvSpPr>
        <p:spPr>
          <a:xfrm>
            <a:off x="1689100" y="5930900"/>
            <a:ext cx="136652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Gap between detection outputs and operational actions</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0" y="0"/>
            <a:ext cx="16256000" cy="9144000"/>
          </a:xfrm>
          <a:prstGeom prst="rect">
            <a:avLst/>
          </a:prstGeom>
          <a:solidFill>
            <a:srgbClr val="0D0A2C">
              <a:alpha val="74902"/>
            </a:srgbClr>
          </a:solidFill>
        </p:spPr>
      </p:sp>
      <p:pic>
        <p:nvPicPr>
          <p:cNvPr name="Picture 3" id="3"/>
          <p:cNvPicPr>
            <a:picLocks noChangeAspect="true"/>
          </p:cNvPicPr>
          <p:nvPr/>
        </p:nvPicPr>
        <p:blipFill>
          <a:blip r:embed="rId2"/>
          <a:srcRect t="56" b="56"/>
          <a:stretch>
            <a:fillRect/>
          </a:stretch>
        </p:blipFill>
        <p:spPr>
          <a:xfrm>
            <a:off x="0" y="0"/>
            <a:ext cx="16256000" cy="9144000"/>
          </a:xfrm>
          <a:prstGeom prst="rect">
            <a:avLst/>
          </a:prstGeom>
        </p:spPr>
      </p:pic>
      <p:sp>
        <p:nvSpPr>
          <p:cNvPr name="AutoShape 4" id="4"/>
          <p:cNvSpPr/>
          <p:nvPr/>
        </p:nvSpPr>
        <p:spPr>
          <a:xfrm>
            <a:off x="876300" y="3238500"/>
            <a:ext cx="14490700" cy="3543300"/>
          </a:xfrm>
          <a:prstGeom prst="rect">
            <a:avLst/>
          </a:prstGeom>
          <a:solidFill>
            <a:srgbClr val="000000">
              <a:alpha val="0"/>
            </a:srgbClr>
          </a:solidFill>
        </p:spPr>
      </p:sp>
      <p:sp>
        <p:nvSpPr>
          <p:cNvPr name="AutoShape 5" id="5"/>
          <p:cNvSpPr/>
          <p:nvPr/>
        </p:nvSpPr>
        <p:spPr>
          <a:xfrm>
            <a:off x="876300" y="3238500"/>
            <a:ext cx="3378200" cy="2349500"/>
          </a:xfrm>
          <a:prstGeom prst="rect">
            <a:avLst/>
          </a:prstGeom>
          <a:solidFill>
            <a:srgbClr val="000000">
              <a:alpha val="0"/>
            </a:srgbClr>
          </a:solidFill>
        </p:spPr>
      </p:sp>
      <p:sp>
        <p:nvSpPr>
          <p:cNvPr name="AutoShape 6" id="6"/>
          <p:cNvSpPr/>
          <p:nvPr/>
        </p:nvSpPr>
        <p:spPr>
          <a:xfrm>
            <a:off x="876300" y="3238500"/>
            <a:ext cx="558800" cy="558800"/>
          </a:xfrm>
          <a:prstGeom prst="roundRect">
            <a:avLst>
              <a:gd name="adj" fmla="val 15909"/>
            </a:avLst>
          </a:prstGeom>
          <a:solidFill>
            <a:srgbClr val="D1D1D1"/>
          </a:solidFill>
        </p:spPr>
      </p:sp>
      <p:sp>
        <p:nvSpPr>
          <p:cNvPr name="AutoShape 7" id="7"/>
          <p:cNvSpPr/>
          <p:nvPr/>
        </p:nvSpPr>
        <p:spPr>
          <a:xfrm>
            <a:off x="4572000" y="3238500"/>
            <a:ext cx="3378200" cy="2349500"/>
          </a:xfrm>
          <a:prstGeom prst="rect">
            <a:avLst/>
          </a:prstGeom>
          <a:solidFill>
            <a:srgbClr val="000000">
              <a:alpha val="0"/>
            </a:srgbClr>
          </a:solidFill>
        </p:spPr>
      </p:sp>
      <p:sp>
        <p:nvSpPr>
          <p:cNvPr name="AutoShape 8" id="8"/>
          <p:cNvSpPr/>
          <p:nvPr/>
        </p:nvSpPr>
        <p:spPr>
          <a:xfrm>
            <a:off x="4572000" y="3238500"/>
            <a:ext cx="558800" cy="558800"/>
          </a:xfrm>
          <a:prstGeom prst="roundRect">
            <a:avLst>
              <a:gd name="adj" fmla="val 15909"/>
            </a:avLst>
          </a:prstGeom>
          <a:solidFill>
            <a:srgbClr val="D1D1D1"/>
          </a:solidFill>
        </p:spPr>
      </p:sp>
      <p:sp>
        <p:nvSpPr>
          <p:cNvPr name="AutoShape 9" id="9"/>
          <p:cNvSpPr/>
          <p:nvPr/>
        </p:nvSpPr>
        <p:spPr>
          <a:xfrm>
            <a:off x="8280400" y="3238500"/>
            <a:ext cx="3378200" cy="2349500"/>
          </a:xfrm>
          <a:prstGeom prst="rect">
            <a:avLst/>
          </a:prstGeom>
          <a:solidFill>
            <a:srgbClr val="000000">
              <a:alpha val="0"/>
            </a:srgbClr>
          </a:solidFill>
        </p:spPr>
      </p:sp>
      <p:sp>
        <p:nvSpPr>
          <p:cNvPr name="AutoShape 10" id="10"/>
          <p:cNvSpPr/>
          <p:nvPr/>
        </p:nvSpPr>
        <p:spPr>
          <a:xfrm>
            <a:off x="8280400" y="3238500"/>
            <a:ext cx="558800" cy="558800"/>
          </a:xfrm>
          <a:prstGeom prst="roundRect">
            <a:avLst>
              <a:gd name="adj" fmla="val 15909"/>
            </a:avLst>
          </a:prstGeom>
          <a:solidFill>
            <a:srgbClr val="D1D1D1"/>
          </a:solidFill>
        </p:spPr>
      </p:sp>
      <p:sp>
        <p:nvSpPr>
          <p:cNvPr name="AutoShape 11" id="11"/>
          <p:cNvSpPr/>
          <p:nvPr/>
        </p:nvSpPr>
        <p:spPr>
          <a:xfrm>
            <a:off x="11976100" y="3238500"/>
            <a:ext cx="3378200" cy="2349500"/>
          </a:xfrm>
          <a:prstGeom prst="rect">
            <a:avLst/>
          </a:prstGeom>
          <a:solidFill>
            <a:srgbClr val="000000">
              <a:alpha val="0"/>
            </a:srgbClr>
          </a:solidFill>
        </p:spPr>
      </p:sp>
      <p:sp>
        <p:nvSpPr>
          <p:cNvPr name="AutoShape 12" id="12"/>
          <p:cNvSpPr/>
          <p:nvPr/>
        </p:nvSpPr>
        <p:spPr>
          <a:xfrm>
            <a:off x="11976100" y="3238500"/>
            <a:ext cx="558800" cy="558800"/>
          </a:xfrm>
          <a:prstGeom prst="roundRect">
            <a:avLst>
              <a:gd name="adj" fmla="val 15909"/>
            </a:avLst>
          </a:prstGeom>
          <a:solidFill>
            <a:srgbClr val="D1D1D1"/>
          </a:solidFill>
        </p:spPr>
      </p:sp>
      <p:sp>
        <p:nvSpPr>
          <p:cNvPr name="AutoShape 13" id="13"/>
          <p:cNvSpPr/>
          <p:nvPr/>
        </p:nvSpPr>
        <p:spPr>
          <a:xfrm>
            <a:off x="876300" y="6223000"/>
            <a:ext cx="14490700" cy="558800"/>
          </a:xfrm>
          <a:prstGeom prst="rect">
            <a:avLst/>
          </a:prstGeom>
          <a:solidFill>
            <a:srgbClr val="000000">
              <a:alpha val="0"/>
            </a:srgbClr>
          </a:solidFill>
        </p:spPr>
      </p:sp>
      <p:sp>
        <p:nvSpPr>
          <p:cNvPr name="AutoShape 14" id="14"/>
          <p:cNvSpPr/>
          <p:nvPr/>
        </p:nvSpPr>
        <p:spPr>
          <a:xfrm>
            <a:off x="876300" y="6223000"/>
            <a:ext cx="558800" cy="558800"/>
          </a:xfrm>
          <a:prstGeom prst="roundRect">
            <a:avLst>
              <a:gd name="adj" fmla="val 15909"/>
            </a:avLst>
          </a:prstGeom>
          <a:solidFill>
            <a:srgbClr val="D1D1D1"/>
          </a:solidFill>
        </p:spPr>
      </p:sp>
      <p:sp>
        <p:nvSpPr>
          <p:cNvPr name="TextBox 15" id="15"/>
          <p:cNvSpPr txBox="true"/>
          <p:nvPr/>
        </p:nvSpPr>
        <p:spPr>
          <a:xfrm>
            <a:off x="876300" y="2349500"/>
            <a:ext cx="14490700" cy="5969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3900" b="true">
                <a:solidFill>
                  <a:srgbClr val="000000"/>
                </a:solidFill>
                <a:latin typeface="Ubuntu"/>
              </a:rPr>
              <a:t>Objectives</a:t>
            </a:r>
            <a:endParaRPr lang="en-US" sz="1100"/>
          </a:p>
        </p:txBody>
      </p:sp>
      <p:sp>
        <p:nvSpPr>
          <p:cNvPr name="TextBox 16" id="16"/>
          <p:cNvSpPr txBox="true"/>
          <p:nvPr/>
        </p:nvSpPr>
        <p:spPr>
          <a:xfrm>
            <a:off x="1066800" y="33274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1</a:t>
            </a:r>
            <a:endParaRPr lang="en-US" sz="1100"/>
          </a:p>
        </p:txBody>
      </p:sp>
      <p:sp>
        <p:nvSpPr>
          <p:cNvPr name="TextBox 17" id="17"/>
          <p:cNvSpPr txBox="true"/>
          <p:nvPr/>
        </p:nvSpPr>
        <p:spPr>
          <a:xfrm>
            <a:off x="4775200" y="33274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2</a:t>
            </a:r>
            <a:endParaRPr lang="en-US" sz="1100"/>
          </a:p>
        </p:txBody>
      </p:sp>
      <p:sp>
        <p:nvSpPr>
          <p:cNvPr name="TextBox 18" id="18"/>
          <p:cNvSpPr txBox="true"/>
          <p:nvPr/>
        </p:nvSpPr>
        <p:spPr>
          <a:xfrm>
            <a:off x="8470900" y="33274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3</a:t>
            </a:r>
            <a:endParaRPr lang="en-US" sz="1100"/>
          </a:p>
        </p:txBody>
      </p:sp>
      <p:sp>
        <p:nvSpPr>
          <p:cNvPr name="TextBox 19" id="19"/>
          <p:cNvSpPr txBox="true"/>
          <p:nvPr/>
        </p:nvSpPr>
        <p:spPr>
          <a:xfrm>
            <a:off x="12179300" y="33274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4</a:t>
            </a:r>
            <a:endParaRPr lang="en-US" sz="1100"/>
          </a:p>
        </p:txBody>
      </p:sp>
      <p:sp>
        <p:nvSpPr>
          <p:cNvPr name="TextBox 20" id="20"/>
          <p:cNvSpPr txBox="true"/>
          <p:nvPr/>
        </p:nvSpPr>
        <p:spPr>
          <a:xfrm>
            <a:off x="1066800" y="63119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5</a:t>
            </a:r>
            <a:endParaRPr lang="en-US" sz="1100"/>
          </a:p>
        </p:txBody>
      </p:sp>
      <p:sp>
        <p:nvSpPr>
          <p:cNvPr name="TextBox 21" id="21"/>
          <p:cNvSpPr txBox="true"/>
          <p:nvPr/>
        </p:nvSpPr>
        <p:spPr>
          <a:xfrm>
            <a:off x="1689100" y="3314700"/>
            <a:ext cx="2565400" cy="2260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Design cyber-physical anomaly detection using electrical and communication features</a:t>
            </a:r>
            <a:endParaRPr lang="en-US" sz="1100"/>
          </a:p>
        </p:txBody>
      </p:sp>
      <p:sp>
        <p:nvSpPr>
          <p:cNvPr name="TextBox 22" id="22"/>
          <p:cNvSpPr txBox="true"/>
          <p:nvPr/>
        </p:nvSpPr>
        <p:spPr>
          <a:xfrm>
            <a:off x="5397500" y="3314700"/>
            <a:ext cx="2565400" cy="1511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Implement explainable deviation-based scoring mechanism</a:t>
            </a:r>
            <a:endParaRPr lang="en-US" sz="1100"/>
          </a:p>
        </p:txBody>
      </p:sp>
      <p:sp>
        <p:nvSpPr>
          <p:cNvPr name="TextBox 23" id="23"/>
          <p:cNvSpPr txBox="true"/>
          <p:nvPr/>
        </p:nvSpPr>
        <p:spPr>
          <a:xfrm>
            <a:off x="9093200" y="3314700"/>
            <a:ext cx="2565400" cy="1879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Develop audit decision framework for resource-constrained environments</a:t>
            </a:r>
            <a:endParaRPr lang="en-US" sz="1100"/>
          </a:p>
        </p:txBody>
      </p:sp>
      <p:sp>
        <p:nvSpPr>
          <p:cNvPr name="TextBox 24" id="24"/>
          <p:cNvSpPr txBox="true"/>
          <p:nvPr/>
        </p:nvSpPr>
        <p:spPr>
          <a:xfrm>
            <a:off x="12801600" y="3314700"/>
            <a:ext cx="2565400" cy="1879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Integrate Rapid SCADA as live telemetry source for real-time monitoring</a:t>
            </a:r>
            <a:endParaRPr lang="en-US" sz="1100"/>
          </a:p>
        </p:txBody>
      </p:sp>
      <p:sp>
        <p:nvSpPr>
          <p:cNvPr name="TextBox 25" id="25"/>
          <p:cNvSpPr txBox="true"/>
          <p:nvPr/>
        </p:nvSpPr>
        <p:spPr>
          <a:xfrm>
            <a:off x="1689100" y="6299200"/>
            <a:ext cx="136652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Evaluate system performance across multiple grid sizes and analyze scalability</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0" y="0"/>
            <a:ext cx="16256000" cy="9144000"/>
          </a:xfrm>
          <a:prstGeom prst="rect">
            <a:avLst/>
          </a:prstGeom>
          <a:solidFill>
            <a:srgbClr val="0D0A2C">
              <a:alpha val="74902"/>
            </a:srgbClr>
          </a:solidFill>
        </p:spPr>
      </p:sp>
      <p:pic>
        <p:nvPicPr>
          <p:cNvPr name="Picture 3" id="3"/>
          <p:cNvPicPr>
            <a:picLocks noChangeAspect="true"/>
          </p:cNvPicPr>
          <p:nvPr/>
        </p:nvPicPr>
        <p:blipFill>
          <a:blip r:embed="rId2"/>
          <a:srcRect t="56" b="56"/>
          <a:stretch>
            <a:fillRect/>
          </a:stretch>
        </p:blipFill>
        <p:spPr>
          <a:xfrm>
            <a:off x="0" y="0"/>
            <a:ext cx="16256000" cy="9144000"/>
          </a:xfrm>
          <a:prstGeom prst="rect">
            <a:avLst/>
          </a:prstGeom>
        </p:spPr>
      </p:pic>
      <p:sp>
        <p:nvSpPr>
          <p:cNvPr name="AutoShape 4" id="4"/>
          <p:cNvSpPr/>
          <p:nvPr/>
        </p:nvSpPr>
        <p:spPr>
          <a:xfrm>
            <a:off x="876300" y="3429000"/>
            <a:ext cx="14490700" cy="3162300"/>
          </a:xfrm>
          <a:prstGeom prst="rect">
            <a:avLst/>
          </a:prstGeom>
          <a:solidFill>
            <a:srgbClr val="000000">
              <a:alpha val="0"/>
            </a:srgbClr>
          </a:solidFill>
        </p:spPr>
      </p:sp>
      <p:sp>
        <p:nvSpPr>
          <p:cNvPr name="AutoShape 5" id="5"/>
          <p:cNvSpPr/>
          <p:nvPr/>
        </p:nvSpPr>
        <p:spPr>
          <a:xfrm>
            <a:off x="876300" y="3429000"/>
            <a:ext cx="3378200" cy="1968500"/>
          </a:xfrm>
          <a:prstGeom prst="rect">
            <a:avLst/>
          </a:prstGeom>
          <a:solidFill>
            <a:srgbClr val="000000">
              <a:alpha val="0"/>
            </a:srgbClr>
          </a:solidFill>
        </p:spPr>
      </p:sp>
      <p:sp>
        <p:nvSpPr>
          <p:cNvPr name="AutoShape 6" id="6"/>
          <p:cNvSpPr/>
          <p:nvPr/>
        </p:nvSpPr>
        <p:spPr>
          <a:xfrm>
            <a:off x="876300" y="3429000"/>
            <a:ext cx="558800" cy="558800"/>
          </a:xfrm>
          <a:prstGeom prst="roundRect">
            <a:avLst>
              <a:gd name="adj" fmla="val 15909"/>
            </a:avLst>
          </a:prstGeom>
          <a:solidFill>
            <a:srgbClr val="D1D1D1"/>
          </a:solidFill>
        </p:spPr>
      </p:sp>
      <p:sp>
        <p:nvSpPr>
          <p:cNvPr name="AutoShape 7" id="7"/>
          <p:cNvSpPr/>
          <p:nvPr/>
        </p:nvSpPr>
        <p:spPr>
          <a:xfrm>
            <a:off x="4572000" y="3429000"/>
            <a:ext cx="3378200" cy="1968500"/>
          </a:xfrm>
          <a:prstGeom prst="rect">
            <a:avLst/>
          </a:prstGeom>
          <a:solidFill>
            <a:srgbClr val="000000">
              <a:alpha val="0"/>
            </a:srgbClr>
          </a:solidFill>
        </p:spPr>
      </p:sp>
      <p:sp>
        <p:nvSpPr>
          <p:cNvPr name="AutoShape 8" id="8"/>
          <p:cNvSpPr/>
          <p:nvPr/>
        </p:nvSpPr>
        <p:spPr>
          <a:xfrm>
            <a:off x="4572000" y="3429000"/>
            <a:ext cx="558800" cy="558800"/>
          </a:xfrm>
          <a:prstGeom prst="roundRect">
            <a:avLst>
              <a:gd name="adj" fmla="val 15909"/>
            </a:avLst>
          </a:prstGeom>
          <a:solidFill>
            <a:srgbClr val="D1D1D1"/>
          </a:solidFill>
        </p:spPr>
      </p:sp>
      <p:sp>
        <p:nvSpPr>
          <p:cNvPr name="AutoShape 9" id="9"/>
          <p:cNvSpPr/>
          <p:nvPr/>
        </p:nvSpPr>
        <p:spPr>
          <a:xfrm>
            <a:off x="8280400" y="3429000"/>
            <a:ext cx="3378200" cy="1968500"/>
          </a:xfrm>
          <a:prstGeom prst="rect">
            <a:avLst/>
          </a:prstGeom>
          <a:solidFill>
            <a:srgbClr val="000000">
              <a:alpha val="0"/>
            </a:srgbClr>
          </a:solidFill>
        </p:spPr>
      </p:sp>
      <p:sp>
        <p:nvSpPr>
          <p:cNvPr name="AutoShape 10" id="10"/>
          <p:cNvSpPr/>
          <p:nvPr/>
        </p:nvSpPr>
        <p:spPr>
          <a:xfrm>
            <a:off x="8280400" y="3429000"/>
            <a:ext cx="558800" cy="558800"/>
          </a:xfrm>
          <a:prstGeom prst="roundRect">
            <a:avLst>
              <a:gd name="adj" fmla="val 15909"/>
            </a:avLst>
          </a:prstGeom>
          <a:solidFill>
            <a:srgbClr val="D1D1D1"/>
          </a:solidFill>
        </p:spPr>
      </p:sp>
      <p:sp>
        <p:nvSpPr>
          <p:cNvPr name="AutoShape 11" id="11"/>
          <p:cNvSpPr/>
          <p:nvPr/>
        </p:nvSpPr>
        <p:spPr>
          <a:xfrm>
            <a:off x="11976100" y="3429000"/>
            <a:ext cx="3378200" cy="1968500"/>
          </a:xfrm>
          <a:prstGeom prst="rect">
            <a:avLst/>
          </a:prstGeom>
          <a:solidFill>
            <a:srgbClr val="000000">
              <a:alpha val="0"/>
            </a:srgbClr>
          </a:solidFill>
        </p:spPr>
      </p:sp>
      <p:sp>
        <p:nvSpPr>
          <p:cNvPr name="AutoShape 12" id="12"/>
          <p:cNvSpPr/>
          <p:nvPr/>
        </p:nvSpPr>
        <p:spPr>
          <a:xfrm>
            <a:off x="11976100" y="3429000"/>
            <a:ext cx="558800" cy="558800"/>
          </a:xfrm>
          <a:prstGeom prst="roundRect">
            <a:avLst>
              <a:gd name="adj" fmla="val 15909"/>
            </a:avLst>
          </a:prstGeom>
          <a:solidFill>
            <a:srgbClr val="D1D1D1"/>
          </a:solidFill>
        </p:spPr>
      </p:sp>
      <p:sp>
        <p:nvSpPr>
          <p:cNvPr name="AutoShape 13" id="13"/>
          <p:cNvSpPr/>
          <p:nvPr/>
        </p:nvSpPr>
        <p:spPr>
          <a:xfrm>
            <a:off x="876300" y="6032500"/>
            <a:ext cx="14490700" cy="558800"/>
          </a:xfrm>
          <a:prstGeom prst="rect">
            <a:avLst/>
          </a:prstGeom>
          <a:solidFill>
            <a:srgbClr val="000000">
              <a:alpha val="0"/>
            </a:srgbClr>
          </a:solidFill>
        </p:spPr>
      </p:sp>
      <p:sp>
        <p:nvSpPr>
          <p:cNvPr name="AutoShape 14" id="14"/>
          <p:cNvSpPr/>
          <p:nvPr/>
        </p:nvSpPr>
        <p:spPr>
          <a:xfrm>
            <a:off x="876300" y="6032500"/>
            <a:ext cx="558800" cy="558800"/>
          </a:xfrm>
          <a:prstGeom prst="roundRect">
            <a:avLst>
              <a:gd name="adj" fmla="val 15909"/>
            </a:avLst>
          </a:prstGeom>
          <a:solidFill>
            <a:srgbClr val="D1D1D1"/>
          </a:solidFill>
        </p:spPr>
      </p:sp>
      <p:sp>
        <p:nvSpPr>
          <p:cNvPr name="TextBox 15" id="15"/>
          <p:cNvSpPr txBox="true"/>
          <p:nvPr/>
        </p:nvSpPr>
        <p:spPr>
          <a:xfrm>
            <a:off x="876300" y="2540000"/>
            <a:ext cx="14490700" cy="5969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3900" b="true">
                <a:solidFill>
                  <a:srgbClr val="000000"/>
                </a:solidFill>
                <a:latin typeface="Ubuntu"/>
              </a:rPr>
              <a:t>Research Gap</a:t>
            </a:r>
            <a:endParaRPr lang="en-US" sz="1100"/>
          </a:p>
        </p:txBody>
      </p:sp>
      <p:sp>
        <p:nvSpPr>
          <p:cNvPr name="TextBox 16" id="16"/>
          <p:cNvSpPr txBox="true"/>
          <p:nvPr/>
        </p:nvSpPr>
        <p:spPr>
          <a:xfrm>
            <a:off x="1066800" y="35179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1</a:t>
            </a:r>
            <a:endParaRPr lang="en-US" sz="1100"/>
          </a:p>
        </p:txBody>
      </p:sp>
      <p:sp>
        <p:nvSpPr>
          <p:cNvPr name="TextBox 17" id="17"/>
          <p:cNvSpPr txBox="true"/>
          <p:nvPr/>
        </p:nvSpPr>
        <p:spPr>
          <a:xfrm>
            <a:off x="4775200" y="35179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2</a:t>
            </a:r>
            <a:endParaRPr lang="en-US" sz="1100"/>
          </a:p>
        </p:txBody>
      </p:sp>
      <p:sp>
        <p:nvSpPr>
          <p:cNvPr name="TextBox 18" id="18"/>
          <p:cNvSpPr txBox="true"/>
          <p:nvPr/>
        </p:nvSpPr>
        <p:spPr>
          <a:xfrm>
            <a:off x="8470900" y="35179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3</a:t>
            </a:r>
            <a:endParaRPr lang="en-US" sz="1100"/>
          </a:p>
        </p:txBody>
      </p:sp>
      <p:sp>
        <p:nvSpPr>
          <p:cNvPr name="TextBox 19" id="19"/>
          <p:cNvSpPr txBox="true"/>
          <p:nvPr/>
        </p:nvSpPr>
        <p:spPr>
          <a:xfrm>
            <a:off x="12179300" y="35179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4</a:t>
            </a:r>
            <a:endParaRPr lang="en-US" sz="1100"/>
          </a:p>
        </p:txBody>
      </p:sp>
      <p:sp>
        <p:nvSpPr>
          <p:cNvPr name="TextBox 20" id="20"/>
          <p:cNvSpPr txBox="true"/>
          <p:nvPr/>
        </p:nvSpPr>
        <p:spPr>
          <a:xfrm>
            <a:off x="1066800" y="61214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5</a:t>
            </a:r>
            <a:endParaRPr lang="en-US" sz="1100"/>
          </a:p>
        </p:txBody>
      </p:sp>
      <p:sp>
        <p:nvSpPr>
          <p:cNvPr name="TextBox 21" id="21"/>
          <p:cNvSpPr txBox="true"/>
          <p:nvPr/>
        </p:nvSpPr>
        <p:spPr>
          <a:xfrm>
            <a:off x="1689100" y="3505200"/>
            <a:ext cx="2565400" cy="1511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Existing works focus on detection accuracy without audit allocation</a:t>
            </a:r>
            <a:endParaRPr lang="en-US" sz="1100"/>
          </a:p>
        </p:txBody>
      </p:sp>
      <p:sp>
        <p:nvSpPr>
          <p:cNvPr name="TextBox 22" id="22"/>
          <p:cNvSpPr txBox="true"/>
          <p:nvPr/>
        </p:nvSpPr>
        <p:spPr>
          <a:xfrm>
            <a:off x="5397500" y="3505200"/>
            <a:ext cx="2565400" cy="1879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Limited deployment-oriented system integration in literature</a:t>
            </a:r>
            <a:endParaRPr lang="en-US" sz="1100"/>
          </a:p>
        </p:txBody>
      </p:sp>
      <p:sp>
        <p:nvSpPr>
          <p:cNvPr name="TextBox 23" id="23"/>
          <p:cNvSpPr txBox="true"/>
          <p:nvPr/>
        </p:nvSpPr>
        <p:spPr>
          <a:xfrm>
            <a:off x="9093200" y="3505200"/>
            <a:ext cx="2565400" cy="1511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Insufficient operator-facing visualization and decision support</a:t>
            </a:r>
            <a:endParaRPr lang="en-US" sz="1100"/>
          </a:p>
        </p:txBody>
      </p:sp>
      <p:sp>
        <p:nvSpPr>
          <p:cNvPr name="TextBox 24" id="24"/>
          <p:cNvSpPr txBox="true"/>
          <p:nvPr/>
        </p:nvSpPr>
        <p:spPr>
          <a:xfrm>
            <a:off x="12801600" y="3505200"/>
            <a:ext cx="2565400" cy="1879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No clear separation between experiment evaluation and live monitoring</a:t>
            </a:r>
            <a:endParaRPr lang="en-US" sz="1100"/>
          </a:p>
        </p:txBody>
      </p:sp>
      <p:sp>
        <p:nvSpPr>
          <p:cNvPr name="TextBox 25" id="25"/>
          <p:cNvSpPr txBox="true"/>
          <p:nvPr/>
        </p:nvSpPr>
        <p:spPr>
          <a:xfrm>
            <a:off x="1689100" y="6121400"/>
            <a:ext cx="136652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Lack of explainability in live operational decision pathways</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0" y="0"/>
            <a:ext cx="16256000" cy="9144000"/>
          </a:xfrm>
          <a:prstGeom prst="rect">
            <a:avLst/>
          </a:prstGeom>
          <a:solidFill>
            <a:srgbClr val="0D0A2C">
              <a:alpha val="74902"/>
            </a:srgbClr>
          </a:solidFill>
        </p:spPr>
      </p:sp>
      <p:pic>
        <p:nvPicPr>
          <p:cNvPr name="Picture 3" id="3"/>
          <p:cNvPicPr>
            <a:picLocks noChangeAspect="true"/>
          </p:cNvPicPr>
          <p:nvPr/>
        </p:nvPicPr>
        <p:blipFill>
          <a:blip r:embed="rId2"/>
          <a:srcRect t="56" b="56"/>
          <a:stretch>
            <a:fillRect/>
          </a:stretch>
        </p:blipFill>
        <p:spPr>
          <a:xfrm>
            <a:off x="0" y="0"/>
            <a:ext cx="16256000" cy="9144000"/>
          </a:xfrm>
          <a:prstGeom prst="rect">
            <a:avLst/>
          </a:prstGeom>
        </p:spPr>
      </p:pic>
      <p:sp>
        <p:nvSpPr>
          <p:cNvPr name="AutoShape 4" id="4"/>
          <p:cNvSpPr/>
          <p:nvPr/>
        </p:nvSpPr>
        <p:spPr>
          <a:xfrm>
            <a:off x="876300" y="3048000"/>
            <a:ext cx="14490700" cy="3924300"/>
          </a:xfrm>
          <a:prstGeom prst="rect">
            <a:avLst/>
          </a:prstGeom>
          <a:solidFill>
            <a:srgbClr val="000000">
              <a:alpha val="0"/>
            </a:srgbClr>
          </a:solidFill>
        </p:spPr>
      </p:sp>
      <p:sp>
        <p:nvSpPr>
          <p:cNvPr name="AutoShape 5" id="5"/>
          <p:cNvSpPr/>
          <p:nvPr/>
        </p:nvSpPr>
        <p:spPr>
          <a:xfrm>
            <a:off x="876300" y="3048000"/>
            <a:ext cx="3378200" cy="2730500"/>
          </a:xfrm>
          <a:prstGeom prst="rect">
            <a:avLst/>
          </a:prstGeom>
          <a:solidFill>
            <a:srgbClr val="000000">
              <a:alpha val="0"/>
            </a:srgbClr>
          </a:solidFill>
        </p:spPr>
      </p:sp>
      <p:sp>
        <p:nvSpPr>
          <p:cNvPr name="AutoShape 6" id="6"/>
          <p:cNvSpPr/>
          <p:nvPr/>
        </p:nvSpPr>
        <p:spPr>
          <a:xfrm>
            <a:off x="876300" y="3048000"/>
            <a:ext cx="558800" cy="558800"/>
          </a:xfrm>
          <a:prstGeom prst="roundRect">
            <a:avLst>
              <a:gd name="adj" fmla="val 15909"/>
            </a:avLst>
          </a:prstGeom>
          <a:solidFill>
            <a:srgbClr val="D1D1D1"/>
          </a:solidFill>
        </p:spPr>
      </p:sp>
      <p:sp>
        <p:nvSpPr>
          <p:cNvPr name="AutoShape 7" id="7"/>
          <p:cNvSpPr/>
          <p:nvPr/>
        </p:nvSpPr>
        <p:spPr>
          <a:xfrm>
            <a:off x="4572000" y="3048000"/>
            <a:ext cx="3378200" cy="2730500"/>
          </a:xfrm>
          <a:prstGeom prst="rect">
            <a:avLst/>
          </a:prstGeom>
          <a:solidFill>
            <a:srgbClr val="000000">
              <a:alpha val="0"/>
            </a:srgbClr>
          </a:solidFill>
        </p:spPr>
      </p:sp>
      <p:sp>
        <p:nvSpPr>
          <p:cNvPr name="AutoShape 8" id="8"/>
          <p:cNvSpPr/>
          <p:nvPr/>
        </p:nvSpPr>
        <p:spPr>
          <a:xfrm>
            <a:off x="4572000" y="3048000"/>
            <a:ext cx="558800" cy="558800"/>
          </a:xfrm>
          <a:prstGeom prst="roundRect">
            <a:avLst>
              <a:gd name="adj" fmla="val 15909"/>
            </a:avLst>
          </a:prstGeom>
          <a:solidFill>
            <a:srgbClr val="D1D1D1"/>
          </a:solidFill>
        </p:spPr>
      </p:sp>
      <p:sp>
        <p:nvSpPr>
          <p:cNvPr name="AutoShape 9" id="9"/>
          <p:cNvSpPr/>
          <p:nvPr/>
        </p:nvSpPr>
        <p:spPr>
          <a:xfrm>
            <a:off x="8280400" y="3048000"/>
            <a:ext cx="3378200" cy="2730500"/>
          </a:xfrm>
          <a:prstGeom prst="rect">
            <a:avLst/>
          </a:prstGeom>
          <a:solidFill>
            <a:srgbClr val="000000">
              <a:alpha val="0"/>
            </a:srgbClr>
          </a:solidFill>
        </p:spPr>
      </p:sp>
      <p:sp>
        <p:nvSpPr>
          <p:cNvPr name="AutoShape 10" id="10"/>
          <p:cNvSpPr/>
          <p:nvPr/>
        </p:nvSpPr>
        <p:spPr>
          <a:xfrm>
            <a:off x="8280400" y="3048000"/>
            <a:ext cx="558800" cy="558800"/>
          </a:xfrm>
          <a:prstGeom prst="roundRect">
            <a:avLst>
              <a:gd name="adj" fmla="val 15909"/>
            </a:avLst>
          </a:prstGeom>
          <a:solidFill>
            <a:srgbClr val="D1D1D1"/>
          </a:solidFill>
        </p:spPr>
      </p:sp>
      <p:sp>
        <p:nvSpPr>
          <p:cNvPr name="AutoShape 11" id="11"/>
          <p:cNvSpPr/>
          <p:nvPr/>
        </p:nvSpPr>
        <p:spPr>
          <a:xfrm>
            <a:off x="11976100" y="3048000"/>
            <a:ext cx="3378200" cy="2730500"/>
          </a:xfrm>
          <a:prstGeom prst="rect">
            <a:avLst/>
          </a:prstGeom>
          <a:solidFill>
            <a:srgbClr val="000000">
              <a:alpha val="0"/>
            </a:srgbClr>
          </a:solidFill>
        </p:spPr>
      </p:sp>
      <p:sp>
        <p:nvSpPr>
          <p:cNvPr name="AutoShape 12" id="12"/>
          <p:cNvSpPr/>
          <p:nvPr/>
        </p:nvSpPr>
        <p:spPr>
          <a:xfrm>
            <a:off x="11976100" y="3048000"/>
            <a:ext cx="558800" cy="558800"/>
          </a:xfrm>
          <a:prstGeom prst="roundRect">
            <a:avLst>
              <a:gd name="adj" fmla="val 15909"/>
            </a:avLst>
          </a:prstGeom>
          <a:solidFill>
            <a:srgbClr val="D1D1D1"/>
          </a:solidFill>
        </p:spPr>
      </p:sp>
      <p:sp>
        <p:nvSpPr>
          <p:cNvPr name="AutoShape 13" id="13"/>
          <p:cNvSpPr/>
          <p:nvPr/>
        </p:nvSpPr>
        <p:spPr>
          <a:xfrm>
            <a:off x="876300" y="6413500"/>
            <a:ext cx="14490700" cy="558800"/>
          </a:xfrm>
          <a:prstGeom prst="rect">
            <a:avLst/>
          </a:prstGeom>
          <a:solidFill>
            <a:srgbClr val="000000">
              <a:alpha val="0"/>
            </a:srgbClr>
          </a:solidFill>
        </p:spPr>
      </p:sp>
      <p:sp>
        <p:nvSpPr>
          <p:cNvPr name="AutoShape 14" id="14"/>
          <p:cNvSpPr/>
          <p:nvPr/>
        </p:nvSpPr>
        <p:spPr>
          <a:xfrm>
            <a:off x="876300" y="6413500"/>
            <a:ext cx="558800" cy="558800"/>
          </a:xfrm>
          <a:prstGeom prst="roundRect">
            <a:avLst>
              <a:gd name="adj" fmla="val 15909"/>
            </a:avLst>
          </a:prstGeom>
          <a:solidFill>
            <a:srgbClr val="D1D1D1"/>
          </a:solidFill>
        </p:spPr>
      </p:sp>
      <p:sp>
        <p:nvSpPr>
          <p:cNvPr name="TextBox 15" id="15"/>
          <p:cNvSpPr txBox="true"/>
          <p:nvPr/>
        </p:nvSpPr>
        <p:spPr>
          <a:xfrm>
            <a:off x="876300" y="2159000"/>
            <a:ext cx="14490700" cy="5969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3900" b="true">
                <a:solidFill>
                  <a:srgbClr val="000000"/>
                </a:solidFill>
                <a:latin typeface="Ubuntu"/>
              </a:rPr>
              <a:t>Base Paper Overview</a:t>
            </a:r>
            <a:endParaRPr lang="en-US" sz="1100"/>
          </a:p>
        </p:txBody>
      </p:sp>
      <p:sp>
        <p:nvSpPr>
          <p:cNvPr name="TextBox 16" id="16"/>
          <p:cNvSpPr txBox="true"/>
          <p:nvPr/>
        </p:nvSpPr>
        <p:spPr>
          <a:xfrm>
            <a:off x="1066800" y="31369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1</a:t>
            </a:r>
            <a:endParaRPr lang="en-US" sz="1100"/>
          </a:p>
        </p:txBody>
      </p:sp>
      <p:sp>
        <p:nvSpPr>
          <p:cNvPr name="TextBox 17" id="17"/>
          <p:cNvSpPr txBox="true"/>
          <p:nvPr/>
        </p:nvSpPr>
        <p:spPr>
          <a:xfrm>
            <a:off x="4775200" y="31369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2</a:t>
            </a:r>
            <a:endParaRPr lang="en-US" sz="1100"/>
          </a:p>
        </p:txBody>
      </p:sp>
      <p:sp>
        <p:nvSpPr>
          <p:cNvPr name="TextBox 18" id="18"/>
          <p:cNvSpPr txBox="true"/>
          <p:nvPr/>
        </p:nvSpPr>
        <p:spPr>
          <a:xfrm>
            <a:off x="8470900" y="31369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3</a:t>
            </a:r>
            <a:endParaRPr lang="en-US" sz="1100"/>
          </a:p>
        </p:txBody>
      </p:sp>
      <p:sp>
        <p:nvSpPr>
          <p:cNvPr name="TextBox 19" id="19"/>
          <p:cNvSpPr txBox="true"/>
          <p:nvPr/>
        </p:nvSpPr>
        <p:spPr>
          <a:xfrm>
            <a:off x="12179300" y="31369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4</a:t>
            </a:r>
            <a:endParaRPr lang="en-US" sz="1100"/>
          </a:p>
        </p:txBody>
      </p:sp>
      <p:sp>
        <p:nvSpPr>
          <p:cNvPr name="TextBox 20" id="20"/>
          <p:cNvSpPr txBox="true"/>
          <p:nvPr/>
        </p:nvSpPr>
        <p:spPr>
          <a:xfrm>
            <a:off x="1066800" y="65024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5</a:t>
            </a:r>
            <a:endParaRPr lang="en-US" sz="1100"/>
          </a:p>
        </p:txBody>
      </p:sp>
      <p:sp>
        <p:nvSpPr>
          <p:cNvPr name="TextBox 21" id="21"/>
          <p:cNvSpPr txBox="true"/>
          <p:nvPr/>
        </p:nvSpPr>
        <p:spPr>
          <a:xfrm>
            <a:off x="1689100" y="3136900"/>
            <a:ext cx="2565400" cy="1879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Priyadarsini (2025): AI-driven audit framework for distributed multi-agent smart grids</a:t>
            </a:r>
            <a:endParaRPr lang="en-US" sz="1100"/>
          </a:p>
        </p:txBody>
      </p:sp>
      <p:sp>
        <p:nvSpPr>
          <p:cNvPr name="TextBox 22" id="22"/>
          <p:cNvSpPr txBox="true"/>
          <p:nvPr/>
        </p:nvSpPr>
        <p:spPr>
          <a:xfrm>
            <a:off x="5397500" y="3136900"/>
            <a:ext cx="2565400" cy="1511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Links anomaly detection with dynamic audit resource allocation</a:t>
            </a:r>
            <a:endParaRPr lang="en-US" sz="1100"/>
          </a:p>
        </p:txBody>
      </p:sp>
      <p:sp>
        <p:nvSpPr>
          <p:cNvPr name="TextBox 23" id="23"/>
          <p:cNvSpPr txBox="true"/>
          <p:nvPr/>
        </p:nvSpPr>
        <p:spPr>
          <a:xfrm>
            <a:off x="9093200" y="3136900"/>
            <a:ext cx="2565400" cy="2641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Reported metrics: Cost Efficiency 42.5%, Audit Coverage 93.8%, Accuracy 98.4%, Risk Mitigation 87.9%</a:t>
            </a:r>
            <a:endParaRPr lang="en-US" sz="1100"/>
          </a:p>
        </p:txBody>
      </p:sp>
      <p:sp>
        <p:nvSpPr>
          <p:cNvPr name="TextBox 24" id="24"/>
          <p:cNvSpPr txBox="true"/>
          <p:nvPr/>
        </p:nvSpPr>
        <p:spPr>
          <a:xfrm>
            <a:off x="12801600" y="3136900"/>
            <a:ext cx="2565400" cy="1511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Conceptual foundation for anomaly-and-audit relationship</a:t>
            </a:r>
            <a:endParaRPr lang="en-US" sz="1100"/>
          </a:p>
        </p:txBody>
      </p:sp>
      <p:sp>
        <p:nvSpPr>
          <p:cNvPr name="TextBox 25" id="25"/>
          <p:cNvSpPr txBox="true"/>
          <p:nvPr/>
        </p:nvSpPr>
        <p:spPr>
          <a:xfrm>
            <a:off x="1689100" y="6489700"/>
            <a:ext cx="136652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Primarily simulation-oriented research-level model</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0" y="0"/>
            <a:ext cx="16256000" cy="9144000"/>
          </a:xfrm>
          <a:prstGeom prst="rect">
            <a:avLst/>
          </a:prstGeom>
          <a:solidFill>
            <a:srgbClr val="0D0A2C">
              <a:alpha val="74902"/>
            </a:srgbClr>
          </a:solidFill>
        </p:spPr>
      </p:sp>
      <p:pic>
        <p:nvPicPr>
          <p:cNvPr name="Picture 3" id="3"/>
          <p:cNvPicPr>
            <a:picLocks noChangeAspect="true"/>
          </p:cNvPicPr>
          <p:nvPr/>
        </p:nvPicPr>
        <p:blipFill>
          <a:blip r:embed="rId2"/>
          <a:srcRect t="56" b="56"/>
          <a:stretch>
            <a:fillRect/>
          </a:stretch>
        </p:blipFill>
        <p:spPr>
          <a:xfrm>
            <a:off x="0" y="0"/>
            <a:ext cx="16256000" cy="9144000"/>
          </a:xfrm>
          <a:prstGeom prst="rect">
            <a:avLst/>
          </a:prstGeom>
        </p:spPr>
      </p:pic>
      <p:sp>
        <p:nvSpPr>
          <p:cNvPr name="AutoShape 4" id="4"/>
          <p:cNvSpPr/>
          <p:nvPr/>
        </p:nvSpPr>
        <p:spPr>
          <a:xfrm>
            <a:off x="876300" y="3225800"/>
            <a:ext cx="14490700" cy="3556000"/>
          </a:xfrm>
          <a:prstGeom prst="rect">
            <a:avLst/>
          </a:prstGeom>
          <a:solidFill>
            <a:srgbClr val="000000">
              <a:alpha val="0"/>
            </a:srgbClr>
          </a:solidFill>
        </p:spPr>
      </p:sp>
      <p:sp>
        <p:nvSpPr>
          <p:cNvPr name="AutoShape 5" id="5"/>
          <p:cNvSpPr/>
          <p:nvPr/>
        </p:nvSpPr>
        <p:spPr>
          <a:xfrm>
            <a:off x="876300" y="3225800"/>
            <a:ext cx="3378200" cy="2362200"/>
          </a:xfrm>
          <a:prstGeom prst="rect">
            <a:avLst/>
          </a:prstGeom>
          <a:solidFill>
            <a:srgbClr val="000000">
              <a:alpha val="0"/>
            </a:srgbClr>
          </a:solidFill>
        </p:spPr>
      </p:sp>
      <p:sp>
        <p:nvSpPr>
          <p:cNvPr name="AutoShape 6" id="6"/>
          <p:cNvSpPr/>
          <p:nvPr/>
        </p:nvSpPr>
        <p:spPr>
          <a:xfrm>
            <a:off x="876300" y="3225800"/>
            <a:ext cx="558800" cy="558800"/>
          </a:xfrm>
          <a:prstGeom prst="roundRect">
            <a:avLst>
              <a:gd name="adj" fmla="val 15909"/>
            </a:avLst>
          </a:prstGeom>
          <a:solidFill>
            <a:srgbClr val="D1D1D1"/>
          </a:solidFill>
        </p:spPr>
      </p:sp>
      <p:sp>
        <p:nvSpPr>
          <p:cNvPr name="AutoShape 7" id="7"/>
          <p:cNvSpPr/>
          <p:nvPr/>
        </p:nvSpPr>
        <p:spPr>
          <a:xfrm>
            <a:off x="4572000" y="3225800"/>
            <a:ext cx="3378200" cy="2362200"/>
          </a:xfrm>
          <a:prstGeom prst="rect">
            <a:avLst/>
          </a:prstGeom>
          <a:solidFill>
            <a:srgbClr val="000000">
              <a:alpha val="0"/>
            </a:srgbClr>
          </a:solidFill>
        </p:spPr>
      </p:sp>
      <p:sp>
        <p:nvSpPr>
          <p:cNvPr name="AutoShape 8" id="8"/>
          <p:cNvSpPr/>
          <p:nvPr/>
        </p:nvSpPr>
        <p:spPr>
          <a:xfrm>
            <a:off x="4572000" y="3225800"/>
            <a:ext cx="558800" cy="558800"/>
          </a:xfrm>
          <a:prstGeom prst="roundRect">
            <a:avLst>
              <a:gd name="adj" fmla="val 15909"/>
            </a:avLst>
          </a:prstGeom>
          <a:solidFill>
            <a:srgbClr val="D1D1D1"/>
          </a:solidFill>
        </p:spPr>
      </p:sp>
      <p:sp>
        <p:nvSpPr>
          <p:cNvPr name="AutoShape 9" id="9"/>
          <p:cNvSpPr/>
          <p:nvPr/>
        </p:nvSpPr>
        <p:spPr>
          <a:xfrm>
            <a:off x="8280400" y="3225800"/>
            <a:ext cx="3378200" cy="2362200"/>
          </a:xfrm>
          <a:prstGeom prst="rect">
            <a:avLst/>
          </a:prstGeom>
          <a:solidFill>
            <a:srgbClr val="000000">
              <a:alpha val="0"/>
            </a:srgbClr>
          </a:solidFill>
        </p:spPr>
      </p:sp>
      <p:sp>
        <p:nvSpPr>
          <p:cNvPr name="AutoShape 10" id="10"/>
          <p:cNvSpPr/>
          <p:nvPr/>
        </p:nvSpPr>
        <p:spPr>
          <a:xfrm>
            <a:off x="8280400" y="3225800"/>
            <a:ext cx="558800" cy="558800"/>
          </a:xfrm>
          <a:prstGeom prst="roundRect">
            <a:avLst>
              <a:gd name="adj" fmla="val 15909"/>
            </a:avLst>
          </a:prstGeom>
          <a:solidFill>
            <a:srgbClr val="D1D1D1"/>
          </a:solidFill>
        </p:spPr>
      </p:sp>
      <p:sp>
        <p:nvSpPr>
          <p:cNvPr name="AutoShape 11" id="11"/>
          <p:cNvSpPr/>
          <p:nvPr/>
        </p:nvSpPr>
        <p:spPr>
          <a:xfrm>
            <a:off x="11976100" y="3225800"/>
            <a:ext cx="3378200" cy="2362200"/>
          </a:xfrm>
          <a:prstGeom prst="rect">
            <a:avLst/>
          </a:prstGeom>
          <a:solidFill>
            <a:srgbClr val="000000">
              <a:alpha val="0"/>
            </a:srgbClr>
          </a:solidFill>
        </p:spPr>
      </p:sp>
      <p:sp>
        <p:nvSpPr>
          <p:cNvPr name="AutoShape 12" id="12"/>
          <p:cNvSpPr/>
          <p:nvPr/>
        </p:nvSpPr>
        <p:spPr>
          <a:xfrm>
            <a:off x="11976100" y="3225800"/>
            <a:ext cx="558800" cy="558800"/>
          </a:xfrm>
          <a:prstGeom prst="roundRect">
            <a:avLst>
              <a:gd name="adj" fmla="val 15909"/>
            </a:avLst>
          </a:prstGeom>
          <a:solidFill>
            <a:srgbClr val="D1D1D1"/>
          </a:solidFill>
        </p:spPr>
      </p:sp>
      <p:sp>
        <p:nvSpPr>
          <p:cNvPr name="AutoShape 13" id="13"/>
          <p:cNvSpPr/>
          <p:nvPr/>
        </p:nvSpPr>
        <p:spPr>
          <a:xfrm>
            <a:off x="876300" y="6223000"/>
            <a:ext cx="14490700" cy="558800"/>
          </a:xfrm>
          <a:prstGeom prst="rect">
            <a:avLst/>
          </a:prstGeom>
          <a:solidFill>
            <a:srgbClr val="000000">
              <a:alpha val="0"/>
            </a:srgbClr>
          </a:solidFill>
        </p:spPr>
      </p:sp>
      <p:sp>
        <p:nvSpPr>
          <p:cNvPr name="AutoShape 14" id="14"/>
          <p:cNvSpPr/>
          <p:nvPr/>
        </p:nvSpPr>
        <p:spPr>
          <a:xfrm>
            <a:off x="876300" y="6223000"/>
            <a:ext cx="558800" cy="558800"/>
          </a:xfrm>
          <a:prstGeom prst="roundRect">
            <a:avLst>
              <a:gd name="adj" fmla="val 15909"/>
            </a:avLst>
          </a:prstGeom>
          <a:solidFill>
            <a:srgbClr val="D1D1D1"/>
          </a:solidFill>
        </p:spPr>
      </p:sp>
      <p:sp>
        <p:nvSpPr>
          <p:cNvPr name="TextBox 15" id="15"/>
          <p:cNvSpPr txBox="true"/>
          <p:nvPr/>
        </p:nvSpPr>
        <p:spPr>
          <a:xfrm>
            <a:off x="876300" y="2336800"/>
            <a:ext cx="14490700" cy="5969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3900" b="true">
                <a:solidFill>
                  <a:srgbClr val="000000"/>
                </a:solidFill>
                <a:latin typeface="Ubuntu"/>
              </a:rPr>
              <a:t>Base Paper Limitations</a:t>
            </a:r>
            <a:endParaRPr lang="en-US" sz="1100"/>
          </a:p>
        </p:txBody>
      </p:sp>
      <p:sp>
        <p:nvSpPr>
          <p:cNvPr name="TextBox 16" id="16"/>
          <p:cNvSpPr txBox="true"/>
          <p:nvPr/>
        </p:nvSpPr>
        <p:spPr>
          <a:xfrm>
            <a:off x="1066800" y="33274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1</a:t>
            </a:r>
            <a:endParaRPr lang="en-US" sz="1100"/>
          </a:p>
        </p:txBody>
      </p:sp>
      <p:sp>
        <p:nvSpPr>
          <p:cNvPr name="TextBox 17" id="17"/>
          <p:cNvSpPr txBox="true"/>
          <p:nvPr/>
        </p:nvSpPr>
        <p:spPr>
          <a:xfrm>
            <a:off x="4775200" y="33274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2</a:t>
            </a:r>
            <a:endParaRPr lang="en-US" sz="1100"/>
          </a:p>
        </p:txBody>
      </p:sp>
      <p:sp>
        <p:nvSpPr>
          <p:cNvPr name="TextBox 18" id="18"/>
          <p:cNvSpPr txBox="true"/>
          <p:nvPr/>
        </p:nvSpPr>
        <p:spPr>
          <a:xfrm>
            <a:off x="8470900" y="33274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3</a:t>
            </a:r>
            <a:endParaRPr lang="en-US" sz="1100"/>
          </a:p>
        </p:txBody>
      </p:sp>
      <p:sp>
        <p:nvSpPr>
          <p:cNvPr name="TextBox 19" id="19"/>
          <p:cNvSpPr txBox="true"/>
          <p:nvPr/>
        </p:nvSpPr>
        <p:spPr>
          <a:xfrm>
            <a:off x="12179300" y="33274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4</a:t>
            </a:r>
            <a:endParaRPr lang="en-US" sz="1100"/>
          </a:p>
        </p:txBody>
      </p:sp>
      <p:sp>
        <p:nvSpPr>
          <p:cNvPr name="TextBox 20" id="20"/>
          <p:cNvSpPr txBox="true"/>
          <p:nvPr/>
        </p:nvSpPr>
        <p:spPr>
          <a:xfrm>
            <a:off x="1066800" y="63246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5</a:t>
            </a:r>
            <a:endParaRPr lang="en-US" sz="1100"/>
          </a:p>
        </p:txBody>
      </p:sp>
      <p:sp>
        <p:nvSpPr>
          <p:cNvPr name="TextBox 21" id="21"/>
          <p:cNvSpPr txBox="true"/>
          <p:nvPr/>
        </p:nvSpPr>
        <p:spPr>
          <a:xfrm>
            <a:off x="1943100" y="3327400"/>
            <a:ext cx="2311400" cy="1879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No live SCADA integration or real-time telemetry handling</a:t>
            </a:r>
            <a:endParaRPr lang="en-US" sz="1100"/>
          </a:p>
        </p:txBody>
      </p:sp>
      <p:sp>
        <p:nvSpPr>
          <p:cNvPr name="TextBox 22" id="22"/>
          <p:cNvSpPr txBox="true"/>
          <p:nvPr/>
        </p:nvSpPr>
        <p:spPr>
          <a:xfrm>
            <a:off x="5651500" y="3327400"/>
            <a:ext cx="2311400" cy="1511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Limited emphasis on deployment-oriented system architecture</a:t>
            </a:r>
            <a:endParaRPr lang="en-US" sz="1100"/>
          </a:p>
        </p:txBody>
      </p:sp>
      <p:sp>
        <p:nvSpPr>
          <p:cNvPr name="TextBox 23" id="23"/>
          <p:cNvSpPr txBox="true"/>
          <p:nvPr/>
        </p:nvSpPr>
        <p:spPr>
          <a:xfrm>
            <a:off x="9347200" y="3327400"/>
            <a:ext cx="2311400" cy="2260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No separation between experiment evaluation and operational monitoring</a:t>
            </a:r>
            <a:endParaRPr lang="en-US" sz="1100"/>
          </a:p>
        </p:txBody>
      </p:sp>
      <p:sp>
        <p:nvSpPr>
          <p:cNvPr name="TextBox 24" id="24"/>
          <p:cNvSpPr txBox="true"/>
          <p:nvPr/>
        </p:nvSpPr>
        <p:spPr>
          <a:xfrm>
            <a:off x="13055600" y="3327400"/>
            <a:ext cx="2311400" cy="1511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Insufficient operator-facing visualization and workflow support</a:t>
            </a:r>
            <a:endParaRPr lang="en-US" sz="1100"/>
          </a:p>
        </p:txBody>
      </p:sp>
      <p:sp>
        <p:nvSpPr>
          <p:cNvPr name="TextBox 25" id="25"/>
          <p:cNvSpPr txBox="true"/>
          <p:nvPr/>
        </p:nvSpPr>
        <p:spPr>
          <a:xfrm>
            <a:off x="1943100" y="6324600"/>
            <a:ext cx="134112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Limited explainability in live decision pathways</a:t>
            </a:r>
            <a:endParaRPr lang="en-US" sz="1100"/>
          </a:p>
        </p:txBody>
      </p:sp>
      <p:sp>
        <p:nvSpPr>
          <p:cNvPr name="TextBox 26" id="26"/>
          <p:cNvSpPr txBox="true"/>
          <p:nvPr/>
        </p:nvSpPr>
        <p:spPr>
          <a:xfrm>
            <a:off x="1574800" y="33909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
        <p:nvSpPr>
          <p:cNvPr name="TextBox 27" id="27"/>
          <p:cNvSpPr txBox="true"/>
          <p:nvPr/>
        </p:nvSpPr>
        <p:spPr>
          <a:xfrm>
            <a:off x="5270500" y="33909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
        <p:nvSpPr>
          <p:cNvPr name="TextBox 28" id="28"/>
          <p:cNvSpPr txBox="true"/>
          <p:nvPr/>
        </p:nvSpPr>
        <p:spPr>
          <a:xfrm>
            <a:off x="8966200" y="33909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
        <p:nvSpPr>
          <p:cNvPr name="TextBox 29" id="29"/>
          <p:cNvSpPr txBox="true"/>
          <p:nvPr/>
        </p:nvSpPr>
        <p:spPr>
          <a:xfrm>
            <a:off x="12674600" y="33909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
        <p:nvSpPr>
          <p:cNvPr name="TextBox 30" id="30"/>
          <p:cNvSpPr txBox="true"/>
          <p:nvPr/>
        </p:nvSpPr>
        <p:spPr>
          <a:xfrm>
            <a:off x="1574800" y="63881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0" y="0"/>
            <a:ext cx="16256000" cy="9144000"/>
          </a:xfrm>
          <a:prstGeom prst="rect">
            <a:avLst/>
          </a:prstGeom>
          <a:solidFill>
            <a:srgbClr val="0D0A2C">
              <a:alpha val="74902"/>
            </a:srgbClr>
          </a:solidFill>
        </p:spPr>
      </p:sp>
      <p:pic>
        <p:nvPicPr>
          <p:cNvPr name="Picture 3" id="3"/>
          <p:cNvPicPr>
            <a:picLocks noChangeAspect="true"/>
          </p:cNvPicPr>
          <p:nvPr/>
        </p:nvPicPr>
        <p:blipFill>
          <a:blip r:embed="rId2"/>
          <a:srcRect t="56" b="56"/>
          <a:stretch>
            <a:fillRect/>
          </a:stretch>
        </p:blipFill>
        <p:spPr>
          <a:xfrm>
            <a:off x="0" y="0"/>
            <a:ext cx="16256000" cy="9144000"/>
          </a:xfrm>
          <a:prstGeom prst="rect">
            <a:avLst/>
          </a:prstGeom>
        </p:spPr>
      </p:pic>
      <p:sp>
        <p:nvSpPr>
          <p:cNvPr name="AutoShape 4" id="4"/>
          <p:cNvSpPr/>
          <p:nvPr/>
        </p:nvSpPr>
        <p:spPr>
          <a:xfrm>
            <a:off x="876300" y="2857500"/>
            <a:ext cx="14490700" cy="4305300"/>
          </a:xfrm>
          <a:prstGeom prst="rect">
            <a:avLst/>
          </a:prstGeom>
          <a:solidFill>
            <a:srgbClr val="000000">
              <a:alpha val="0"/>
            </a:srgbClr>
          </a:solidFill>
        </p:spPr>
      </p:sp>
      <p:sp>
        <p:nvSpPr>
          <p:cNvPr name="AutoShape 5" id="5"/>
          <p:cNvSpPr/>
          <p:nvPr/>
        </p:nvSpPr>
        <p:spPr>
          <a:xfrm>
            <a:off x="876300" y="2857500"/>
            <a:ext cx="3378200" cy="3098800"/>
          </a:xfrm>
          <a:prstGeom prst="rect">
            <a:avLst/>
          </a:prstGeom>
          <a:solidFill>
            <a:srgbClr val="000000">
              <a:alpha val="0"/>
            </a:srgbClr>
          </a:solidFill>
        </p:spPr>
      </p:sp>
      <p:sp>
        <p:nvSpPr>
          <p:cNvPr name="AutoShape 6" id="6"/>
          <p:cNvSpPr/>
          <p:nvPr/>
        </p:nvSpPr>
        <p:spPr>
          <a:xfrm>
            <a:off x="876300" y="2857500"/>
            <a:ext cx="558800" cy="558800"/>
          </a:xfrm>
          <a:prstGeom prst="roundRect">
            <a:avLst>
              <a:gd name="adj" fmla="val 15909"/>
            </a:avLst>
          </a:prstGeom>
          <a:solidFill>
            <a:srgbClr val="D1D1D1"/>
          </a:solidFill>
        </p:spPr>
      </p:sp>
      <p:sp>
        <p:nvSpPr>
          <p:cNvPr name="AutoShape 7" id="7"/>
          <p:cNvSpPr/>
          <p:nvPr/>
        </p:nvSpPr>
        <p:spPr>
          <a:xfrm>
            <a:off x="4572000" y="2857500"/>
            <a:ext cx="3378200" cy="3098800"/>
          </a:xfrm>
          <a:prstGeom prst="rect">
            <a:avLst/>
          </a:prstGeom>
          <a:solidFill>
            <a:srgbClr val="000000">
              <a:alpha val="0"/>
            </a:srgbClr>
          </a:solidFill>
        </p:spPr>
      </p:sp>
      <p:sp>
        <p:nvSpPr>
          <p:cNvPr name="AutoShape 8" id="8"/>
          <p:cNvSpPr/>
          <p:nvPr/>
        </p:nvSpPr>
        <p:spPr>
          <a:xfrm>
            <a:off x="4572000" y="2857500"/>
            <a:ext cx="558800" cy="558800"/>
          </a:xfrm>
          <a:prstGeom prst="roundRect">
            <a:avLst>
              <a:gd name="adj" fmla="val 15909"/>
            </a:avLst>
          </a:prstGeom>
          <a:solidFill>
            <a:srgbClr val="D1D1D1"/>
          </a:solidFill>
        </p:spPr>
      </p:sp>
      <p:sp>
        <p:nvSpPr>
          <p:cNvPr name="AutoShape 9" id="9"/>
          <p:cNvSpPr/>
          <p:nvPr/>
        </p:nvSpPr>
        <p:spPr>
          <a:xfrm>
            <a:off x="8280400" y="2857500"/>
            <a:ext cx="3378200" cy="3098800"/>
          </a:xfrm>
          <a:prstGeom prst="rect">
            <a:avLst/>
          </a:prstGeom>
          <a:solidFill>
            <a:srgbClr val="000000">
              <a:alpha val="0"/>
            </a:srgbClr>
          </a:solidFill>
        </p:spPr>
      </p:sp>
      <p:sp>
        <p:nvSpPr>
          <p:cNvPr name="AutoShape 10" id="10"/>
          <p:cNvSpPr/>
          <p:nvPr/>
        </p:nvSpPr>
        <p:spPr>
          <a:xfrm>
            <a:off x="8280400" y="2857500"/>
            <a:ext cx="558800" cy="558800"/>
          </a:xfrm>
          <a:prstGeom prst="roundRect">
            <a:avLst>
              <a:gd name="adj" fmla="val 15909"/>
            </a:avLst>
          </a:prstGeom>
          <a:solidFill>
            <a:srgbClr val="D1D1D1"/>
          </a:solidFill>
        </p:spPr>
      </p:sp>
      <p:sp>
        <p:nvSpPr>
          <p:cNvPr name="AutoShape 11" id="11"/>
          <p:cNvSpPr/>
          <p:nvPr/>
        </p:nvSpPr>
        <p:spPr>
          <a:xfrm>
            <a:off x="11976100" y="2857500"/>
            <a:ext cx="3378200" cy="3098800"/>
          </a:xfrm>
          <a:prstGeom prst="rect">
            <a:avLst/>
          </a:prstGeom>
          <a:solidFill>
            <a:srgbClr val="000000">
              <a:alpha val="0"/>
            </a:srgbClr>
          </a:solidFill>
        </p:spPr>
      </p:sp>
      <p:sp>
        <p:nvSpPr>
          <p:cNvPr name="AutoShape 12" id="12"/>
          <p:cNvSpPr/>
          <p:nvPr/>
        </p:nvSpPr>
        <p:spPr>
          <a:xfrm>
            <a:off x="11976100" y="2857500"/>
            <a:ext cx="558800" cy="558800"/>
          </a:xfrm>
          <a:prstGeom prst="roundRect">
            <a:avLst>
              <a:gd name="adj" fmla="val 15909"/>
            </a:avLst>
          </a:prstGeom>
          <a:solidFill>
            <a:srgbClr val="D1D1D1"/>
          </a:solidFill>
        </p:spPr>
      </p:sp>
      <p:sp>
        <p:nvSpPr>
          <p:cNvPr name="AutoShape 13" id="13"/>
          <p:cNvSpPr/>
          <p:nvPr/>
        </p:nvSpPr>
        <p:spPr>
          <a:xfrm>
            <a:off x="876300" y="6591300"/>
            <a:ext cx="14490700" cy="558800"/>
          </a:xfrm>
          <a:prstGeom prst="rect">
            <a:avLst/>
          </a:prstGeom>
          <a:solidFill>
            <a:srgbClr val="000000">
              <a:alpha val="0"/>
            </a:srgbClr>
          </a:solidFill>
        </p:spPr>
      </p:sp>
      <p:sp>
        <p:nvSpPr>
          <p:cNvPr name="AutoShape 14" id="14"/>
          <p:cNvSpPr/>
          <p:nvPr/>
        </p:nvSpPr>
        <p:spPr>
          <a:xfrm>
            <a:off x="876300" y="6591300"/>
            <a:ext cx="558800" cy="558800"/>
          </a:xfrm>
          <a:prstGeom prst="roundRect">
            <a:avLst>
              <a:gd name="adj" fmla="val 15909"/>
            </a:avLst>
          </a:prstGeom>
          <a:solidFill>
            <a:srgbClr val="D1D1D1"/>
          </a:solidFill>
        </p:spPr>
      </p:sp>
      <p:sp>
        <p:nvSpPr>
          <p:cNvPr name="TextBox 15" id="15"/>
          <p:cNvSpPr txBox="true"/>
          <p:nvPr/>
        </p:nvSpPr>
        <p:spPr>
          <a:xfrm>
            <a:off x="876300" y="1968500"/>
            <a:ext cx="14490700" cy="5969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3900" b="true">
                <a:solidFill>
                  <a:srgbClr val="000000"/>
                </a:solidFill>
                <a:latin typeface="Ubuntu"/>
              </a:rPr>
              <a:t>Proposed System Overview</a:t>
            </a:r>
            <a:endParaRPr lang="en-US" sz="1100"/>
          </a:p>
        </p:txBody>
      </p:sp>
      <p:sp>
        <p:nvSpPr>
          <p:cNvPr name="TextBox 16" id="16"/>
          <p:cNvSpPr txBox="true"/>
          <p:nvPr/>
        </p:nvSpPr>
        <p:spPr>
          <a:xfrm>
            <a:off x="1066800" y="29464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1</a:t>
            </a:r>
            <a:endParaRPr lang="en-US" sz="1100"/>
          </a:p>
        </p:txBody>
      </p:sp>
      <p:sp>
        <p:nvSpPr>
          <p:cNvPr name="TextBox 17" id="17"/>
          <p:cNvSpPr txBox="true"/>
          <p:nvPr/>
        </p:nvSpPr>
        <p:spPr>
          <a:xfrm>
            <a:off x="4775200" y="29464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2</a:t>
            </a:r>
            <a:endParaRPr lang="en-US" sz="1100"/>
          </a:p>
        </p:txBody>
      </p:sp>
      <p:sp>
        <p:nvSpPr>
          <p:cNvPr name="TextBox 18" id="18"/>
          <p:cNvSpPr txBox="true"/>
          <p:nvPr/>
        </p:nvSpPr>
        <p:spPr>
          <a:xfrm>
            <a:off x="8470900" y="29464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3</a:t>
            </a:r>
            <a:endParaRPr lang="en-US" sz="1100"/>
          </a:p>
        </p:txBody>
      </p:sp>
      <p:sp>
        <p:nvSpPr>
          <p:cNvPr name="TextBox 19" id="19"/>
          <p:cNvSpPr txBox="true"/>
          <p:nvPr/>
        </p:nvSpPr>
        <p:spPr>
          <a:xfrm>
            <a:off x="12179300" y="29464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4</a:t>
            </a:r>
            <a:endParaRPr lang="en-US" sz="1100"/>
          </a:p>
        </p:txBody>
      </p:sp>
      <p:sp>
        <p:nvSpPr>
          <p:cNvPr name="TextBox 20" id="20"/>
          <p:cNvSpPr txBox="true"/>
          <p:nvPr/>
        </p:nvSpPr>
        <p:spPr>
          <a:xfrm>
            <a:off x="1066800" y="66929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5</a:t>
            </a:r>
            <a:endParaRPr lang="en-US" sz="1100"/>
          </a:p>
        </p:txBody>
      </p:sp>
      <p:sp>
        <p:nvSpPr>
          <p:cNvPr name="TextBox 21" id="21"/>
          <p:cNvSpPr txBox="true"/>
          <p:nvPr/>
        </p:nvSpPr>
        <p:spPr>
          <a:xfrm>
            <a:off x="1689100" y="2946400"/>
            <a:ext cx="2565400" cy="3022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Explainable SmartGrid audit framework integrating anomaly detection, audit intelligence, and live SCADA monitoring</a:t>
            </a:r>
            <a:endParaRPr lang="en-US" sz="1100"/>
          </a:p>
        </p:txBody>
      </p:sp>
      <p:sp>
        <p:nvSpPr>
          <p:cNvPr name="TextBox 22" id="22"/>
          <p:cNvSpPr txBox="true"/>
          <p:nvPr/>
        </p:nvSpPr>
        <p:spPr>
          <a:xfrm>
            <a:off x="5397500" y="2946400"/>
            <a:ext cx="2565400" cy="1511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Deviation-based scoring with threshold-driven audit escalation</a:t>
            </a:r>
            <a:endParaRPr lang="en-US" sz="1100"/>
          </a:p>
        </p:txBody>
      </p:sp>
      <p:sp>
        <p:nvSpPr>
          <p:cNvPr name="TextBox 23" id="23"/>
          <p:cNvSpPr txBox="true"/>
          <p:nvPr/>
        </p:nvSpPr>
        <p:spPr>
          <a:xfrm>
            <a:off x="9093200" y="2946400"/>
            <a:ext cx="2565400" cy="1879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Two-workspace architecture separating experiment and live operation</a:t>
            </a:r>
            <a:endParaRPr lang="en-US" sz="1100"/>
          </a:p>
        </p:txBody>
      </p:sp>
      <p:sp>
        <p:nvSpPr>
          <p:cNvPr name="TextBox 24" id="24"/>
          <p:cNvSpPr txBox="true"/>
          <p:nvPr/>
        </p:nvSpPr>
        <p:spPr>
          <a:xfrm>
            <a:off x="12801600" y="2946400"/>
            <a:ext cx="2565400" cy="1879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Real SCADA-to-backend-to-dashboard pipeline with operator visibility</a:t>
            </a:r>
            <a:endParaRPr lang="en-US" sz="1100"/>
          </a:p>
        </p:txBody>
      </p:sp>
      <p:sp>
        <p:nvSpPr>
          <p:cNvPr name="TextBox 25" id="25"/>
          <p:cNvSpPr txBox="true"/>
          <p:nvPr/>
        </p:nvSpPr>
        <p:spPr>
          <a:xfrm>
            <a:off x="1689100" y="6680200"/>
            <a:ext cx="136652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Extends base paper into functioning software platform with deployment focus</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0" y="0"/>
            <a:ext cx="16256000" cy="9144000"/>
          </a:xfrm>
          <a:prstGeom prst="rect">
            <a:avLst/>
          </a:prstGeom>
          <a:solidFill>
            <a:srgbClr val="0D0A2C">
              <a:alpha val="74902"/>
            </a:srgbClr>
          </a:solidFill>
        </p:spPr>
      </p:sp>
      <p:pic>
        <p:nvPicPr>
          <p:cNvPr name="Picture 3" id="3"/>
          <p:cNvPicPr>
            <a:picLocks noChangeAspect="true"/>
          </p:cNvPicPr>
          <p:nvPr/>
        </p:nvPicPr>
        <p:blipFill>
          <a:blip r:embed="rId2"/>
          <a:srcRect t="56" b="56"/>
          <a:stretch>
            <a:fillRect/>
          </a:stretch>
        </p:blipFill>
        <p:spPr>
          <a:xfrm>
            <a:off x="0" y="0"/>
            <a:ext cx="16256000" cy="9144000"/>
          </a:xfrm>
          <a:prstGeom prst="rect">
            <a:avLst/>
          </a:prstGeom>
        </p:spPr>
      </p:pic>
      <p:sp>
        <p:nvSpPr>
          <p:cNvPr name="AutoShape 4" id="4"/>
          <p:cNvSpPr/>
          <p:nvPr/>
        </p:nvSpPr>
        <p:spPr>
          <a:xfrm>
            <a:off x="876300" y="2476500"/>
            <a:ext cx="14490700" cy="4394200"/>
          </a:xfrm>
          <a:prstGeom prst="rect">
            <a:avLst/>
          </a:prstGeom>
          <a:solidFill>
            <a:srgbClr val="000000">
              <a:alpha val="0"/>
            </a:srgbClr>
          </a:solidFill>
        </p:spPr>
      </p:sp>
      <p:sp>
        <p:nvSpPr>
          <p:cNvPr name="AutoShape 5" id="5"/>
          <p:cNvSpPr/>
          <p:nvPr/>
        </p:nvSpPr>
        <p:spPr>
          <a:xfrm>
            <a:off x="876300" y="2476500"/>
            <a:ext cx="3378200" cy="2679700"/>
          </a:xfrm>
          <a:prstGeom prst="rect">
            <a:avLst/>
          </a:prstGeom>
          <a:solidFill>
            <a:srgbClr val="000000">
              <a:alpha val="0"/>
            </a:srgbClr>
          </a:solidFill>
        </p:spPr>
      </p:sp>
      <p:sp>
        <p:nvSpPr>
          <p:cNvPr name="AutoShape 6" id="6"/>
          <p:cNvSpPr/>
          <p:nvPr/>
        </p:nvSpPr>
        <p:spPr>
          <a:xfrm>
            <a:off x="876300" y="2476500"/>
            <a:ext cx="558800" cy="558800"/>
          </a:xfrm>
          <a:prstGeom prst="roundRect">
            <a:avLst>
              <a:gd name="adj" fmla="val 15909"/>
            </a:avLst>
          </a:prstGeom>
          <a:solidFill>
            <a:srgbClr val="D1D1D1"/>
          </a:solidFill>
        </p:spPr>
      </p:sp>
      <p:sp>
        <p:nvSpPr>
          <p:cNvPr name="AutoShape 7" id="7"/>
          <p:cNvSpPr/>
          <p:nvPr/>
        </p:nvSpPr>
        <p:spPr>
          <a:xfrm>
            <a:off x="4572000" y="2476500"/>
            <a:ext cx="3378200" cy="2679700"/>
          </a:xfrm>
          <a:prstGeom prst="rect">
            <a:avLst/>
          </a:prstGeom>
          <a:solidFill>
            <a:srgbClr val="000000">
              <a:alpha val="0"/>
            </a:srgbClr>
          </a:solidFill>
        </p:spPr>
      </p:sp>
      <p:sp>
        <p:nvSpPr>
          <p:cNvPr name="AutoShape 8" id="8"/>
          <p:cNvSpPr/>
          <p:nvPr/>
        </p:nvSpPr>
        <p:spPr>
          <a:xfrm>
            <a:off x="4572000" y="2476500"/>
            <a:ext cx="558800" cy="558800"/>
          </a:xfrm>
          <a:prstGeom prst="roundRect">
            <a:avLst>
              <a:gd name="adj" fmla="val 15909"/>
            </a:avLst>
          </a:prstGeom>
          <a:solidFill>
            <a:srgbClr val="D1D1D1"/>
          </a:solidFill>
        </p:spPr>
      </p:sp>
      <p:sp>
        <p:nvSpPr>
          <p:cNvPr name="AutoShape 9" id="9"/>
          <p:cNvSpPr/>
          <p:nvPr/>
        </p:nvSpPr>
        <p:spPr>
          <a:xfrm>
            <a:off x="8280400" y="2476500"/>
            <a:ext cx="3378200" cy="2679700"/>
          </a:xfrm>
          <a:prstGeom prst="rect">
            <a:avLst/>
          </a:prstGeom>
          <a:solidFill>
            <a:srgbClr val="000000">
              <a:alpha val="0"/>
            </a:srgbClr>
          </a:solidFill>
        </p:spPr>
      </p:sp>
      <p:sp>
        <p:nvSpPr>
          <p:cNvPr name="AutoShape 10" id="10"/>
          <p:cNvSpPr/>
          <p:nvPr/>
        </p:nvSpPr>
        <p:spPr>
          <a:xfrm>
            <a:off x="8280400" y="2476500"/>
            <a:ext cx="558800" cy="558800"/>
          </a:xfrm>
          <a:prstGeom prst="roundRect">
            <a:avLst>
              <a:gd name="adj" fmla="val 15909"/>
            </a:avLst>
          </a:prstGeom>
          <a:solidFill>
            <a:srgbClr val="D1D1D1"/>
          </a:solidFill>
        </p:spPr>
      </p:sp>
      <p:sp>
        <p:nvSpPr>
          <p:cNvPr name="AutoShape 11" id="11"/>
          <p:cNvSpPr/>
          <p:nvPr/>
        </p:nvSpPr>
        <p:spPr>
          <a:xfrm>
            <a:off x="11976100" y="2476500"/>
            <a:ext cx="3378200" cy="2679700"/>
          </a:xfrm>
          <a:prstGeom prst="rect">
            <a:avLst/>
          </a:prstGeom>
          <a:solidFill>
            <a:srgbClr val="000000">
              <a:alpha val="0"/>
            </a:srgbClr>
          </a:solidFill>
        </p:spPr>
      </p:sp>
      <p:sp>
        <p:nvSpPr>
          <p:cNvPr name="AutoShape 12" id="12"/>
          <p:cNvSpPr/>
          <p:nvPr/>
        </p:nvSpPr>
        <p:spPr>
          <a:xfrm>
            <a:off x="11976100" y="2476500"/>
            <a:ext cx="558800" cy="558800"/>
          </a:xfrm>
          <a:prstGeom prst="roundRect">
            <a:avLst>
              <a:gd name="adj" fmla="val 15909"/>
            </a:avLst>
          </a:prstGeom>
          <a:solidFill>
            <a:srgbClr val="D1D1D1"/>
          </a:solidFill>
        </p:spPr>
      </p:sp>
      <p:sp>
        <p:nvSpPr>
          <p:cNvPr name="AutoShape 13" id="13"/>
          <p:cNvSpPr/>
          <p:nvPr/>
        </p:nvSpPr>
        <p:spPr>
          <a:xfrm>
            <a:off x="876300" y="5791200"/>
            <a:ext cx="14490700" cy="1092200"/>
          </a:xfrm>
          <a:prstGeom prst="rect">
            <a:avLst/>
          </a:prstGeom>
          <a:solidFill>
            <a:srgbClr val="000000">
              <a:alpha val="0"/>
            </a:srgbClr>
          </a:solidFill>
        </p:spPr>
      </p:sp>
      <p:sp>
        <p:nvSpPr>
          <p:cNvPr name="AutoShape 14" id="14"/>
          <p:cNvSpPr/>
          <p:nvPr/>
        </p:nvSpPr>
        <p:spPr>
          <a:xfrm>
            <a:off x="876300" y="5791200"/>
            <a:ext cx="558800" cy="558800"/>
          </a:xfrm>
          <a:prstGeom prst="roundRect">
            <a:avLst>
              <a:gd name="adj" fmla="val 15909"/>
            </a:avLst>
          </a:prstGeom>
          <a:solidFill>
            <a:srgbClr val="D1D1D1"/>
          </a:solidFill>
        </p:spPr>
      </p:sp>
      <p:sp>
        <p:nvSpPr>
          <p:cNvPr name="TextBox 15" id="15"/>
          <p:cNvSpPr txBox="true"/>
          <p:nvPr/>
        </p:nvSpPr>
        <p:spPr>
          <a:xfrm>
            <a:off x="876300" y="1587500"/>
            <a:ext cx="14490700" cy="5969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3900" b="true">
                <a:solidFill>
                  <a:srgbClr val="000000"/>
                </a:solidFill>
                <a:latin typeface="Ubuntu"/>
              </a:rPr>
              <a:t>System Architecture</a:t>
            </a:r>
            <a:endParaRPr lang="en-US" sz="1100"/>
          </a:p>
        </p:txBody>
      </p:sp>
      <p:sp>
        <p:nvSpPr>
          <p:cNvPr name="TextBox 16" id="16"/>
          <p:cNvSpPr txBox="true"/>
          <p:nvPr/>
        </p:nvSpPr>
        <p:spPr>
          <a:xfrm>
            <a:off x="1066800" y="25654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1</a:t>
            </a:r>
            <a:endParaRPr lang="en-US" sz="1100"/>
          </a:p>
        </p:txBody>
      </p:sp>
      <p:sp>
        <p:nvSpPr>
          <p:cNvPr name="TextBox 17" id="17"/>
          <p:cNvSpPr txBox="true"/>
          <p:nvPr/>
        </p:nvSpPr>
        <p:spPr>
          <a:xfrm>
            <a:off x="1689100" y="2565400"/>
            <a:ext cx="2565400" cy="9017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000000"/>
                </a:solidFill>
                <a:latin typeface="Ubuntu"/>
              </a:rPr>
              <a:t>Four-tier architecture</a:t>
            </a:r>
            <a:endParaRPr lang="en-US" sz="1100"/>
          </a:p>
        </p:txBody>
      </p:sp>
      <p:sp>
        <p:nvSpPr>
          <p:cNvPr name="TextBox 18" id="18"/>
          <p:cNvSpPr txBox="true"/>
          <p:nvPr/>
        </p:nvSpPr>
        <p:spPr>
          <a:xfrm>
            <a:off x="4775200" y="25654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2</a:t>
            </a:r>
            <a:endParaRPr lang="en-US" sz="1100"/>
          </a:p>
        </p:txBody>
      </p:sp>
      <p:sp>
        <p:nvSpPr>
          <p:cNvPr name="TextBox 19" id="19"/>
          <p:cNvSpPr txBox="true"/>
          <p:nvPr/>
        </p:nvSpPr>
        <p:spPr>
          <a:xfrm>
            <a:off x="5397500" y="2565400"/>
            <a:ext cx="25654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000000"/>
                </a:solidFill>
                <a:latin typeface="Ubuntu"/>
              </a:rPr>
              <a:t>Tier 1</a:t>
            </a:r>
            <a:endParaRPr lang="en-US" sz="1100"/>
          </a:p>
        </p:txBody>
      </p:sp>
      <p:sp>
        <p:nvSpPr>
          <p:cNvPr name="TextBox 20" id="20"/>
          <p:cNvSpPr txBox="true"/>
          <p:nvPr/>
        </p:nvSpPr>
        <p:spPr>
          <a:xfrm>
            <a:off x="8470900" y="25654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3</a:t>
            </a:r>
            <a:endParaRPr lang="en-US" sz="1100"/>
          </a:p>
        </p:txBody>
      </p:sp>
      <p:sp>
        <p:nvSpPr>
          <p:cNvPr name="TextBox 21" id="21"/>
          <p:cNvSpPr txBox="true"/>
          <p:nvPr/>
        </p:nvSpPr>
        <p:spPr>
          <a:xfrm>
            <a:off x="9093200" y="2565400"/>
            <a:ext cx="25654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000000"/>
                </a:solidFill>
                <a:latin typeface="Ubuntu"/>
              </a:rPr>
              <a:t>Tier 2</a:t>
            </a:r>
            <a:endParaRPr lang="en-US" sz="1100"/>
          </a:p>
        </p:txBody>
      </p:sp>
      <p:sp>
        <p:nvSpPr>
          <p:cNvPr name="TextBox 22" id="22"/>
          <p:cNvSpPr txBox="true"/>
          <p:nvPr/>
        </p:nvSpPr>
        <p:spPr>
          <a:xfrm>
            <a:off x="12179300" y="25654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4</a:t>
            </a:r>
            <a:endParaRPr lang="en-US" sz="1100"/>
          </a:p>
        </p:txBody>
      </p:sp>
      <p:sp>
        <p:nvSpPr>
          <p:cNvPr name="TextBox 23" id="23"/>
          <p:cNvSpPr txBox="true"/>
          <p:nvPr/>
        </p:nvSpPr>
        <p:spPr>
          <a:xfrm>
            <a:off x="12801600" y="2565400"/>
            <a:ext cx="25654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000000"/>
                </a:solidFill>
                <a:latin typeface="Ubuntu"/>
              </a:rPr>
              <a:t>Tier 3</a:t>
            </a:r>
            <a:endParaRPr lang="en-US" sz="1100"/>
          </a:p>
        </p:txBody>
      </p:sp>
      <p:sp>
        <p:nvSpPr>
          <p:cNvPr name="TextBox 24" id="24"/>
          <p:cNvSpPr txBox="true"/>
          <p:nvPr/>
        </p:nvSpPr>
        <p:spPr>
          <a:xfrm>
            <a:off x="1066800" y="58801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5</a:t>
            </a:r>
            <a:endParaRPr lang="en-US" sz="1100"/>
          </a:p>
        </p:txBody>
      </p:sp>
      <p:sp>
        <p:nvSpPr>
          <p:cNvPr name="TextBox 25" id="25"/>
          <p:cNvSpPr txBox="true"/>
          <p:nvPr/>
        </p:nvSpPr>
        <p:spPr>
          <a:xfrm>
            <a:off x="1689100" y="5880100"/>
            <a:ext cx="136652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000000"/>
                </a:solidFill>
                <a:latin typeface="Ubuntu"/>
              </a:rPr>
              <a:t>Tier 4</a:t>
            </a:r>
            <a:endParaRPr lang="en-US" sz="1100"/>
          </a:p>
        </p:txBody>
      </p:sp>
      <p:sp>
        <p:nvSpPr>
          <p:cNvPr name="TextBox 26" id="26"/>
          <p:cNvSpPr txBox="true"/>
          <p:nvPr/>
        </p:nvSpPr>
        <p:spPr>
          <a:xfrm>
            <a:off x="1689100" y="3644900"/>
            <a:ext cx="2565400" cy="1511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Data Ingestion, Feature Processing, Anomaly Scoring, Visualization</a:t>
            </a:r>
            <a:endParaRPr lang="en-US" sz="1100"/>
          </a:p>
        </p:txBody>
      </p:sp>
      <p:sp>
        <p:nvSpPr>
          <p:cNvPr name="TextBox 27" id="27"/>
          <p:cNvSpPr txBox="true"/>
          <p:nvPr/>
        </p:nvSpPr>
        <p:spPr>
          <a:xfrm>
            <a:off x="5397500" y="3187700"/>
            <a:ext cx="2565400" cy="1511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SCADA and experiment data acquisition and unification</a:t>
            </a:r>
            <a:endParaRPr lang="en-US" sz="1100"/>
          </a:p>
        </p:txBody>
      </p:sp>
      <p:sp>
        <p:nvSpPr>
          <p:cNvPr name="TextBox 28" id="28"/>
          <p:cNvSpPr txBox="true"/>
          <p:nvPr/>
        </p:nvSpPr>
        <p:spPr>
          <a:xfrm>
            <a:off x="9093200" y="3187700"/>
            <a:ext cx="2565400" cy="1511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Feature construction, baseline mapping, normalization</a:t>
            </a:r>
            <a:endParaRPr lang="en-US" sz="1100"/>
          </a:p>
        </p:txBody>
      </p:sp>
      <p:sp>
        <p:nvSpPr>
          <p:cNvPr name="TextBox 29" id="29"/>
          <p:cNvSpPr txBox="true"/>
          <p:nvPr/>
        </p:nvSpPr>
        <p:spPr>
          <a:xfrm>
            <a:off x="12801600" y="3187700"/>
            <a:ext cx="2565400" cy="1879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Deviation-based scoring, risk assessment, audit decision logic, explainability</a:t>
            </a:r>
            <a:endParaRPr lang="en-US" sz="1100"/>
          </a:p>
        </p:txBody>
      </p:sp>
      <p:sp>
        <p:nvSpPr>
          <p:cNvPr name="TextBox 30" id="30"/>
          <p:cNvSpPr txBox="true"/>
          <p:nvPr/>
        </p:nvSpPr>
        <p:spPr>
          <a:xfrm>
            <a:off x="1689100" y="6502400"/>
            <a:ext cx="136652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Dashboard layer with separated experiment and live views</a:t>
            </a:r>
            <a:endParaRPr lang="en-US" sz="1100"/>
          </a:p>
        </p:txBody>
      </p:sp>
      <p:sp>
        <p:nvSpPr>
          <p:cNvPr name="TextBox 31" id="31"/>
          <p:cNvSpPr txBox="true"/>
          <p:nvPr/>
        </p:nvSpPr>
        <p:spPr>
          <a:xfrm>
            <a:off x="876300" y="7162800"/>
            <a:ext cx="144907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Reserved space for architecture diagram showing end-to-end flow from SCADA to dashboard</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0" y="0"/>
            <a:ext cx="16256000" cy="9144000"/>
          </a:xfrm>
          <a:prstGeom prst="rect">
            <a:avLst/>
          </a:prstGeom>
          <a:solidFill>
            <a:srgbClr val="0D0A2C">
              <a:alpha val="74902"/>
            </a:srgbClr>
          </a:solidFill>
        </p:spPr>
      </p:sp>
      <p:pic>
        <p:nvPicPr>
          <p:cNvPr name="Picture 3" id="3"/>
          <p:cNvPicPr>
            <a:picLocks noChangeAspect="true"/>
          </p:cNvPicPr>
          <p:nvPr/>
        </p:nvPicPr>
        <p:blipFill>
          <a:blip r:embed="rId2"/>
          <a:srcRect t="56" b="56"/>
          <a:stretch>
            <a:fillRect/>
          </a:stretch>
        </p:blipFill>
        <p:spPr>
          <a:xfrm>
            <a:off x="0" y="0"/>
            <a:ext cx="16256000" cy="9144000"/>
          </a:xfrm>
          <a:prstGeom prst="rect">
            <a:avLst/>
          </a:prstGeom>
        </p:spPr>
      </p:pic>
      <p:sp>
        <p:nvSpPr>
          <p:cNvPr name="AutoShape 4" id="4"/>
          <p:cNvSpPr/>
          <p:nvPr/>
        </p:nvSpPr>
        <p:spPr>
          <a:xfrm>
            <a:off x="876300" y="2451100"/>
            <a:ext cx="14490700" cy="4064000"/>
          </a:xfrm>
          <a:prstGeom prst="rect">
            <a:avLst/>
          </a:prstGeom>
          <a:solidFill>
            <a:srgbClr val="000000">
              <a:alpha val="0"/>
            </a:srgbClr>
          </a:solidFill>
        </p:spPr>
      </p:sp>
      <p:sp>
        <p:nvSpPr>
          <p:cNvPr name="AutoShape 5" id="5"/>
          <p:cNvSpPr/>
          <p:nvPr/>
        </p:nvSpPr>
        <p:spPr>
          <a:xfrm>
            <a:off x="876300" y="2451100"/>
            <a:ext cx="7112000" cy="4064000"/>
          </a:xfrm>
          <a:prstGeom prst="roundRect">
            <a:avLst>
              <a:gd name="adj" fmla="val 2187"/>
            </a:avLst>
          </a:prstGeom>
          <a:solidFill>
            <a:srgbClr val="D1D1D1">
              <a:alpha val="71765"/>
            </a:srgbClr>
          </a:solidFill>
        </p:spPr>
      </p:sp>
      <p:sp>
        <p:nvSpPr>
          <p:cNvPr name="AutoShape 6" id="6"/>
          <p:cNvSpPr/>
          <p:nvPr/>
        </p:nvSpPr>
        <p:spPr>
          <a:xfrm>
            <a:off x="1130300" y="2705100"/>
            <a:ext cx="749300" cy="749300"/>
          </a:xfrm>
          <a:prstGeom prst="roundRect">
            <a:avLst>
              <a:gd name="adj" fmla="val 49152"/>
            </a:avLst>
          </a:prstGeom>
          <a:solidFill>
            <a:srgbClr val="000000"/>
          </a:solidFill>
        </p:spPr>
      </p:sp>
      <p:sp>
        <p:nvSpPr>
          <p:cNvPr name="AutoShape 7" id="7"/>
          <p:cNvSpPr/>
          <p:nvPr/>
        </p:nvSpPr>
        <p:spPr>
          <a:xfrm>
            <a:off x="8242300" y="2451100"/>
            <a:ext cx="7112000" cy="4064000"/>
          </a:xfrm>
          <a:prstGeom prst="roundRect">
            <a:avLst>
              <a:gd name="adj" fmla="val 2187"/>
            </a:avLst>
          </a:prstGeom>
          <a:solidFill>
            <a:srgbClr val="D1D1D1">
              <a:alpha val="71765"/>
            </a:srgbClr>
          </a:solidFill>
        </p:spPr>
      </p:sp>
      <p:sp>
        <p:nvSpPr>
          <p:cNvPr name="AutoShape 8" id="8"/>
          <p:cNvSpPr/>
          <p:nvPr/>
        </p:nvSpPr>
        <p:spPr>
          <a:xfrm>
            <a:off x="8496300" y="2705100"/>
            <a:ext cx="749300" cy="749300"/>
          </a:xfrm>
          <a:prstGeom prst="roundRect">
            <a:avLst>
              <a:gd name="adj" fmla="val 49152"/>
            </a:avLst>
          </a:prstGeom>
          <a:solidFill>
            <a:srgbClr val="000000"/>
          </a:solidFill>
        </p:spPr>
      </p:sp>
      <p:sp>
        <p:nvSpPr>
          <p:cNvPr name="TextBox 9" id="9"/>
          <p:cNvSpPr txBox="true"/>
          <p:nvPr/>
        </p:nvSpPr>
        <p:spPr>
          <a:xfrm>
            <a:off x="876300" y="1562100"/>
            <a:ext cx="14490700" cy="5969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3900" b="true">
                <a:solidFill>
                  <a:srgbClr val="000000"/>
                </a:solidFill>
                <a:latin typeface="Ubuntu"/>
              </a:rPr>
              <a:t>Two-Workspace Design</a:t>
            </a:r>
            <a:endParaRPr lang="en-US" sz="1100"/>
          </a:p>
        </p:txBody>
      </p:sp>
      <p:sp>
        <p:nvSpPr>
          <p:cNvPr name="TextBox 10" id="10"/>
          <p:cNvSpPr txBox="true"/>
          <p:nvPr/>
        </p:nvSpPr>
        <p:spPr>
          <a:xfrm>
            <a:off x="1130300" y="3721100"/>
            <a:ext cx="66040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000000"/>
                </a:solidFill>
                <a:latin typeface="Ubuntu"/>
              </a:rPr>
              <a:t>Experiment Running</a:t>
            </a:r>
            <a:endParaRPr lang="en-US" sz="1100"/>
          </a:p>
        </p:txBody>
      </p:sp>
      <p:sp>
        <p:nvSpPr>
          <p:cNvPr name="TextBox 11" id="11"/>
          <p:cNvSpPr txBox="true"/>
          <p:nvPr/>
        </p:nvSpPr>
        <p:spPr>
          <a:xfrm>
            <a:off x="8496300" y="3721100"/>
            <a:ext cx="66040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000000"/>
                </a:solidFill>
                <a:latin typeface="Ubuntu"/>
              </a:rPr>
              <a:t>Rapid SCADA Live</a:t>
            </a:r>
            <a:endParaRPr lang="en-US" sz="1100"/>
          </a:p>
        </p:txBody>
      </p:sp>
      <p:sp>
        <p:nvSpPr>
          <p:cNvPr name="TextBox 12" id="12"/>
          <p:cNvSpPr txBox="true"/>
          <p:nvPr/>
        </p:nvSpPr>
        <p:spPr>
          <a:xfrm>
            <a:off x="1384300" y="4356100"/>
            <a:ext cx="6362700" cy="749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Simulation, benchmarking, and evaluation workspace</a:t>
            </a:r>
            <a:endParaRPr lang="en-US" sz="1100"/>
          </a:p>
        </p:txBody>
      </p:sp>
      <p:sp>
        <p:nvSpPr>
          <p:cNvPr name="TextBox 13" id="13"/>
          <p:cNvSpPr txBox="true"/>
          <p:nvPr/>
        </p:nvSpPr>
        <p:spPr>
          <a:xfrm>
            <a:off x="1384300" y="5321300"/>
            <a:ext cx="63627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Performance metrics across different grid sizes</a:t>
            </a:r>
            <a:endParaRPr lang="en-US" sz="1100"/>
          </a:p>
        </p:txBody>
      </p:sp>
      <p:sp>
        <p:nvSpPr>
          <p:cNvPr name="TextBox 14" id="14"/>
          <p:cNvSpPr txBox="true"/>
          <p:nvPr/>
        </p:nvSpPr>
        <p:spPr>
          <a:xfrm>
            <a:off x="1384300" y="5892800"/>
            <a:ext cx="63627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Ablation analysis and robustness testing</a:t>
            </a:r>
            <a:endParaRPr lang="en-US" sz="1100"/>
          </a:p>
        </p:txBody>
      </p:sp>
      <p:sp>
        <p:nvSpPr>
          <p:cNvPr name="TextBox 15" id="15"/>
          <p:cNvSpPr txBox="true"/>
          <p:nvPr/>
        </p:nvSpPr>
        <p:spPr>
          <a:xfrm>
            <a:off x="8750300" y="4356100"/>
            <a:ext cx="6362700" cy="749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Real-time monitoring and audit support workspace</a:t>
            </a:r>
            <a:endParaRPr lang="en-US" sz="1100"/>
          </a:p>
        </p:txBody>
      </p:sp>
      <p:sp>
        <p:nvSpPr>
          <p:cNvPr name="TextBox 16" id="16"/>
          <p:cNvSpPr txBox="true"/>
          <p:nvPr/>
        </p:nvSpPr>
        <p:spPr>
          <a:xfrm>
            <a:off x="8750300" y="5321300"/>
            <a:ext cx="63627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Live telemetry from 100-agent SCADA grid</a:t>
            </a:r>
            <a:endParaRPr lang="en-US" sz="1100"/>
          </a:p>
        </p:txBody>
      </p:sp>
      <p:sp>
        <p:nvSpPr>
          <p:cNvPr name="TextBox 17" id="17"/>
          <p:cNvSpPr txBox="true"/>
          <p:nvPr/>
        </p:nvSpPr>
        <p:spPr>
          <a:xfrm>
            <a:off x="8750300" y="5892800"/>
            <a:ext cx="63627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Operational decision support for operators</a:t>
            </a:r>
            <a:endParaRPr lang="en-US" sz="1100"/>
          </a:p>
        </p:txBody>
      </p:sp>
      <p:sp>
        <p:nvSpPr>
          <p:cNvPr name="TextBox 18" id="18"/>
          <p:cNvSpPr txBox="true"/>
          <p:nvPr/>
        </p:nvSpPr>
        <p:spPr>
          <a:xfrm>
            <a:off x="876300" y="6807200"/>
            <a:ext cx="14490700" cy="749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Separation prevents experimental outputs from interfering with live operational data, ensuring technical correctness and operational clarity.</a:t>
            </a:r>
            <a:endParaRPr lang="en-US" sz="1100"/>
          </a:p>
        </p:txBody>
      </p:sp>
      <p:sp>
        <p:nvSpPr>
          <p:cNvPr name="TextBox 19" id="19"/>
          <p:cNvSpPr txBox="true"/>
          <p:nvPr/>
        </p:nvSpPr>
        <p:spPr>
          <a:xfrm>
            <a:off x="1003300" y="44196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
        <p:nvSpPr>
          <p:cNvPr name="TextBox 20" id="20"/>
          <p:cNvSpPr txBox="true"/>
          <p:nvPr/>
        </p:nvSpPr>
        <p:spPr>
          <a:xfrm>
            <a:off x="1003300" y="53721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
        <p:nvSpPr>
          <p:cNvPr name="TextBox 21" id="21"/>
          <p:cNvSpPr txBox="true"/>
          <p:nvPr/>
        </p:nvSpPr>
        <p:spPr>
          <a:xfrm>
            <a:off x="1003300" y="59563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
        <p:nvSpPr>
          <p:cNvPr name="TextBox 22" id="22"/>
          <p:cNvSpPr txBox="true"/>
          <p:nvPr/>
        </p:nvSpPr>
        <p:spPr>
          <a:xfrm>
            <a:off x="8369300" y="44196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
        <p:nvSpPr>
          <p:cNvPr name="TextBox 23" id="23"/>
          <p:cNvSpPr txBox="true"/>
          <p:nvPr/>
        </p:nvSpPr>
        <p:spPr>
          <a:xfrm>
            <a:off x="8369300" y="53721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
        <p:nvSpPr>
          <p:cNvPr name="TextBox 24" id="24"/>
          <p:cNvSpPr txBox="true"/>
          <p:nvPr/>
        </p:nvSpPr>
        <p:spPr>
          <a:xfrm>
            <a:off x="8369300" y="59563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pic>
        <p:nvPicPr>
          <p:cNvPr name="Picture 25" id="25"/>
          <p:cNvPicPr>
            <a:picLocks noChangeAspect="true"/>
          </p:cNvPicPr>
          <p:nvPr/>
        </p:nvPicPr>
        <p:blipFill>
          <a:blip r:embed="rId3"/>
          <a:stretch>
            <a:fillRect/>
          </a:stretch>
        </p:blipFill>
        <p:spPr>
          <a:xfrm>
            <a:off x="1397000" y="2971800"/>
            <a:ext cx="215900" cy="215900"/>
          </a:xfrm>
          <a:prstGeom prst="rect">
            <a:avLst/>
          </a:prstGeom>
        </p:spPr>
      </p:pic>
      <p:pic>
        <p:nvPicPr>
          <p:cNvPr name="Picture 26" id="26"/>
          <p:cNvPicPr>
            <a:picLocks noChangeAspect="true"/>
          </p:cNvPicPr>
          <p:nvPr/>
        </p:nvPicPr>
        <p:blipFill>
          <a:blip r:embed="rId4"/>
          <a:stretch>
            <a:fillRect/>
          </a:stretch>
        </p:blipFill>
        <p:spPr>
          <a:xfrm>
            <a:off x="8750300" y="2959100"/>
            <a:ext cx="241300" cy="241300"/>
          </a:xfrm>
          <a:prstGeom prst="rect">
            <a:avLst/>
          </a:prstGeom>
        </p:spPr>
      </p:pic>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0" y="0"/>
            <a:ext cx="16256000" cy="9144000"/>
          </a:xfrm>
          <a:prstGeom prst="rect">
            <a:avLst/>
          </a:prstGeom>
          <a:solidFill>
            <a:srgbClr val="0D0A2C">
              <a:alpha val="74902"/>
            </a:srgbClr>
          </a:solidFill>
        </p:spPr>
      </p:sp>
      <p:pic>
        <p:nvPicPr>
          <p:cNvPr name="Picture 3" id="3"/>
          <p:cNvPicPr>
            <a:picLocks noChangeAspect="true"/>
          </p:cNvPicPr>
          <p:nvPr/>
        </p:nvPicPr>
        <p:blipFill>
          <a:blip r:embed="rId2"/>
          <a:srcRect t="56" b="56"/>
          <a:stretch>
            <a:fillRect/>
          </a:stretch>
        </p:blipFill>
        <p:spPr>
          <a:xfrm>
            <a:off x="0" y="0"/>
            <a:ext cx="16256000" cy="9144000"/>
          </a:xfrm>
          <a:prstGeom prst="rect">
            <a:avLst/>
          </a:prstGeom>
        </p:spPr>
      </p:pic>
      <p:sp>
        <p:nvSpPr>
          <p:cNvPr name="AutoShape 4" id="4"/>
          <p:cNvSpPr/>
          <p:nvPr/>
        </p:nvSpPr>
        <p:spPr>
          <a:xfrm>
            <a:off x="876300" y="3429000"/>
            <a:ext cx="14490700" cy="3162300"/>
          </a:xfrm>
          <a:prstGeom prst="rect">
            <a:avLst/>
          </a:prstGeom>
          <a:solidFill>
            <a:srgbClr val="000000">
              <a:alpha val="0"/>
            </a:srgbClr>
          </a:solidFill>
        </p:spPr>
      </p:sp>
      <p:sp>
        <p:nvSpPr>
          <p:cNvPr name="AutoShape 5" id="5"/>
          <p:cNvSpPr/>
          <p:nvPr/>
        </p:nvSpPr>
        <p:spPr>
          <a:xfrm>
            <a:off x="876300" y="3429000"/>
            <a:ext cx="3378200" cy="1968500"/>
          </a:xfrm>
          <a:prstGeom prst="rect">
            <a:avLst/>
          </a:prstGeom>
          <a:solidFill>
            <a:srgbClr val="000000">
              <a:alpha val="0"/>
            </a:srgbClr>
          </a:solidFill>
        </p:spPr>
      </p:sp>
      <p:sp>
        <p:nvSpPr>
          <p:cNvPr name="AutoShape 6" id="6"/>
          <p:cNvSpPr/>
          <p:nvPr/>
        </p:nvSpPr>
        <p:spPr>
          <a:xfrm>
            <a:off x="876300" y="3429000"/>
            <a:ext cx="558800" cy="558800"/>
          </a:xfrm>
          <a:prstGeom prst="roundRect">
            <a:avLst>
              <a:gd name="adj" fmla="val 15909"/>
            </a:avLst>
          </a:prstGeom>
          <a:solidFill>
            <a:srgbClr val="D1D1D1"/>
          </a:solidFill>
        </p:spPr>
      </p:sp>
      <p:sp>
        <p:nvSpPr>
          <p:cNvPr name="AutoShape 7" id="7"/>
          <p:cNvSpPr/>
          <p:nvPr/>
        </p:nvSpPr>
        <p:spPr>
          <a:xfrm>
            <a:off x="4572000" y="3429000"/>
            <a:ext cx="3378200" cy="1968500"/>
          </a:xfrm>
          <a:prstGeom prst="rect">
            <a:avLst/>
          </a:prstGeom>
          <a:solidFill>
            <a:srgbClr val="000000">
              <a:alpha val="0"/>
            </a:srgbClr>
          </a:solidFill>
        </p:spPr>
      </p:sp>
      <p:sp>
        <p:nvSpPr>
          <p:cNvPr name="AutoShape 8" id="8"/>
          <p:cNvSpPr/>
          <p:nvPr/>
        </p:nvSpPr>
        <p:spPr>
          <a:xfrm>
            <a:off x="4572000" y="3429000"/>
            <a:ext cx="558800" cy="558800"/>
          </a:xfrm>
          <a:prstGeom prst="roundRect">
            <a:avLst>
              <a:gd name="adj" fmla="val 15909"/>
            </a:avLst>
          </a:prstGeom>
          <a:solidFill>
            <a:srgbClr val="D1D1D1"/>
          </a:solidFill>
        </p:spPr>
      </p:sp>
      <p:sp>
        <p:nvSpPr>
          <p:cNvPr name="AutoShape 9" id="9"/>
          <p:cNvSpPr/>
          <p:nvPr/>
        </p:nvSpPr>
        <p:spPr>
          <a:xfrm>
            <a:off x="8280400" y="3429000"/>
            <a:ext cx="3378200" cy="1968500"/>
          </a:xfrm>
          <a:prstGeom prst="rect">
            <a:avLst/>
          </a:prstGeom>
          <a:solidFill>
            <a:srgbClr val="000000">
              <a:alpha val="0"/>
            </a:srgbClr>
          </a:solidFill>
        </p:spPr>
      </p:sp>
      <p:sp>
        <p:nvSpPr>
          <p:cNvPr name="AutoShape 10" id="10"/>
          <p:cNvSpPr/>
          <p:nvPr/>
        </p:nvSpPr>
        <p:spPr>
          <a:xfrm>
            <a:off x="8280400" y="3429000"/>
            <a:ext cx="558800" cy="558800"/>
          </a:xfrm>
          <a:prstGeom prst="roundRect">
            <a:avLst>
              <a:gd name="adj" fmla="val 15909"/>
            </a:avLst>
          </a:prstGeom>
          <a:solidFill>
            <a:srgbClr val="D1D1D1"/>
          </a:solidFill>
        </p:spPr>
      </p:sp>
      <p:sp>
        <p:nvSpPr>
          <p:cNvPr name="AutoShape 11" id="11"/>
          <p:cNvSpPr/>
          <p:nvPr/>
        </p:nvSpPr>
        <p:spPr>
          <a:xfrm>
            <a:off x="11976100" y="3429000"/>
            <a:ext cx="3378200" cy="1968500"/>
          </a:xfrm>
          <a:prstGeom prst="rect">
            <a:avLst/>
          </a:prstGeom>
          <a:solidFill>
            <a:srgbClr val="000000">
              <a:alpha val="0"/>
            </a:srgbClr>
          </a:solidFill>
        </p:spPr>
      </p:sp>
      <p:sp>
        <p:nvSpPr>
          <p:cNvPr name="AutoShape 12" id="12"/>
          <p:cNvSpPr/>
          <p:nvPr/>
        </p:nvSpPr>
        <p:spPr>
          <a:xfrm>
            <a:off x="11976100" y="3429000"/>
            <a:ext cx="558800" cy="558800"/>
          </a:xfrm>
          <a:prstGeom prst="roundRect">
            <a:avLst>
              <a:gd name="adj" fmla="val 15909"/>
            </a:avLst>
          </a:prstGeom>
          <a:solidFill>
            <a:srgbClr val="D1D1D1"/>
          </a:solidFill>
        </p:spPr>
      </p:sp>
      <p:sp>
        <p:nvSpPr>
          <p:cNvPr name="AutoShape 13" id="13"/>
          <p:cNvSpPr/>
          <p:nvPr/>
        </p:nvSpPr>
        <p:spPr>
          <a:xfrm>
            <a:off x="876300" y="6032500"/>
            <a:ext cx="14490700" cy="558800"/>
          </a:xfrm>
          <a:prstGeom prst="rect">
            <a:avLst/>
          </a:prstGeom>
          <a:solidFill>
            <a:srgbClr val="000000">
              <a:alpha val="0"/>
            </a:srgbClr>
          </a:solidFill>
        </p:spPr>
      </p:sp>
      <p:sp>
        <p:nvSpPr>
          <p:cNvPr name="AutoShape 14" id="14"/>
          <p:cNvSpPr/>
          <p:nvPr/>
        </p:nvSpPr>
        <p:spPr>
          <a:xfrm>
            <a:off x="876300" y="6032500"/>
            <a:ext cx="558800" cy="558800"/>
          </a:xfrm>
          <a:prstGeom prst="roundRect">
            <a:avLst>
              <a:gd name="adj" fmla="val 15909"/>
            </a:avLst>
          </a:prstGeom>
          <a:solidFill>
            <a:srgbClr val="D1D1D1"/>
          </a:solidFill>
        </p:spPr>
      </p:sp>
      <p:sp>
        <p:nvSpPr>
          <p:cNvPr name="TextBox 15" id="15"/>
          <p:cNvSpPr txBox="true"/>
          <p:nvPr/>
        </p:nvSpPr>
        <p:spPr>
          <a:xfrm>
            <a:off x="876300" y="2540000"/>
            <a:ext cx="14490700" cy="5969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3900" b="true">
                <a:solidFill>
                  <a:srgbClr val="000000"/>
                </a:solidFill>
                <a:latin typeface="Ubuntu"/>
              </a:rPr>
              <a:t>Rapid SCADA Integration</a:t>
            </a:r>
            <a:endParaRPr lang="en-US" sz="1100"/>
          </a:p>
        </p:txBody>
      </p:sp>
      <p:sp>
        <p:nvSpPr>
          <p:cNvPr name="TextBox 16" id="16"/>
          <p:cNvSpPr txBox="true"/>
          <p:nvPr/>
        </p:nvSpPr>
        <p:spPr>
          <a:xfrm>
            <a:off x="1066800" y="35179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1</a:t>
            </a:r>
            <a:endParaRPr lang="en-US" sz="1100"/>
          </a:p>
        </p:txBody>
      </p:sp>
      <p:sp>
        <p:nvSpPr>
          <p:cNvPr name="TextBox 17" id="17"/>
          <p:cNvSpPr txBox="true"/>
          <p:nvPr/>
        </p:nvSpPr>
        <p:spPr>
          <a:xfrm>
            <a:off x="4775200" y="35179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2</a:t>
            </a:r>
            <a:endParaRPr lang="en-US" sz="1100"/>
          </a:p>
        </p:txBody>
      </p:sp>
      <p:sp>
        <p:nvSpPr>
          <p:cNvPr name="TextBox 18" id="18"/>
          <p:cNvSpPr txBox="true"/>
          <p:nvPr/>
        </p:nvSpPr>
        <p:spPr>
          <a:xfrm>
            <a:off x="8470900" y="35179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3</a:t>
            </a:r>
            <a:endParaRPr lang="en-US" sz="1100"/>
          </a:p>
        </p:txBody>
      </p:sp>
      <p:sp>
        <p:nvSpPr>
          <p:cNvPr name="TextBox 19" id="19"/>
          <p:cNvSpPr txBox="true"/>
          <p:nvPr/>
        </p:nvSpPr>
        <p:spPr>
          <a:xfrm>
            <a:off x="12179300" y="35179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4</a:t>
            </a:r>
            <a:endParaRPr lang="en-US" sz="1100"/>
          </a:p>
        </p:txBody>
      </p:sp>
      <p:sp>
        <p:nvSpPr>
          <p:cNvPr name="TextBox 20" id="20"/>
          <p:cNvSpPr txBox="true"/>
          <p:nvPr/>
        </p:nvSpPr>
        <p:spPr>
          <a:xfrm>
            <a:off x="1066800" y="61214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5</a:t>
            </a:r>
            <a:endParaRPr lang="en-US" sz="1100"/>
          </a:p>
        </p:txBody>
      </p:sp>
      <p:sp>
        <p:nvSpPr>
          <p:cNvPr name="TextBox 21" id="21"/>
          <p:cNvSpPr txBox="true"/>
          <p:nvPr/>
        </p:nvSpPr>
        <p:spPr>
          <a:xfrm>
            <a:off x="1689100" y="3505200"/>
            <a:ext cx="2565400" cy="1879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Rapid SCADA Webstation at 127.0.0.1:10109 as supervisory telemetry layer</a:t>
            </a:r>
            <a:endParaRPr lang="en-US" sz="1100"/>
          </a:p>
        </p:txBody>
      </p:sp>
      <p:sp>
        <p:nvSpPr>
          <p:cNvPr name="TextBox 22" id="22"/>
          <p:cNvSpPr txBox="true"/>
          <p:nvPr/>
        </p:nvSpPr>
        <p:spPr>
          <a:xfrm>
            <a:off x="5397500" y="3505200"/>
            <a:ext cx="2565400" cy="1511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PowerShell bridge retrieves channel data through Web API</a:t>
            </a:r>
            <a:endParaRPr lang="en-US" sz="1100"/>
          </a:p>
        </p:txBody>
      </p:sp>
      <p:sp>
        <p:nvSpPr>
          <p:cNvPr name="TextBox 23" id="23"/>
          <p:cNvSpPr txBox="true"/>
          <p:nvPr/>
        </p:nvSpPr>
        <p:spPr>
          <a:xfrm>
            <a:off x="9093200" y="3505200"/>
            <a:ext cx="2565400" cy="1511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Authenticated API access with batched telemetry forwarding</a:t>
            </a:r>
            <a:endParaRPr lang="en-US" sz="1100"/>
          </a:p>
        </p:txBody>
      </p:sp>
      <p:sp>
        <p:nvSpPr>
          <p:cNvPr name="TextBox 24" id="24"/>
          <p:cNvSpPr txBox="true"/>
          <p:nvPr/>
        </p:nvSpPr>
        <p:spPr>
          <a:xfrm>
            <a:off x="12801600" y="3505200"/>
            <a:ext cx="2565400" cy="1130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FastAPI backend exposes batch ingest endpoint</a:t>
            </a:r>
            <a:endParaRPr lang="en-US" sz="1100"/>
          </a:p>
        </p:txBody>
      </p:sp>
      <p:sp>
        <p:nvSpPr>
          <p:cNvPr name="TextBox 25" id="25"/>
          <p:cNvSpPr txBox="true"/>
          <p:nvPr/>
        </p:nvSpPr>
        <p:spPr>
          <a:xfrm>
            <a:off x="1689100" y="6121400"/>
            <a:ext cx="136652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Batched design resolves rate-limit instability from earlier per-agent posting</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0" y="0"/>
            <a:ext cx="16256000" cy="9144000"/>
          </a:xfrm>
          <a:prstGeom prst="rect">
            <a:avLst/>
          </a:prstGeom>
          <a:solidFill>
            <a:srgbClr val="0D0A2C">
              <a:alpha val="74902"/>
            </a:srgbClr>
          </a:solidFill>
        </p:spPr>
      </p:sp>
      <p:pic>
        <p:nvPicPr>
          <p:cNvPr name="Picture 3" id="3"/>
          <p:cNvPicPr>
            <a:picLocks noChangeAspect="true"/>
          </p:cNvPicPr>
          <p:nvPr/>
        </p:nvPicPr>
        <p:blipFill>
          <a:blip r:embed="rId2"/>
          <a:srcRect t="56" b="56"/>
          <a:stretch>
            <a:fillRect/>
          </a:stretch>
        </p:blipFill>
        <p:spPr>
          <a:xfrm>
            <a:off x="0" y="0"/>
            <a:ext cx="16256000" cy="9144000"/>
          </a:xfrm>
          <a:prstGeom prst="rect">
            <a:avLst/>
          </a:prstGeom>
        </p:spPr>
      </p:pic>
      <p:sp>
        <p:nvSpPr>
          <p:cNvPr name="AutoShape 4" id="4"/>
          <p:cNvSpPr/>
          <p:nvPr/>
        </p:nvSpPr>
        <p:spPr>
          <a:xfrm>
            <a:off x="876300" y="3187700"/>
            <a:ext cx="14490700" cy="2971800"/>
          </a:xfrm>
          <a:prstGeom prst="rect">
            <a:avLst/>
          </a:prstGeom>
          <a:solidFill>
            <a:srgbClr val="000000">
              <a:alpha val="0"/>
            </a:srgbClr>
          </a:solidFill>
        </p:spPr>
      </p:sp>
      <p:sp>
        <p:nvSpPr>
          <p:cNvPr name="AutoShape 5" id="5"/>
          <p:cNvSpPr/>
          <p:nvPr/>
        </p:nvSpPr>
        <p:spPr>
          <a:xfrm>
            <a:off x="876300" y="3187700"/>
            <a:ext cx="3378200" cy="2971800"/>
          </a:xfrm>
          <a:prstGeom prst="rect">
            <a:avLst/>
          </a:prstGeom>
          <a:solidFill>
            <a:srgbClr val="000000">
              <a:alpha val="0"/>
            </a:srgbClr>
          </a:solidFill>
        </p:spPr>
      </p:sp>
      <p:sp>
        <p:nvSpPr>
          <p:cNvPr name="AutoShape 6" id="6"/>
          <p:cNvSpPr/>
          <p:nvPr/>
        </p:nvSpPr>
        <p:spPr>
          <a:xfrm>
            <a:off x="876300" y="3187700"/>
            <a:ext cx="558800" cy="558800"/>
          </a:xfrm>
          <a:prstGeom prst="roundRect">
            <a:avLst>
              <a:gd name="adj" fmla="val 15909"/>
            </a:avLst>
          </a:prstGeom>
          <a:solidFill>
            <a:srgbClr val="D1D1D1"/>
          </a:solidFill>
        </p:spPr>
      </p:sp>
      <p:sp>
        <p:nvSpPr>
          <p:cNvPr name="AutoShape 7" id="7"/>
          <p:cNvSpPr/>
          <p:nvPr/>
        </p:nvSpPr>
        <p:spPr>
          <a:xfrm>
            <a:off x="4572000" y="3187700"/>
            <a:ext cx="3378200" cy="2971800"/>
          </a:xfrm>
          <a:prstGeom prst="rect">
            <a:avLst/>
          </a:prstGeom>
          <a:solidFill>
            <a:srgbClr val="000000">
              <a:alpha val="0"/>
            </a:srgbClr>
          </a:solidFill>
        </p:spPr>
      </p:sp>
      <p:sp>
        <p:nvSpPr>
          <p:cNvPr name="AutoShape 8" id="8"/>
          <p:cNvSpPr/>
          <p:nvPr/>
        </p:nvSpPr>
        <p:spPr>
          <a:xfrm>
            <a:off x="4572000" y="3187700"/>
            <a:ext cx="558800" cy="558800"/>
          </a:xfrm>
          <a:prstGeom prst="roundRect">
            <a:avLst>
              <a:gd name="adj" fmla="val 15909"/>
            </a:avLst>
          </a:prstGeom>
          <a:solidFill>
            <a:srgbClr val="D1D1D1"/>
          </a:solidFill>
        </p:spPr>
      </p:sp>
      <p:sp>
        <p:nvSpPr>
          <p:cNvPr name="AutoShape 9" id="9"/>
          <p:cNvSpPr/>
          <p:nvPr/>
        </p:nvSpPr>
        <p:spPr>
          <a:xfrm>
            <a:off x="8280400" y="3187700"/>
            <a:ext cx="3378200" cy="2971800"/>
          </a:xfrm>
          <a:prstGeom prst="rect">
            <a:avLst/>
          </a:prstGeom>
          <a:solidFill>
            <a:srgbClr val="000000">
              <a:alpha val="0"/>
            </a:srgbClr>
          </a:solidFill>
        </p:spPr>
      </p:sp>
      <p:sp>
        <p:nvSpPr>
          <p:cNvPr name="AutoShape 10" id="10"/>
          <p:cNvSpPr/>
          <p:nvPr/>
        </p:nvSpPr>
        <p:spPr>
          <a:xfrm>
            <a:off x="8280400" y="3187700"/>
            <a:ext cx="558800" cy="558800"/>
          </a:xfrm>
          <a:prstGeom prst="roundRect">
            <a:avLst>
              <a:gd name="adj" fmla="val 15909"/>
            </a:avLst>
          </a:prstGeom>
          <a:solidFill>
            <a:srgbClr val="D1D1D1"/>
          </a:solidFill>
        </p:spPr>
      </p:sp>
      <p:sp>
        <p:nvSpPr>
          <p:cNvPr name="AutoShape 11" id="11"/>
          <p:cNvSpPr/>
          <p:nvPr/>
        </p:nvSpPr>
        <p:spPr>
          <a:xfrm>
            <a:off x="11976100" y="3187700"/>
            <a:ext cx="3378200" cy="2971800"/>
          </a:xfrm>
          <a:prstGeom prst="rect">
            <a:avLst/>
          </a:prstGeom>
          <a:solidFill>
            <a:srgbClr val="000000">
              <a:alpha val="0"/>
            </a:srgbClr>
          </a:solidFill>
        </p:spPr>
      </p:sp>
      <p:sp>
        <p:nvSpPr>
          <p:cNvPr name="AutoShape 12" id="12"/>
          <p:cNvSpPr/>
          <p:nvPr/>
        </p:nvSpPr>
        <p:spPr>
          <a:xfrm>
            <a:off x="11976100" y="3187700"/>
            <a:ext cx="558800" cy="558800"/>
          </a:xfrm>
          <a:prstGeom prst="roundRect">
            <a:avLst>
              <a:gd name="adj" fmla="val 15909"/>
            </a:avLst>
          </a:prstGeom>
          <a:solidFill>
            <a:srgbClr val="D1D1D1"/>
          </a:solidFill>
        </p:spPr>
      </p:sp>
      <p:sp>
        <p:nvSpPr>
          <p:cNvPr name="TextBox 13" id="13"/>
          <p:cNvSpPr txBox="true"/>
          <p:nvPr/>
        </p:nvSpPr>
        <p:spPr>
          <a:xfrm>
            <a:off x="876300" y="2298700"/>
            <a:ext cx="14490700" cy="5969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3900" b="true">
                <a:solidFill>
                  <a:srgbClr val="000000"/>
                </a:solidFill>
                <a:latin typeface="Ubuntu"/>
              </a:rPr>
              <a:t>100-Agent SCADA Grid</a:t>
            </a:r>
            <a:endParaRPr lang="en-US" sz="1100"/>
          </a:p>
        </p:txBody>
      </p:sp>
      <p:sp>
        <p:nvSpPr>
          <p:cNvPr name="TextBox 14" id="14"/>
          <p:cNvSpPr txBox="true"/>
          <p:nvPr/>
        </p:nvSpPr>
        <p:spPr>
          <a:xfrm>
            <a:off x="1066800" y="32766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1</a:t>
            </a:r>
            <a:endParaRPr lang="en-US" sz="1100"/>
          </a:p>
        </p:txBody>
      </p:sp>
      <p:sp>
        <p:nvSpPr>
          <p:cNvPr name="TextBox 15" id="15"/>
          <p:cNvSpPr txBox="true"/>
          <p:nvPr/>
        </p:nvSpPr>
        <p:spPr>
          <a:xfrm>
            <a:off x="1689100" y="3276600"/>
            <a:ext cx="25654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000000"/>
                </a:solidFill>
                <a:latin typeface="Ubuntu"/>
              </a:rPr>
              <a:t>Generators</a:t>
            </a:r>
            <a:endParaRPr lang="en-US" sz="1100"/>
          </a:p>
        </p:txBody>
      </p:sp>
      <p:sp>
        <p:nvSpPr>
          <p:cNvPr name="TextBox 16" id="16"/>
          <p:cNvSpPr txBox="true"/>
          <p:nvPr/>
        </p:nvSpPr>
        <p:spPr>
          <a:xfrm>
            <a:off x="4775200" y="32766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2</a:t>
            </a:r>
            <a:endParaRPr lang="en-US" sz="1100"/>
          </a:p>
        </p:txBody>
      </p:sp>
      <p:sp>
        <p:nvSpPr>
          <p:cNvPr name="TextBox 17" id="17"/>
          <p:cNvSpPr txBox="true"/>
          <p:nvPr/>
        </p:nvSpPr>
        <p:spPr>
          <a:xfrm>
            <a:off x="5397500" y="3276600"/>
            <a:ext cx="25654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000000"/>
                </a:solidFill>
                <a:latin typeface="Ubuntu"/>
              </a:rPr>
              <a:t>Substations</a:t>
            </a:r>
            <a:endParaRPr lang="en-US" sz="1100"/>
          </a:p>
        </p:txBody>
      </p:sp>
      <p:sp>
        <p:nvSpPr>
          <p:cNvPr name="TextBox 18" id="18"/>
          <p:cNvSpPr txBox="true"/>
          <p:nvPr/>
        </p:nvSpPr>
        <p:spPr>
          <a:xfrm>
            <a:off x="8470900" y="32766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3</a:t>
            </a:r>
            <a:endParaRPr lang="en-US" sz="1100"/>
          </a:p>
        </p:txBody>
      </p:sp>
      <p:sp>
        <p:nvSpPr>
          <p:cNvPr name="TextBox 19" id="19"/>
          <p:cNvSpPr txBox="true"/>
          <p:nvPr/>
        </p:nvSpPr>
        <p:spPr>
          <a:xfrm>
            <a:off x="9093200" y="3276600"/>
            <a:ext cx="25654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000000"/>
                </a:solidFill>
                <a:latin typeface="Ubuntu"/>
              </a:rPr>
              <a:t>PMUs</a:t>
            </a:r>
            <a:endParaRPr lang="en-US" sz="1100"/>
          </a:p>
        </p:txBody>
      </p:sp>
      <p:sp>
        <p:nvSpPr>
          <p:cNvPr name="TextBox 20" id="20"/>
          <p:cNvSpPr txBox="true"/>
          <p:nvPr/>
        </p:nvSpPr>
        <p:spPr>
          <a:xfrm>
            <a:off x="12179300" y="32766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4</a:t>
            </a:r>
            <a:endParaRPr lang="en-US" sz="1100"/>
          </a:p>
        </p:txBody>
      </p:sp>
      <p:sp>
        <p:nvSpPr>
          <p:cNvPr name="TextBox 21" id="21"/>
          <p:cNvSpPr txBox="true"/>
          <p:nvPr/>
        </p:nvSpPr>
        <p:spPr>
          <a:xfrm>
            <a:off x="12801600" y="3276600"/>
            <a:ext cx="25654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000000"/>
                </a:solidFill>
                <a:latin typeface="Ubuntu"/>
              </a:rPr>
              <a:t>Breakers</a:t>
            </a:r>
            <a:endParaRPr lang="en-US" sz="1100"/>
          </a:p>
        </p:txBody>
      </p:sp>
      <p:sp>
        <p:nvSpPr>
          <p:cNvPr name="TextBox 22" id="22"/>
          <p:cNvSpPr txBox="true"/>
          <p:nvPr/>
        </p:nvSpPr>
        <p:spPr>
          <a:xfrm>
            <a:off x="1689100" y="3898900"/>
            <a:ext cx="2565400" cy="2260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GEN-01 to GEN-20 — 20 agents responsible for power generation and primary unit control</a:t>
            </a:r>
            <a:endParaRPr lang="en-US" sz="1100"/>
          </a:p>
        </p:txBody>
      </p:sp>
      <p:sp>
        <p:nvSpPr>
          <p:cNvPr name="TextBox 23" id="23"/>
          <p:cNvSpPr txBox="true"/>
          <p:nvPr/>
        </p:nvSpPr>
        <p:spPr>
          <a:xfrm>
            <a:off x="5397500" y="3898900"/>
            <a:ext cx="2565400" cy="2260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SUB-21 to SUB-50 — 30 agents handling voltage transformation, protection, and switchgear</a:t>
            </a:r>
            <a:endParaRPr lang="en-US" sz="1100"/>
          </a:p>
        </p:txBody>
      </p:sp>
      <p:sp>
        <p:nvSpPr>
          <p:cNvPr name="TextBox 24" id="24"/>
          <p:cNvSpPr txBox="true"/>
          <p:nvPr/>
        </p:nvSpPr>
        <p:spPr>
          <a:xfrm>
            <a:off x="9093200" y="3898900"/>
            <a:ext cx="2565400" cy="2260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PMU-51 to PMU-75 — 25 phasor measurement units providing synchronized measurements</a:t>
            </a:r>
            <a:endParaRPr lang="en-US" sz="1100"/>
          </a:p>
        </p:txBody>
      </p:sp>
      <p:sp>
        <p:nvSpPr>
          <p:cNvPr name="TextBox 25" id="25"/>
          <p:cNvSpPr txBox="true"/>
          <p:nvPr/>
        </p:nvSpPr>
        <p:spPr>
          <a:xfrm>
            <a:off x="12801600" y="3898900"/>
            <a:ext cx="2565400" cy="1879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BRK-76 to BRK-100 — 25 circuit breakers for sectionalizing and fault isolation</a:t>
            </a:r>
            <a:endParaRPr lang="en-US" sz="1100"/>
          </a:p>
        </p:txBody>
      </p:sp>
      <p:sp>
        <p:nvSpPr>
          <p:cNvPr name="TextBox 26" id="26"/>
          <p:cNvSpPr txBox="true"/>
          <p:nvPr/>
        </p:nvSpPr>
        <p:spPr>
          <a:xfrm>
            <a:off x="876300" y="6451600"/>
            <a:ext cx="144907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Realized through 300 calculated channels in Rapid SCADA. Reserve space for SCADA grid topology screenshot.</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0" y="0"/>
            <a:ext cx="16256000" cy="9144000"/>
          </a:xfrm>
          <a:prstGeom prst="rect">
            <a:avLst/>
          </a:prstGeom>
          <a:solidFill>
            <a:srgbClr val="0D0A2C">
              <a:alpha val="74902"/>
            </a:srgbClr>
          </a:solidFill>
        </p:spPr>
      </p:sp>
      <p:pic>
        <p:nvPicPr>
          <p:cNvPr name="Picture 3" id="3"/>
          <p:cNvPicPr>
            <a:picLocks noChangeAspect="true"/>
          </p:cNvPicPr>
          <p:nvPr/>
        </p:nvPicPr>
        <p:blipFill>
          <a:blip r:embed="rId2"/>
          <a:srcRect t="56" b="56"/>
          <a:stretch>
            <a:fillRect/>
          </a:stretch>
        </p:blipFill>
        <p:spPr>
          <a:xfrm>
            <a:off x="0" y="0"/>
            <a:ext cx="16256000" cy="9144000"/>
          </a:xfrm>
          <a:prstGeom prst="rect">
            <a:avLst/>
          </a:prstGeom>
        </p:spPr>
      </p:pic>
      <p:sp>
        <p:nvSpPr>
          <p:cNvPr name="AutoShape 4" id="4"/>
          <p:cNvSpPr/>
          <p:nvPr/>
        </p:nvSpPr>
        <p:spPr>
          <a:xfrm>
            <a:off x="876300" y="2908300"/>
            <a:ext cx="14490700" cy="4191000"/>
          </a:xfrm>
          <a:prstGeom prst="rect">
            <a:avLst/>
          </a:prstGeom>
          <a:solidFill>
            <a:srgbClr val="000000">
              <a:alpha val="0"/>
            </a:srgbClr>
          </a:solidFill>
        </p:spPr>
      </p:sp>
      <p:sp>
        <p:nvSpPr>
          <p:cNvPr name="AutoShape 5" id="5"/>
          <p:cNvSpPr/>
          <p:nvPr/>
        </p:nvSpPr>
        <p:spPr>
          <a:xfrm>
            <a:off x="876300" y="2908300"/>
            <a:ext cx="4660900" cy="4191000"/>
          </a:xfrm>
          <a:prstGeom prst="roundRect">
            <a:avLst>
              <a:gd name="adj" fmla="val 2121"/>
            </a:avLst>
          </a:prstGeom>
          <a:solidFill>
            <a:srgbClr val="D1D1D1">
              <a:alpha val="71765"/>
            </a:srgbClr>
          </a:solidFill>
        </p:spPr>
      </p:sp>
      <p:sp>
        <p:nvSpPr>
          <p:cNvPr name="AutoShape 6" id="6"/>
          <p:cNvSpPr/>
          <p:nvPr/>
        </p:nvSpPr>
        <p:spPr>
          <a:xfrm>
            <a:off x="5791200" y="2908300"/>
            <a:ext cx="4660900" cy="4191000"/>
          </a:xfrm>
          <a:prstGeom prst="roundRect">
            <a:avLst>
              <a:gd name="adj" fmla="val 2121"/>
            </a:avLst>
          </a:prstGeom>
          <a:solidFill>
            <a:srgbClr val="D1D1D1">
              <a:alpha val="71765"/>
            </a:srgbClr>
          </a:solidFill>
        </p:spPr>
      </p:sp>
      <p:sp>
        <p:nvSpPr>
          <p:cNvPr name="AutoShape 7" id="7"/>
          <p:cNvSpPr/>
          <p:nvPr/>
        </p:nvSpPr>
        <p:spPr>
          <a:xfrm>
            <a:off x="10706100" y="2908300"/>
            <a:ext cx="4660900" cy="4191000"/>
          </a:xfrm>
          <a:prstGeom prst="roundRect">
            <a:avLst>
              <a:gd name="adj" fmla="val 2121"/>
            </a:avLst>
          </a:prstGeom>
          <a:solidFill>
            <a:srgbClr val="D1D1D1">
              <a:alpha val="71765"/>
            </a:srgbClr>
          </a:solidFill>
        </p:spPr>
      </p:sp>
      <p:sp>
        <p:nvSpPr>
          <p:cNvPr name="TextBox 8" id="8"/>
          <p:cNvSpPr txBox="true"/>
          <p:nvPr/>
        </p:nvSpPr>
        <p:spPr>
          <a:xfrm>
            <a:off x="876300" y="2019300"/>
            <a:ext cx="14490700" cy="5969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3900" b="true">
                <a:solidFill>
                  <a:srgbClr val="000000"/>
                </a:solidFill>
                <a:latin typeface="Ubuntu"/>
              </a:rPr>
              <a:t>Live vs Simulated Clarification</a:t>
            </a:r>
            <a:endParaRPr lang="en-US" sz="1100"/>
          </a:p>
        </p:txBody>
      </p:sp>
      <p:sp>
        <p:nvSpPr>
          <p:cNvPr name="TextBox 9" id="9"/>
          <p:cNvSpPr txBox="true"/>
          <p:nvPr/>
        </p:nvSpPr>
        <p:spPr>
          <a:xfrm>
            <a:off x="1130300" y="3162300"/>
            <a:ext cx="41529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000000"/>
                </a:solidFill>
                <a:latin typeface="Ubuntu"/>
              </a:rPr>
              <a:t>What is Real</a:t>
            </a:r>
            <a:endParaRPr lang="en-US" sz="1100"/>
          </a:p>
        </p:txBody>
      </p:sp>
      <p:sp>
        <p:nvSpPr>
          <p:cNvPr name="TextBox 10" id="10"/>
          <p:cNvSpPr txBox="true"/>
          <p:nvPr/>
        </p:nvSpPr>
        <p:spPr>
          <a:xfrm>
            <a:off x="6045200" y="3162300"/>
            <a:ext cx="41529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000000"/>
                </a:solidFill>
                <a:latin typeface="Ubuntu"/>
              </a:rPr>
              <a:t>What is Simulated</a:t>
            </a:r>
            <a:endParaRPr lang="en-US" sz="1100"/>
          </a:p>
        </p:txBody>
      </p:sp>
      <p:sp>
        <p:nvSpPr>
          <p:cNvPr name="TextBox 11" id="11"/>
          <p:cNvSpPr txBox="true"/>
          <p:nvPr/>
        </p:nvSpPr>
        <p:spPr>
          <a:xfrm>
            <a:off x="10960100" y="3162300"/>
            <a:ext cx="41529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000000"/>
                </a:solidFill>
                <a:latin typeface="Ubuntu"/>
              </a:rPr>
              <a:t>System Status</a:t>
            </a:r>
            <a:endParaRPr lang="en-US" sz="1100"/>
          </a:p>
        </p:txBody>
      </p:sp>
      <p:sp>
        <p:nvSpPr>
          <p:cNvPr name="TextBox 12" id="12"/>
          <p:cNvSpPr txBox="true"/>
          <p:nvPr/>
        </p:nvSpPr>
        <p:spPr>
          <a:xfrm>
            <a:off x="1384300" y="3810000"/>
            <a:ext cx="3898900" cy="749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Live SCADA pipeline fully operational and real-time</a:t>
            </a:r>
            <a:endParaRPr lang="en-US" sz="1100"/>
          </a:p>
        </p:txBody>
      </p:sp>
      <p:sp>
        <p:nvSpPr>
          <p:cNvPr name="TextBox 13" id="13"/>
          <p:cNvSpPr txBox="true"/>
          <p:nvPr/>
        </p:nvSpPr>
        <p:spPr>
          <a:xfrm>
            <a:off x="1384300" y="4762500"/>
            <a:ext cx="3898900" cy="749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Telemetry transport path is real and authenticated</a:t>
            </a:r>
            <a:endParaRPr lang="en-US" sz="1100"/>
          </a:p>
        </p:txBody>
      </p:sp>
      <p:sp>
        <p:nvSpPr>
          <p:cNvPr name="TextBox 14" id="14"/>
          <p:cNvSpPr txBox="true"/>
          <p:nvPr/>
        </p:nvSpPr>
        <p:spPr>
          <a:xfrm>
            <a:off x="1384300" y="5715000"/>
            <a:ext cx="3898900" cy="1130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SCADA-to-backend-to-dashboard integration operational</a:t>
            </a:r>
            <a:endParaRPr lang="en-US" sz="1100"/>
          </a:p>
        </p:txBody>
      </p:sp>
      <p:sp>
        <p:nvSpPr>
          <p:cNvPr name="TextBox 15" id="15"/>
          <p:cNvSpPr txBox="true"/>
          <p:nvPr/>
        </p:nvSpPr>
        <p:spPr>
          <a:xfrm>
            <a:off x="6299200" y="3810000"/>
            <a:ext cx="3898900" cy="1130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Current SCADA values generated using calculated channels inside Rapid SCADA</a:t>
            </a:r>
            <a:endParaRPr lang="en-US" sz="1100"/>
          </a:p>
        </p:txBody>
      </p:sp>
      <p:sp>
        <p:nvSpPr>
          <p:cNvPr name="TextBox 16" id="16"/>
          <p:cNvSpPr txBox="true"/>
          <p:nvPr/>
        </p:nvSpPr>
        <p:spPr>
          <a:xfrm>
            <a:off x="6299200" y="5143500"/>
            <a:ext cx="3898900" cy="749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Not originating from physical field devices</a:t>
            </a:r>
            <a:endParaRPr lang="en-US" sz="1100"/>
          </a:p>
        </p:txBody>
      </p:sp>
      <p:sp>
        <p:nvSpPr>
          <p:cNvPr name="TextBox 17" id="17"/>
          <p:cNvSpPr txBox="true"/>
          <p:nvPr/>
        </p:nvSpPr>
        <p:spPr>
          <a:xfrm>
            <a:off x="6299200" y="6096000"/>
            <a:ext cx="3898900" cy="749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Telemetry source is simulated within SCADA runtime</a:t>
            </a:r>
            <a:endParaRPr lang="en-US" sz="1100"/>
          </a:p>
        </p:txBody>
      </p:sp>
      <p:sp>
        <p:nvSpPr>
          <p:cNvPr name="TextBox 18" id="18"/>
          <p:cNvSpPr txBox="true"/>
          <p:nvPr/>
        </p:nvSpPr>
        <p:spPr>
          <a:xfrm>
            <a:off x="11214100" y="3810000"/>
            <a:ext cx="3898900" cy="749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Strong operational prototype validated</a:t>
            </a:r>
            <a:endParaRPr lang="en-US" sz="1100"/>
          </a:p>
        </p:txBody>
      </p:sp>
      <p:sp>
        <p:nvSpPr>
          <p:cNvPr name="TextBox 19" id="19"/>
          <p:cNvSpPr txBox="true"/>
          <p:nvPr/>
        </p:nvSpPr>
        <p:spPr>
          <a:xfrm>
            <a:off x="11214100" y="4762500"/>
            <a:ext cx="3898900" cy="749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Not physical utility deployment</a:t>
            </a:r>
            <a:endParaRPr lang="en-US" sz="1100"/>
          </a:p>
        </p:txBody>
      </p:sp>
      <p:sp>
        <p:nvSpPr>
          <p:cNvPr name="TextBox 20" id="20"/>
          <p:cNvSpPr txBox="true"/>
          <p:nvPr/>
        </p:nvSpPr>
        <p:spPr>
          <a:xfrm>
            <a:off x="11214100" y="5715000"/>
            <a:ext cx="3898900" cy="749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Academic honesty maintained</a:t>
            </a:r>
            <a:endParaRPr lang="en-US" sz="1100"/>
          </a:p>
        </p:txBody>
      </p:sp>
      <p:sp>
        <p:nvSpPr>
          <p:cNvPr name="TextBox 21" id="21"/>
          <p:cNvSpPr txBox="true"/>
          <p:nvPr/>
        </p:nvSpPr>
        <p:spPr>
          <a:xfrm>
            <a:off x="1003300" y="38735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
        <p:nvSpPr>
          <p:cNvPr name="TextBox 22" id="22"/>
          <p:cNvSpPr txBox="true"/>
          <p:nvPr/>
        </p:nvSpPr>
        <p:spPr>
          <a:xfrm>
            <a:off x="1003300" y="48260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
        <p:nvSpPr>
          <p:cNvPr name="TextBox 23" id="23"/>
          <p:cNvSpPr txBox="true"/>
          <p:nvPr/>
        </p:nvSpPr>
        <p:spPr>
          <a:xfrm>
            <a:off x="1003300" y="57785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
        <p:nvSpPr>
          <p:cNvPr name="TextBox 24" id="24"/>
          <p:cNvSpPr txBox="true"/>
          <p:nvPr/>
        </p:nvSpPr>
        <p:spPr>
          <a:xfrm>
            <a:off x="5918200" y="38735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
        <p:nvSpPr>
          <p:cNvPr name="TextBox 25" id="25"/>
          <p:cNvSpPr txBox="true"/>
          <p:nvPr/>
        </p:nvSpPr>
        <p:spPr>
          <a:xfrm>
            <a:off x="5918200" y="52070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
        <p:nvSpPr>
          <p:cNvPr name="TextBox 26" id="26"/>
          <p:cNvSpPr txBox="true"/>
          <p:nvPr/>
        </p:nvSpPr>
        <p:spPr>
          <a:xfrm>
            <a:off x="5918200" y="61595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
        <p:nvSpPr>
          <p:cNvPr name="TextBox 27" id="27"/>
          <p:cNvSpPr txBox="true"/>
          <p:nvPr/>
        </p:nvSpPr>
        <p:spPr>
          <a:xfrm>
            <a:off x="10833100" y="38735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
        <p:nvSpPr>
          <p:cNvPr name="TextBox 28" id="28"/>
          <p:cNvSpPr txBox="true"/>
          <p:nvPr/>
        </p:nvSpPr>
        <p:spPr>
          <a:xfrm>
            <a:off x="10833100" y="48260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
        <p:nvSpPr>
          <p:cNvPr name="TextBox 29" id="29"/>
          <p:cNvSpPr txBox="true"/>
          <p:nvPr/>
        </p:nvSpPr>
        <p:spPr>
          <a:xfrm>
            <a:off x="10833100" y="57785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0" y="0"/>
            <a:ext cx="16256000" cy="9144000"/>
          </a:xfrm>
          <a:prstGeom prst="rect">
            <a:avLst/>
          </a:prstGeom>
          <a:solidFill>
            <a:srgbClr val="0D0A2C">
              <a:alpha val="74902"/>
            </a:srgbClr>
          </a:solidFill>
        </p:spPr>
      </p:sp>
      <p:pic>
        <p:nvPicPr>
          <p:cNvPr name="Picture 3" id="3"/>
          <p:cNvPicPr>
            <a:picLocks noChangeAspect="true"/>
          </p:cNvPicPr>
          <p:nvPr/>
        </p:nvPicPr>
        <p:blipFill>
          <a:blip r:embed="rId2"/>
          <a:srcRect t="56" b="56"/>
          <a:stretch>
            <a:fillRect/>
          </a:stretch>
        </p:blipFill>
        <p:spPr>
          <a:xfrm>
            <a:off x="0" y="0"/>
            <a:ext cx="16256000" cy="9144000"/>
          </a:xfrm>
          <a:prstGeom prst="rect">
            <a:avLst/>
          </a:prstGeom>
        </p:spPr>
      </p:pic>
      <p:sp>
        <p:nvSpPr>
          <p:cNvPr name="AutoShape 4" id="4"/>
          <p:cNvSpPr/>
          <p:nvPr/>
        </p:nvSpPr>
        <p:spPr>
          <a:xfrm>
            <a:off x="876300" y="1587500"/>
            <a:ext cx="14490700" cy="6832600"/>
          </a:xfrm>
          <a:prstGeom prst="rect">
            <a:avLst/>
          </a:prstGeom>
          <a:solidFill>
            <a:srgbClr val="000000">
              <a:alpha val="0"/>
            </a:srgbClr>
          </a:solidFill>
        </p:spPr>
      </p:sp>
      <p:sp>
        <p:nvSpPr>
          <p:cNvPr name="AutoShape 5" id="5"/>
          <p:cNvSpPr/>
          <p:nvPr/>
        </p:nvSpPr>
        <p:spPr>
          <a:xfrm>
            <a:off x="876300" y="1587500"/>
            <a:ext cx="14490700" cy="2730500"/>
          </a:xfrm>
          <a:prstGeom prst="rect">
            <a:avLst/>
          </a:prstGeom>
          <a:solidFill>
            <a:srgbClr val="000000">
              <a:alpha val="0"/>
            </a:srgbClr>
          </a:solidFill>
        </p:spPr>
      </p:sp>
      <p:sp>
        <p:nvSpPr>
          <p:cNvPr name="AutoShape 6" id="6"/>
          <p:cNvSpPr/>
          <p:nvPr/>
        </p:nvSpPr>
        <p:spPr>
          <a:xfrm>
            <a:off x="876300" y="4775200"/>
            <a:ext cx="14490700" cy="1600200"/>
          </a:xfrm>
          <a:prstGeom prst="rect">
            <a:avLst/>
          </a:prstGeom>
          <a:solidFill>
            <a:srgbClr val="000000">
              <a:alpha val="0"/>
            </a:srgbClr>
          </a:solidFill>
        </p:spPr>
      </p:sp>
      <p:sp>
        <p:nvSpPr>
          <p:cNvPr name="AutoShape 7" id="7"/>
          <p:cNvSpPr/>
          <p:nvPr/>
        </p:nvSpPr>
        <p:spPr>
          <a:xfrm>
            <a:off x="876300" y="6832600"/>
            <a:ext cx="14490700" cy="1600200"/>
          </a:xfrm>
          <a:prstGeom prst="rect">
            <a:avLst/>
          </a:prstGeom>
          <a:solidFill>
            <a:srgbClr val="000000">
              <a:alpha val="0"/>
            </a:srgbClr>
          </a:solidFill>
        </p:spPr>
      </p:sp>
      <p:sp>
        <p:nvSpPr>
          <p:cNvPr name="TextBox 8" id="8"/>
          <p:cNvSpPr txBox="true"/>
          <p:nvPr/>
        </p:nvSpPr>
        <p:spPr>
          <a:xfrm>
            <a:off x="876300" y="698500"/>
            <a:ext cx="14490700" cy="5969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3900" b="true">
                <a:solidFill>
                  <a:srgbClr val="000000"/>
                </a:solidFill>
                <a:latin typeface="Ubuntu"/>
              </a:rPr>
              <a:t>Algorithm Overview</a:t>
            </a:r>
            <a:endParaRPr lang="en-US" sz="1100"/>
          </a:p>
        </p:txBody>
      </p:sp>
      <p:sp>
        <p:nvSpPr>
          <p:cNvPr name="TextBox 9" id="9"/>
          <p:cNvSpPr txBox="true"/>
          <p:nvPr/>
        </p:nvSpPr>
        <p:spPr>
          <a:xfrm>
            <a:off x="876300" y="1587500"/>
            <a:ext cx="144907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000000"/>
                </a:solidFill>
                <a:latin typeface="Ubuntu"/>
              </a:rPr>
              <a:t>Deviation-Based Explainable Scoring Model</a:t>
            </a:r>
            <a:endParaRPr lang="en-US" sz="1100"/>
          </a:p>
        </p:txBody>
      </p:sp>
      <p:sp>
        <p:nvSpPr>
          <p:cNvPr name="TextBox 10" id="10"/>
          <p:cNvSpPr txBox="true"/>
          <p:nvPr/>
        </p:nvSpPr>
        <p:spPr>
          <a:xfrm>
            <a:off x="876300" y="4775200"/>
            <a:ext cx="144907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000000"/>
                </a:solidFill>
                <a:latin typeface="Ubuntu"/>
              </a:rPr>
              <a:t>Threshold-Based Audit Escalation</a:t>
            </a:r>
            <a:endParaRPr lang="en-US" sz="1100"/>
          </a:p>
        </p:txBody>
      </p:sp>
      <p:sp>
        <p:nvSpPr>
          <p:cNvPr name="TextBox 11" id="11"/>
          <p:cNvSpPr txBox="true"/>
          <p:nvPr/>
        </p:nvSpPr>
        <p:spPr>
          <a:xfrm>
            <a:off x="876300" y="6832600"/>
            <a:ext cx="144907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000000"/>
                </a:solidFill>
                <a:latin typeface="Ubuntu"/>
              </a:rPr>
              <a:t>Explainability</a:t>
            </a:r>
            <a:endParaRPr lang="en-US" sz="1100"/>
          </a:p>
        </p:txBody>
      </p:sp>
      <p:sp>
        <p:nvSpPr>
          <p:cNvPr name="TextBox 12" id="12"/>
          <p:cNvSpPr txBox="true"/>
          <p:nvPr/>
        </p:nvSpPr>
        <p:spPr>
          <a:xfrm>
            <a:off x="876300" y="2222500"/>
            <a:ext cx="144907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Si(t) = wi(dx + dy)</a:t>
            </a:r>
            <a:endParaRPr lang="en-US" sz="1100"/>
          </a:p>
        </p:txBody>
      </p:sp>
      <p:sp>
        <p:nvSpPr>
          <p:cNvPr name="TextBox 13" id="13"/>
          <p:cNvSpPr txBox="true"/>
          <p:nvPr/>
        </p:nvSpPr>
        <p:spPr>
          <a:xfrm>
            <a:off x="1130300" y="2781300"/>
            <a:ext cx="142367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dx: physical deviation of the asset from expected state</a:t>
            </a:r>
            <a:endParaRPr lang="en-US" sz="1100"/>
          </a:p>
        </p:txBody>
      </p:sp>
      <p:sp>
        <p:nvSpPr>
          <p:cNvPr name="TextBox 14" id="14"/>
          <p:cNvSpPr txBox="true"/>
          <p:nvPr/>
        </p:nvSpPr>
        <p:spPr>
          <a:xfrm>
            <a:off x="1130300" y="3365500"/>
            <a:ext cx="142367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dy: cyber deviation detected in system behavior</a:t>
            </a:r>
            <a:endParaRPr lang="en-US" sz="1100"/>
          </a:p>
        </p:txBody>
      </p:sp>
      <p:sp>
        <p:nvSpPr>
          <p:cNvPr name="TextBox 15" id="15"/>
          <p:cNvSpPr txBox="true"/>
          <p:nvPr/>
        </p:nvSpPr>
        <p:spPr>
          <a:xfrm>
            <a:off x="1130300" y="3949700"/>
            <a:ext cx="142367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wi: criticality weight assigned to the asset reflecting impact</a:t>
            </a:r>
            <a:endParaRPr lang="en-US" sz="1100"/>
          </a:p>
        </p:txBody>
      </p:sp>
      <p:sp>
        <p:nvSpPr>
          <p:cNvPr name="TextBox 16" id="16"/>
          <p:cNvSpPr txBox="true"/>
          <p:nvPr/>
        </p:nvSpPr>
        <p:spPr>
          <a:xfrm>
            <a:off x="1130300" y="5422900"/>
            <a:ext cx="142367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If score exceeds threshold then trigger INCREASE_AUDIT for immediate review and response</a:t>
            </a:r>
            <a:endParaRPr lang="en-US" sz="1100"/>
          </a:p>
        </p:txBody>
      </p:sp>
      <p:sp>
        <p:nvSpPr>
          <p:cNvPr name="TextBox 17" id="17"/>
          <p:cNvSpPr txBox="true"/>
          <p:nvPr/>
        </p:nvSpPr>
        <p:spPr>
          <a:xfrm>
            <a:off x="1130300" y="5994400"/>
            <a:ext cx="142367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If score remains below threshold then MAINTAIN_AUDIT and continue standard monitoring</a:t>
            </a:r>
            <a:endParaRPr lang="en-US" sz="1100"/>
          </a:p>
        </p:txBody>
      </p:sp>
      <p:sp>
        <p:nvSpPr>
          <p:cNvPr name="TextBox 18" id="18"/>
          <p:cNvSpPr txBox="true"/>
          <p:nvPr/>
        </p:nvSpPr>
        <p:spPr>
          <a:xfrm>
            <a:off x="1130300" y="7467600"/>
            <a:ext cx="142367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Feature-level contribution analysis quantifies each feature's impact on the score</a:t>
            </a:r>
            <a:endParaRPr lang="en-US" sz="1100"/>
          </a:p>
        </p:txBody>
      </p:sp>
      <p:sp>
        <p:nvSpPr>
          <p:cNvPr name="TextBox 19" id="19"/>
          <p:cNvSpPr txBox="true"/>
          <p:nvPr/>
        </p:nvSpPr>
        <p:spPr>
          <a:xfrm>
            <a:off x="1130300" y="8051800"/>
            <a:ext cx="142367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Top contributing features are identified and reported for transparency and auditability</a:t>
            </a:r>
            <a:endParaRPr lang="en-US" sz="1100"/>
          </a:p>
        </p:txBody>
      </p:sp>
      <p:sp>
        <p:nvSpPr>
          <p:cNvPr name="TextBox 20" id="20"/>
          <p:cNvSpPr txBox="true"/>
          <p:nvPr/>
        </p:nvSpPr>
        <p:spPr>
          <a:xfrm>
            <a:off x="749300" y="28448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
        <p:nvSpPr>
          <p:cNvPr name="TextBox 21" id="21"/>
          <p:cNvSpPr txBox="true"/>
          <p:nvPr/>
        </p:nvSpPr>
        <p:spPr>
          <a:xfrm>
            <a:off x="749300" y="34290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
        <p:nvSpPr>
          <p:cNvPr name="TextBox 22" id="22"/>
          <p:cNvSpPr txBox="true"/>
          <p:nvPr/>
        </p:nvSpPr>
        <p:spPr>
          <a:xfrm>
            <a:off x="749300" y="40005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
        <p:nvSpPr>
          <p:cNvPr name="TextBox 23" id="23"/>
          <p:cNvSpPr txBox="true"/>
          <p:nvPr/>
        </p:nvSpPr>
        <p:spPr>
          <a:xfrm>
            <a:off x="749300" y="54864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
        <p:nvSpPr>
          <p:cNvPr name="TextBox 24" id="24"/>
          <p:cNvSpPr txBox="true"/>
          <p:nvPr/>
        </p:nvSpPr>
        <p:spPr>
          <a:xfrm>
            <a:off x="749300" y="60579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
        <p:nvSpPr>
          <p:cNvPr name="TextBox 25" id="25"/>
          <p:cNvSpPr txBox="true"/>
          <p:nvPr/>
        </p:nvSpPr>
        <p:spPr>
          <a:xfrm>
            <a:off x="749300" y="75311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
        <p:nvSpPr>
          <p:cNvPr name="TextBox 26" id="26"/>
          <p:cNvSpPr txBox="true"/>
          <p:nvPr/>
        </p:nvSpPr>
        <p:spPr>
          <a:xfrm>
            <a:off x="749300" y="81153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0" y="0"/>
            <a:ext cx="16256000" cy="9144000"/>
          </a:xfrm>
          <a:prstGeom prst="rect">
            <a:avLst/>
          </a:prstGeom>
          <a:solidFill>
            <a:srgbClr val="0D0A2C">
              <a:alpha val="74902"/>
            </a:srgbClr>
          </a:solidFill>
        </p:spPr>
      </p:sp>
      <p:pic>
        <p:nvPicPr>
          <p:cNvPr name="Picture 3" id="3"/>
          <p:cNvPicPr>
            <a:picLocks noChangeAspect="true"/>
          </p:cNvPicPr>
          <p:nvPr/>
        </p:nvPicPr>
        <p:blipFill>
          <a:blip r:embed="rId2"/>
          <a:srcRect t="56" b="56"/>
          <a:stretch>
            <a:fillRect/>
          </a:stretch>
        </p:blipFill>
        <p:spPr>
          <a:xfrm>
            <a:off x="0" y="0"/>
            <a:ext cx="16256000" cy="9144000"/>
          </a:xfrm>
          <a:prstGeom prst="rect">
            <a:avLst/>
          </a:prstGeom>
        </p:spPr>
      </p:pic>
      <p:sp>
        <p:nvSpPr>
          <p:cNvPr name="AutoShape 4" id="4"/>
          <p:cNvSpPr/>
          <p:nvPr/>
        </p:nvSpPr>
        <p:spPr>
          <a:xfrm>
            <a:off x="876300" y="1104900"/>
            <a:ext cx="14490700" cy="4241800"/>
          </a:xfrm>
          <a:prstGeom prst="rect">
            <a:avLst/>
          </a:prstGeom>
          <a:solidFill>
            <a:srgbClr val="000000">
              <a:alpha val="0"/>
            </a:srgbClr>
          </a:solidFill>
        </p:spPr>
      </p:sp>
      <p:sp>
        <p:nvSpPr>
          <p:cNvPr name="AutoShape 5" id="5"/>
          <p:cNvSpPr/>
          <p:nvPr/>
        </p:nvSpPr>
        <p:spPr>
          <a:xfrm>
            <a:off x="876300" y="1104900"/>
            <a:ext cx="14490700" cy="1054100"/>
          </a:xfrm>
          <a:prstGeom prst="rect">
            <a:avLst/>
          </a:prstGeom>
          <a:solidFill>
            <a:srgbClr val="000000">
              <a:alpha val="0"/>
            </a:srgbClr>
          </a:solidFill>
        </p:spPr>
      </p:sp>
      <p:sp>
        <p:nvSpPr>
          <p:cNvPr name="AutoShape 6" id="6"/>
          <p:cNvSpPr/>
          <p:nvPr/>
        </p:nvSpPr>
        <p:spPr>
          <a:xfrm>
            <a:off x="1003300" y="2159000"/>
            <a:ext cx="11049000" cy="12700"/>
          </a:xfrm>
          <a:prstGeom prst="rect">
            <a:avLst/>
          </a:prstGeom>
          <a:solidFill>
            <a:srgbClr val="A6A6A6"/>
          </a:solidFill>
        </p:spPr>
      </p:sp>
      <p:sp>
        <p:nvSpPr>
          <p:cNvPr name="AutoShape 7" id="7"/>
          <p:cNvSpPr/>
          <p:nvPr/>
        </p:nvSpPr>
        <p:spPr>
          <a:xfrm>
            <a:off x="876300" y="2159000"/>
            <a:ext cx="14490700" cy="1054100"/>
          </a:xfrm>
          <a:prstGeom prst="rect">
            <a:avLst/>
          </a:prstGeom>
          <a:solidFill>
            <a:srgbClr val="000000">
              <a:alpha val="0"/>
            </a:srgbClr>
          </a:solidFill>
        </p:spPr>
      </p:sp>
      <p:sp>
        <p:nvSpPr>
          <p:cNvPr name="AutoShape 8" id="8"/>
          <p:cNvSpPr/>
          <p:nvPr/>
        </p:nvSpPr>
        <p:spPr>
          <a:xfrm>
            <a:off x="1003300" y="3225800"/>
            <a:ext cx="10172700" cy="12700"/>
          </a:xfrm>
          <a:prstGeom prst="rect">
            <a:avLst/>
          </a:prstGeom>
          <a:solidFill>
            <a:srgbClr val="A6A6A6"/>
          </a:solidFill>
        </p:spPr>
      </p:sp>
      <p:sp>
        <p:nvSpPr>
          <p:cNvPr name="AutoShape 9" id="9"/>
          <p:cNvSpPr/>
          <p:nvPr/>
        </p:nvSpPr>
        <p:spPr>
          <a:xfrm>
            <a:off x="876300" y="3225800"/>
            <a:ext cx="14490700" cy="1054100"/>
          </a:xfrm>
          <a:prstGeom prst="rect">
            <a:avLst/>
          </a:prstGeom>
          <a:solidFill>
            <a:srgbClr val="000000">
              <a:alpha val="0"/>
            </a:srgbClr>
          </a:solidFill>
        </p:spPr>
      </p:sp>
      <p:sp>
        <p:nvSpPr>
          <p:cNvPr name="AutoShape 10" id="10"/>
          <p:cNvSpPr/>
          <p:nvPr/>
        </p:nvSpPr>
        <p:spPr>
          <a:xfrm>
            <a:off x="1003300" y="4279900"/>
            <a:ext cx="9309100" cy="12700"/>
          </a:xfrm>
          <a:prstGeom prst="rect">
            <a:avLst/>
          </a:prstGeom>
          <a:solidFill>
            <a:srgbClr val="A6A6A6"/>
          </a:solidFill>
        </p:spPr>
      </p:sp>
      <p:sp>
        <p:nvSpPr>
          <p:cNvPr name="AutoShape 11" id="11"/>
          <p:cNvSpPr/>
          <p:nvPr/>
        </p:nvSpPr>
        <p:spPr>
          <a:xfrm>
            <a:off x="876300" y="4279900"/>
            <a:ext cx="14490700" cy="1054100"/>
          </a:xfrm>
          <a:prstGeom prst="rect">
            <a:avLst/>
          </a:prstGeom>
          <a:solidFill>
            <a:srgbClr val="000000">
              <a:alpha val="0"/>
            </a:srgbClr>
          </a:solidFill>
        </p:spPr>
      </p:sp>
      <p:sp>
        <p:nvSpPr>
          <p:cNvPr name="AutoShape 12" id="12"/>
          <p:cNvSpPr/>
          <p:nvPr/>
        </p:nvSpPr>
        <p:spPr>
          <a:xfrm>
            <a:off x="1003300" y="5346700"/>
            <a:ext cx="8432800" cy="12700"/>
          </a:xfrm>
          <a:prstGeom prst="rect">
            <a:avLst/>
          </a:prstGeom>
          <a:solidFill>
            <a:srgbClr val="A6A6A6"/>
          </a:solidFill>
        </p:spPr>
      </p:sp>
      <p:sp>
        <p:nvSpPr>
          <p:cNvPr name="AutoShape 13" id="13"/>
          <p:cNvSpPr/>
          <p:nvPr/>
        </p:nvSpPr>
        <p:spPr>
          <a:xfrm>
            <a:off x="876300" y="5473700"/>
            <a:ext cx="14490700" cy="3175000"/>
          </a:xfrm>
          <a:prstGeom prst="rect">
            <a:avLst/>
          </a:prstGeom>
          <a:solidFill>
            <a:srgbClr val="000000">
              <a:alpha val="0"/>
            </a:srgbClr>
          </a:solidFill>
        </p:spPr>
      </p:sp>
      <p:sp>
        <p:nvSpPr>
          <p:cNvPr name="AutoShape 14" id="14"/>
          <p:cNvSpPr/>
          <p:nvPr/>
        </p:nvSpPr>
        <p:spPr>
          <a:xfrm>
            <a:off x="876300" y="5473700"/>
            <a:ext cx="14490700" cy="1054100"/>
          </a:xfrm>
          <a:prstGeom prst="rect">
            <a:avLst/>
          </a:prstGeom>
          <a:solidFill>
            <a:srgbClr val="000000">
              <a:alpha val="0"/>
            </a:srgbClr>
          </a:solidFill>
        </p:spPr>
      </p:sp>
      <p:sp>
        <p:nvSpPr>
          <p:cNvPr name="AutoShape 15" id="15"/>
          <p:cNvSpPr/>
          <p:nvPr/>
        </p:nvSpPr>
        <p:spPr>
          <a:xfrm>
            <a:off x="1003300" y="6527800"/>
            <a:ext cx="10172700" cy="12700"/>
          </a:xfrm>
          <a:prstGeom prst="rect">
            <a:avLst/>
          </a:prstGeom>
          <a:solidFill>
            <a:srgbClr val="A6A6A6"/>
          </a:solidFill>
        </p:spPr>
      </p:sp>
      <p:sp>
        <p:nvSpPr>
          <p:cNvPr name="AutoShape 16" id="16"/>
          <p:cNvSpPr/>
          <p:nvPr/>
        </p:nvSpPr>
        <p:spPr>
          <a:xfrm>
            <a:off x="876300" y="6527800"/>
            <a:ext cx="14490700" cy="1054100"/>
          </a:xfrm>
          <a:prstGeom prst="rect">
            <a:avLst/>
          </a:prstGeom>
          <a:solidFill>
            <a:srgbClr val="000000">
              <a:alpha val="0"/>
            </a:srgbClr>
          </a:solidFill>
        </p:spPr>
      </p:sp>
      <p:sp>
        <p:nvSpPr>
          <p:cNvPr name="AutoShape 17" id="17"/>
          <p:cNvSpPr/>
          <p:nvPr/>
        </p:nvSpPr>
        <p:spPr>
          <a:xfrm>
            <a:off x="1003300" y="7594600"/>
            <a:ext cx="9309100" cy="12700"/>
          </a:xfrm>
          <a:prstGeom prst="rect">
            <a:avLst/>
          </a:prstGeom>
          <a:solidFill>
            <a:srgbClr val="A6A6A6"/>
          </a:solidFill>
        </p:spPr>
      </p:sp>
      <p:sp>
        <p:nvSpPr>
          <p:cNvPr name="AutoShape 18" id="18"/>
          <p:cNvSpPr/>
          <p:nvPr/>
        </p:nvSpPr>
        <p:spPr>
          <a:xfrm>
            <a:off x="876300" y="7594600"/>
            <a:ext cx="14490700" cy="1054100"/>
          </a:xfrm>
          <a:prstGeom prst="rect">
            <a:avLst/>
          </a:prstGeom>
          <a:solidFill>
            <a:srgbClr val="000000">
              <a:alpha val="0"/>
            </a:srgbClr>
          </a:solidFill>
        </p:spPr>
      </p:sp>
      <p:sp>
        <p:nvSpPr>
          <p:cNvPr name="AutoShape 19" id="19"/>
          <p:cNvSpPr/>
          <p:nvPr/>
        </p:nvSpPr>
        <p:spPr>
          <a:xfrm>
            <a:off x="1003300" y="8648700"/>
            <a:ext cx="8432800" cy="12700"/>
          </a:xfrm>
          <a:prstGeom prst="rect">
            <a:avLst/>
          </a:prstGeom>
          <a:solidFill>
            <a:srgbClr val="A6A6A6"/>
          </a:solidFill>
        </p:spPr>
      </p:sp>
      <p:pic>
        <p:nvPicPr>
          <p:cNvPr name="Picture 20" id="20"/>
          <p:cNvPicPr>
            <a:picLocks noChangeAspect="true"/>
          </p:cNvPicPr>
          <p:nvPr/>
        </p:nvPicPr>
        <p:blipFill>
          <a:blip r:embed="rId3"/>
          <a:stretch>
            <a:fillRect/>
          </a:stretch>
        </p:blipFill>
        <p:spPr>
          <a:xfrm>
            <a:off x="12649200" y="1104900"/>
            <a:ext cx="2222500" cy="1460500"/>
          </a:xfrm>
          <a:prstGeom prst="rect">
            <a:avLst/>
          </a:prstGeom>
        </p:spPr>
      </p:pic>
      <p:pic>
        <p:nvPicPr>
          <p:cNvPr name="Picture 21" id="21"/>
          <p:cNvPicPr>
            <a:picLocks noChangeAspect="true"/>
          </p:cNvPicPr>
          <p:nvPr/>
        </p:nvPicPr>
        <p:blipFill>
          <a:blip r:embed="rId4"/>
          <a:stretch>
            <a:fillRect/>
          </a:stretch>
        </p:blipFill>
        <p:spPr>
          <a:xfrm>
            <a:off x="12649200" y="1104900"/>
            <a:ext cx="2222500" cy="1460500"/>
          </a:xfrm>
          <a:prstGeom prst="rect">
            <a:avLst/>
          </a:prstGeom>
        </p:spPr>
      </p:pic>
      <p:pic>
        <p:nvPicPr>
          <p:cNvPr name="Picture 22" id="22"/>
          <p:cNvPicPr>
            <a:picLocks noChangeAspect="true"/>
          </p:cNvPicPr>
          <p:nvPr/>
        </p:nvPicPr>
        <p:blipFill>
          <a:blip r:embed="rId5"/>
          <a:stretch>
            <a:fillRect/>
          </a:stretch>
        </p:blipFill>
        <p:spPr>
          <a:xfrm>
            <a:off x="12649200" y="1104900"/>
            <a:ext cx="2222500" cy="1460500"/>
          </a:xfrm>
          <a:prstGeom prst="rect">
            <a:avLst/>
          </a:prstGeom>
        </p:spPr>
      </p:pic>
      <p:pic>
        <p:nvPicPr>
          <p:cNvPr name="Picture 23" id="23"/>
          <p:cNvPicPr>
            <a:picLocks noChangeAspect="true"/>
          </p:cNvPicPr>
          <p:nvPr/>
        </p:nvPicPr>
        <p:blipFill>
          <a:blip r:embed="rId6"/>
          <a:stretch>
            <a:fillRect/>
          </a:stretch>
        </p:blipFill>
        <p:spPr>
          <a:xfrm>
            <a:off x="12649200" y="1104900"/>
            <a:ext cx="2222500" cy="1460500"/>
          </a:xfrm>
          <a:prstGeom prst="rect">
            <a:avLst/>
          </a:prstGeom>
        </p:spPr>
      </p:pic>
      <p:pic>
        <p:nvPicPr>
          <p:cNvPr name="Picture 24" id="24"/>
          <p:cNvPicPr>
            <a:picLocks noChangeAspect="true"/>
          </p:cNvPicPr>
          <p:nvPr/>
        </p:nvPicPr>
        <p:blipFill>
          <a:blip r:embed="rId7"/>
          <a:stretch>
            <a:fillRect/>
          </a:stretch>
        </p:blipFill>
        <p:spPr>
          <a:xfrm>
            <a:off x="11912600" y="2159000"/>
            <a:ext cx="2844800" cy="1460500"/>
          </a:xfrm>
          <a:prstGeom prst="rect">
            <a:avLst/>
          </a:prstGeom>
        </p:spPr>
      </p:pic>
      <p:pic>
        <p:nvPicPr>
          <p:cNvPr name="Picture 25" id="25"/>
          <p:cNvPicPr>
            <a:picLocks noChangeAspect="true"/>
          </p:cNvPicPr>
          <p:nvPr/>
        </p:nvPicPr>
        <p:blipFill>
          <a:blip r:embed="rId8"/>
          <a:stretch>
            <a:fillRect/>
          </a:stretch>
        </p:blipFill>
        <p:spPr>
          <a:xfrm>
            <a:off x="11912600" y="2159000"/>
            <a:ext cx="2844800" cy="1460500"/>
          </a:xfrm>
          <a:prstGeom prst="rect">
            <a:avLst/>
          </a:prstGeom>
        </p:spPr>
      </p:pic>
      <p:pic>
        <p:nvPicPr>
          <p:cNvPr name="Picture 26" id="26"/>
          <p:cNvPicPr>
            <a:picLocks noChangeAspect="true"/>
          </p:cNvPicPr>
          <p:nvPr/>
        </p:nvPicPr>
        <p:blipFill>
          <a:blip r:embed="rId9"/>
          <a:stretch>
            <a:fillRect/>
          </a:stretch>
        </p:blipFill>
        <p:spPr>
          <a:xfrm>
            <a:off x="11912600" y="2159000"/>
            <a:ext cx="2844800" cy="1460500"/>
          </a:xfrm>
          <a:prstGeom prst="rect">
            <a:avLst/>
          </a:prstGeom>
        </p:spPr>
      </p:pic>
      <p:pic>
        <p:nvPicPr>
          <p:cNvPr name="Picture 27" id="27"/>
          <p:cNvPicPr>
            <a:picLocks noChangeAspect="true"/>
          </p:cNvPicPr>
          <p:nvPr/>
        </p:nvPicPr>
        <p:blipFill>
          <a:blip r:embed="rId10"/>
          <a:stretch>
            <a:fillRect/>
          </a:stretch>
        </p:blipFill>
        <p:spPr>
          <a:xfrm>
            <a:off x="11163300" y="3225800"/>
            <a:ext cx="3454400" cy="1460500"/>
          </a:xfrm>
          <a:prstGeom prst="rect">
            <a:avLst/>
          </a:prstGeom>
        </p:spPr>
      </p:pic>
      <p:pic>
        <p:nvPicPr>
          <p:cNvPr name="Picture 28" id="28"/>
          <p:cNvPicPr>
            <a:picLocks noChangeAspect="true"/>
          </p:cNvPicPr>
          <p:nvPr/>
        </p:nvPicPr>
        <p:blipFill>
          <a:blip r:embed="rId11"/>
          <a:stretch>
            <a:fillRect/>
          </a:stretch>
        </p:blipFill>
        <p:spPr>
          <a:xfrm>
            <a:off x="11163300" y="3225800"/>
            <a:ext cx="3454400" cy="1460500"/>
          </a:xfrm>
          <a:prstGeom prst="rect">
            <a:avLst/>
          </a:prstGeom>
        </p:spPr>
      </p:pic>
      <p:pic>
        <p:nvPicPr>
          <p:cNvPr name="Picture 29" id="29"/>
          <p:cNvPicPr>
            <a:picLocks noChangeAspect="true"/>
          </p:cNvPicPr>
          <p:nvPr/>
        </p:nvPicPr>
        <p:blipFill>
          <a:blip r:embed="rId12"/>
          <a:stretch>
            <a:fillRect/>
          </a:stretch>
        </p:blipFill>
        <p:spPr>
          <a:xfrm>
            <a:off x="11163300" y="3225800"/>
            <a:ext cx="3454400" cy="1460500"/>
          </a:xfrm>
          <a:prstGeom prst="rect">
            <a:avLst/>
          </a:prstGeom>
        </p:spPr>
      </p:pic>
      <p:pic>
        <p:nvPicPr>
          <p:cNvPr name="Picture 30" id="30"/>
          <p:cNvPicPr>
            <a:picLocks noChangeAspect="true"/>
          </p:cNvPicPr>
          <p:nvPr/>
        </p:nvPicPr>
        <p:blipFill>
          <a:blip r:embed="rId13"/>
          <a:stretch>
            <a:fillRect/>
          </a:stretch>
        </p:blipFill>
        <p:spPr>
          <a:xfrm>
            <a:off x="10426700" y="4279900"/>
            <a:ext cx="4064000" cy="1460500"/>
          </a:xfrm>
          <a:prstGeom prst="rect">
            <a:avLst/>
          </a:prstGeom>
        </p:spPr>
      </p:pic>
      <p:pic>
        <p:nvPicPr>
          <p:cNvPr name="Picture 31" id="31"/>
          <p:cNvPicPr>
            <a:picLocks noChangeAspect="true"/>
          </p:cNvPicPr>
          <p:nvPr/>
        </p:nvPicPr>
        <p:blipFill>
          <a:blip r:embed="rId14"/>
          <a:stretch>
            <a:fillRect/>
          </a:stretch>
        </p:blipFill>
        <p:spPr>
          <a:xfrm>
            <a:off x="10426700" y="4279900"/>
            <a:ext cx="4064000" cy="1460500"/>
          </a:xfrm>
          <a:prstGeom prst="rect">
            <a:avLst/>
          </a:prstGeom>
        </p:spPr>
      </p:pic>
      <p:pic>
        <p:nvPicPr>
          <p:cNvPr name="Picture 32" id="32"/>
          <p:cNvPicPr>
            <a:picLocks noChangeAspect="true"/>
          </p:cNvPicPr>
          <p:nvPr/>
        </p:nvPicPr>
        <p:blipFill>
          <a:blip r:embed="rId15"/>
          <a:stretch>
            <a:fillRect/>
          </a:stretch>
        </p:blipFill>
        <p:spPr>
          <a:xfrm>
            <a:off x="10426700" y="4279900"/>
            <a:ext cx="4064000" cy="1460500"/>
          </a:xfrm>
          <a:prstGeom prst="rect">
            <a:avLst/>
          </a:prstGeom>
        </p:spPr>
      </p:pic>
      <p:pic>
        <p:nvPicPr>
          <p:cNvPr name="Picture 33" id="33"/>
          <p:cNvPicPr>
            <a:picLocks noChangeAspect="true"/>
          </p:cNvPicPr>
          <p:nvPr/>
        </p:nvPicPr>
        <p:blipFill>
          <a:blip r:embed="rId7"/>
          <a:stretch>
            <a:fillRect/>
          </a:stretch>
        </p:blipFill>
        <p:spPr>
          <a:xfrm>
            <a:off x="11912600" y="5473700"/>
            <a:ext cx="2844800" cy="1460500"/>
          </a:xfrm>
          <a:prstGeom prst="rect">
            <a:avLst/>
          </a:prstGeom>
        </p:spPr>
      </p:pic>
      <p:pic>
        <p:nvPicPr>
          <p:cNvPr name="Picture 34" id="34"/>
          <p:cNvPicPr>
            <a:picLocks noChangeAspect="true"/>
          </p:cNvPicPr>
          <p:nvPr/>
        </p:nvPicPr>
        <p:blipFill>
          <a:blip r:embed="rId16"/>
          <a:stretch>
            <a:fillRect/>
          </a:stretch>
        </p:blipFill>
        <p:spPr>
          <a:xfrm>
            <a:off x="11912600" y="5473700"/>
            <a:ext cx="2844800" cy="1460500"/>
          </a:xfrm>
          <a:prstGeom prst="rect">
            <a:avLst/>
          </a:prstGeom>
        </p:spPr>
      </p:pic>
      <p:pic>
        <p:nvPicPr>
          <p:cNvPr name="Picture 35" id="35"/>
          <p:cNvPicPr>
            <a:picLocks noChangeAspect="true"/>
          </p:cNvPicPr>
          <p:nvPr/>
        </p:nvPicPr>
        <p:blipFill>
          <a:blip r:embed="rId17"/>
          <a:stretch>
            <a:fillRect/>
          </a:stretch>
        </p:blipFill>
        <p:spPr>
          <a:xfrm>
            <a:off x="11912600" y="5473700"/>
            <a:ext cx="2844800" cy="1460500"/>
          </a:xfrm>
          <a:prstGeom prst="rect">
            <a:avLst/>
          </a:prstGeom>
        </p:spPr>
      </p:pic>
      <p:pic>
        <p:nvPicPr>
          <p:cNvPr name="Picture 36" id="36"/>
          <p:cNvPicPr>
            <a:picLocks noChangeAspect="true"/>
          </p:cNvPicPr>
          <p:nvPr/>
        </p:nvPicPr>
        <p:blipFill>
          <a:blip r:embed="rId9"/>
          <a:stretch>
            <a:fillRect/>
          </a:stretch>
        </p:blipFill>
        <p:spPr>
          <a:xfrm>
            <a:off x="11912600" y="5473700"/>
            <a:ext cx="2844800" cy="1460500"/>
          </a:xfrm>
          <a:prstGeom prst="rect">
            <a:avLst/>
          </a:prstGeom>
        </p:spPr>
      </p:pic>
      <p:pic>
        <p:nvPicPr>
          <p:cNvPr name="Picture 37" id="37"/>
          <p:cNvPicPr>
            <a:picLocks noChangeAspect="true"/>
          </p:cNvPicPr>
          <p:nvPr/>
        </p:nvPicPr>
        <p:blipFill>
          <a:blip r:embed="rId10"/>
          <a:stretch>
            <a:fillRect/>
          </a:stretch>
        </p:blipFill>
        <p:spPr>
          <a:xfrm>
            <a:off x="11163300" y="6527800"/>
            <a:ext cx="3454400" cy="1460500"/>
          </a:xfrm>
          <a:prstGeom prst="rect">
            <a:avLst/>
          </a:prstGeom>
        </p:spPr>
      </p:pic>
      <p:pic>
        <p:nvPicPr>
          <p:cNvPr name="Picture 38" id="38"/>
          <p:cNvPicPr>
            <a:picLocks noChangeAspect="true"/>
          </p:cNvPicPr>
          <p:nvPr/>
        </p:nvPicPr>
        <p:blipFill>
          <a:blip r:embed="rId11"/>
          <a:stretch>
            <a:fillRect/>
          </a:stretch>
        </p:blipFill>
        <p:spPr>
          <a:xfrm>
            <a:off x="11163300" y="6527800"/>
            <a:ext cx="3454400" cy="1460500"/>
          </a:xfrm>
          <a:prstGeom prst="rect">
            <a:avLst/>
          </a:prstGeom>
        </p:spPr>
      </p:pic>
      <p:pic>
        <p:nvPicPr>
          <p:cNvPr name="Picture 39" id="39"/>
          <p:cNvPicPr>
            <a:picLocks noChangeAspect="true"/>
          </p:cNvPicPr>
          <p:nvPr/>
        </p:nvPicPr>
        <p:blipFill>
          <a:blip r:embed="rId12"/>
          <a:stretch>
            <a:fillRect/>
          </a:stretch>
        </p:blipFill>
        <p:spPr>
          <a:xfrm>
            <a:off x="11163300" y="6527800"/>
            <a:ext cx="3454400" cy="1460500"/>
          </a:xfrm>
          <a:prstGeom prst="rect">
            <a:avLst/>
          </a:prstGeom>
        </p:spPr>
      </p:pic>
      <p:pic>
        <p:nvPicPr>
          <p:cNvPr name="Picture 40" id="40"/>
          <p:cNvPicPr>
            <a:picLocks noChangeAspect="true"/>
          </p:cNvPicPr>
          <p:nvPr/>
        </p:nvPicPr>
        <p:blipFill>
          <a:blip r:embed="rId13"/>
          <a:stretch>
            <a:fillRect/>
          </a:stretch>
        </p:blipFill>
        <p:spPr>
          <a:xfrm>
            <a:off x="10426700" y="7594600"/>
            <a:ext cx="4064000" cy="1460500"/>
          </a:xfrm>
          <a:prstGeom prst="rect">
            <a:avLst/>
          </a:prstGeom>
        </p:spPr>
      </p:pic>
      <p:pic>
        <p:nvPicPr>
          <p:cNvPr name="Picture 41" id="41"/>
          <p:cNvPicPr>
            <a:picLocks noChangeAspect="true"/>
          </p:cNvPicPr>
          <p:nvPr/>
        </p:nvPicPr>
        <p:blipFill>
          <a:blip r:embed="rId14"/>
          <a:stretch>
            <a:fillRect/>
          </a:stretch>
        </p:blipFill>
        <p:spPr>
          <a:xfrm>
            <a:off x="10426700" y="7594600"/>
            <a:ext cx="4064000" cy="1460500"/>
          </a:xfrm>
          <a:prstGeom prst="rect">
            <a:avLst/>
          </a:prstGeom>
        </p:spPr>
      </p:pic>
      <p:pic>
        <p:nvPicPr>
          <p:cNvPr name="Picture 42" id="42"/>
          <p:cNvPicPr>
            <a:picLocks noChangeAspect="true"/>
          </p:cNvPicPr>
          <p:nvPr/>
        </p:nvPicPr>
        <p:blipFill>
          <a:blip r:embed="rId15"/>
          <a:stretch>
            <a:fillRect/>
          </a:stretch>
        </p:blipFill>
        <p:spPr>
          <a:xfrm>
            <a:off x="10426700" y="7594600"/>
            <a:ext cx="4064000" cy="1460500"/>
          </a:xfrm>
          <a:prstGeom prst="rect">
            <a:avLst/>
          </a:prstGeom>
        </p:spPr>
      </p:pic>
      <p:sp>
        <p:nvSpPr>
          <p:cNvPr name="TextBox 43" id="43"/>
          <p:cNvSpPr txBox="true"/>
          <p:nvPr/>
        </p:nvSpPr>
        <p:spPr>
          <a:xfrm>
            <a:off x="876300" y="482600"/>
            <a:ext cx="14490700" cy="4191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700" b="true">
                <a:solidFill>
                  <a:srgbClr val="000000"/>
                </a:solidFill>
                <a:latin typeface="Ubuntu"/>
              </a:rPr>
              <a:t>Live SCADA Algorithm Flow</a:t>
            </a:r>
            <a:endParaRPr lang="en-US" sz="1100"/>
          </a:p>
        </p:txBody>
      </p:sp>
      <p:sp>
        <p:nvSpPr>
          <p:cNvPr name="TextBox 44" id="44"/>
          <p:cNvSpPr txBox="true"/>
          <p:nvPr/>
        </p:nvSpPr>
        <p:spPr>
          <a:xfrm>
            <a:off x="12954000" y="1981200"/>
            <a:ext cx="304800" cy="2540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1700" b="true">
                <a:solidFill>
                  <a:srgbClr val="000000"/>
                </a:solidFill>
                <a:highlight>
                  <a:srgbClr val="000000">
                    <a:alpha val="0"/>
                  </a:srgbClr>
                </a:highlight>
                <a:latin typeface="Ubuntu"/>
              </a:rPr>
              <a:t>1</a:t>
            </a:r>
            <a:endParaRPr lang="en-US" sz="1100"/>
          </a:p>
        </p:txBody>
      </p:sp>
      <p:sp>
        <p:nvSpPr>
          <p:cNvPr name="TextBox 45" id="45"/>
          <p:cNvSpPr txBox="true"/>
          <p:nvPr/>
        </p:nvSpPr>
        <p:spPr>
          <a:xfrm>
            <a:off x="5156200" y="1282700"/>
            <a:ext cx="6769100" cy="317500"/>
          </a:xfrm>
          <a:prstGeom prst="rect">
            <a:avLst/>
          </a:prstGeom>
          <a:solidFill>
            <a:srgbClr val="000000">
              <a:alpha val="0"/>
            </a:srgbClr>
          </a:solidFill>
        </p:spPr>
        <p:txBody>
          <a:bodyPr anchor="ctr" rtlCol="false" rIns="0" lIns="0" tIns="0" bIns="0"/>
          <a:lstStyle/>
          <a:p>
            <a:pPr algn="r" indent="0">
              <a:lnSpc>
                <a:spcPct val="120000"/>
              </a:lnSpc>
              <a:defRPr/>
            </a:pPr>
            <a:r>
              <a:rPr lang="en-US"/>
              <a:t/>
            </a:r>
            <a:r>
              <a:rPr lang="en-US" sz="2000" b="true">
                <a:solidFill>
                  <a:srgbClr val="000000"/>
                </a:solidFill>
                <a:latin typeface="Ubuntu"/>
              </a:rPr>
              <a:t>Retrieve telemetry</a:t>
            </a:r>
            <a:endParaRPr lang="en-US" sz="1100"/>
          </a:p>
        </p:txBody>
      </p:sp>
      <p:sp>
        <p:nvSpPr>
          <p:cNvPr name="TextBox 46" id="46"/>
          <p:cNvSpPr txBox="true"/>
          <p:nvPr/>
        </p:nvSpPr>
        <p:spPr>
          <a:xfrm>
            <a:off x="12090400" y="3035300"/>
            <a:ext cx="304800" cy="2540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1700" b="true">
                <a:solidFill>
                  <a:srgbClr val="000000"/>
                </a:solidFill>
                <a:highlight>
                  <a:srgbClr val="000000">
                    <a:alpha val="0"/>
                  </a:srgbClr>
                </a:highlight>
                <a:latin typeface="Ubuntu"/>
              </a:rPr>
              <a:t>2</a:t>
            </a:r>
            <a:endParaRPr lang="en-US" sz="1100"/>
          </a:p>
        </p:txBody>
      </p:sp>
      <p:sp>
        <p:nvSpPr>
          <p:cNvPr name="TextBox 47" id="47"/>
          <p:cNvSpPr txBox="true"/>
          <p:nvPr/>
        </p:nvSpPr>
        <p:spPr>
          <a:xfrm>
            <a:off x="3124200" y="2336800"/>
            <a:ext cx="7924800" cy="317500"/>
          </a:xfrm>
          <a:prstGeom prst="rect">
            <a:avLst/>
          </a:prstGeom>
          <a:solidFill>
            <a:srgbClr val="000000">
              <a:alpha val="0"/>
            </a:srgbClr>
          </a:solidFill>
        </p:spPr>
        <p:txBody>
          <a:bodyPr anchor="ctr" rtlCol="false" rIns="0" lIns="0" tIns="0" bIns="0"/>
          <a:lstStyle/>
          <a:p>
            <a:pPr algn="r" indent="0">
              <a:lnSpc>
                <a:spcPct val="120000"/>
              </a:lnSpc>
              <a:defRPr/>
            </a:pPr>
            <a:r>
              <a:rPr lang="en-US"/>
              <a:t/>
            </a:r>
            <a:r>
              <a:rPr lang="en-US" sz="2000" b="true">
                <a:solidFill>
                  <a:srgbClr val="000000"/>
                </a:solidFill>
                <a:latin typeface="Ubuntu"/>
              </a:rPr>
              <a:t>Structure data</a:t>
            </a:r>
            <a:endParaRPr lang="en-US" sz="1100"/>
          </a:p>
        </p:txBody>
      </p:sp>
      <p:sp>
        <p:nvSpPr>
          <p:cNvPr name="TextBox 48" id="48"/>
          <p:cNvSpPr txBox="true"/>
          <p:nvPr/>
        </p:nvSpPr>
        <p:spPr>
          <a:xfrm>
            <a:off x="11226800" y="4102100"/>
            <a:ext cx="304800" cy="2540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1700" b="true">
                <a:solidFill>
                  <a:srgbClr val="000000"/>
                </a:solidFill>
                <a:highlight>
                  <a:srgbClr val="000000">
                    <a:alpha val="0"/>
                  </a:srgbClr>
                </a:highlight>
                <a:latin typeface="Ubuntu"/>
              </a:rPr>
              <a:t>3</a:t>
            </a:r>
            <a:endParaRPr lang="en-US" sz="1100"/>
          </a:p>
        </p:txBody>
      </p:sp>
      <p:sp>
        <p:nvSpPr>
          <p:cNvPr name="TextBox 49" id="49"/>
          <p:cNvSpPr txBox="true"/>
          <p:nvPr/>
        </p:nvSpPr>
        <p:spPr>
          <a:xfrm>
            <a:off x="4000500" y="3403600"/>
            <a:ext cx="6184900" cy="317500"/>
          </a:xfrm>
          <a:prstGeom prst="rect">
            <a:avLst/>
          </a:prstGeom>
          <a:solidFill>
            <a:srgbClr val="000000">
              <a:alpha val="0"/>
            </a:srgbClr>
          </a:solidFill>
        </p:spPr>
        <p:txBody>
          <a:bodyPr anchor="ctr" rtlCol="false" rIns="0" lIns="0" tIns="0" bIns="0"/>
          <a:lstStyle/>
          <a:p>
            <a:pPr algn="r" indent="0">
              <a:lnSpc>
                <a:spcPct val="120000"/>
              </a:lnSpc>
              <a:defRPr/>
            </a:pPr>
            <a:r>
              <a:rPr lang="en-US"/>
              <a:t/>
            </a:r>
            <a:r>
              <a:rPr lang="en-US" sz="2000" b="true">
                <a:solidFill>
                  <a:srgbClr val="000000"/>
                </a:solidFill>
                <a:latin typeface="Ubuntu"/>
              </a:rPr>
              <a:t>Compare values</a:t>
            </a:r>
            <a:endParaRPr lang="en-US" sz="1100"/>
          </a:p>
        </p:txBody>
      </p:sp>
      <p:sp>
        <p:nvSpPr>
          <p:cNvPr name="TextBox 50" id="50"/>
          <p:cNvSpPr txBox="true"/>
          <p:nvPr/>
        </p:nvSpPr>
        <p:spPr>
          <a:xfrm>
            <a:off x="10350500" y="5156200"/>
            <a:ext cx="304800" cy="2540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1700" b="true">
                <a:solidFill>
                  <a:srgbClr val="000000"/>
                </a:solidFill>
                <a:highlight>
                  <a:srgbClr val="000000">
                    <a:alpha val="0"/>
                  </a:srgbClr>
                </a:highlight>
                <a:latin typeface="Ubuntu"/>
              </a:rPr>
              <a:t>4</a:t>
            </a:r>
            <a:endParaRPr lang="en-US" sz="1100"/>
          </a:p>
        </p:txBody>
      </p:sp>
      <p:sp>
        <p:nvSpPr>
          <p:cNvPr name="TextBox 51" id="51"/>
          <p:cNvSpPr txBox="true"/>
          <p:nvPr/>
        </p:nvSpPr>
        <p:spPr>
          <a:xfrm>
            <a:off x="3987800" y="4457700"/>
            <a:ext cx="5334000" cy="317500"/>
          </a:xfrm>
          <a:prstGeom prst="rect">
            <a:avLst/>
          </a:prstGeom>
          <a:solidFill>
            <a:srgbClr val="000000">
              <a:alpha val="0"/>
            </a:srgbClr>
          </a:solidFill>
        </p:spPr>
        <p:txBody>
          <a:bodyPr anchor="ctr" rtlCol="false" rIns="0" lIns="0" tIns="0" bIns="0"/>
          <a:lstStyle/>
          <a:p>
            <a:pPr algn="r" indent="0">
              <a:lnSpc>
                <a:spcPct val="120000"/>
              </a:lnSpc>
              <a:defRPr/>
            </a:pPr>
            <a:r>
              <a:rPr lang="en-US"/>
              <a:t/>
            </a:r>
            <a:r>
              <a:rPr lang="en-US" sz="2000" b="true">
                <a:solidFill>
                  <a:srgbClr val="000000"/>
                </a:solidFill>
                <a:latin typeface="Ubuntu"/>
              </a:rPr>
              <a:t>Compute deviations</a:t>
            </a:r>
            <a:endParaRPr lang="en-US" sz="1100"/>
          </a:p>
        </p:txBody>
      </p:sp>
      <p:sp>
        <p:nvSpPr>
          <p:cNvPr name="TextBox 52" id="52"/>
          <p:cNvSpPr txBox="true"/>
          <p:nvPr/>
        </p:nvSpPr>
        <p:spPr>
          <a:xfrm>
            <a:off x="12090400" y="6350000"/>
            <a:ext cx="304800" cy="2540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1700" b="true">
                <a:solidFill>
                  <a:srgbClr val="000000"/>
                </a:solidFill>
                <a:highlight>
                  <a:srgbClr val="000000">
                    <a:alpha val="0"/>
                  </a:srgbClr>
                </a:highlight>
                <a:latin typeface="Ubuntu"/>
              </a:rPr>
              <a:t>1</a:t>
            </a:r>
            <a:endParaRPr lang="en-US" sz="1100"/>
          </a:p>
        </p:txBody>
      </p:sp>
      <p:sp>
        <p:nvSpPr>
          <p:cNvPr name="TextBox 53" id="53"/>
          <p:cNvSpPr txBox="true"/>
          <p:nvPr/>
        </p:nvSpPr>
        <p:spPr>
          <a:xfrm>
            <a:off x="6007100" y="5651500"/>
            <a:ext cx="5041900" cy="317500"/>
          </a:xfrm>
          <a:prstGeom prst="rect">
            <a:avLst/>
          </a:prstGeom>
          <a:solidFill>
            <a:srgbClr val="000000">
              <a:alpha val="0"/>
            </a:srgbClr>
          </a:solidFill>
        </p:spPr>
        <p:txBody>
          <a:bodyPr anchor="ctr" rtlCol="false" rIns="0" lIns="0" tIns="0" bIns="0"/>
          <a:lstStyle/>
          <a:p>
            <a:pPr algn="r" indent="0">
              <a:lnSpc>
                <a:spcPct val="120000"/>
              </a:lnSpc>
              <a:defRPr/>
            </a:pPr>
            <a:r>
              <a:rPr lang="en-US"/>
              <a:t/>
            </a:r>
            <a:r>
              <a:rPr lang="en-US" sz="2000" b="true">
                <a:solidFill>
                  <a:srgbClr val="000000"/>
                </a:solidFill>
                <a:latin typeface="Ubuntu"/>
              </a:rPr>
              <a:t>Apply weights</a:t>
            </a:r>
            <a:endParaRPr lang="en-US" sz="1100"/>
          </a:p>
        </p:txBody>
      </p:sp>
      <p:sp>
        <p:nvSpPr>
          <p:cNvPr name="TextBox 54" id="54"/>
          <p:cNvSpPr txBox="true"/>
          <p:nvPr/>
        </p:nvSpPr>
        <p:spPr>
          <a:xfrm>
            <a:off x="11226800" y="7404100"/>
            <a:ext cx="304800" cy="2540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1700" b="true">
                <a:solidFill>
                  <a:srgbClr val="000000"/>
                </a:solidFill>
                <a:highlight>
                  <a:srgbClr val="000000">
                    <a:alpha val="0"/>
                  </a:srgbClr>
                </a:highlight>
                <a:latin typeface="Ubuntu"/>
              </a:rPr>
              <a:t>2</a:t>
            </a:r>
            <a:endParaRPr lang="en-US" sz="1100"/>
          </a:p>
        </p:txBody>
      </p:sp>
      <p:sp>
        <p:nvSpPr>
          <p:cNvPr name="TextBox 55" id="55"/>
          <p:cNvSpPr txBox="true"/>
          <p:nvPr/>
        </p:nvSpPr>
        <p:spPr>
          <a:xfrm>
            <a:off x="4000500" y="6705600"/>
            <a:ext cx="6184900" cy="317500"/>
          </a:xfrm>
          <a:prstGeom prst="rect">
            <a:avLst/>
          </a:prstGeom>
          <a:solidFill>
            <a:srgbClr val="000000">
              <a:alpha val="0"/>
            </a:srgbClr>
          </a:solidFill>
        </p:spPr>
        <p:txBody>
          <a:bodyPr anchor="ctr" rtlCol="false" rIns="0" lIns="0" tIns="0" bIns="0"/>
          <a:lstStyle/>
          <a:p>
            <a:pPr algn="r" indent="0">
              <a:lnSpc>
                <a:spcPct val="120000"/>
              </a:lnSpc>
              <a:defRPr/>
            </a:pPr>
            <a:r>
              <a:rPr lang="en-US"/>
              <a:t/>
            </a:r>
            <a:r>
              <a:rPr lang="en-US" sz="2000" b="true">
                <a:solidFill>
                  <a:srgbClr val="000000"/>
                </a:solidFill>
                <a:latin typeface="Ubuntu"/>
              </a:rPr>
              <a:t>Generate decision</a:t>
            </a:r>
            <a:endParaRPr lang="en-US" sz="1100"/>
          </a:p>
        </p:txBody>
      </p:sp>
      <p:sp>
        <p:nvSpPr>
          <p:cNvPr name="TextBox 56" id="56"/>
          <p:cNvSpPr txBox="true"/>
          <p:nvPr/>
        </p:nvSpPr>
        <p:spPr>
          <a:xfrm>
            <a:off x="10350500" y="8470900"/>
            <a:ext cx="304800" cy="2540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1700" b="true">
                <a:solidFill>
                  <a:srgbClr val="000000"/>
                </a:solidFill>
                <a:highlight>
                  <a:srgbClr val="000000">
                    <a:alpha val="0"/>
                  </a:srgbClr>
                </a:highlight>
                <a:latin typeface="Ubuntu"/>
              </a:rPr>
              <a:t>3</a:t>
            </a:r>
            <a:endParaRPr lang="en-US" sz="1100"/>
          </a:p>
        </p:txBody>
      </p:sp>
      <p:sp>
        <p:nvSpPr>
          <p:cNvPr name="TextBox 57" id="57"/>
          <p:cNvSpPr txBox="true"/>
          <p:nvPr/>
        </p:nvSpPr>
        <p:spPr>
          <a:xfrm>
            <a:off x="5207000" y="7772400"/>
            <a:ext cx="4114800" cy="317500"/>
          </a:xfrm>
          <a:prstGeom prst="rect">
            <a:avLst/>
          </a:prstGeom>
          <a:solidFill>
            <a:srgbClr val="000000">
              <a:alpha val="0"/>
            </a:srgbClr>
          </a:solidFill>
        </p:spPr>
        <p:txBody>
          <a:bodyPr anchor="ctr" rtlCol="false" rIns="0" lIns="0" tIns="0" bIns="0"/>
          <a:lstStyle/>
          <a:p>
            <a:pPr algn="r" indent="0">
              <a:lnSpc>
                <a:spcPct val="120000"/>
              </a:lnSpc>
              <a:defRPr/>
            </a:pPr>
            <a:r>
              <a:rPr lang="en-US"/>
              <a:t/>
            </a:r>
            <a:r>
              <a:rPr lang="en-US" sz="2000" b="true">
                <a:solidFill>
                  <a:srgbClr val="000000"/>
                </a:solidFill>
                <a:latin typeface="Ubuntu"/>
              </a:rPr>
              <a:t>Display results</a:t>
            </a:r>
            <a:endParaRPr lang="en-US" sz="1100"/>
          </a:p>
        </p:txBody>
      </p:sp>
      <p:sp>
        <p:nvSpPr>
          <p:cNvPr name="TextBox 58" id="58"/>
          <p:cNvSpPr txBox="true"/>
          <p:nvPr/>
        </p:nvSpPr>
        <p:spPr>
          <a:xfrm>
            <a:off x="5156200" y="1727200"/>
            <a:ext cx="6769100" cy="254000"/>
          </a:xfrm>
          <a:prstGeom prst="rect">
            <a:avLst/>
          </a:prstGeom>
          <a:solidFill>
            <a:srgbClr val="000000">
              <a:alpha val="0"/>
            </a:srgbClr>
          </a:solidFill>
        </p:spPr>
        <p:txBody>
          <a:bodyPr anchor="ctr" rtlCol="false" rIns="0" lIns="0" tIns="0" bIns="0"/>
          <a:lstStyle/>
          <a:p>
            <a:pPr algn="r" indent="0">
              <a:lnSpc>
                <a:spcPct val="150000"/>
              </a:lnSpc>
              <a:defRPr/>
            </a:pPr>
            <a:r>
              <a:rPr lang="en-US"/>
              <a:t/>
            </a:r>
            <a:r>
              <a:rPr lang="en-US" sz="1300" b="true">
                <a:solidFill>
                  <a:srgbClr val="000000"/>
                </a:solidFill>
                <a:latin typeface="Poppins"/>
              </a:rPr>
              <a:t>Retrieve telemetry via Web API and PowerShell bridge</a:t>
            </a:r>
            <a:endParaRPr lang="en-US" sz="1100"/>
          </a:p>
        </p:txBody>
      </p:sp>
      <p:sp>
        <p:nvSpPr>
          <p:cNvPr name="TextBox 59" id="59"/>
          <p:cNvSpPr txBox="true"/>
          <p:nvPr/>
        </p:nvSpPr>
        <p:spPr>
          <a:xfrm>
            <a:off x="3124200" y="2781300"/>
            <a:ext cx="7924800" cy="254000"/>
          </a:xfrm>
          <a:prstGeom prst="rect">
            <a:avLst/>
          </a:prstGeom>
          <a:solidFill>
            <a:srgbClr val="000000">
              <a:alpha val="0"/>
            </a:srgbClr>
          </a:solidFill>
        </p:spPr>
        <p:txBody>
          <a:bodyPr anchor="ctr" rtlCol="false" rIns="0" lIns="0" tIns="0" bIns="0"/>
          <a:lstStyle/>
          <a:p>
            <a:pPr algn="r" indent="0">
              <a:lnSpc>
                <a:spcPct val="150000"/>
              </a:lnSpc>
              <a:defRPr/>
            </a:pPr>
            <a:r>
              <a:rPr lang="en-US"/>
              <a:t/>
            </a:r>
            <a:r>
              <a:rPr lang="en-US" sz="1300" b="true">
                <a:solidFill>
                  <a:srgbClr val="000000"/>
                </a:solidFill>
                <a:latin typeface="Poppins"/>
              </a:rPr>
              <a:t>Structure data into agent-level cyber-physical feature vectors</a:t>
            </a:r>
            <a:endParaRPr lang="en-US" sz="1100"/>
          </a:p>
        </p:txBody>
      </p:sp>
      <p:sp>
        <p:nvSpPr>
          <p:cNvPr name="TextBox 60" id="60"/>
          <p:cNvSpPr txBox="true"/>
          <p:nvPr/>
        </p:nvSpPr>
        <p:spPr>
          <a:xfrm>
            <a:off x="4000500" y="3848100"/>
            <a:ext cx="6184900" cy="254000"/>
          </a:xfrm>
          <a:prstGeom prst="rect">
            <a:avLst/>
          </a:prstGeom>
          <a:solidFill>
            <a:srgbClr val="000000">
              <a:alpha val="0"/>
            </a:srgbClr>
          </a:solidFill>
        </p:spPr>
        <p:txBody>
          <a:bodyPr anchor="ctr" rtlCol="false" rIns="0" lIns="0" tIns="0" bIns="0"/>
          <a:lstStyle/>
          <a:p>
            <a:pPr algn="r" indent="0">
              <a:lnSpc>
                <a:spcPct val="150000"/>
              </a:lnSpc>
              <a:defRPr/>
            </a:pPr>
            <a:r>
              <a:rPr lang="en-US"/>
              <a:t/>
            </a:r>
            <a:r>
              <a:rPr lang="en-US" sz="1300" b="true">
                <a:solidFill>
                  <a:srgbClr val="000000"/>
                </a:solidFill>
                <a:latin typeface="Poppins"/>
              </a:rPr>
              <a:t>Compare values against type-specific baselines</a:t>
            </a:r>
            <a:endParaRPr lang="en-US" sz="1100"/>
          </a:p>
        </p:txBody>
      </p:sp>
      <p:sp>
        <p:nvSpPr>
          <p:cNvPr name="TextBox 61" id="61"/>
          <p:cNvSpPr txBox="true"/>
          <p:nvPr/>
        </p:nvSpPr>
        <p:spPr>
          <a:xfrm>
            <a:off x="3987800" y="4902200"/>
            <a:ext cx="5334000" cy="254000"/>
          </a:xfrm>
          <a:prstGeom prst="rect">
            <a:avLst/>
          </a:prstGeom>
          <a:solidFill>
            <a:srgbClr val="000000">
              <a:alpha val="0"/>
            </a:srgbClr>
          </a:solidFill>
        </p:spPr>
        <p:txBody>
          <a:bodyPr anchor="ctr" rtlCol="false" rIns="0" lIns="0" tIns="0" bIns="0"/>
          <a:lstStyle/>
          <a:p>
            <a:pPr algn="r" indent="0">
              <a:lnSpc>
                <a:spcPct val="150000"/>
              </a:lnSpc>
              <a:defRPr/>
            </a:pPr>
            <a:r>
              <a:rPr lang="en-US"/>
              <a:t/>
            </a:r>
            <a:r>
              <a:rPr lang="en-US" sz="1300" b="true">
                <a:solidFill>
                  <a:srgbClr val="000000"/>
                </a:solidFill>
                <a:latin typeface="Poppins"/>
              </a:rPr>
              <a:t>Compute deviations (physical and cyber)</a:t>
            </a:r>
            <a:endParaRPr lang="en-US" sz="1100"/>
          </a:p>
        </p:txBody>
      </p:sp>
      <p:sp>
        <p:nvSpPr>
          <p:cNvPr name="TextBox 62" id="62"/>
          <p:cNvSpPr txBox="true"/>
          <p:nvPr/>
        </p:nvSpPr>
        <p:spPr>
          <a:xfrm>
            <a:off x="6007100" y="6083300"/>
            <a:ext cx="5041900" cy="254000"/>
          </a:xfrm>
          <a:prstGeom prst="rect">
            <a:avLst/>
          </a:prstGeom>
          <a:solidFill>
            <a:srgbClr val="000000">
              <a:alpha val="0"/>
            </a:srgbClr>
          </a:solidFill>
        </p:spPr>
        <p:txBody>
          <a:bodyPr anchor="ctr" rtlCol="false" rIns="0" lIns="0" tIns="0" bIns="0"/>
          <a:lstStyle/>
          <a:p>
            <a:pPr algn="r" indent="0">
              <a:lnSpc>
                <a:spcPct val="150000"/>
              </a:lnSpc>
              <a:defRPr/>
            </a:pPr>
            <a:r>
              <a:rPr lang="en-US"/>
              <a:t/>
            </a:r>
            <a:r>
              <a:rPr lang="en-US" sz="1300" b="true">
                <a:solidFill>
                  <a:srgbClr val="000000"/>
                </a:solidFill>
                <a:latin typeface="Poppins"/>
              </a:rPr>
              <a:t>Apply weights and threshold evaluation</a:t>
            </a:r>
            <a:endParaRPr lang="en-US" sz="1100"/>
          </a:p>
        </p:txBody>
      </p:sp>
      <p:sp>
        <p:nvSpPr>
          <p:cNvPr name="TextBox 63" id="63"/>
          <p:cNvSpPr txBox="true"/>
          <p:nvPr/>
        </p:nvSpPr>
        <p:spPr>
          <a:xfrm>
            <a:off x="4000500" y="7150100"/>
            <a:ext cx="6184900" cy="254000"/>
          </a:xfrm>
          <a:prstGeom prst="rect">
            <a:avLst/>
          </a:prstGeom>
          <a:solidFill>
            <a:srgbClr val="000000">
              <a:alpha val="0"/>
            </a:srgbClr>
          </a:solidFill>
        </p:spPr>
        <p:txBody>
          <a:bodyPr anchor="ctr" rtlCol="false" rIns="0" lIns="0" tIns="0" bIns="0"/>
          <a:lstStyle/>
          <a:p>
            <a:pPr algn="r" indent="0">
              <a:lnSpc>
                <a:spcPct val="150000"/>
              </a:lnSpc>
              <a:defRPr/>
            </a:pPr>
            <a:r>
              <a:rPr lang="en-US"/>
              <a:t/>
            </a:r>
            <a:r>
              <a:rPr lang="en-US" sz="1300" b="true">
                <a:solidFill>
                  <a:srgbClr val="000000"/>
                </a:solidFill>
                <a:latin typeface="Poppins"/>
              </a:rPr>
              <a:t>Generate decision and feature-level explanation</a:t>
            </a:r>
            <a:endParaRPr lang="en-US" sz="1100"/>
          </a:p>
        </p:txBody>
      </p:sp>
      <p:sp>
        <p:nvSpPr>
          <p:cNvPr name="TextBox 64" id="64"/>
          <p:cNvSpPr txBox="true"/>
          <p:nvPr/>
        </p:nvSpPr>
        <p:spPr>
          <a:xfrm>
            <a:off x="5207000" y="8204200"/>
            <a:ext cx="4114800" cy="254000"/>
          </a:xfrm>
          <a:prstGeom prst="rect">
            <a:avLst/>
          </a:prstGeom>
          <a:solidFill>
            <a:srgbClr val="000000">
              <a:alpha val="0"/>
            </a:srgbClr>
          </a:solidFill>
        </p:spPr>
        <p:txBody>
          <a:bodyPr anchor="ctr" rtlCol="false" rIns="0" lIns="0" tIns="0" bIns="0"/>
          <a:lstStyle/>
          <a:p>
            <a:pPr algn="r" indent="0">
              <a:lnSpc>
                <a:spcPct val="150000"/>
              </a:lnSpc>
              <a:defRPr/>
            </a:pPr>
            <a:r>
              <a:rPr lang="en-US"/>
              <a:t/>
            </a:r>
            <a:r>
              <a:rPr lang="en-US" sz="1300" b="true">
                <a:solidFill>
                  <a:srgbClr val="000000"/>
                </a:solidFill>
                <a:latin typeface="Poppins"/>
              </a:rPr>
              <a:t>Display results in live dashboard</a:t>
            </a:r>
            <a:endParaRPr lang="en-US" sz="1100"/>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0" y="0"/>
            <a:ext cx="16256000" cy="9144000"/>
          </a:xfrm>
          <a:prstGeom prst="rect">
            <a:avLst/>
          </a:prstGeom>
          <a:solidFill>
            <a:srgbClr val="0D0A2C">
              <a:alpha val="74902"/>
            </a:srgbClr>
          </a:solidFill>
        </p:spPr>
      </p:sp>
      <p:pic>
        <p:nvPicPr>
          <p:cNvPr name="Picture 3" id="3"/>
          <p:cNvPicPr>
            <a:picLocks noChangeAspect="true"/>
          </p:cNvPicPr>
          <p:nvPr/>
        </p:nvPicPr>
        <p:blipFill>
          <a:blip r:embed="rId2"/>
          <a:srcRect t="56" b="56"/>
          <a:stretch>
            <a:fillRect/>
          </a:stretch>
        </p:blipFill>
        <p:spPr>
          <a:xfrm>
            <a:off x="0" y="0"/>
            <a:ext cx="16256000" cy="9144000"/>
          </a:xfrm>
          <a:prstGeom prst="rect">
            <a:avLst/>
          </a:prstGeom>
        </p:spPr>
      </p:pic>
      <p:sp>
        <p:nvSpPr>
          <p:cNvPr name="AutoShape 4" id="4"/>
          <p:cNvSpPr/>
          <p:nvPr/>
        </p:nvSpPr>
        <p:spPr>
          <a:xfrm>
            <a:off x="876300" y="927100"/>
            <a:ext cx="14490700" cy="7797800"/>
          </a:xfrm>
          <a:prstGeom prst="rect">
            <a:avLst/>
          </a:prstGeom>
          <a:solidFill>
            <a:srgbClr val="000000">
              <a:alpha val="0"/>
            </a:srgbClr>
          </a:solidFill>
        </p:spPr>
      </p:sp>
      <p:sp>
        <p:nvSpPr>
          <p:cNvPr name="AutoShape 5" id="5"/>
          <p:cNvSpPr/>
          <p:nvPr/>
        </p:nvSpPr>
        <p:spPr>
          <a:xfrm>
            <a:off x="876300" y="927100"/>
            <a:ext cx="14490700" cy="1104900"/>
          </a:xfrm>
          <a:prstGeom prst="rect">
            <a:avLst/>
          </a:prstGeom>
          <a:solidFill>
            <a:srgbClr val="000000">
              <a:alpha val="0"/>
            </a:srgbClr>
          </a:solidFill>
        </p:spPr>
      </p:sp>
      <p:sp>
        <p:nvSpPr>
          <p:cNvPr name="AutoShape 6" id="6"/>
          <p:cNvSpPr/>
          <p:nvPr/>
        </p:nvSpPr>
        <p:spPr>
          <a:xfrm>
            <a:off x="1003300" y="2044700"/>
            <a:ext cx="13652500" cy="12700"/>
          </a:xfrm>
          <a:prstGeom prst="rect">
            <a:avLst/>
          </a:prstGeom>
          <a:solidFill>
            <a:srgbClr val="A6A6A6"/>
          </a:solidFill>
        </p:spPr>
      </p:sp>
      <p:sp>
        <p:nvSpPr>
          <p:cNvPr name="AutoShape 7" id="7"/>
          <p:cNvSpPr/>
          <p:nvPr/>
        </p:nvSpPr>
        <p:spPr>
          <a:xfrm>
            <a:off x="876300" y="2044700"/>
            <a:ext cx="14490700" cy="1104900"/>
          </a:xfrm>
          <a:prstGeom prst="rect">
            <a:avLst/>
          </a:prstGeom>
          <a:solidFill>
            <a:srgbClr val="000000">
              <a:alpha val="0"/>
            </a:srgbClr>
          </a:solidFill>
        </p:spPr>
      </p:sp>
      <p:sp>
        <p:nvSpPr>
          <p:cNvPr name="AutoShape 8" id="8"/>
          <p:cNvSpPr/>
          <p:nvPr/>
        </p:nvSpPr>
        <p:spPr>
          <a:xfrm>
            <a:off x="1003300" y="3149600"/>
            <a:ext cx="12788900" cy="12700"/>
          </a:xfrm>
          <a:prstGeom prst="rect">
            <a:avLst/>
          </a:prstGeom>
          <a:solidFill>
            <a:srgbClr val="A6A6A6"/>
          </a:solidFill>
        </p:spPr>
      </p:sp>
      <p:sp>
        <p:nvSpPr>
          <p:cNvPr name="AutoShape 9" id="9"/>
          <p:cNvSpPr/>
          <p:nvPr/>
        </p:nvSpPr>
        <p:spPr>
          <a:xfrm>
            <a:off x="876300" y="3149600"/>
            <a:ext cx="14490700" cy="1104900"/>
          </a:xfrm>
          <a:prstGeom prst="rect">
            <a:avLst/>
          </a:prstGeom>
          <a:solidFill>
            <a:srgbClr val="000000">
              <a:alpha val="0"/>
            </a:srgbClr>
          </a:solidFill>
        </p:spPr>
      </p:sp>
      <p:sp>
        <p:nvSpPr>
          <p:cNvPr name="AutoShape 10" id="10"/>
          <p:cNvSpPr/>
          <p:nvPr/>
        </p:nvSpPr>
        <p:spPr>
          <a:xfrm>
            <a:off x="1003300" y="4267200"/>
            <a:ext cx="11912600" cy="12700"/>
          </a:xfrm>
          <a:prstGeom prst="rect">
            <a:avLst/>
          </a:prstGeom>
          <a:solidFill>
            <a:srgbClr val="A6A6A6"/>
          </a:solidFill>
        </p:spPr>
      </p:sp>
      <p:sp>
        <p:nvSpPr>
          <p:cNvPr name="AutoShape 11" id="11"/>
          <p:cNvSpPr/>
          <p:nvPr/>
        </p:nvSpPr>
        <p:spPr>
          <a:xfrm>
            <a:off x="876300" y="4267200"/>
            <a:ext cx="14490700" cy="1104900"/>
          </a:xfrm>
          <a:prstGeom prst="rect">
            <a:avLst/>
          </a:prstGeom>
          <a:solidFill>
            <a:srgbClr val="000000">
              <a:alpha val="0"/>
            </a:srgbClr>
          </a:solidFill>
        </p:spPr>
      </p:sp>
      <p:sp>
        <p:nvSpPr>
          <p:cNvPr name="AutoShape 12" id="12"/>
          <p:cNvSpPr/>
          <p:nvPr/>
        </p:nvSpPr>
        <p:spPr>
          <a:xfrm>
            <a:off x="1003300" y="5384800"/>
            <a:ext cx="11049000" cy="12700"/>
          </a:xfrm>
          <a:prstGeom prst="rect">
            <a:avLst/>
          </a:prstGeom>
          <a:solidFill>
            <a:srgbClr val="A6A6A6"/>
          </a:solidFill>
        </p:spPr>
      </p:sp>
      <p:sp>
        <p:nvSpPr>
          <p:cNvPr name="AutoShape 13" id="13"/>
          <p:cNvSpPr/>
          <p:nvPr/>
        </p:nvSpPr>
        <p:spPr>
          <a:xfrm>
            <a:off x="876300" y="5384800"/>
            <a:ext cx="14490700" cy="1104900"/>
          </a:xfrm>
          <a:prstGeom prst="rect">
            <a:avLst/>
          </a:prstGeom>
          <a:solidFill>
            <a:srgbClr val="000000">
              <a:alpha val="0"/>
            </a:srgbClr>
          </a:solidFill>
        </p:spPr>
      </p:sp>
      <p:sp>
        <p:nvSpPr>
          <p:cNvPr name="AutoShape 14" id="14"/>
          <p:cNvSpPr/>
          <p:nvPr/>
        </p:nvSpPr>
        <p:spPr>
          <a:xfrm>
            <a:off x="1003300" y="6502400"/>
            <a:ext cx="10172700" cy="12700"/>
          </a:xfrm>
          <a:prstGeom prst="rect">
            <a:avLst/>
          </a:prstGeom>
          <a:solidFill>
            <a:srgbClr val="A6A6A6"/>
          </a:solidFill>
        </p:spPr>
      </p:sp>
      <p:sp>
        <p:nvSpPr>
          <p:cNvPr name="AutoShape 15" id="15"/>
          <p:cNvSpPr/>
          <p:nvPr/>
        </p:nvSpPr>
        <p:spPr>
          <a:xfrm>
            <a:off x="876300" y="6502400"/>
            <a:ext cx="14490700" cy="1104900"/>
          </a:xfrm>
          <a:prstGeom prst="rect">
            <a:avLst/>
          </a:prstGeom>
          <a:solidFill>
            <a:srgbClr val="000000">
              <a:alpha val="0"/>
            </a:srgbClr>
          </a:solidFill>
        </p:spPr>
      </p:sp>
      <p:sp>
        <p:nvSpPr>
          <p:cNvPr name="AutoShape 16" id="16"/>
          <p:cNvSpPr/>
          <p:nvPr/>
        </p:nvSpPr>
        <p:spPr>
          <a:xfrm>
            <a:off x="1003300" y="7607300"/>
            <a:ext cx="9309100" cy="12700"/>
          </a:xfrm>
          <a:prstGeom prst="rect">
            <a:avLst/>
          </a:prstGeom>
          <a:solidFill>
            <a:srgbClr val="A6A6A6"/>
          </a:solidFill>
        </p:spPr>
      </p:sp>
      <p:sp>
        <p:nvSpPr>
          <p:cNvPr name="AutoShape 17" id="17"/>
          <p:cNvSpPr/>
          <p:nvPr/>
        </p:nvSpPr>
        <p:spPr>
          <a:xfrm>
            <a:off x="876300" y="7620000"/>
            <a:ext cx="14490700" cy="1104900"/>
          </a:xfrm>
          <a:prstGeom prst="rect">
            <a:avLst/>
          </a:prstGeom>
          <a:solidFill>
            <a:srgbClr val="000000">
              <a:alpha val="0"/>
            </a:srgbClr>
          </a:solidFill>
        </p:spPr>
      </p:sp>
      <p:sp>
        <p:nvSpPr>
          <p:cNvPr name="AutoShape 18" id="18"/>
          <p:cNvSpPr/>
          <p:nvPr/>
        </p:nvSpPr>
        <p:spPr>
          <a:xfrm>
            <a:off x="1003300" y="8724900"/>
            <a:ext cx="8432800" cy="12700"/>
          </a:xfrm>
          <a:prstGeom prst="rect">
            <a:avLst/>
          </a:prstGeom>
          <a:solidFill>
            <a:srgbClr val="A6A6A6"/>
          </a:solidFill>
        </p:spPr>
      </p:sp>
      <p:pic>
        <p:nvPicPr>
          <p:cNvPr name="Picture 19" id="19"/>
          <p:cNvPicPr>
            <a:picLocks noChangeAspect="true"/>
          </p:cNvPicPr>
          <p:nvPr/>
        </p:nvPicPr>
        <p:blipFill>
          <a:blip r:embed="rId3"/>
          <a:stretch>
            <a:fillRect/>
          </a:stretch>
        </p:blipFill>
        <p:spPr>
          <a:xfrm>
            <a:off x="14897100" y="927100"/>
            <a:ext cx="330200" cy="1447800"/>
          </a:xfrm>
          <a:prstGeom prst="rect">
            <a:avLst/>
          </a:prstGeom>
        </p:spPr>
      </p:pic>
      <p:pic>
        <p:nvPicPr>
          <p:cNvPr name="Picture 20" id="20"/>
          <p:cNvPicPr>
            <a:picLocks noChangeAspect="true"/>
          </p:cNvPicPr>
          <p:nvPr/>
        </p:nvPicPr>
        <p:blipFill>
          <a:blip r:embed="rId4"/>
          <a:stretch>
            <a:fillRect/>
          </a:stretch>
        </p:blipFill>
        <p:spPr>
          <a:xfrm>
            <a:off x="14897100" y="927100"/>
            <a:ext cx="330200" cy="1447800"/>
          </a:xfrm>
          <a:prstGeom prst="rect">
            <a:avLst/>
          </a:prstGeom>
        </p:spPr>
      </p:pic>
      <p:pic>
        <p:nvPicPr>
          <p:cNvPr name="Picture 21" id="21"/>
          <p:cNvPicPr>
            <a:picLocks noChangeAspect="true"/>
          </p:cNvPicPr>
          <p:nvPr/>
        </p:nvPicPr>
        <p:blipFill>
          <a:blip r:embed="rId4"/>
          <a:stretch>
            <a:fillRect/>
          </a:stretch>
        </p:blipFill>
        <p:spPr>
          <a:xfrm>
            <a:off x="14897100" y="927100"/>
            <a:ext cx="330200" cy="1447800"/>
          </a:xfrm>
          <a:prstGeom prst="rect">
            <a:avLst/>
          </a:prstGeom>
        </p:spPr>
      </p:pic>
      <p:pic>
        <p:nvPicPr>
          <p:cNvPr name="Picture 22" id="22"/>
          <p:cNvPicPr>
            <a:picLocks noChangeAspect="true"/>
          </p:cNvPicPr>
          <p:nvPr/>
        </p:nvPicPr>
        <p:blipFill>
          <a:blip r:embed="rId5"/>
          <a:stretch>
            <a:fillRect/>
          </a:stretch>
        </p:blipFill>
        <p:spPr>
          <a:xfrm>
            <a:off x="14897100" y="927100"/>
            <a:ext cx="330200" cy="1447800"/>
          </a:xfrm>
          <a:prstGeom prst="rect">
            <a:avLst/>
          </a:prstGeom>
        </p:spPr>
      </p:pic>
      <p:pic>
        <p:nvPicPr>
          <p:cNvPr name="Picture 23" id="23"/>
          <p:cNvPicPr>
            <a:picLocks noChangeAspect="true"/>
          </p:cNvPicPr>
          <p:nvPr/>
        </p:nvPicPr>
        <p:blipFill>
          <a:blip r:embed="rId6"/>
          <a:stretch>
            <a:fillRect/>
          </a:stretch>
        </p:blipFill>
        <p:spPr>
          <a:xfrm>
            <a:off x="14211300" y="2044700"/>
            <a:ext cx="838200" cy="1447800"/>
          </a:xfrm>
          <a:prstGeom prst="rect">
            <a:avLst/>
          </a:prstGeom>
        </p:spPr>
      </p:pic>
      <p:pic>
        <p:nvPicPr>
          <p:cNvPr name="Picture 24" id="24"/>
          <p:cNvPicPr>
            <a:picLocks noChangeAspect="true"/>
          </p:cNvPicPr>
          <p:nvPr/>
        </p:nvPicPr>
        <p:blipFill>
          <a:blip r:embed="rId7"/>
          <a:stretch>
            <a:fillRect/>
          </a:stretch>
        </p:blipFill>
        <p:spPr>
          <a:xfrm>
            <a:off x="14211300" y="2044700"/>
            <a:ext cx="838200" cy="1447800"/>
          </a:xfrm>
          <a:prstGeom prst="rect">
            <a:avLst/>
          </a:prstGeom>
        </p:spPr>
      </p:pic>
      <p:pic>
        <p:nvPicPr>
          <p:cNvPr name="Picture 25" id="25"/>
          <p:cNvPicPr>
            <a:picLocks noChangeAspect="true"/>
          </p:cNvPicPr>
          <p:nvPr/>
        </p:nvPicPr>
        <p:blipFill>
          <a:blip r:embed="rId8"/>
          <a:stretch>
            <a:fillRect/>
          </a:stretch>
        </p:blipFill>
        <p:spPr>
          <a:xfrm>
            <a:off x="14211300" y="2044700"/>
            <a:ext cx="838200" cy="1447800"/>
          </a:xfrm>
          <a:prstGeom prst="rect">
            <a:avLst/>
          </a:prstGeom>
        </p:spPr>
      </p:pic>
      <p:pic>
        <p:nvPicPr>
          <p:cNvPr name="Picture 26" id="26"/>
          <p:cNvPicPr>
            <a:picLocks noChangeAspect="true"/>
          </p:cNvPicPr>
          <p:nvPr/>
        </p:nvPicPr>
        <p:blipFill>
          <a:blip r:embed="rId9"/>
          <a:stretch>
            <a:fillRect/>
          </a:stretch>
        </p:blipFill>
        <p:spPr>
          <a:xfrm>
            <a:off x="13512800" y="3149600"/>
            <a:ext cx="1358900" cy="1447800"/>
          </a:xfrm>
          <a:prstGeom prst="rect">
            <a:avLst/>
          </a:prstGeom>
        </p:spPr>
      </p:pic>
      <p:pic>
        <p:nvPicPr>
          <p:cNvPr name="Picture 27" id="27"/>
          <p:cNvPicPr>
            <a:picLocks noChangeAspect="true"/>
          </p:cNvPicPr>
          <p:nvPr/>
        </p:nvPicPr>
        <p:blipFill>
          <a:blip r:embed="rId10"/>
          <a:stretch>
            <a:fillRect/>
          </a:stretch>
        </p:blipFill>
        <p:spPr>
          <a:xfrm>
            <a:off x="13512800" y="3149600"/>
            <a:ext cx="1358900" cy="1447800"/>
          </a:xfrm>
          <a:prstGeom prst="rect">
            <a:avLst/>
          </a:prstGeom>
        </p:spPr>
      </p:pic>
      <p:pic>
        <p:nvPicPr>
          <p:cNvPr name="Picture 28" id="28"/>
          <p:cNvPicPr>
            <a:picLocks noChangeAspect="true"/>
          </p:cNvPicPr>
          <p:nvPr/>
        </p:nvPicPr>
        <p:blipFill>
          <a:blip r:embed="rId11"/>
          <a:stretch>
            <a:fillRect/>
          </a:stretch>
        </p:blipFill>
        <p:spPr>
          <a:xfrm>
            <a:off x="13512800" y="3149600"/>
            <a:ext cx="1358900" cy="1447800"/>
          </a:xfrm>
          <a:prstGeom prst="rect">
            <a:avLst/>
          </a:prstGeom>
        </p:spPr>
      </p:pic>
      <p:pic>
        <p:nvPicPr>
          <p:cNvPr name="Picture 29" id="29"/>
          <p:cNvPicPr>
            <a:picLocks noChangeAspect="true"/>
          </p:cNvPicPr>
          <p:nvPr/>
        </p:nvPicPr>
        <p:blipFill>
          <a:blip r:embed="rId12"/>
          <a:stretch>
            <a:fillRect/>
          </a:stretch>
        </p:blipFill>
        <p:spPr>
          <a:xfrm>
            <a:off x="12827000" y="4267200"/>
            <a:ext cx="1866900" cy="1447800"/>
          </a:xfrm>
          <a:prstGeom prst="rect">
            <a:avLst/>
          </a:prstGeom>
        </p:spPr>
      </p:pic>
      <p:pic>
        <p:nvPicPr>
          <p:cNvPr name="Picture 30" id="30"/>
          <p:cNvPicPr>
            <a:picLocks noChangeAspect="true"/>
          </p:cNvPicPr>
          <p:nvPr/>
        </p:nvPicPr>
        <p:blipFill>
          <a:blip r:embed="rId13"/>
          <a:stretch>
            <a:fillRect/>
          </a:stretch>
        </p:blipFill>
        <p:spPr>
          <a:xfrm>
            <a:off x="12827000" y="4267200"/>
            <a:ext cx="1866900" cy="1447800"/>
          </a:xfrm>
          <a:prstGeom prst="rect">
            <a:avLst/>
          </a:prstGeom>
        </p:spPr>
      </p:pic>
      <p:pic>
        <p:nvPicPr>
          <p:cNvPr name="Picture 31" id="31"/>
          <p:cNvPicPr>
            <a:picLocks noChangeAspect="true"/>
          </p:cNvPicPr>
          <p:nvPr/>
        </p:nvPicPr>
        <p:blipFill>
          <a:blip r:embed="rId14"/>
          <a:stretch>
            <a:fillRect/>
          </a:stretch>
        </p:blipFill>
        <p:spPr>
          <a:xfrm>
            <a:off x="12827000" y="4267200"/>
            <a:ext cx="1866900" cy="1447800"/>
          </a:xfrm>
          <a:prstGeom prst="rect">
            <a:avLst/>
          </a:prstGeom>
        </p:spPr>
      </p:pic>
      <p:pic>
        <p:nvPicPr>
          <p:cNvPr name="Picture 32" id="32"/>
          <p:cNvPicPr>
            <a:picLocks noChangeAspect="true"/>
          </p:cNvPicPr>
          <p:nvPr/>
        </p:nvPicPr>
        <p:blipFill>
          <a:blip r:embed="rId15"/>
          <a:stretch>
            <a:fillRect/>
          </a:stretch>
        </p:blipFill>
        <p:spPr>
          <a:xfrm>
            <a:off x="12141200" y="5384800"/>
            <a:ext cx="2387600" cy="1447800"/>
          </a:xfrm>
          <a:prstGeom prst="rect">
            <a:avLst/>
          </a:prstGeom>
        </p:spPr>
      </p:pic>
      <p:pic>
        <p:nvPicPr>
          <p:cNvPr name="Picture 33" id="33"/>
          <p:cNvPicPr>
            <a:picLocks noChangeAspect="true"/>
          </p:cNvPicPr>
          <p:nvPr/>
        </p:nvPicPr>
        <p:blipFill>
          <a:blip r:embed="rId16"/>
          <a:stretch>
            <a:fillRect/>
          </a:stretch>
        </p:blipFill>
        <p:spPr>
          <a:xfrm>
            <a:off x="12141200" y="5384800"/>
            <a:ext cx="2387600" cy="1447800"/>
          </a:xfrm>
          <a:prstGeom prst="rect">
            <a:avLst/>
          </a:prstGeom>
        </p:spPr>
      </p:pic>
      <p:pic>
        <p:nvPicPr>
          <p:cNvPr name="Picture 34" id="34"/>
          <p:cNvPicPr>
            <a:picLocks noChangeAspect="true"/>
          </p:cNvPicPr>
          <p:nvPr/>
        </p:nvPicPr>
        <p:blipFill>
          <a:blip r:embed="rId17"/>
          <a:stretch>
            <a:fillRect/>
          </a:stretch>
        </p:blipFill>
        <p:spPr>
          <a:xfrm>
            <a:off x="12141200" y="5384800"/>
            <a:ext cx="2387600" cy="1447800"/>
          </a:xfrm>
          <a:prstGeom prst="rect">
            <a:avLst/>
          </a:prstGeom>
        </p:spPr>
      </p:pic>
      <p:pic>
        <p:nvPicPr>
          <p:cNvPr name="Picture 35" id="35"/>
          <p:cNvPicPr>
            <a:picLocks noChangeAspect="true"/>
          </p:cNvPicPr>
          <p:nvPr/>
        </p:nvPicPr>
        <p:blipFill>
          <a:blip r:embed="rId18"/>
          <a:stretch>
            <a:fillRect/>
          </a:stretch>
        </p:blipFill>
        <p:spPr>
          <a:xfrm>
            <a:off x="11442700" y="6502400"/>
            <a:ext cx="2895600" cy="1447800"/>
          </a:xfrm>
          <a:prstGeom prst="rect">
            <a:avLst/>
          </a:prstGeom>
        </p:spPr>
      </p:pic>
      <p:pic>
        <p:nvPicPr>
          <p:cNvPr name="Picture 36" id="36"/>
          <p:cNvPicPr>
            <a:picLocks noChangeAspect="true"/>
          </p:cNvPicPr>
          <p:nvPr/>
        </p:nvPicPr>
        <p:blipFill>
          <a:blip r:embed="rId19"/>
          <a:stretch>
            <a:fillRect/>
          </a:stretch>
        </p:blipFill>
        <p:spPr>
          <a:xfrm>
            <a:off x="11442700" y="6502400"/>
            <a:ext cx="2895600" cy="1447800"/>
          </a:xfrm>
          <a:prstGeom prst="rect">
            <a:avLst/>
          </a:prstGeom>
        </p:spPr>
      </p:pic>
      <p:pic>
        <p:nvPicPr>
          <p:cNvPr name="Picture 37" id="37"/>
          <p:cNvPicPr>
            <a:picLocks noChangeAspect="true"/>
          </p:cNvPicPr>
          <p:nvPr/>
        </p:nvPicPr>
        <p:blipFill>
          <a:blip r:embed="rId20"/>
          <a:stretch>
            <a:fillRect/>
          </a:stretch>
        </p:blipFill>
        <p:spPr>
          <a:xfrm>
            <a:off x="11442700" y="6502400"/>
            <a:ext cx="2895600" cy="1447800"/>
          </a:xfrm>
          <a:prstGeom prst="rect">
            <a:avLst/>
          </a:prstGeom>
        </p:spPr>
      </p:pic>
      <p:pic>
        <p:nvPicPr>
          <p:cNvPr name="Picture 38" id="38"/>
          <p:cNvPicPr>
            <a:picLocks noChangeAspect="true"/>
          </p:cNvPicPr>
          <p:nvPr/>
        </p:nvPicPr>
        <p:blipFill>
          <a:blip r:embed="rId21"/>
          <a:stretch>
            <a:fillRect/>
          </a:stretch>
        </p:blipFill>
        <p:spPr>
          <a:xfrm>
            <a:off x="10756900" y="7620000"/>
            <a:ext cx="3416300" cy="1447800"/>
          </a:xfrm>
          <a:prstGeom prst="rect">
            <a:avLst/>
          </a:prstGeom>
        </p:spPr>
      </p:pic>
      <p:pic>
        <p:nvPicPr>
          <p:cNvPr name="Picture 39" id="39"/>
          <p:cNvPicPr>
            <a:picLocks noChangeAspect="true"/>
          </p:cNvPicPr>
          <p:nvPr/>
        </p:nvPicPr>
        <p:blipFill>
          <a:blip r:embed="rId22"/>
          <a:stretch>
            <a:fillRect/>
          </a:stretch>
        </p:blipFill>
        <p:spPr>
          <a:xfrm>
            <a:off x="10756900" y="7620000"/>
            <a:ext cx="3416300" cy="1447800"/>
          </a:xfrm>
          <a:prstGeom prst="rect">
            <a:avLst/>
          </a:prstGeom>
        </p:spPr>
      </p:pic>
      <p:pic>
        <p:nvPicPr>
          <p:cNvPr name="Picture 40" id="40"/>
          <p:cNvPicPr>
            <a:picLocks noChangeAspect="true"/>
          </p:cNvPicPr>
          <p:nvPr/>
        </p:nvPicPr>
        <p:blipFill>
          <a:blip r:embed="rId23"/>
          <a:stretch>
            <a:fillRect/>
          </a:stretch>
        </p:blipFill>
        <p:spPr>
          <a:xfrm>
            <a:off x="10756900" y="7620000"/>
            <a:ext cx="3416300" cy="1447800"/>
          </a:xfrm>
          <a:prstGeom prst="rect">
            <a:avLst/>
          </a:prstGeom>
        </p:spPr>
      </p:pic>
      <p:sp>
        <p:nvSpPr>
          <p:cNvPr name="TextBox 41" id="41"/>
          <p:cNvSpPr txBox="true"/>
          <p:nvPr/>
        </p:nvSpPr>
        <p:spPr>
          <a:xfrm>
            <a:off x="876300" y="406400"/>
            <a:ext cx="14490700" cy="3556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300" b="true">
                <a:solidFill>
                  <a:srgbClr val="000000"/>
                </a:solidFill>
                <a:latin typeface="Ubuntu"/>
              </a:rPr>
              <a:t>Experiment Module Algorithm Flow</a:t>
            </a:r>
            <a:endParaRPr lang="en-US" sz="1100"/>
          </a:p>
        </p:txBody>
      </p:sp>
      <p:sp>
        <p:nvSpPr>
          <p:cNvPr name="TextBox 42" id="42"/>
          <p:cNvSpPr txBox="true"/>
          <p:nvPr/>
        </p:nvSpPr>
        <p:spPr>
          <a:xfrm>
            <a:off x="15570200" y="1879600"/>
            <a:ext cx="304800" cy="2159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1400" b="true">
                <a:solidFill>
                  <a:srgbClr val="000000"/>
                </a:solidFill>
                <a:highlight>
                  <a:srgbClr val="000000">
                    <a:alpha val="0"/>
                  </a:srgbClr>
                </a:highlight>
                <a:latin typeface="Ubuntu"/>
              </a:rPr>
              <a:t>1</a:t>
            </a:r>
            <a:endParaRPr lang="en-US" sz="1100"/>
          </a:p>
        </p:txBody>
      </p:sp>
      <p:sp>
        <p:nvSpPr>
          <p:cNvPr name="TextBox 43" id="43"/>
          <p:cNvSpPr txBox="true"/>
          <p:nvPr/>
        </p:nvSpPr>
        <p:spPr>
          <a:xfrm>
            <a:off x="1130300" y="1079500"/>
            <a:ext cx="13398500" cy="266700"/>
          </a:xfrm>
          <a:prstGeom prst="rect">
            <a:avLst/>
          </a:prstGeom>
          <a:solidFill>
            <a:srgbClr val="000000">
              <a:alpha val="0"/>
            </a:srgbClr>
          </a:solidFill>
        </p:spPr>
        <p:txBody>
          <a:bodyPr anchor="ctr" rtlCol="false" rIns="0" lIns="0" tIns="0" bIns="0"/>
          <a:lstStyle/>
          <a:p>
            <a:pPr algn="r" indent="0">
              <a:lnSpc>
                <a:spcPct val="120000"/>
              </a:lnSpc>
              <a:defRPr/>
            </a:pPr>
            <a:r>
              <a:rPr lang="en-US"/>
              <a:t/>
            </a:r>
            <a:r>
              <a:rPr lang="en-US" sz="1700" b="true">
                <a:solidFill>
                  <a:srgbClr val="000000"/>
                </a:solidFill>
                <a:latin typeface="Ubuntu"/>
              </a:rPr>
              <a:t>Step 1: Generate states</a:t>
            </a:r>
            <a:endParaRPr lang="en-US" sz="1100"/>
          </a:p>
        </p:txBody>
      </p:sp>
      <p:sp>
        <p:nvSpPr>
          <p:cNvPr name="TextBox 44" id="44"/>
          <p:cNvSpPr txBox="true"/>
          <p:nvPr/>
        </p:nvSpPr>
        <p:spPr>
          <a:xfrm>
            <a:off x="14693900" y="2997200"/>
            <a:ext cx="304800" cy="2159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1400" b="true">
                <a:solidFill>
                  <a:srgbClr val="000000"/>
                </a:solidFill>
                <a:highlight>
                  <a:srgbClr val="000000">
                    <a:alpha val="0"/>
                  </a:srgbClr>
                </a:highlight>
                <a:latin typeface="Ubuntu"/>
              </a:rPr>
              <a:t>2</a:t>
            </a:r>
            <a:endParaRPr lang="en-US" sz="1100"/>
          </a:p>
        </p:txBody>
      </p:sp>
      <p:sp>
        <p:nvSpPr>
          <p:cNvPr name="TextBox 45" id="45"/>
          <p:cNvSpPr txBox="true"/>
          <p:nvPr/>
        </p:nvSpPr>
        <p:spPr>
          <a:xfrm>
            <a:off x="1130300" y="2184400"/>
            <a:ext cx="12534900" cy="266700"/>
          </a:xfrm>
          <a:prstGeom prst="rect">
            <a:avLst/>
          </a:prstGeom>
          <a:solidFill>
            <a:srgbClr val="000000">
              <a:alpha val="0"/>
            </a:srgbClr>
          </a:solidFill>
        </p:spPr>
        <p:txBody>
          <a:bodyPr anchor="ctr" rtlCol="false" rIns="0" lIns="0" tIns="0" bIns="0"/>
          <a:lstStyle/>
          <a:p>
            <a:pPr algn="r" indent="0">
              <a:lnSpc>
                <a:spcPct val="120000"/>
              </a:lnSpc>
              <a:defRPr/>
            </a:pPr>
            <a:r>
              <a:rPr lang="en-US"/>
              <a:t/>
            </a:r>
            <a:r>
              <a:rPr lang="en-US" sz="1700" b="true">
                <a:solidFill>
                  <a:srgbClr val="000000"/>
                </a:solidFill>
                <a:latin typeface="Ubuntu"/>
              </a:rPr>
              <a:t>Step 2: Extract features</a:t>
            </a:r>
            <a:endParaRPr lang="en-US" sz="1100"/>
          </a:p>
        </p:txBody>
      </p:sp>
      <p:sp>
        <p:nvSpPr>
          <p:cNvPr name="TextBox 46" id="46"/>
          <p:cNvSpPr txBox="true"/>
          <p:nvPr/>
        </p:nvSpPr>
        <p:spPr>
          <a:xfrm>
            <a:off x="13830300" y="4114800"/>
            <a:ext cx="304800" cy="2159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1400" b="true">
                <a:solidFill>
                  <a:srgbClr val="000000"/>
                </a:solidFill>
                <a:highlight>
                  <a:srgbClr val="000000">
                    <a:alpha val="0"/>
                  </a:srgbClr>
                </a:highlight>
                <a:latin typeface="Ubuntu"/>
              </a:rPr>
              <a:t>3</a:t>
            </a:r>
            <a:endParaRPr lang="en-US" sz="1100"/>
          </a:p>
        </p:txBody>
      </p:sp>
      <p:sp>
        <p:nvSpPr>
          <p:cNvPr name="TextBox 47" id="47"/>
          <p:cNvSpPr txBox="true"/>
          <p:nvPr/>
        </p:nvSpPr>
        <p:spPr>
          <a:xfrm>
            <a:off x="1130300" y="3302000"/>
            <a:ext cx="11658600" cy="266700"/>
          </a:xfrm>
          <a:prstGeom prst="rect">
            <a:avLst/>
          </a:prstGeom>
          <a:solidFill>
            <a:srgbClr val="000000">
              <a:alpha val="0"/>
            </a:srgbClr>
          </a:solidFill>
        </p:spPr>
        <p:txBody>
          <a:bodyPr anchor="ctr" rtlCol="false" rIns="0" lIns="0" tIns="0" bIns="0"/>
          <a:lstStyle/>
          <a:p>
            <a:pPr algn="r" indent="0">
              <a:lnSpc>
                <a:spcPct val="120000"/>
              </a:lnSpc>
              <a:defRPr/>
            </a:pPr>
            <a:r>
              <a:rPr lang="en-US"/>
              <a:t/>
            </a:r>
            <a:r>
              <a:rPr lang="en-US" sz="1700" b="true">
                <a:solidFill>
                  <a:srgbClr val="000000"/>
                </a:solidFill>
                <a:latin typeface="Ubuntu"/>
              </a:rPr>
              <a:t>Step 3: Map to baselines</a:t>
            </a:r>
            <a:endParaRPr lang="en-US" sz="1100"/>
          </a:p>
        </p:txBody>
      </p:sp>
      <p:sp>
        <p:nvSpPr>
          <p:cNvPr name="TextBox 48" id="48"/>
          <p:cNvSpPr txBox="true"/>
          <p:nvPr/>
        </p:nvSpPr>
        <p:spPr>
          <a:xfrm>
            <a:off x="12954000" y="5232400"/>
            <a:ext cx="304800" cy="2159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1400" b="true">
                <a:solidFill>
                  <a:srgbClr val="000000"/>
                </a:solidFill>
                <a:highlight>
                  <a:srgbClr val="000000">
                    <a:alpha val="0"/>
                  </a:srgbClr>
                </a:highlight>
                <a:latin typeface="Ubuntu"/>
              </a:rPr>
              <a:t>4</a:t>
            </a:r>
            <a:endParaRPr lang="en-US" sz="1100"/>
          </a:p>
        </p:txBody>
      </p:sp>
      <p:sp>
        <p:nvSpPr>
          <p:cNvPr name="TextBox 49" id="49"/>
          <p:cNvSpPr txBox="true"/>
          <p:nvPr/>
        </p:nvSpPr>
        <p:spPr>
          <a:xfrm>
            <a:off x="1130300" y="4419600"/>
            <a:ext cx="10795000" cy="266700"/>
          </a:xfrm>
          <a:prstGeom prst="rect">
            <a:avLst/>
          </a:prstGeom>
          <a:solidFill>
            <a:srgbClr val="000000">
              <a:alpha val="0"/>
            </a:srgbClr>
          </a:solidFill>
        </p:spPr>
        <p:txBody>
          <a:bodyPr anchor="ctr" rtlCol="false" rIns="0" lIns="0" tIns="0" bIns="0"/>
          <a:lstStyle/>
          <a:p>
            <a:pPr algn="r" indent="0">
              <a:lnSpc>
                <a:spcPct val="120000"/>
              </a:lnSpc>
              <a:defRPr/>
            </a:pPr>
            <a:r>
              <a:rPr lang="en-US"/>
              <a:t/>
            </a:r>
            <a:r>
              <a:rPr lang="en-US" sz="1700" b="true">
                <a:solidFill>
                  <a:srgbClr val="000000"/>
                </a:solidFill>
                <a:latin typeface="Ubuntu"/>
              </a:rPr>
              <a:t>Step 4: Calculate risk scores</a:t>
            </a:r>
            <a:endParaRPr lang="en-US" sz="1100"/>
          </a:p>
        </p:txBody>
      </p:sp>
      <p:sp>
        <p:nvSpPr>
          <p:cNvPr name="TextBox 50" id="50"/>
          <p:cNvSpPr txBox="true"/>
          <p:nvPr/>
        </p:nvSpPr>
        <p:spPr>
          <a:xfrm>
            <a:off x="12090400" y="6337300"/>
            <a:ext cx="304800" cy="2159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1400" b="true">
                <a:solidFill>
                  <a:srgbClr val="000000"/>
                </a:solidFill>
                <a:highlight>
                  <a:srgbClr val="000000">
                    <a:alpha val="0"/>
                  </a:srgbClr>
                </a:highlight>
                <a:latin typeface="Ubuntu"/>
              </a:rPr>
              <a:t>5</a:t>
            </a:r>
            <a:endParaRPr lang="en-US" sz="1100"/>
          </a:p>
        </p:txBody>
      </p:sp>
      <p:sp>
        <p:nvSpPr>
          <p:cNvPr name="TextBox 51" id="51"/>
          <p:cNvSpPr txBox="true"/>
          <p:nvPr/>
        </p:nvSpPr>
        <p:spPr>
          <a:xfrm>
            <a:off x="1130300" y="5537200"/>
            <a:ext cx="9918700" cy="266700"/>
          </a:xfrm>
          <a:prstGeom prst="rect">
            <a:avLst/>
          </a:prstGeom>
          <a:solidFill>
            <a:srgbClr val="000000">
              <a:alpha val="0"/>
            </a:srgbClr>
          </a:solidFill>
        </p:spPr>
        <p:txBody>
          <a:bodyPr anchor="ctr" rtlCol="false" rIns="0" lIns="0" tIns="0" bIns="0"/>
          <a:lstStyle/>
          <a:p>
            <a:pPr algn="r" indent="0">
              <a:lnSpc>
                <a:spcPct val="120000"/>
              </a:lnSpc>
              <a:defRPr/>
            </a:pPr>
            <a:r>
              <a:rPr lang="en-US"/>
              <a:t/>
            </a:r>
            <a:r>
              <a:rPr lang="en-US" sz="1700" b="true">
                <a:solidFill>
                  <a:srgbClr val="000000"/>
                </a:solidFill>
                <a:latin typeface="Ubuntu"/>
              </a:rPr>
              <a:t>Step 5: Evaluate allocation logic</a:t>
            </a:r>
            <a:endParaRPr lang="en-US" sz="1100"/>
          </a:p>
        </p:txBody>
      </p:sp>
      <p:sp>
        <p:nvSpPr>
          <p:cNvPr name="TextBox 52" id="52"/>
          <p:cNvSpPr txBox="true"/>
          <p:nvPr/>
        </p:nvSpPr>
        <p:spPr>
          <a:xfrm>
            <a:off x="11226800" y="7454900"/>
            <a:ext cx="304800" cy="2159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1400" b="true">
                <a:solidFill>
                  <a:srgbClr val="000000"/>
                </a:solidFill>
                <a:highlight>
                  <a:srgbClr val="000000">
                    <a:alpha val="0"/>
                  </a:srgbClr>
                </a:highlight>
                <a:latin typeface="Ubuntu"/>
              </a:rPr>
              <a:t>6</a:t>
            </a:r>
            <a:endParaRPr lang="en-US" sz="1100"/>
          </a:p>
        </p:txBody>
      </p:sp>
      <p:sp>
        <p:nvSpPr>
          <p:cNvPr name="TextBox 53" id="53"/>
          <p:cNvSpPr txBox="true"/>
          <p:nvPr/>
        </p:nvSpPr>
        <p:spPr>
          <a:xfrm>
            <a:off x="1130300" y="6642100"/>
            <a:ext cx="9055100" cy="266700"/>
          </a:xfrm>
          <a:prstGeom prst="rect">
            <a:avLst/>
          </a:prstGeom>
          <a:solidFill>
            <a:srgbClr val="000000">
              <a:alpha val="0"/>
            </a:srgbClr>
          </a:solidFill>
        </p:spPr>
        <p:txBody>
          <a:bodyPr anchor="ctr" rtlCol="false" rIns="0" lIns="0" tIns="0" bIns="0"/>
          <a:lstStyle/>
          <a:p>
            <a:pPr algn="r" indent="0">
              <a:lnSpc>
                <a:spcPct val="120000"/>
              </a:lnSpc>
              <a:defRPr/>
            </a:pPr>
            <a:r>
              <a:rPr lang="en-US"/>
              <a:t/>
            </a:r>
            <a:r>
              <a:rPr lang="en-US" sz="1700" b="true">
                <a:solidFill>
                  <a:srgbClr val="000000"/>
                </a:solidFill>
                <a:latin typeface="Ubuntu"/>
              </a:rPr>
              <a:t>Step 6: Collect metrics</a:t>
            </a:r>
            <a:endParaRPr lang="en-US" sz="1100"/>
          </a:p>
        </p:txBody>
      </p:sp>
      <p:sp>
        <p:nvSpPr>
          <p:cNvPr name="TextBox 54" id="54"/>
          <p:cNvSpPr txBox="true"/>
          <p:nvPr/>
        </p:nvSpPr>
        <p:spPr>
          <a:xfrm>
            <a:off x="10350500" y="8572500"/>
            <a:ext cx="304800" cy="2159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1400" b="true">
                <a:solidFill>
                  <a:srgbClr val="000000"/>
                </a:solidFill>
                <a:highlight>
                  <a:srgbClr val="000000">
                    <a:alpha val="0"/>
                  </a:srgbClr>
                </a:highlight>
                <a:latin typeface="Ubuntu"/>
              </a:rPr>
              <a:t>7</a:t>
            </a:r>
            <a:endParaRPr lang="en-US" sz="1100"/>
          </a:p>
        </p:txBody>
      </p:sp>
      <p:sp>
        <p:nvSpPr>
          <p:cNvPr name="TextBox 55" id="55"/>
          <p:cNvSpPr txBox="true"/>
          <p:nvPr/>
        </p:nvSpPr>
        <p:spPr>
          <a:xfrm>
            <a:off x="1130300" y="7759700"/>
            <a:ext cx="8178800" cy="266700"/>
          </a:xfrm>
          <a:prstGeom prst="rect">
            <a:avLst/>
          </a:prstGeom>
          <a:solidFill>
            <a:srgbClr val="000000">
              <a:alpha val="0"/>
            </a:srgbClr>
          </a:solidFill>
        </p:spPr>
        <p:txBody>
          <a:bodyPr anchor="ctr" rtlCol="false" rIns="0" lIns="0" tIns="0" bIns="0"/>
          <a:lstStyle/>
          <a:p>
            <a:pPr algn="r" indent="0">
              <a:lnSpc>
                <a:spcPct val="120000"/>
              </a:lnSpc>
              <a:defRPr/>
            </a:pPr>
            <a:r>
              <a:rPr lang="en-US"/>
              <a:t/>
            </a:r>
            <a:r>
              <a:rPr lang="en-US" sz="1700" b="true">
                <a:solidFill>
                  <a:srgbClr val="000000"/>
                </a:solidFill>
                <a:latin typeface="Ubuntu"/>
              </a:rPr>
              <a:t>Step 7: Output results</a:t>
            </a:r>
            <a:endParaRPr lang="en-US" sz="1100"/>
          </a:p>
        </p:txBody>
      </p:sp>
      <p:sp>
        <p:nvSpPr>
          <p:cNvPr name="TextBox 56" id="56"/>
          <p:cNvSpPr txBox="true"/>
          <p:nvPr/>
        </p:nvSpPr>
        <p:spPr>
          <a:xfrm>
            <a:off x="1130300" y="1447800"/>
            <a:ext cx="13398500" cy="444500"/>
          </a:xfrm>
          <a:prstGeom prst="rect">
            <a:avLst/>
          </a:prstGeom>
          <a:solidFill>
            <a:srgbClr val="000000">
              <a:alpha val="0"/>
            </a:srgbClr>
          </a:solidFill>
        </p:spPr>
        <p:txBody>
          <a:bodyPr anchor="ctr" rtlCol="false" rIns="0" lIns="0" tIns="0" bIns="0"/>
          <a:lstStyle/>
          <a:p>
            <a:pPr algn="r" indent="0">
              <a:lnSpc>
                <a:spcPct val="150000"/>
              </a:lnSpc>
              <a:defRPr/>
            </a:pPr>
            <a:r>
              <a:rPr lang="en-US"/>
              <a:t/>
            </a:r>
            <a:r>
              <a:rPr lang="en-US" sz="1100" b="true">
                <a:solidFill>
                  <a:srgbClr val="000000"/>
                </a:solidFill>
                <a:latin typeface="Poppins"/>
              </a:rPr>
              <a:t>Generate simulation states for benchmarking using defined scenarios and initial conditions to create representative trajectories.</a:t>
            </a:r>
            <a:endParaRPr lang="en-US" sz="1100"/>
          </a:p>
        </p:txBody>
      </p:sp>
      <p:sp>
        <p:nvSpPr>
          <p:cNvPr name="TextBox 57" id="57"/>
          <p:cNvSpPr txBox="true"/>
          <p:nvPr/>
        </p:nvSpPr>
        <p:spPr>
          <a:xfrm>
            <a:off x="1130300" y="2565400"/>
            <a:ext cx="12534900" cy="444500"/>
          </a:xfrm>
          <a:prstGeom prst="rect">
            <a:avLst/>
          </a:prstGeom>
          <a:solidFill>
            <a:srgbClr val="000000">
              <a:alpha val="0"/>
            </a:srgbClr>
          </a:solidFill>
        </p:spPr>
        <p:txBody>
          <a:bodyPr anchor="ctr" rtlCol="false" rIns="0" lIns="0" tIns="0" bIns="0"/>
          <a:lstStyle/>
          <a:p>
            <a:pPr algn="r" indent="0">
              <a:lnSpc>
                <a:spcPct val="150000"/>
              </a:lnSpc>
              <a:defRPr/>
            </a:pPr>
            <a:r>
              <a:rPr lang="en-US"/>
              <a:t/>
            </a:r>
            <a:r>
              <a:rPr lang="en-US" sz="1100" b="true">
                <a:solidFill>
                  <a:srgbClr val="000000"/>
                </a:solidFill>
                <a:latin typeface="Poppins"/>
              </a:rPr>
              <a:t>Extract cyber-physical features for each agent, including sensor readings, control inputs, and derived temporal metrics.</a:t>
            </a:r>
            <a:endParaRPr lang="en-US" sz="1100"/>
          </a:p>
        </p:txBody>
      </p:sp>
      <p:sp>
        <p:nvSpPr>
          <p:cNvPr name="TextBox 58" id="58"/>
          <p:cNvSpPr txBox="true"/>
          <p:nvPr/>
        </p:nvSpPr>
        <p:spPr>
          <a:xfrm>
            <a:off x="1130300" y="3670300"/>
            <a:ext cx="11658600" cy="444500"/>
          </a:xfrm>
          <a:prstGeom prst="rect">
            <a:avLst/>
          </a:prstGeom>
          <a:solidFill>
            <a:srgbClr val="000000">
              <a:alpha val="0"/>
            </a:srgbClr>
          </a:solidFill>
        </p:spPr>
        <p:txBody>
          <a:bodyPr anchor="ctr" rtlCol="false" rIns="0" lIns="0" tIns="0" bIns="0"/>
          <a:lstStyle/>
          <a:p>
            <a:pPr algn="r" indent="0">
              <a:lnSpc>
                <a:spcPct val="150000"/>
              </a:lnSpc>
              <a:defRPr/>
            </a:pPr>
            <a:r>
              <a:rPr lang="en-US"/>
              <a:t/>
            </a:r>
            <a:r>
              <a:rPr lang="en-US" sz="1100" b="true">
                <a:solidFill>
                  <a:srgbClr val="000000"/>
                </a:solidFill>
                <a:latin typeface="Poppins"/>
              </a:rPr>
              <a:t>Map observed features to baseline profiles and compute normalized deviations against expected behavior patterns.</a:t>
            </a:r>
            <a:endParaRPr lang="en-US" sz="1100"/>
          </a:p>
        </p:txBody>
      </p:sp>
      <p:sp>
        <p:nvSpPr>
          <p:cNvPr name="TextBox 59" id="59"/>
          <p:cNvSpPr txBox="true"/>
          <p:nvPr/>
        </p:nvSpPr>
        <p:spPr>
          <a:xfrm>
            <a:off x="1130300" y="4787900"/>
            <a:ext cx="10795000" cy="444500"/>
          </a:xfrm>
          <a:prstGeom prst="rect">
            <a:avLst/>
          </a:prstGeom>
          <a:solidFill>
            <a:srgbClr val="000000">
              <a:alpha val="0"/>
            </a:srgbClr>
          </a:solidFill>
        </p:spPr>
        <p:txBody>
          <a:bodyPr anchor="ctr" rtlCol="false" rIns="0" lIns="0" tIns="0" bIns="0"/>
          <a:lstStyle/>
          <a:p>
            <a:pPr algn="r" indent="0">
              <a:lnSpc>
                <a:spcPct val="150000"/>
              </a:lnSpc>
              <a:defRPr/>
            </a:pPr>
            <a:r>
              <a:rPr lang="en-US"/>
              <a:t/>
            </a:r>
            <a:r>
              <a:rPr lang="en-US" sz="1100" b="true">
                <a:solidFill>
                  <a:srgbClr val="000000"/>
                </a:solidFill>
                <a:latin typeface="Poppins"/>
              </a:rPr>
              <a:t>Calculate risk scores using a deviation-based model that weights anomalies and aggregates per-agent risk estimates.</a:t>
            </a:r>
            <a:endParaRPr lang="en-US" sz="1100"/>
          </a:p>
        </p:txBody>
      </p:sp>
      <p:sp>
        <p:nvSpPr>
          <p:cNvPr name="TextBox 60" id="60"/>
          <p:cNvSpPr txBox="true"/>
          <p:nvPr/>
        </p:nvSpPr>
        <p:spPr>
          <a:xfrm>
            <a:off x="1130300" y="5905500"/>
            <a:ext cx="9918700" cy="444500"/>
          </a:xfrm>
          <a:prstGeom prst="rect">
            <a:avLst/>
          </a:prstGeom>
          <a:solidFill>
            <a:srgbClr val="000000">
              <a:alpha val="0"/>
            </a:srgbClr>
          </a:solidFill>
        </p:spPr>
        <p:txBody>
          <a:bodyPr anchor="ctr" rtlCol="false" rIns="0" lIns="0" tIns="0" bIns="0"/>
          <a:lstStyle/>
          <a:p>
            <a:pPr algn="r" indent="0">
              <a:lnSpc>
                <a:spcPct val="150000"/>
              </a:lnSpc>
              <a:defRPr/>
            </a:pPr>
            <a:r>
              <a:rPr lang="en-US"/>
              <a:t/>
            </a:r>
            <a:r>
              <a:rPr lang="en-US" sz="1100" b="true">
                <a:solidFill>
                  <a:srgbClr val="000000"/>
                </a:solidFill>
                <a:latin typeface="Poppins"/>
              </a:rPr>
              <a:t>Evaluate threshold-based audit allocation logic to determine which agents trigger further inspection or intervention.</a:t>
            </a:r>
            <a:endParaRPr lang="en-US" sz="1100"/>
          </a:p>
        </p:txBody>
      </p:sp>
      <p:sp>
        <p:nvSpPr>
          <p:cNvPr name="TextBox 61" id="61"/>
          <p:cNvSpPr txBox="true"/>
          <p:nvPr/>
        </p:nvSpPr>
        <p:spPr>
          <a:xfrm>
            <a:off x="1130300" y="7023100"/>
            <a:ext cx="9055100" cy="444500"/>
          </a:xfrm>
          <a:prstGeom prst="rect">
            <a:avLst/>
          </a:prstGeom>
          <a:solidFill>
            <a:srgbClr val="000000">
              <a:alpha val="0"/>
            </a:srgbClr>
          </a:solidFill>
        </p:spPr>
        <p:txBody>
          <a:bodyPr anchor="ctr" rtlCol="false" rIns="0" lIns="0" tIns="0" bIns="0"/>
          <a:lstStyle/>
          <a:p>
            <a:pPr algn="r" indent="0">
              <a:lnSpc>
                <a:spcPct val="150000"/>
              </a:lnSpc>
              <a:defRPr/>
            </a:pPr>
            <a:r>
              <a:rPr lang="en-US"/>
              <a:t/>
            </a:r>
            <a:r>
              <a:rPr lang="en-US" sz="1100" b="true">
                <a:solidFill>
                  <a:srgbClr val="000000"/>
                </a:solidFill>
                <a:latin typeface="Poppins"/>
              </a:rPr>
              <a:t>Collect performance and robustness metrics across multiple runs, capturing variance, false positives, and detection rates.</a:t>
            </a:r>
            <a:endParaRPr lang="en-US" sz="1100"/>
          </a:p>
        </p:txBody>
      </p:sp>
      <p:sp>
        <p:nvSpPr>
          <p:cNvPr name="TextBox 62" id="62"/>
          <p:cNvSpPr txBox="true"/>
          <p:nvPr/>
        </p:nvSpPr>
        <p:spPr>
          <a:xfrm>
            <a:off x="1130300" y="8140700"/>
            <a:ext cx="8178800" cy="444500"/>
          </a:xfrm>
          <a:prstGeom prst="rect">
            <a:avLst/>
          </a:prstGeom>
          <a:solidFill>
            <a:srgbClr val="000000">
              <a:alpha val="0"/>
            </a:srgbClr>
          </a:solidFill>
        </p:spPr>
        <p:txBody>
          <a:bodyPr anchor="ctr" rtlCol="false" rIns="0" lIns="0" tIns="0" bIns="0"/>
          <a:lstStyle/>
          <a:p>
            <a:pPr algn="r" indent="0">
              <a:lnSpc>
                <a:spcPct val="150000"/>
              </a:lnSpc>
              <a:defRPr/>
            </a:pPr>
            <a:r>
              <a:rPr lang="en-US"/>
              <a:t/>
            </a:r>
            <a:r>
              <a:rPr lang="en-US" sz="1100" b="true">
                <a:solidFill>
                  <a:srgbClr val="000000"/>
                </a:solidFill>
                <a:latin typeface="Poppins"/>
              </a:rPr>
              <a:t>Output results and robustness statistics, producing summaries, logs, and exportable reports for downstream analysis.</a:t>
            </a:r>
            <a:endParaRPr lang="en-US" sz="1100"/>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0" y="0"/>
            <a:ext cx="16256000" cy="9144000"/>
          </a:xfrm>
          <a:prstGeom prst="rect">
            <a:avLst/>
          </a:prstGeom>
          <a:solidFill>
            <a:srgbClr val="0D0A2C">
              <a:alpha val="74902"/>
            </a:srgbClr>
          </a:solidFill>
        </p:spPr>
      </p:sp>
      <p:pic>
        <p:nvPicPr>
          <p:cNvPr name="Picture 3" id="3"/>
          <p:cNvPicPr>
            <a:picLocks noChangeAspect="true"/>
          </p:cNvPicPr>
          <p:nvPr/>
        </p:nvPicPr>
        <p:blipFill>
          <a:blip r:embed="rId2"/>
          <a:srcRect t="56" b="56"/>
          <a:stretch>
            <a:fillRect/>
          </a:stretch>
        </p:blipFill>
        <p:spPr>
          <a:xfrm>
            <a:off x="0" y="0"/>
            <a:ext cx="16256000" cy="9144000"/>
          </a:xfrm>
          <a:prstGeom prst="rect">
            <a:avLst/>
          </a:prstGeom>
        </p:spPr>
      </p:pic>
      <p:sp>
        <p:nvSpPr>
          <p:cNvPr name="AutoShape 4" id="4"/>
          <p:cNvSpPr/>
          <p:nvPr/>
        </p:nvSpPr>
        <p:spPr>
          <a:xfrm>
            <a:off x="876300" y="1409700"/>
            <a:ext cx="14490700" cy="4673600"/>
          </a:xfrm>
          <a:prstGeom prst="rect">
            <a:avLst/>
          </a:prstGeom>
          <a:solidFill>
            <a:srgbClr val="000000">
              <a:alpha val="0"/>
            </a:srgbClr>
          </a:solidFill>
        </p:spPr>
      </p:sp>
      <p:sp>
        <p:nvSpPr>
          <p:cNvPr name="AutoShape 5" id="5"/>
          <p:cNvSpPr/>
          <p:nvPr/>
        </p:nvSpPr>
        <p:spPr>
          <a:xfrm>
            <a:off x="876300" y="1409700"/>
            <a:ext cx="4660900" cy="4673600"/>
          </a:xfrm>
          <a:prstGeom prst="roundRect">
            <a:avLst>
              <a:gd name="adj" fmla="val 1634"/>
            </a:avLst>
          </a:prstGeom>
          <a:solidFill>
            <a:srgbClr val="D1D1D1">
              <a:alpha val="71765"/>
            </a:srgbClr>
          </a:solidFill>
        </p:spPr>
      </p:sp>
      <p:sp>
        <p:nvSpPr>
          <p:cNvPr name="AutoShape 6" id="6"/>
          <p:cNvSpPr/>
          <p:nvPr/>
        </p:nvSpPr>
        <p:spPr>
          <a:xfrm>
            <a:off x="1168400" y="1638300"/>
            <a:ext cx="673100" cy="673100"/>
          </a:xfrm>
          <a:prstGeom prst="roundRect">
            <a:avLst>
              <a:gd name="adj" fmla="val 49056"/>
            </a:avLst>
          </a:prstGeom>
          <a:solidFill>
            <a:srgbClr val="000000"/>
          </a:solidFill>
        </p:spPr>
      </p:sp>
      <p:sp>
        <p:nvSpPr>
          <p:cNvPr name="AutoShape 7" id="7"/>
          <p:cNvSpPr/>
          <p:nvPr/>
        </p:nvSpPr>
        <p:spPr>
          <a:xfrm>
            <a:off x="5791200" y="1409700"/>
            <a:ext cx="4660900" cy="4673600"/>
          </a:xfrm>
          <a:prstGeom prst="roundRect">
            <a:avLst>
              <a:gd name="adj" fmla="val 1634"/>
            </a:avLst>
          </a:prstGeom>
          <a:solidFill>
            <a:srgbClr val="D1D1D1">
              <a:alpha val="71765"/>
            </a:srgbClr>
          </a:solidFill>
        </p:spPr>
      </p:sp>
      <p:sp>
        <p:nvSpPr>
          <p:cNvPr name="AutoShape 8" id="8"/>
          <p:cNvSpPr/>
          <p:nvPr/>
        </p:nvSpPr>
        <p:spPr>
          <a:xfrm>
            <a:off x="6083300" y="1638300"/>
            <a:ext cx="673100" cy="673100"/>
          </a:xfrm>
          <a:prstGeom prst="roundRect">
            <a:avLst>
              <a:gd name="adj" fmla="val 49056"/>
            </a:avLst>
          </a:prstGeom>
          <a:solidFill>
            <a:srgbClr val="000000"/>
          </a:solidFill>
        </p:spPr>
      </p:sp>
      <p:sp>
        <p:nvSpPr>
          <p:cNvPr name="AutoShape 9" id="9"/>
          <p:cNvSpPr/>
          <p:nvPr/>
        </p:nvSpPr>
        <p:spPr>
          <a:xfrm>
            <a:off x="10706100" y="1409700"/>
            <a:ext cx="4660900" cy="4673600"/>
          </a:xfrm>
          <a:prstGeom prst="roundRect">
            <a:avLst>
              <a:gd name="adj" fmla="val 1634"/>
            </a:avLst>
          </a:prstGeom>
          <a:solidFill>
            <a:srgbClr val="D1D1D1">
              <a:alpha val="71765"/>
            </a:srgbClr>
          </a:solidFill>
        </p:spPr>
      </p:sp>
      <p:sp>
        <p:nvSpPr>
          <p:cNvPr name="AutoShape 10" id="10"/>
          <p:cNvSpPr/>
          <p:nvPr/>
        </p:nvSpPr>
        <p:spPr>
          <a:xfrm>
            <a:off x="10998200" y="1638300"/>
            <a:ext cx="673100" cy="673100"/>
          </a:xfrm>
          <a:prstGeom prst="roundRect">
            <a:avLst>
              <a:gd name="adj" fmla="val 49056"/>
            </a:avLst>
          </a:prstGeom>
          <a:solidFill>
            <a:srgbClr val="000000"/>
          </a:solidFill>
        </p:spPr>
      </p:sp>
      <p:sp>
        <p:nvSpPr>
          <p:cNvPr name="AutoShape 11" id="11"/>
          <p:cNvSpPr/>
          <p:nvPr/>
        </p:nvSpPr>
        <p:spPr>
          <a:xfrm>
            <a:off x="8432800" y="6616700"/>
            <a:ext cx="6921500" cy="1358900"/>
          </a:xfrm>
          <a:prstGeom prst="rect">
            <a:avLst/>
          </a:prstGeom>
          <a:solidFill>
            <a:srgbClr val="000000">
              <a:alpha val="0"/>
            </a:srgbClr>
          </a:solidFill>
          <a:ln w="12700">
            <a:solidFill>
              <a:srgbClr val="A1A1A1"/>
            </a:solidFill>
          </a:ln>
        </p:spPr>
      </p:sp>
      <p:sp>
        <p:nvSpPr>
          <p:cNvPr name="AutoShape 12" id="12"/>
          <p:cNvSpPr/>
          <p:nvPr/>
        </p:nvSpPr>
        <p:spPr>
          <a:xfrm>
            <a:off x="8445500" y="6629400"/>
            <a:ext cx="2082800" cy="495300"/>
          </a:xfrm>
          <a:prstGeom prst="rect">
            <a:avLst/>
          </a:prstGeom>
          <a:solidFill>
            <a:srgbClr val="D1D1D1">
              <a:alpha val="71765"/>
            </a:srgbClr>
          </a:solidFill>
          <a:ln w="12700">
            <a:solidFill>
              <a:srgbClr val="A1A1A1"/>
            </a:solidFill>
          </a:ln>
        </p:spPr>
      </p:sp>
      <p:sp>
        <p:nvSpPr>
          <p:cNvPr name="AutoShape 13" id="13"/>
          <p:cNvSpPr/>
          <p:nvPr/>
        </p:nvSpPr>
        <p:spPr>
          <a:xfrm>
            <a:off x="10528300" y="6629400"/>
            <a:ext cx="4813300" cy="495300"/>
          </a:xfrm>
          <a:prstGeom prst="rect">
            <a:avLst/>
          </a:prstGeom>
          <a:solidFill>
            <a:srgbClr val="D1D1D1">
              <a:alpha val="71765"/>
            </a:srgbClr>
          </a:solidFill>
          <a:ln w="12700">
            <a:solidFill>
              <a:srgbClr val="A1A1A1"/>
            </a:solidFill>
          </a:ln>
        </p:spPr>
      </p:sp>
      <p:sp>
        <p:nvSpPr>
          <p:cNvPr name="AutoShape 14" id="14"/>
          <p:cNvSpPr/>
          <p:nvPr/>
        </p:nvSpPr>
        <p:spPr>
          <a:xfrm>
            <a:off x="8445500" y="7137400"/>
            <a:ext cx="2082800" cy="838200"/>
          </a:xfrm>
          <a:prstGeom prst="rect">
            <a:avLst/>
          </a:prstGeom>
          <a:solidFill>
            <a:srgbClr val="000000">
              <a:alpha val="0"/>
            </a:srgbClr>
          </a:solidFill>
          <a:ln w="12700">
            <a:solidFill>
              <a:srgbClr val="A1A1A1"/>
            </a:solidFill>
          </a:ln>
        </p:spPr>
      </p:sp>
      <p:sp>
        <p:nvSpPr>
          <p:cNvPr name="AutoShape 15" id="15"/>
          <p:cNvSpPr/>
          <p:nvPr/>
        </p:nvSpPr>
        <p:spPr>
          <a:xfrm>
            <a:off x="10528300" y="7137400"/>
            <a:ext cx="4813300" cy="838200"/>
          </a:xfrm>
          <a:prstGeom prst="rect">
            <a:avLst/>
          </a:prstGeom>
          <a:solidFill>
            <a:srgbClr val="000000">
              <a:alpha val="0"/>
            </a:srgbClr>
          </a:solidFill>
          <a:ln w="12700">
            <a:solidFill>
              <a:srgbClr val="A1A1A1"/>
            </a:solidFill>
          </a:ln>
        </p:spPr>
      </p:sp>
      <p:sp>
        <p:nvSpPr>
          <p:cNvPr name="TextBox 16" id="16"/>
          <p:cNvSpPr txBox="true"/>
          <p:nvPr/>
        </p:nvSpPr>
        <p:spPr>
          <a:xfrm>
            <a:off x="876300" y="622300"/>
            <a:ext cx="14490700" cy="5334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3500" b="true">
                <a:solidFill>
                  <a:srgbClr val="000000"/>
                </a:solidFill>
                <a:latin typeface="Ubuntu"/>
              </a:rPr>
              <a:t>Feature Categories and Baseline Mapping</a:t>
            </a:r>
            <a:endParaRPr lang="en-US" sz="1100"/>
          </a:p>
        </p:txBody>
      </p:sp>
      <p:sp>
        <p:nvSpPr>
          <p:cNvPr name="TextBox 17" id="17"/>
          <p:cNvSpPr txBox="true"/>
          <p:nvPr/>
        </p:nvSpPr>
        <p:spPr>
          <a:xfrm>
            <a:off x="1130300" y="2552700"/>
            <a:ext cx="4152900" cy="4064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600" b="true">
                <a:solidFill>
                  <a:srgbClr val="000000"/>
                </a:solidFill>
                <a:latin typeface="Ubuntu"/>
              </a:rPr>
              <a:t>Physical Features</a:t>
            </a:r>
            <a:endParaRPr lang="en-US" sz="1100"/>
          </a:p>
        </p:txBody>
      </p:sp>
      <p:sp>
        <p:nvSpPr>
          <p:cNvPr name="TextBox 18" id="18"/>
          <p:cNvSpPr txBox="true"/>
          <p:nvPr/>
        </p:nvSpPr>
        <p:spPr>
          <a:xfrm>
            <a:off x="6045200" y="2552700"/>
            <a:ext cx="4152900" cy="4064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600" b="true">
                <a:solidFill>
                  <a:srgbClr val="000000"/>
                </a:solidFill>
                <a:latin typeface="Ubuntu"/>
              </a:rPr>
              <a:t>Cyber Features</a:t>
            </a:r>
            <a:endParaRPr lang="en-US" sz="1100"/>
          </a:p>
        </p:txBody>
      </p:sp>
      <p:sp>
        <p:nvSpPr>
          <p:cNvPr name="TextBox 19" id="19"/>
          <p:cNvSpPr txBox="true"/>
          <p:nvPr/>
        </p:nvSpPr>
        <p:spPr>
          <a:xfrm>
            <a:off x="10960100" y="2552700"/>
            <a:ext cx="4152900" cy="4064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600" b="true">
                <a:solidFill>
                  <a:srgbClr val="000000"/>
                </a:solidFill>
                <a:latin typeface="Ubuntu"/>
              </a:rPr>
              <a:t>Baselines</a:t>
            </a:r>
            <a:endParaRPr lang="en-US" sz="1100"/>
          </a:p>
        </p:txBody>
      </p:sp>
      <p:sp>
        <p:nvSpPr>
          <p:cNvPr name="TextBox 20" id="20"/>
          <p:cNvSpPr txBox="true"/>
          <p:nvPr/>
        </p:nvSpPr>
        <p:spPr>
          <a:xfrm>
            <a:off x="876300" y="6616700"/>
            <a:ext cx="6921500" cy="4064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600" b="true">
                <a:solidFill>
                  <a:srgbClr val="000000"/>
                </a:solidFill>
                <a:latin typeface="Ubuntu"/>
              </a:rPr>
              <a:t>Feature Mapping Table (Reserved)</a:t>
            </a:r>
            <a:endParaRPr lang="en-US" sz="1100"/>
          </a:p>
        </p:txBody>
      </p:sp>
      <p:sp>
        <p:nvSpPr>
          <p:cNvPr name="TextBox 21" id="21"/>
          <p:cNvSpPr txBox="true"/>
          <p:nvPr/>
        </p:nvSpPr>
        <p:spPr>
          <a:xfrm>
            <a:off x="1384300" y="3124200"/>
            <a:ext cx="3898900" cy="10160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700" b="true">
                <a:solidFill>
                  <a:srgbClr val="000000"/>
                </a:solidFill>
                <a:latin typeface="Poppins"/>
              </a:rPr>
              <a:t>Voltage, current, frequency measurements collected from sensors</a:t>
            </a:r>
            <a:endParaRPr lang="en-US" sz="1100"/>
          </a:p>
        </p:txBody>
      </p:sp>
      <p:sp>
        <p:nvSpPr>
          <p:cNvPr name="TextBox 22" id="22"/>
          <p:cNvSpPr txBox="true"/>
          <p:nvPr/>
        </p:nvSpPr>
        <p:spPr>
          <a:xfrm>
            <a:off x="1384300" y="4318000"/>
            <a:ext cx="3898900" cy="6731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700" b="true">
                <a:solidFill>
                  <a:srgbClr val="000000"/>
                </a:solidFill>
                <a:latin typeface="Poppins"/>
              </a:rPr>
              <a:t>Load and active/reactive power readings across assets</a:t>
            </a:r>
            <a:endParaRPr lang="en-US" sz="1100"/>
          </a:p>
        </p:txBody>
      </p:sp>
      <p:sp>
        <p:nvSpPr>
          <p:cNvPr name="TextBox 23" id="23"/>
          <p:cNvSpPr txBox="true"/>
          <p:nvPr/>
        </p:nvSpPr>
        <p:spPr>
          <a:xfrm>
            <a:off x="1384300" y="5181600"/>
            <a:ext cx="3898900" cy="6731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700" b="true">
                <a:solidFill>
                  <a:srgbClr val="000000"/>
                </a:solidFill>
                <a:latin typeface="Poppins"/>
              </a:rPr>
              <a:t>System response time and transient behavior indicators</a:t>
            </a:r>
            <a:endParaRPr lang="en-US" sz="1100"/>
          </a:p>
        </p:txBody>
      </p:sp>
      <p:sp>
        <p:nvSpPr>
          <p:cNvPr name="TextBox 24" id="24"/>
          <p:cNvSpPr txBox="true"/>
          <p:nvPr/>
        </p:nvSpPr>
        <p:spPr>
          <a:xfrm>
            <a:off x="6299200" y="3124200"/>
            <a:ext cx="3898900" cy="6731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700" b="true">
                <a:solidFill>
                  <a:srgbClr val="000000"/>
                </a:solidFill>
                <a:latin typeface="Poppins"/>
              </a:rPr>
              <a:t>Network latency and packet loss statistics for links</a:t>
            </a:r>
            <a:endParaRPr lang="en-US" sz="1100"/>
          </a:p>
        </p:txBody>
      </p:sp>
      <p:sp>
        <p:nvSpPr>
          <p:cNvPr name="TextBox 25" id="25"/>
          <p:cNvSpPr txBox="true"/>
          <p:nvPr/>
        </p:nvSpPr>
        <p:spPr>
          <a:xfrm>
            <a:off x="6299200" y="3987800"/>
            <a:ext cx="3898900" cy="6731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700" b="true">
                <a:solidFill>
                  <a:srgbClr val="000000"/>
                </a:solidFill>
                <a:latin typeface="Poppins"/>
              </a:rPr>
              <a:t>Communication frequency and message rate metrics</a:t>
            </a:r>
            <a:endParaRPr lang="en-US" sz="1100"/>
          </a:p>
        </p:txBody>
      </p:sp>
      <p:sp>
        <p:nvSpPr>
          <p:cNvPr name="TextBox 26" id="26"/>
          <p:cNvSpPr txBox="true"/>
          <p:nvPr/>
        </p:nvSpPr>
        <p:spPr>
          <a:xfrm>
            <a:off x="6299200" y="4838700"/>
            <a:ext cx="3898900" cy="10160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700" b="true">
                <a:solidFill>
                  <a:srgbClr val="000000"/>
                </a:solidFill>
                <a:latin typeface="Poppins"/>
              </a:rPr>
              <a:t>Integrity indicators such as checksum and sequence anomalies</a:t>
            </a:r>
            <a:endParaRPr lang="en-US" sz="1100"/>
          </a:p>
        </p:txBody>
      </p:sp>
      <p:sp>
        <p:nvSpPr>
          <p:cNvPr name="TextBox 27" id="27"/>
          <p:cNvSpPr txBox="true"/>
          <p:nvPr/>
        </p:nvSpPr>
        <p:spPr>
          <a:xfrm>
            <a:off x="11214100" y="3124200"/>
            <a:ext cx="3898900" cy="6731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700" b="true">
                <a:solidFill>
                  <a:srgbClr val="000000"/>
                </a:solidFill>
                <a:latin typeface="Poppins"/>
              </a:rPr>
              <a:t>Type-specific baselines for GEN, SUB, PMU, BRK asset types</a:t>
            </a:r>
            <a:endParaRPr lang="en-US" sz="1100"/>
          </a:p>
        </p:txBody>
      </p:sp>
      <p:sp>
        <p:nvSpPr>
          <p:cNvPr name="TextBox 28" id="28"/>
          <p:cNvSpPr txBox="true"/>
          <p:nvPr/>
        </p:nvSpPr>
        <p:spPr>
          <a:xfrm>
            <a:off x="11214100" y="3987800"/>
            <a:ext cx="3898900" cy="6731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700" b="true">
                <a:solidFill>
                  <a:srgbClr val="000000"/>
                </a:solidFill>
                <a:latin typeface="Poppins"/>
              </a:rPr>
              <a:t>Criticality weighting factors assigned per asset class</a:t>
            </a:r>
            <a:endParaRPr lang="en-US" sz="1100"/>
          </a:p>
        </p:txBody>
      </p:sp>
      <p:sp>
        <p:nvSpPr>
          <p:cNvPr name="TextBox 29" id="29"/>
          <p:cNvSpPr txBox="true"/>
          <p:nvPr/>
        </p:nvSpPr>
        <p:spPr>
          <a:xfrm>
            <a:off x="11214100" y="4838700"/>
            <a:ext cx="3898900" cy="6731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700" b="true">
                <a:solidFill>
                  <a:srgbClr val="000000"/>
                </a:solidFill>
                <a:latin typeface="Poppins"/>
              </a:rPr>
              <a:t>Hand-engineered features prioritized for interpretability</a:t>
            </a:r>
            <a:endParaRPr lang="en-US" sz="1100"/>
          </a:p>
        </p:txBody>
      </p:sp>
      <p:sp>
        <p:nvSpPr>
          <p:cNvPr name="TextBox 30" id="30"/>
          <p:cNvSpPr txBox="true"/>
          <p:nvPr/>
        </p:nvSpPr>
        <p:spPr>
          <a:xfrm>
            <a:off x="876300" y="7277100"/>
            <a:ext cx="6921500" cy="6731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700" b="true">
                <a:solidFill>
                  <a:srgbClr val="000000"/>
                </a:solidFill>
                <a:latin typeface="Poppins"/>
              </a:rPr>
              <a:t>Placeholder area reserved for detailed mapping of features to baseline definitions and thresholds.</a:t>
            </a:r>
            <a:endParaRPr lang="en-US" sz="1100"/>
          </a:p>
        </p:txBody>
      </p:sp>
      <p:sp>
        <p:nvSpPr>
          <p:cNvPr name="TextBox 31" id="31"/>
          <p:cNvSpPr txBox="true"/>
          <p:nvPr/>
        </p:nvSpPr>
        <p:spPr>
          <a:xfrm>
            <a:off x="8534400" y="6718300"/>
            <a:ext cx="1892300" cy="3302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700" b="true">
                <a:solidFill>
                  <a:srgbClr val="000000"/>
                </a:solidFill>
                <a:latin typeface="Poppins"/>
              </a:rPr>
              <a:t>Feature</a:t>
            </a:r>
            <a:endParaRPr lang="en-US" sz="1100"/>
          </a:p>
        </p:txBody>
      </p:sp>
      <p:sp>
        <p:nvSpPr>
          <p:cNvPr name="TextBox 32" id="32"/>
          <p:cNvSpPr txBox="true"/>
          <p:nvPr/>
        </p:nvSpPr>
        <p:spPr>
          <a:xfrm>
            <a:off x="10617200" y="6718300"/>
            <a:ext cx="4635500" cy="3302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700" b="true">
                <a:solidFill>
                  <a:srgbClr val="000000"/>
                </a:solidFill>
                <a:latin typeface="Poppins"/>
              </a:rPr>
              <a:t>Baseline/Notes</a:t>
            </a:r>
            <a:endParaRPr lang="en-US" sz="1100"/>
          </a:p>
        </p:txBody>
      </p:sp>
      <p:sp>
        <p:nvSpPr>
          <p:cNvPr name="TextBox 33" id="33"/>
          <p:cNvSpPr txBox="true"/>
          <p:nvPr/>
        </p:nvSpPr>
        <p:spPr>
          <a:xfrm>
            <a:off x="8534400" y="7213600"/>
            <a:ext cx="1892300" cy="6731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700" b="true">
                <a:solidFill>
                  <a:srgbClr val="000000"/>
                </a:solidFill>
                <a:latin typeface="Poppins"/>
              </a:rPr>
              <a:t>Example: Voltage</a:t>
            </a:r>
            <a:endParaRPr lang="en-US" sz="1100"/>
          </a:p>
        </p:txBody>
      </p:sp>
      <p:sp>
        <p:nvSpPr>
          <p:cNvPr name="TextBox 34" id="34"/>
          <p:cNvSpPr txBox="true"/>
          <p:nvPr/>
        </p:nvSpPr>
        <p:spPr>
          <a:xfrm>
            <a:off x="10617200" y="7213600"/>
            <a:ext cx="4635500" cy="6731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700" b="true">
                <a:solidFill>
                  <a:srgbClr val="000000"/>
                </a:solidFill>
                <a:latin typeface="Poppins"/>
              </a:rPr>
              <a:t>GEN baseline range; thresholds to be defined</a:t>
            </a:r>
            <a:endParaRPr lang="en-US" sz="1100"/>
          </a:p>
        </p:txBody>
      </p:sp>
      <p:sp>
        <p:nvSpPr>
          <p:cNvPr name="TextBox 35" id="35"/>
          <p:cNvSpPr txBox="true"/>
          <p:nvPr/>
        </p:nvSpPr>
        <p:spPr>
          <a:xfrm>
            <a:off x="1003300" y="3175000"/>
            <a:ext cx="241300" cy="2159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700" b="false">
                <a:solidFill>
                  <a:srgbClr val="000000"/>
                </a:solidFill>
                <a:highlight>
                  <a:srgbClr val="000000">
                    <a:alpha val="0"/>
                  </a:srgbClr>
                </a:highlight>
                <a:ea typeface="Poppins"/>
              </a:rPr>
              <a:t>●</a:t>
            </a:r>
            <a:endParaRPr lang="en-US" sz="1100"/>
          </a:p>
        </p:txBody>
      </p:sp>
      <p:sp>
        <p:nvSpPr>
          <p:cNvPr name="TextBox 36" id="36"/>
          <p:cNvSpPr txBox="true"/>
          <p:nvPr/>
        </p:nvSpPr>
        <p:spPr>
          <a:xfrm>
            <a:off x="1003300" y="4381500"/>
            <a:ext cx="241300" cy="2159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700" b="false">
                <a:solidFill>
                  <a:srgbClr val="000000"/>
                </a:solidFill>
                <a:highlight>
                  <a:srgbClr val="000000">
                    <a:alpha val="0"/>
                  </a:srgbClr>
                </a:highlight>
                <a:ea typeface="Poppins"/>
              </a:rPr>
              <a:t>●</a:t>
            </a:r>
            <a:endParaRPr lang="en-US" sz="1100"/>
          </a:p>
        </p:txBody>
      </p:sp>
      <p:sp>
        <p:nvSpPr>
          <p:cNvPr name="TextBox 37" id="37"/>
          <p:cNvSpPr txBox="true"/>
          <p:nvPr/>
        </p:nvSpPr>
        <p:spPr>
          <a:xfrm>
            <a:off x="1003300" y="5232400"/>
            <a:ext cx="241300" cy="2159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700" b="false">
                <a:solidFill>
                  <a:srgbClr val="000000"/>
                </a:solidFill>
                <a:highlight>
                  <a:srgbClr val="000000">
                    <a:alpha val="0"/>
                  </a:srgbClr>
                </a:highlight>
                <a:ea typeface="Poppins"/>
              </a:rPr>
              <a:t>●</a:t>
            </a:r>
            <a:endParaRPr lang="en-US" sz="1100"/>
          </a:p>
        </p:txBody>
      </p:sp>
      <p:sp>
        <p:nvSpPr>
          <p:cNvPr name="TextBox 38" id="38"/>
          <p:cNvSpPr txBox="true"/>
          <p:nvPr/>
        </p:nvSpPr>
        <p:spPr>
          <a:xfrm>
            <a:off x="5918200" y="3175000"/>
            <a:ext cx="241300" cy="2159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700" b="false">
                <a:solidFill>
                  <a:srgbClr val="000000"/>
                </a:solidFill>
                <a:highlight>
                  <a:srgbClr val="000000">
                    <a:alpha val="0"/>
                  </a:srgbClr>
                </a:highlight>
                <a:ea typeface="Poppins"/>
              </a:rPr>
              <a:t>●</a:t>
            </a:r>
            <a:endParaRPr lang="en-US" sz="1100"/>
          </a:p>
        </p:txBody>
      </p:sp>
      <p:sp>
        <p:nvSpPr>
          <p:cNvPr name="TextBox 39" id="39"/>
          <p:cNvSpPr txBox="true"/>
          <p:nvPr/>
        </p:nvSpPr>
        <p:spPr>
          <a:xfrm>
            <a:off x="5918200" y="4038600"/>
            <a:ext cx="241300" cy="2159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700" b="false">
                <a:solidFill>
                  <a:srgbClr val="000000"/>
                </a:solidFill>
                <a:highlight>
                  <a:srgbClr val="000000">
                    <a:alpha val="0"/>
                  </a:srgbClr>
                </a:highlight>
                <a:ea typeface="Poppins"/>
              </a:rPr>
              <a:t>●</a:t>
            </a:r>
            <a:endParaRPr lang="en-US" sz="1100"/>
          </a:p>
        </p:txBody>
      </p:sp>
      <p:sp>
        <p:nvSpPr>
          <p:cNvPr name="TextBox 40" id="40"/>
          <p:cNvSpPr txBox="true"/>
          <p:nvPr/>
        </p:nvSpPr>
        <p:spPr>
          <a:xfrm>
            <a:off x="5918200" y="4902200"/>
            <a:ext cx="241300" cy="2159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700" b="false">
                <a:solidFill>
                  <a:srgbClr val="000000"/>
                </a:solidFill>
                <a:highlight>
                  <a:srgbClr val="000000">
                    <a:alpha val="0"/>
                  </a:srgbClr>
                </a:highlight>
                <a:ea typeface="Poppins"/>
              </a:rPr>
              <a:t>●</a:t>
            </a:r>
            <a:endParaRPr lang="en-US" sz="1100"/>
          </a:p>
        </p:txBody>
      </p:sp>
      <p:sp>
        <p:nvSpPr>
          <p:cNvPr name="TextBox 41" id="41"/>
          <p:cNvSpPr txBox="true"/>
          <p:nvPr/>
        </p:nvSpPr>
        <p:spPr>
          <a:xfrm>
            <a:off x="10833100" y="3175000"/>
            <a:ext cx="241300" cy="2159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700" b="false">
                <a:solidFill>
                  <a:srgbClr val="000000"/>
                </a:solidFill>
                <a:highlight>
                  <a:srgbClr val="000000">
                    <a:alpha val="0"/>
                  </a:srgbClr>
                </a:highlight>
                <a:ea typeface="Poppins"/>
              </a:rPr>
              <a:t>●</a:t>
            </a:r>
            <a:endParaRPr lang="en-US" sz="1100"/>
          </a:p>
        </p:txBody>
      </p:sp>
      <p:sp>
        <p:nvSpPr>
          <p:cNvPr name="TextBox 42" id="42"/>
          <p:cNvSpPr txBox="true"/>
          <p:nvPr/>
        </p:nvSpPr>
        <p:spPr>
          <a:xfrm>
            <a:off x="10833100" y="4038600"/>
            <a:ext cx="241300" cy="2159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700" b="false">
                <a:solidFill>
                  <a:srgbClr val="000000"/>
                </a:solidFill>
                <a:highlight>
                  <a:srgbClr val="000000">
                    <a:alpha val="0"/>
                  </a:srgbClr>
                </a:highlight>
                <a:ea typeface="Poppins"/>
              </a:rPr>
              <a:t>●</a:t>
            </a:r>
            <a:endParaRPr lang="en-US" sz="1100"/>
          </a:p>
        </p:txBody>
      </p:sp>
      <p:sp>
        <p:nvSpPr>
          <p:cNvPr name="TextBox 43" id="43"/>
          <p:cNvSpPr txBox="true"/>
          <p:nvPr/>
        </p:nvSpPr>
        <p:spPr>
          <a:xfrm>
            <a:off x="10833100" y="4902200"/>
            <a:ext cx="241300" cy="2159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700" b="false">
                <a:solidFill>
                  <a:srgbClr val="000000"/>
                </a:solidFill>
                <a:highlight>
                  <a:srgbClr val="000000">
                    <a:alpha val="0"/>
                  </a:srgbClr>
                </a:highlight>
                <a:ea typeface="Poppins"/>
              </a:rPr>
              <a:t>●</a:t>
            </a:r>
            <a:endParaRPr lang="en-US" sz="1100"/>
          </a:p>
        </p:txBody>
      </p:sp>
      <p:pic>
        <p:nvPicPr>
          <p:cNvPr name="Picture 44" id="44"/>
          <p:cNvPicPr>
            <a:picLocks noChangeAspect="true"/>
          </p:cNvPicPr>
          <p:nvPr/>
        </p:nvPicPr>
        <p:blipFill>
          <a:blip r:embed="rId3"/>
          <a:stretch>
            <a:fillRect/>
          </a:stretch>
        </p:blipFill>
        <p:spPr>
          <a:xfrm>
            <a:off x="1397000" y="1866900"/>
            <a:ext cx="215900" cy="215900"/>
          </a:xfrm>
          <a:prstGeom prst="rect">
            <a:avLst/>
          </a:prstGeom>
        </p:spPr>
      </p:pic>
      <p:pic>
        <p:nvPicPr>
          <p:cNvPr name="Picture 45" id="45"/>
          <p:cNvPicPr>
            <a:picLocks noChangeAspect="true"/>
          </p:cNvPicPr>
          <p:nvPr/>
        </p:nvPicPr>
        <p:blipFill>
          <a:blip r:embed="rId4"/>
          <a:stretch>
            <a:fillRect/>
          </a:stretch>
        </p:blipFill>
        <p:spPr>
          <a:xfrm>
            <a:off x="6299200" y="1866900"/>
            <a:ext cx="215900" cy="215900"/>
          </a:xfrm>
          <a:prstGeom prst="rect">
            <a:avLst/>
          </a:prstGeom>
        </p:spPr>
      </p:pic>
      <p:pic>
        <p:nvPicPr>
          <p:cNvPr name="Picture 46" id="46"/>
          <p:cNvPicPr>
            <a:picLocks noChangeAspect="true"/>
          </p:cNvPicPr>
          <p:nvPr/>
        </p:nvPicPr>
        <p:blipFill>
          <a:blip r:embed="rId5"/>
          <a:stretch>
            <a:fillRect/>
          </a:stretch>
        </p:blipFill>
        <p:spPr>
          <a:xfrm>
            <a:off x="11214100" y="1866900"/>
            <a:ext cx="215900" cy="215900"/>
          </a:xfrm>
          <a:prstGeom prst="rect">
            <a:avLst/>
          </a:prstGeom>
        </p:spPr>
      </p:pic>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0" y="0"/>
            <a:ext cx="16256000" cy="9144000"/>
          </a:xfrm>
          <a:prstGeom prst="rect">
            <a:avLst/>
          </a:prstGeom>
          <a:solidFill>
            <a:srgbClr val="0D0A2C">
              <a:alpha val="74902"/>
            </a:srgbClr>
          </a:solidFill>
        </p:spPr>
      </p:sp>
      <p:pic>
        <p:nvPicPr>
          <p:cNvPr name="Picture 3" id="3"/>
          <p:cNvPicPr>
            <a:picLocks noChangeAspect="true"/>
          </p:cNvPicPr>
          <p:nvPr/>
        </p:nvPicPr>
        <p:blipFill>
          <a:blip r:embed="rId2"/>
          <a:srcRect t="56" b="56"/>
          <a:stretch>
            <a:fillRect/>
          </a:stretch>
        </p:blipFill>
        <p:spPr>
          <a:xfrm>
            <a:off x="0" y="0"/>
            <a:ext cx="16256000" cy="9144000"/>
          </a:xfrm>
          <a:prstGeom prst="rect">
            <a:avLst/>
          </a:prstGeom>
        </p:spPr>
      </p:pic>
      <p:sp>
        <p:nvSpPr>
          <p:cNvPr name="AutoShape 4" id="4"/>
          <p:cNvSpPr/>
          <p:nvPr/>
        </p:nvSpPr>
        <p:spPr>
          <a:xfrm>
            <a:off x="876300" y="2946400"/>
            <a:ext cx="14490700" cy="4114800"/>
          </a:xfrm>
          <a:prstGeom prst="rect">
            <a:avLst/>
          </a:prstGeom>
          <a:solidFill>
            <a:srgbClr val="000000">
              <a:alpha val="0"/>
            </a:srgbClr>
          </a:solidFill>
        </p:spPr>
      </p:sp>
      <p:sp>
        <p:nvSpPr>
          <p:cNvPr name="AutoShape 5" id="5"/>
          <p:cNvSpPr/>
          <p:nvPr/>
        </p:nvSpPr>
        <p:spPr>
          <a:xfrm>
            <a:off x="876300" y="2946400"/>
            <a:ext cx="4826000" cy="4114800"/>
          </a:xfrm>
          <a:prstGeom prst="rect">
            <a:avLst/>
          </a:prstGeom>
          <a:solidFill>
            <a:srgbClr val="000000">
              <a:alpha val="0"/>
            </a:srgbClr>
          </a:solidFill>
        </p:spPr>
      </p:sp>
      <p:sp>
        <p:nvSpPr>
          <p:cNvPr name="AutoShape 6" id="6"/>
          <p:cNvSpPr/>
          <p:nvPr/>
        </p:nvSpPr>
        <p:spPr>
          <a:xfrm>
            <a:off x="876300" y="2946400"/>
            <a:ext cx="4826000" cy="1003300"/>
          </a:xfrm>
          <a:prstGeom prst="rect">
            <a:avLst/>
          </a:prstGeom>
          <a:solidFill>
            <a:srgbClr val="000000">
              <a:alpha val="0"/>
            </a:srgbClr>
          </a:solidFill>
        </p:spPr>
      </p:sp>
      <p:sp>
        <p:nvSpPr>
          <p:cNvPr name="AutoShape 7" id="7"/>
          <p:cNvSpPr/>
          <p:nvPr/>
        </p:nvSpPr>
        <p:spPr>
          <a:xfrm>
            <a:off x="5702300" y="2946400"/>
            <a:ext cx="4826000" cy="4114800"/>
          </a:xfrm>
          <a:prstGeom prst="rect">
            <a:avLst/>
          </a:prstGeom>
          <a:solidFill>
            <a:srgbClr val="000000">
              <a:alpha val="0"/>
            </a:srgbClr>
          </a:solidFill>
        </p:spPr>
      </p:sp>
      <p:sp>
        <p:nvSpPr>
          <p:cNvPr name="AutoShape 8" id="8"/>
          <p:cNvSpPr/>
          <p:nvPr/>
        </p:nvSpPr>
        <p:spPr>
          <a:xfrm>
            <a:off x="5702300" y="2946400"/>
            <a:ext cx="4826000" cy="1003300"/>
          </a:xfrm>
          <a:prstGeom prst="rect">
            <a:avLst/>
          </a:prstGeom>
          <a:solidFill>
            <a:srgbClr val="000000">
              <a:alpha val="0"/>
            </a:srgbClr>
          </a:solidFill>
        </p:spPr>
      </p:sp>
      <p:sp>
        <p:nvSpPr>
          <p:cNvPr name="AutoShape 9" id="9"/>
          <p:cNvSpPr/>
          <p:nvPr/>
        </p:nvSpPr>
        <p:spPr>
          <a:xfrm>
            <a:off x="10541000" y="2946400"/>
            <a:ext cx="4826000" cy="4114800"/>
          </a:xfrm>
          <a:prstGeom prst="rect">
            <a:avLst/>
          </a:prstGeom>
          <a:solidFill>
            <a:srgbClr val="000000">
              <a:alpha val="0"/>
            </a:srgbClr>
          </a:solidFill>
        </p:spPr>
      </p:sp>
      <p:sp>
        <p:nvSpPr>
          <p:cNvPr name="AutoShape 10" id="10"/>
          <p:cNvSpPr/>
          <p:nvPr/>
        </p:nvSpPr>
        <p:spPr>
          <a:xfrm>
            <a:off x="10541000" y="2946400"/>
            <a:ext cx="4826000" cy="1003300"/>
          </a:xfrm>
          <a:prstGeom prst="rect">
            <a:avLst/>
          </a:prstGeom>
          <a:solidFill>
            <a:srgbClr val="000000">
              <a:alpha val="0"/>
            </a:srgbClr>
          </a:solidFill>
        </p:spPr>
      </p:sp>
      <p:pic>
        <p:nvPicPr>
          <p:cNvPr name="Picture 11" id="11"/>
          <p:cNvPicPr>
            <a:picLocks noChangeAspect="true"/>
          </p:cNvPicPr>
          <p:nvPr/>
        </p:nvPicPr>
        <p:blipFill>
          <a:blip r:embed="rId3"/>
          <a:stretch>
            <a:fillRect/>
          </a:stretch>
        </p:blipFill>
        <p:spPr>
          <a:xfrm>
            <a:off x="876300" y="2946400"/>
            <a:ext cx="4826000" cy="990600"/>
          </a:xfrm>
          <a:prstGeom prst="rect">
            <a:avLst/>
          </a:prstGeom>
        </p:spPr>
      </p:pic>
      <p:pic>
        <p:nvPicPr>
          <p:cNvPr name="Picture 12" id="12"/>
          <p:cNvPicPr>
            <a:picLocks noChangeAspect="true"/>
          </p:cNvPicPr>
          <p:nvPr/>
        </p:nvPicPr>
        <p:blipFill>
          <a:blip r:embed="rId3"/>
          <a:stretch>
            <a:fillRect/>
          </a:stretch>
        </p:blipFill>
        <p:spPr>
          <a:xfrm>
            <a:off x="5702300" y="2946400"/>
            <a:ext cx="4826000" cy="990600"/>
          </a:xfrm>
          <a:prstGeom prst="rect">
            <a:avLst/>
          </a:prstGeom>
        </p:spPr>
      </p:pic>
      <p:pic>
        <p:nvPicPr>
          <p:cNvPr name="Picture 13" id="13"/>
          <p:cNvPicPr>
            <a:picLocks noChangeAspect="true"/>
          </p:cNvPicPr>
          <p:nvPr/>
        </p:nvPicPr>
        <p:blipFill>
          <a:blip r:embed="rId3"/>
          <a:stretch>
            <a:fillRect/>
          </a:stretch>
        </p:blipFill>
        <p:spPr>
          <a:xfrm>
            <a:off x="10541000" y="2946400"/>
            <a:ext cx="4826000" cy="990600"/>
          </a:xfrm>
          <a:prstGeom prst="rect">
            <a:avLst/>
          </a:prstGeom>
        </p:spPr>
      </p:pic>
      <p:sp>
        <p:nvSpPr>
          <p:cNvPr name="TextBox 14" id="14"/>
          <p:cNvSpPr txBox="true"/>
          <p:nvPr/>
        </p:nvSpPr>
        <p:spPr>
          <a:xfrm>
            <a:off x="876300" y="2057400"/>
            <a:ext cx="14490700" cy="5969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3900" b="true">
                <a:solidFill>
                  <a:srgbClr val="000000"/>
                </a:solidFill>
                <a:latin typeface="Ubuntu"/>
              </a:rPr>
              <a:t>Audit Decision Logic</a:t>
            </a:r>
            <a:endParaRPr lang="en-US" sz="1100"/>
          </a:p>
        </p:txBody>
      </p:sp>
      <p:sp>
        <p:nvSpPr>
          <p:cNvPr name="TextBox 15" id="15"/>
          <p:cNvSpPr txBox="true"/>
          <p:nvPr/>
        </p:nvSpPr>
        <p:spPr>
          <a:xfrm>
            <a:off x="876300" y="3302000"/>
            <a:ext cx="4826000" cy="292100"/>
          </a:xfrm>
          <a:prstGeom prst="rect">
            <a:avLst/>
          </a:prstGeom>
          <a:solidFill>
            <a:srgbClr val="000000">
              <a:alpha val="0"/>
            </a:srgbClr>
          </a:solidFill>
        </p:spPr>
        <p:txBody>
          <a:bodyPr anchor="ctr" rtlCol="false" rIns="0" lIns="0" tIns="0" bIns="0"/>
          <a:lstStyle/>
          <a:p>
            <a:pPr algn="ctr" indent="0">
              <a:lnSpc>
                <a:spcPct val="120000"/>
              </a:lnSpc>
              <a:defRPr/>
            </a:pPr>
            <a:r>
              <a:rPr lang="en-US"/>
              <a:t/>
            </a:r>
            <a:r>
              <a:rPr lang="en-US" sz="1900" b="true">
                <a:solidFill>
                  <a:srgbClr val="000000"/>
                </a:solidFill>
                <a:highlight>
                  <a:srgbClr val="000000">
                    <a:alpha val="0"/>
                  </a:srgbClr>
                </a:highlight>
                <a:latin typeface="Ubuntu"/>
              </a:rPr>
              <a:t>1</a:t>
            </a:r>
            <a:endParaRPr lang="en-US" sz="1100"/>
          </a:p>
        </p:txBody>
      </p:sp>
      <p:sp>
        <p:nvSpPr>
          <p:cNvPr name="TextBox 16" id="16"/>
          <p:cNvSpPr txBox="true"/>
          <p:nvPr/>
        </p:nvSpPr>
        <p:spPr>
          <a:xfrm>
            <a:off x="1130300" y="4254500"/>
            <a:ext cx="43180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000000"/>
                </a:solidFill>
                <a:latin typeface="Ubuntu"/>
              </a:rPr>
              <a:t>Risk Calculation</a:t>
            </a:r>
            <a:endParaRPr lang="en-US" sz="1100"/>
          </a:p>
        </p:txBody>
      </p:sp>
      <p:sp>
        <p:nvSpPr>
          <p:cNvPr name="TextBox 17" id="17"/>
          <p:cNvSpPr txBox="true"/>
          <p:nvPr/>
        </p:nvSpPr>
        <p:spPr>
          <a:xfrm>
            <a:off x="5702300" y="3302000"/>
            <a:ext cx="4826000" cy="292100"/>
          </a:xfrm>
          <a:prstGeom prst="rect">
            <a:avLst/>
          </a:prstGeom>
          <a:solidFill>
            <a:srgbClr val="000000">
              <a:alpha val="0"/>
            </a:srgbClr>
          </a:solidFill>
        </p:spPr>
        <p:txBody>
          <a:bodyPr anchor="ctr" rtlCol="false" rIns="0" lIns="0" tIns="0" bIns="0"/>
          <a:lstStyle/>
          <a:p>
            <a:pPr algn="ctr" indent="0">
              <a:lnSpc>
                <a:spcPct val="120000"/>
              </a:lnSpc>
              <a:defRPr/>
            </a:pPr>
            <a:r>
              <a:rPr lang="en-US"/>
              <a:t/>
            </a:r>
            <a:r>
              <a:rPr lang="en-US" sz="1900" b="true">
                <a:solidFill>
                  <a:srgbClr val="000000"/>
                </a:solidFill>
                <a:highlight>
                  <a:srgbClr val="000000">
                    <a:alpha val="0"/>
                  </a:srgbClr>
                </a:highlight>
                <a:latin typeface="Ubuntu"/>
              </a:rPr>
              <a:t>2</a:t>
            </a:r>
            <a:endParaRPr lang="en-US" sz="1100"/>
          </a:p>
        </p:txBody>
      </p:sp>
      <p:sp>
        <p:nvSpPr>
          <p:cNvPr name="TextBox 18" id="18"/>
          <p:cNvSpPr txBox="true"/>
          <p:nvPr/>
        </p:nvSpPr>
        <p:spPr>
          <a:xfrm>
            <a:off x="5956300" y="4254500"/>
            <a:ext cx="43180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000000"/>
                </a:solidFill>
                <a:latin typeface="Ubuntu"/>
              </a:rPr>
              <a:t>Threshold Evaluation</a:t>
            </a:r>
            <a:endParaRPr lang="en-US" sz="1100"/>
          </a:p>
        </p:txBody>
      </p:sp>
      <p:sp>
        <p:nvSpPr>
          <p:cNvPr name="TextBox 19" id="19"/>
          <p:cNvSpPr txBox="true"/>
          <p:nvPr/>
        </p:nvSpPr>
        <p:spPr>
          <a:xfrm>
            <a:off x="10541000" y="3302000"/>
            <a:ext cx="4826000" cy="292100"/>
          </a:xfrm>
          <a:prstGeom prst="rect">
            <a:avLst/>
          </a:prstGeom>
          <a:solidFill>
            <a:srgbClr val="000000">
              <a:alpha val="0"/>
            </a:srgbClr>
          </a:solidFill>
        </p:spPr>
        <p:txBody>
          <a:bodyPr anchor="ctr" rtlCol="false" rIns="0" lIns="0" tIns="0" bIns="0"/>
          <a:lstStyle/>
          <a:p>
            <a:pPr algn="ctr" indent="0">
              <a:lnSpc>
                <a:spcPct val="120000"/>
              </a:lnSpc>
              <a:defRPr/>
            </a:pPr>
            <a:r>
              <a:rPr lang="en-US"/>
              <a:t/>
            </a:r>
            <a:r>
              <a:rPr lang="en-US" sz="1900" b="true">
                <a:solidFill>
                  <a:srgbClr val="000000"/>
                </a:solidFill>
                <a:highlight>
                  <a:srgbClr val="000000">
                    <a:alpha val="0"/>
                  </a:srgbClr>
                </a:highlight>
                <a:latin typeface="Ubuntu"/>
              </a:rPr>
              <a:t>3</a:t>
            </a:r>
            <a:endParaRPr lang="en-US" sz="1100"/>
          </a:p>
        </p:txBody>
      </p:sp>
      <p:sp>
        <p:nvSpPr>
          <p:cNvPr name="TextBox 20" id="20"/>
          <p:cNvSpPr txBox="true"/>
          <p:nvPr/>
        </p:nvSpPr>
        <p:spPr>
          <a:xfrm>
            <a:off x="10795000" y="4254500"/>
            <a:ext cx="43180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000000"/>
                </a:solidFill>
                <a:latin typeface="Ubuntu"/>
              </a:rPr>
              <a:t>Explainability</a:t>
            </a:r>
            <a:endParaRPr lang="en-US" sz="1100"/>
          </a:p>
        </p:txBody>
      </p:sp>
      <p:sp>
        <p:nvSpPr>
          <p:cNvPr name="TextBox 21" id="21"/>
          <p:cNvSpPr txBox="true"/>
          <p:nvPr/>
        </p:nvSpPr>
        <p:spPr>
          <a:xfrm>
            <a:off x="1384300" y="4902200"/>
            <a:ext cx="4064000" cy="749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Risk score from weighted deviation</a:t>
            </a:r>
            <a:endParaRPr lang="en-US" sz="1100"/>
          </a:p>
        </p:txBody>
      </p:sp>
      <p:sp>
        <p:nvSpPr>
          <p:cNvPr name="TextBox 22" id="22"/>
          <p:cNvSpPr txBox="true"/>
          <p:nvPr/>
        </p:nvSpPr>
        <p:spPr>
          <a:xfrm>
            <a:off x="1384300" y="5854700"/>
            <a:ext cx="40640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Physical + cyber components</a:t>
            </a:r>
            <a:endParaRPr lang="en-US" sz="1100"/>
          </a:p>
        </p:txBody>
      </p:sp>
      <p:sp>
        <p:nvSpPr>
          <p:cNvPr name="TextBox 23" id="23"/>
          <p:cNvSpPr txBox="true"/>
          <p:nvPr/>
        </p:nvSpPr>
        <p:spPr>
          <a:xfrm>
            <a:off x="1384300" y="6438900"/>
            <a:ext cx="40640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Criticality weights applied</a:t>
            </a:r>
            <a:endParaRPr lang="en-US" sz="1100"/>
          </a:p>
        </p:txBody>
      </p:sp>
      <p:sp>
        <p:nvSpPr>
          <p:cNvPr name="TextBox 24" id="24"/>
          <p:cNvSpPr txBox="true"/>
          <p:nvPr/>
        </p:nvSpPr>
        <p:spPr>
          <a:xfrm>
            <a:off x="6210300" y="4902200"/>
            <a:ext cx="4064000" cy="749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Score exceeds threshold → INCREASE_AUDIT</a:t>
            </a:r>
            <a:endParaRPr lang="en-US" sz="1100"/>
          </a:p>
        </p:txBody>
      </p:sp>
      <p:sp>
        <p:nvSpPr>
          <p:cNvPr name="TextBox 25" id="25"/>
          <p:cNvSpPr txBox="true"/>
          <p:nvPr/>
        </p:nvSpPr>
        <p:spPr>
          <a:xfrm>
            <a:off x="6210300" y="5854700"/>
            <a:ext cx="4064000" cy="749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Score below threshold → MAINTAIN_AUDIT</a:t>
            </a:r>
            <a:endParaRPr lang="en-US" sz="1100"/>
          </a:p>
        </p:txBody>
      </p:sp>
      <p:sp>
        <p:nvSpPr>
          <p:cNvPr name="TextBox 26" id="26"/>
          <p:cNvSpPr txBox="true"/>
          <p:nvPr/>
        </p:nvSpPr>
        <p:spPr>
          <a:xfrm>
            <a:off x="11036300" y="4902200"/>
            <a:ext cx="4064000" cy="749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Top contributing features identified</a:t>
            </a:r>
            <a:endParaRPr lang="en-US" sz="1100"/>
          </a:p>
        </p:txBody>
      </p:sp>
      <p:sp>
        <p:nvSpPr>
          <p:cNvPr name="TextBox 27" id="27"/>
          <p:cNvSpPr txBox="true"/>
          <p:nvPr/>
        </p:nvSpPr>
        <p:spPr>
          <a:xfrm>
            <a:off x="11036300" y="5854700"/>
            <a:ext cx="4064000" cy="749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Baseline-driven logic for transparency</a:t>
            </a:r>
            <a:endParaRPr lang="en-US" sz="1100"/>
          </a:p>
        </p:txBody>
      </p:sp>
      <p:sp>
        <p:nvSpPr>
          <p:cNvPr name="TextBox 28" id="28"/>
          <p:cNvSpPr txBox="true"/>
          <p:nvPr/>
        </p:nvSpPr>
        <p:spPr>
          <a:xfrm>
            <a:off x="1003300" y="49657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
        <p:nvSpPr>
          <p:cNvPr name="TextBox 29" id="29"/>
          <p:cNvSpPr txBox="true"/>
          <p:nvPr/>
        </p:nvSpPr>
        <p:spPr>
          <a:xfrm>
            <a:off x="1003300" y="59182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
        <p:nvSpPr>
          <p:cNvPr name="TextBox 30" id="30"/>
          <p:cNvSpPr txBox="true"/>
          <p:nvPr/>
        </p:nvSpPr>
        <p:spPr>
          <a:xfrm>
            <a:off x="1003300" y="65024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
        <p:nvSpPr>
          <p:cNvPr name="TextBox 31" id="31"/>
          <p:cNvSpPr txBox="true"/>
          <p:nvPr/>
        </p:nvSpPr>
        <p:spPr>
          <a:xfrm>
            <a:off x="5829300" y="49657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
        <p:nvSpPr>
          <p:cNvPr name="TextBox 32" id="32"/>
          <p:cNvSpPr txBox="true"/>
          <p:nvPr/>
        </p:nvSpPr>
        <p:spPr>
          <a:xfrm>
            <a:off x="5829300" y="59182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
        <p:nvSpPr>
          <p:cNvPr name="TextBox 33" id="33"/>
          <p:cNvSpPr txBox="true"/>
          <p:nvPr/>
        </p:nvSpPr>
        <p:spPr>
          <a:xfrm>
            <a:off x="10668000" y="49657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
        <p:nvSpPr>
          <p:cNvPr name="TextBox 34" id="34"/>
          <p:cNvSpPr txBox="true"/>
          <p:nvPr/>
        </p:nvSpPr>
        <p:spPr>
          <a:xfrm>
            <a:off x="10668000" y="59182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0" y="0"/>
            <a:ext cx="16256000" cy="9144000"/>
          </a:xfrm>
          <a:prstGeom prst="rect">
            <a:avLst/>
          </a:prstGeom>
          <a:solidFill>
            <a:srgbClr val="0D0A2C">
              <a:alpha val="74902"/>
            </a:srgbClr>
          </a:solidFill>
        </p:spPr>
      </p:sp>
      <p:pic>
        <p:nvPicPr>
          <p:cNvPr name="Picture 3" id="3"/>
          <p:cNvPicPr>
            <a:picLocks noChangeAspect="true"/>
          </p:cNvPicPr>
          <p:nvPr/>
        </p:nvPicPr>
        <p:blipFill>
          <a:blip r:embed="rId2"/>
          <a:srcRect t="56" b="56"/>
          <a:stretch>
            <a:fillRect/>
          </a:stretch>
        </p:blipFill>
        <p:spPr>
          <a:xfrm>
            <a:off x="0" y="0"/>
            <a:ext cx="16256000" cy="9144000"/>
          </a:xfrm>
          <a:prstGeom prst="rect">
            <a:avLst/>
          </a:prstGeom>
        </p:spPr>
      </p:pic>
      <p:sp>
        <p:nvSpPr>
          <p:cNvPr name="AutoShape 4" id="4"/>
          <p:cNvSpPr/>
          <p:nvPr/>
        </p:nvSpPr>
        <p:spPr>
          <a:xfrm>
            <a:off x="876300" y="2032000"/>
            <a:ext cx="14490700" cy="5956300"/>
          </a:xfrm>
          <a:prstGeom prst="rect">
            <a:avLst/>
          </a:prstGeom>
          <a:solidFill>
            <a:srgbClr val="000000">
              <a:alpha val="0"/>
            </a:srgbClr>
          </a:solidFill>
        </p:spPr>
      </p:sp>
      <p:sp>
        <p:nvSpPr>
          <p:cNvPr name="AutoShape 5" id="5"/>
          <p:cNvSpPr/>
          <p:nvPr/>
        </p:nvSpPr>
        <p:spPr>
          <a:xfrm>
            <a:off x="876300" y="2032000"/>
            <a:ext cx="3429000" cy="5956300"/>
          </a:xfrm>
          <a:prstGeom prst="roundRect">
            <a:avLst>
              <a:gd name="adj" fmla="val 2592"/>
            </a:avLst>
          </a:prstGeom>
          <a:solidFill>
            <a:srgbClr val="D1D1D1">
              <a:alpha val="71765"/>
            </a:srgbClr>
          </a:solidFill>
        </p:spPr>
      </p:sp>
      <p:sp>
        <p:nvSpPr>
          <p:cNvPr name="AutoShape 6" id="6"/>
          <p:cNvSpPr/>
          <p:nvPr/>
        </p:nvSpPr>
        <p:spPr>
          <a:xfrm>
            <a:off x="1130300" y="2286000"/>
            <a:ext cx="749300" cy="749300"/>
          </a:xfrm>
          <a:prstGeom prst="roundRect">
            <a:avLst>
              <a:gd name="adj" fmla="val 49152"/>
            </a:avLst>
          </a:prstGeom>
          <a:solidFill>
            <a:srgbClr val="000000"/>
          </a:solidFill>
        </p:spPr>
      </p:sp>
      <p:sp>
        <p:nvSpPr>
          <p:cNvPr name="AutoShape 7" id="7"/>
          <p:cNvSpPr/>
          <p:nvPr/>
        </p:nvSpPr>
        <p:spPr>
          <a:xfrm>
            <a:off x="4559300" y="2032000"/>
            <a:ext cx="3429000" cy="5956300"/>
          </a:xfrm>
          <a:prstGeom prst="roundRect">
            <a:avLst>
              <a:gd name="adj" fmla="val 2592"/>
            </a:avLst>
          </a:prstGeom>
          <a:solidFill>
            <a:srgbClr val="D1D1D1">
              <a:alpha val="71765"/>
            </a:srgbClr>
          </a:solidFill>
        </p:spPr>
      </p:sp>
      <p:sp>
        <p:nvSpPr>
          <p:cNvPr name="AutoShape 8" id="8"/>
          <p:cNvSpPr/>
          <p:nvPr/>
        </p:nvSpPr>
        <p:spPr>
          <a:xfrm>
            <a:off x="4813300" y="2286000"/>
            <a:ext cx="749300" cy="749300"/>
          </a:xfrm>
          <a:prstGeom prst="roundRect">
            <a:avLst>
              <a:gd name="adj" fmla="val 49152"/>
            </a:avLst>
          </a:prstGeom>
          <a:solidFill>
            <a:srgbClr val="000000"/>
          </a:solidFill>
        </p:spPr>
      </p:sp>
      <p:sp>
        <p:nvSpPr>
          <p:cNvPr name="AutoShape 9" id="9"/>
          <p:cNvSpPr/>
          <p:nvPr/>
        </p:nvSpPr>
        <p:spPr>
          <a:xfrm>
            <a:off x="8242300" y="2032000"/>
            <a:ext cx="3429000" cy="5956300"/>
          </a:xfrm>
          <a:prstGeom prst="roundRect">
            <a:avLst>
              <a:gd name="adj" fmla="val 2592"/>
            </a:avLst>
          </a:prstGeom>
          <a:solidFill>
            <a:srgbClr val="D1D1D1">
              <a:alpha val="71765"/>
            </a:srgbClr>
          </a:solidFill>
        </p:spPr>
      </p:sp>
      <p:sp>
        <p:nvSpPr>
          <p:cNvPr name="AutoShape 10" id="10"/>
          <p:cNvSpPr/>
          <p:nvPr/>
        </p:nvSpPr>
        <p:spPr>
          <a:xfrm>
            <a:off x="8496300" y="2286000"/>
            <a:ext cx="749300" cy="749300"/>
          </a:xfrm>
          <a:prstGeom prst="roundRect">
            <a:avLst>
              <a:gd name="adj" fmla="val 49152"/>
            </a:avLst>
          </a:prstGeom>
          <a:solidFill>
            <a:srgbClr val="000000"/>
          </a:solidFill>
        </p:spPr>
      </p:sp>
      <p:sp>
        <p:nvSpPr>
          <p:cNvPr name="AutoShape 11" id="11"/>
          <p:cNvSpPr/>
          <p:nvPr/>
        </p:nvSpPr>
        <p:spPr>
          <a:xfrm>
            <a:off x="11938000" y="2032000"/>
            <a:ext cx="3429000" cy="5956300"/>
          </a:xfrm>
          <a:prstGeom prst="roundRect">
            <a:avLst>
              <a:gd name="adj" fmla="val 2592"/>
            </a:avLst>
          </a:prstGeom>
          <a:solidFill>
            <a:srgbClr val="D1D1D1">
              <a:alpha val="71765"/>
            </a:srgbClr>
          </a:solidFill>
        </p:spPr>
      </p:sp>
      <p:sp>
        <p:nvSpPr>
          <p:cNvPr name="AutoShape 12" id="12"/>
          <p:cNvSpPr/>
          <p:nvPr/>
        </p:nvSpPr>
        <p:spPr>
          <a:xfrm>
            <a:off x="12179300" y="2286000"/>
            <a:ext cx="749300" cy="749300"/>
          </a:xfrm>
          <a:prstGeom prst="roundRect">
            <a:avLst>
              <a:gd name="adj" fmla="val 49152"/>
            </a:avLst>
          </a:prstGeom>
          <a:solidFill>
            <a:srgbClr val="000000"/>
          </a:solidFill>
        </p:spPr>
      </p:sp>
      <p:sp>
        <p:nvSpPr>
          <p:cNvPr name="TextBox 13" id="13"/>
          <p:cNvSpPr txBox="true"/>
          <p:nvPr/>
        </p:nvSpPr>
        <p:spPr>
          <a:xfrm>
            <a:off x="876300" y="1143000"/>
            <a:ext cx="14490700" cy="5969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3900" b="true">
                <a:solidFill>
                  <a:srgbClr val="000000"/>
                </a:solidFill>
                <a:latin typeface="Ubuntu"/>
              </a:rPr>
              <a:t>Implementation Stack</a:t>
            </a:r>
            <a:endParaRPr lang="en-US" sz="1100"/>
          </a:p>
        </p:txBody>
      </p:sp>
      <p:sp>
        <p:nvSpPr>
          <p:cNvPr name="TextBox 14" id="14"/>
          <p:cNvSpPr txBox="true"/>
          <p:nvPr/>
        </p:nvSpPr>
        <p:spPr>
          <a:xfrm>
            <a:off x="1130300" y="3289300"/>
            <a:ext cx="29210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000000"/>
                </a:solidFill>
                <a:latin typeface="Ubuntu"/>
              </a:rPr>
              <a:t>Backend</a:t>
            </a:r>
            <a:endParaRPr lang="en-US" sz="1100"/>
          </a:p>
        </p:txBody>
      </p:sp>
      <p:sp>
        <p:nvSpPr>
          <p:cNvPr name="TextBox 15" id="15"/>
          <p:cNvSpPr txBox="true"/>
          <p:nvPr/>
        </p:nvSpPr>
        <p:spPr>
          <a:xfrm>
            <a:off x="4813300" y="3289300"/>
            <a:ext cx="29210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000000"/>
                </a:solidFill>
                <a:latin typeface="Ubuntu"/>
              </a:rPr>
              <a:t>Frontend</a:t>
            </a:r>
            <a:endParaRPr lang="en-US" sz="1100"/>
          </a:p>
        </p:txBody>
      </p:sp>
      <p:sp>
        <p:nvSpPr>
          <p:cNvPr name="TextBox 16" id="16"/>
          <p:cNvSpPr txBox="true"/>
          <p:nvPr/>
        </p:nvSpPr>
        <p:spPr>
          <a:xfrm>
            <a:off x="8496300" y="3289300"/>
            <a:ext cx="29210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000000"/>
                </a:solidFill>
                <a:latin typeface="Ubuntu"/>
              </a:rPr>
              <a:t>SCADA</a:t>
            </a:r>
            <a:endParaRPr lang="en-US" sz="1100"/>
          </a:p>
        </p:txBody>
      </p:sp>
      <p:sp>
        <p:nvSpPr>
          <p:cNvPr name="TextBox 17" id="17"/>
          <p:cNvSpPr txBox="true"/>
          <p:nvPr/>
        </p:nvSpPr>
        <p:spPr>
          <a:xfrm>
            <a:off x="12179300" y="3289300"/>
            <a:ext cx="29210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000000"/>
                </a:solidFill>
                <a:latin typeface="Ubuntu"/>
              </a:rPr>
              <a:t>Bridge</a:t>
            </a:r>
            <a:endParaRPr lang="en-US" sz="1100"/>
          </a:p>
        </p:txBody>
      </p:sp>
      <p:sp>
        <p:nvSpPr>
          <p:cNvPr name="TextBox 18" id="18"/>
          <p:cNvSpPr txBox="true"/>
          <p:nvPr/>
        </p:nvSpPr>
        <p:spPr>
          <a:xfrm>
            <a:off x="1384300" y="3937000"/>
            <a:ext cx="2667000" cy="1130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FastAPI framework for async HTTP services</a:t>
            </a:r>
            <a:endParaRPr lang="en-US" sz="1100"/>
          </a:p>
        </p:txBody>
      </p:sp>
      <p:sp>
        <p:nvSpPr>
          <p:cNvPr name="TextBox 19" id="19"/>
          <p:cNvSpPr txBox="true"/>
          <p:nvPr/>
        </p:nvSpPr>
        <p:spPr>
          <a:xfrm>
            <a:off x="1384300" y="5270500"/>
            <a:ext cx="2667000" cy="1130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Ingest, scoring, and audit logic for data flow</a:t>
            </a:r>
            <a:endParaRPr lang="en-US" sz="1100"/>
          </a:p>
        </p:txBody>
      </p:sp>
      <p:sp>
        <p:nvSpPr>
          <p:cNvPr name="TextBox 20" id="20"/>
          <p:cNvSpPr txBox="true"/>
          <p:nvPr/>
        </p:nvSpPr>
        <p:spPr>
          <a:xfrm>
            <a:off x="1384300" y="6604000"/>
            <a:ext cx="2667000" cy="1130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Exposed API endpoints for integrations</a:t>
            </a:r>
            <a:endParaRPr lang="en-US" sz="1100"/>
          </a:p>
        </p:txBody>
      </p:sp>
      <p:sp>
        <p:nvSpPr>
          <p:cNvPr name="TextBox 21" id="21"/>
          <p:cNvSpPr txBox="true"/>
          <p:nvPr/>
        </p:nvSpPr>
        <p:spPr>
          <a:xfrm>
            <a:off x="5067300" y="3937000"/>
            <a:ext cx="2667000" cy="749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Next.js dashboard for real-time UI</a:t>
            </a:r>
            <a:endParaRPr lang="en-US" sz="1100"/>
          </a:p>
        </p:txBody>
      </p:sp>
      <p:sp>
        <p:nvSpPr>
          <p:cNvPr name="TextBox 22" id="22"/>
          <p:cNvSpPr txBox="true"/>
          <p:nvPr/>
        </p:nvSpPr>
        <p:spPr>
          <a:xfrm>
            <a:off x="5067300" y="4889500"/>
            <a:ext cx="2667000" cy="1130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Experiment and live workspaces for testing</a:t>
            </a:r>
            <a:endParaRPr lang="en-US" sz="1100"/>
          </a:p>
        </p:txBody>
      </p:sp>
      <p:sp>
        <p:nvSpPr>
          <p:cNvPr name="TextBox 23" id="23"/>
          <p:cNvSpPr txBox="true"/>
          <p:nvPr/>
        </p:nvSpPr>
        <p:spPr>
          <a:xfrm>
            <a:off x="5067300" y="6223000"/>
            <a:ext cx="2667000" cy="1130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Operator visualization for system monitoring</a:t>
            </a:r>
            <a:endParaRPr lang="en-US" sz="1100"/>
          </a:p>
        </p:txBody>
      </p:sp>
      <p:sp>
        <p:nvSpPr>
          <p:cNvPr name="TextBox 24" id="24"/>
          <p:cNvSpPr txBox="true"/>
          <p:nvPr/>
        </p:nvSpPr>
        <p:spPr>
          <a:xfrm>
            <a:off x="8750300" y="3937000"/>
            <a:ext cx="2667000" cy="1130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Rapid SCADA Webstation as control interface</a:t>
            </a:r>
            <a:endParaRPr lang="en-US" sz="1100"/>
          </a:p>
        </p:txBody>
      </p:sp>
      <p:sp>
        <p:nvSpPr>
          <p:cNvPr name="TextBox 25" id="25"/>
          <p:cNvSpPr txBox="true"/>
          <p:nvPr/>
        </p:nvSpPr>
        <p:spPr>
          <a:xfrm>
            <a:off x="8750300" y="5270500"/>
            <a:ext cx="2667000" cy="1130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Approximately 300 calculated channels monitored</a:t>
            </a:r>
            <a:endParaRPr lang="en-US" sz="1100"/>
          </a:p>
        </p:txBody>
      </p:sp>
      <p:sp>
        <p:nvSpPr>
          <p:cNvPr name="TextBox 26" id="26"/>
          <p:cNvSpPr txBox="true"/>
          <p:nvPr/>
        </p:nvSpPr>
        <p:spPr>
          <a:xfrm>
            <a:off x="8750300" y="6604000"/>
            <a:ext cx="2667000" cy="1130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100-agent grid for distributed processing</a:t>
            </a:r>
            <a:endParaRPr lang="en-US" sz="1100"/>
          </a:p>
        </p:txBody>
      </p:sp>
      <p:sp>
        <p:nvSpPr>
          <p:cNvPr name="TextBox 27" id="27"/>
          <p:cNvSpPr txBox="true"/>
          <p:nvPr/>
        </p:nvSpPr>
        <p:spPr>
          <a:xfrm>
            <a:off x="12433300" y="3937000"/>
            <a:ext cx="2667000" cy="749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PowerShell script for automation tasks</a:t>
            </a:r>
            <a:endParaRPr lang="en-US" sz="1100"/>
          </a:p>
        </p:txBody>
      </p:sp>
      <p:sp>
        <p:nvSpPr>
          <p:cNvPr name="TextBox 28" id="28"/>
          <p:cNvSpPr txBox="true"/>
          <p:nvPr/>
        </p:nvSpPr>
        <p:spPr>
          <a:xfrm>
            <a:off x="12433300" y="4889500"/>
            <a:ext cx="2667000" cy="749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Web API retrieval for external data fetch</a:t>
            </a:r>
            <a:endParaRPr lang="en-US" sz="1100"/>
          </a:p>
        </p:txBody>
      </p:sp>
      <p:sp>
        <p:nvSpPr>
          <p:cNvPr name="TextBox 29" id="29"/>
          <p:cNvSpPr txBox="true"/>
          <p:nvPr/>
        </p:nvSpPr>
        <p:spPr>
          <a:xfrm>
            <a:off x="12433300" y="5842000"/>
            <a:ext cx="2667000" cy="1130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Batch forwarding to downstream systems</a:t>
            </a:r>
            <a:endParaRPr lang="en-US" sz="1100"/>
          </a:p>
        </p:txBody>
      </p:sp>
      <p:sp>
        <p:nvSpPr>
          <p:cNvPr name="TextBox 30" id="30"/>
          <p:cNvSpPr txBox="true"/>
          <p:nvPr/>
        </p:nvSpPr>
        <p:spPr>
          <a:xfrm>
            <a:off x="1003300" y="40005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
        <p:nvSpPr>
          <p:cNvPr name="TextBox 31" id="31"/>
          <p:cNvSpPr txBox="true"/>
          <p:nvPr/>
        </p:nvSpPr>
        <p:spPr>
          <a:xfrm>
            <a:off x="1003300" y="53340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
        <p:nvSpPr>
          <p:cNvPr name="TextBox 32" id="32"/>
          <p:cNvSpPr txBox="true"/>
          <p:nvPr/>
        </p:nvSpPr>
        <p:spPr>
          <a:xfrm>
            <a:off x="1003300" y="66675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
        <p:nvSpPr>
          <p:cNvPr name="TextBox 33" id="33"/>
          <p:cNvSpPr txBox="true"/>
          <p:nvPr/>
        </p:nvSpPr>
        <p:spPr>
          <a:xfrm>
            <a:off x="4686300" y="40005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
        <p:nvSpPr>
          <p:cNvPr name="TextBox 34" id="34"/>
          <p:cNvSpPr txBox="true"/>
          <p:nvPr/>
        </p:nvSpPr>
        <p:spPr>
          <a:xfrm>
            <a:off x="4686300" y="49530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
        <p:nvSpPr>
          <p:cNvPr name="TextBox 35" id="35"/>
          <p:cNvSpPr txBox="true"/>
          <p:nvPr/>
        </p:nvSpPr>
        <p:spPr>
          <a:xfrm>
            <a:off x="4686300" y="62865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
        <p:nvSpPr>
          <p:cNvPr name="TextBox 36" id="36"/>
          <p:cNvSpPr txBox="true"/>
          <p:nvPr/>
        </p:nvSpPr>
        <p:spPr>
          <a:xfrm>
            <a:off x="8369300" y="40005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
        <p:nvSpPr>
          <p:cNvPr name="TextBox 37" id="37"/>
          <p:cNvSpPr txBox="true"/>
          <p:nvPr/>
        </p:nvSpPr>
        <p:spPr>
          <a:xfrm>
            <a:off x="8369300" y="53340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
        <p:nvSpPr>
          <p:cNvPr name="TextBox 38" id="38"/>
          <p:cNvSpPr txBox="true"/>
          <p:nvPr/>
        </p:nvSpPr>
        <p:spPr>
          <a:xfrm>
            <a:off x="8369300" y="66675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
        <p:nvSpPr>
          <p:cNvPr name="TextBox 39" id="39"/>
          <p:cNvSpPr txBox="true"/>
          <p:nvPr/>
        </p:nvSpPr>
        <p:spPr>
          <a:xfrm>
            <a:off x="12065000" y="40005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
        <p:nvSpPr>
          <p:cNvPr name="TextBox 40" id="40"/>
          <p:cNvSpPr txBox="true"/>
          <p:nvPr/>
        </p:nvSpPr>
        <p:spPr>
          <a:xfrm>
            <a:off x="12065000" y="49530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
        <p:nvSpPr>
          <p:cNvPr name="TextBox 41" id="41"/>
          <p:cNvSpPr txBox="true"/>
          <p:nvPr/>
        </p:nvSpPr>
        <p:spPr>
          <a:xfrm>
            <a:off x="12065000" y="59055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pic>
        <p:nvPicPr>
          <p:cNvPr name="Picture 42" id="42"/>
          <p:cNvPicPr>
            <a:picLocks noChangeAspect="true"/>
          </p:cNvPicPr>
          <p:nvPr/>
        </p:nvPicPr>
        <p:blipFill>
          <a:blip r:embed="rId3"/>
          <a:stretch>
            <a:fillRect/>
          </a:stretch>
        </p:blipFill>
        <p:spPr>
          <a:xfrm>
            <a:off x="1384300" y="2540000"/>
            <a:ext cx="241300" cy="241300"/>
          </a:xfrm>
          <a:prstGeom prst="rect">
            <a:avLst/>
          </a:prstGeom>
        </p:spPr>
      </p:pic>
      <p:pic>
        <p:nvPicPr>
          <p:cNvPr name="Picture 43" id="43"/>
          <p:cNvPicPr>
            <a:picLocks noChangeAspect="true"/>
          </p:cNvPicPr>
          <p:nvPr/>
        </p:nvPicPr>
        <p:blipFill>
          <a:blip r:embed="rId4"/>
          <a:stretch>
            <a:fillRect/>
          </a:stretch>
        </p:blipFill>
        <p:spPr>
          <a:xfrm>
            <a:off x="5054600" y="2540000"/>
            <a:ext cx="241300" cy="241300"/>
          </a:xfrm>
          <a:prstGeom prst="rect">
            <a:avLst/>
          </a:prstGeom>
        </p:spPr>
      </p:pic>
      <p:pic>
        <p:nvPicPr>
          <p:cNvPr name="Picture 44" id="44"/>
          <p:cNvPicPr>
            <a:picLocks noChangeAspect="true"/>
          </p:cNvPicPr>
          <p:nvPr/>
        </p:nvPicPr>
        <p:blipFill>
          <a:blip r:embed="rId5"/>
          <a:stretch>
            <a:fillRect/>
          </a:stretch>
        </p:blipFill>
        <p:spPr>
          <a:xfrm>
            <a:off x="8750300" y="2540000"/>
            <a:ext cx="241300" cy="241300"/>
          </a:xfrm>
          <a:prstGeom prst="rect">
            <a:avLst/>
          </a:prstGeom>
        </p:spPr>
      </p:pic>
      <p:pic>
        <p:nvPicPr>
          <p:cNvPr name="Picture 45" id="45"/>
          <p:cNvPicPr>
            <a:picLocks noChangeAspect="true"/>
          </p:cNvPicPr>
          <p:nvPr/>
        </p:nvPicPr>
        <p:blipFill>
          <a:blip r:embed="rId6"/>
          <a:stretch>
            <a:fillRect/>
          </a:stretch>
        </p:blipFill>
        <p:spPr>
          <a:xfrm>
            <a:off x="12471400" y="2565400"/>
            <a:ext cx="177800" cy="177800"/>
          </a:xfrm>
          <a:prstGeom prst="rect">
            <a:avLst/>
          </a:prstGeom>
        </p:spPr>
      </p:pic>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0" y="0"/>
            <a:ext cx="16256000" cy="9144000"/>
          </a:xfrm>
          <a:prstGeom prst="rect">
            <a:avLst/>
          </a:prstGeom>
          <a:solidFill>
            <a:srgbClr val="0D0A2C">
              <a:alpha val="74902"/>
            </a:srgbClr>
          </a:solidFill>
        </p:spPr>
      </p:sp>
      <p:pic>
        <p:nvPicPr>
          <p:cNvPr name="Picture 3" id="3"/>
          <p:cNvPicPr>
            <a:picLocks noChangeAspect="true"/>
          </p:cNvPicPr>
          <p:nvPr/>
        </p:nvPicPr>
        <p:blipFill>
          <a:blip r:embed="rId2"/>
          <a:srcRect t="56" b="56"/>
          <a:stretch>
            <a:fillRect/>
          </a:stretch>
        </p:blipFill>
        <p:spPr>
          <a:xfrm>
            <a:off x="0" y="0"/>
            <a:ext cx="16256000" cy="9144000"/>
          </a:xfrm>
          <a:prstGeom prst="rect">
            <a:avLst/>
          </a:prstGeom>
        </p:spPr>
      </p:pic>
      <p:sp>
        <p:nvSpPr>
          <p:cNvPr name="AutoShape 4" id="4"/>
          <p:cNvSpPr/>
          <p:nvPr/>
        </p:nvSpPr>
        <p:spPr>
          <a:xfrm>
            <a:off x="876300" y="2819400"/>
            <a:ext cx="14490700" cy="5029200"/>
          </a:xfrm>
          <a:prstGeom prst="rect">
            <a:avLst/>
          </a:prstGeom>
          <a:solidFill>
            <a:srgbClr val="000000">
              <a:alpha val="0"/>
            </a:srgbClr>
          </a:solidFill>
          <a:ln w="12700">
            <a:solidFill>
              <a:srgbClr val="A1A1A1"/>
            </a:solidFill>
          </a:ln>
        </p:spPr>
      </p:sp>
      <p:sp>
        <p:nvSpPr>
          <p:cNvPr name="AutoShape 5" id="5"/>
          <p:cNvSpPr/>
          <p:nvPr/>
        </p:nvSpPr>
        <p:spPr>
          <a:xfrm>
            <a:off x="889000" y="2832100"/>
            <a:ext cx="2006600" cy="546100"/>
          </a:xfrm>
          <a:prstGeom prst="rect">
            <a:avLst/>
          </a:prstGeom>
          <a:solidFill>
            <a:srgbClr val="D1D1D1">
              <a:alpha val="71765"/>
            </a:srgbClr>
          </a:solidFill>
          <a:ln w="12700">
            <a:solidFill>
              <a:srgbClr val="A1A1A1"/>
            </a:solidFill>
          </a:ln>
        </p:spPr>
      </p:sp>
      <p:sp>
        <p:nvSpPr>
          <p:cNvPr name="AutoShape 6" id="6"/>
          <p:cNvSpPr/>
          <p:nvPr/>
        </p:nvSpPr>
        <p:spPr>
          <a:xfrm>
            <a:off x="2908300" y="2832100"/>
            <a:ext cx="10528300" cy="546100"/>
          </a:xfrm>
          <a:prstGeom prst="rect">
            <a:avLst/>
          </a:prstGeom>
          <a:solidFill>
            <a:srgbClr val="D1D1D1">
              <a:alpha val="71765"/>
            </a:srgbClr>
          </a:solidFill>
          <a:ln w="12700">
            <a:solidFill>
              <a:srgbClr val="A1A1A1"/>
            </a:solidFill>
          </a:ln>
        </p:spPr>
      </p:sp>
      <p:sp>
        <p:nvSpPr>
          <p:cNvPr name="AutoShape 7" id="7"/>
          <p:cNvSpPr/>
          <p:nvPr/>
        </p:nvSpPr>
        <p:spPr>
          <a:xfrm>
            <a:off x="13436600" y="2832100"/>
            <a:ext cx="1905000" cy="546100"/>
          </a:xfrm>
          <a:prstGeom prst="rect">
            <a:avLst/>
          </a:prstGeom>
          <a:solidFill>
            <a:srgbClr val="D1D1D1">
              <a:alpha val="71765"/>
            </a:srgbClr>
          </a:solidFill>
          <a:ln w="12700">
            <a:solidFill>
              <a:srgbClr val="A1A1A1"/>
            </a:solidFill>
          </a:ln>
        </p:spPr>
      </p:sp>
      <p:sp>
        <p:nvSpPr>
          <p:cNvPr name="AutoShape 8" id="8"/>
          <p:cNvSpPr/>
          <p:nvPr/>
        </p:nvSpPr>
        <p:spPr>
          <a:xfrm>
            <a:off x="889000" y="3390900"/>
            <a:ext cx="2006600" cy="546100"/>
          </a:xfrm>
          <a:prstGeom prst="rect">
            <a:avLst/>
          </a:prstGeom>
          <a:solidFill>
            <a:srgbClr val="000000">
              <a:alpha val="0"/>
            </a:srgbClr>
          </a:solidFill>
          <a:ln w="12700">
            <a:solidFill>
              <a:srgbClr val="A1A1A1"/>
            </a:solidFill>
          </a:ln>
        </p:spPr>
      </p:sp>
      <p:sp>
        <p:nvSpPr>
          <p:cNvPr name="AutoShape 9" id="9"/>
          <p:cNvSpPr/>
          <p:nvPr/>
        </p:nvSpPr>
        <p:spPr>
          <a:xfrm>
            <a:off x="2908300" y="3390900"/>
            <a:ext cx="10528300" cy="546100"/>
          </a:xfrm>
          <a:prstGeom prst="rect">
            <a:avLst/>
          </a:prstGeom>
          <a:solidFill>
            <a:srgbClr val="000000">
              <a:alpha val="0"/>
            </a:srgbClr>
          </a:solidFill>
          <a:ln w="12700">
            <a:solidFill>
              <a:srgbClr val="A1A1A1"/>
            </a:solidFill>
          </a:ln>
        </p:spPr>
      </p:sp>
      <p:sp>
        <p:nvSpPr>
          <p:cNvPr name="AutoShape 10" id="10"/>
          <p:cNvSpPr/>
          <p:nvPr/>
        </p:nvSpPr>
        <p:spPr>
          <a:xfrm>
            <a:off x="13436600" y="3390900"/>
            <a:ext cx="1905000" cy="546100"/>
          </a:xfrm>
          <a:prstGeom prst="rect">
            <a:avLst/>
          </a:prstGeom>
          <a:solidFill>
            <a:srgbClr val="000000">
              <a:alpha val="0"/>
            </a:srgbClr>
          </a:solidFill>
          <a:ln w="12700">
            <a:solidFill>
              <a:srgbClr val="A1A1A1"/>
            </a:solidFill>
          </a:ln>
        </p:spPr>
      </p:sp>
      <p:sp>
        <p:nvSpPr>
          <p:cNvPr name="AutoShape 11" id="11"/>
          <p:cNvSpPr/>
          <p:nvPr/>
        </p:nvSpPr>
        <p:spPr>
          <a:xfrm>
            <a:off x="889000" y="3949700"/>
            <a:ext cx="2006600" cy="546100"/>
          </a:xfrm>
          <a:prstGeom prst="rect">
            <a:avLst/>
          </a:prstGeom>
          <a:solidFill>
            <a:srgbClr val="000000">
              <a:alpha val="0"/>
            </a:srgbClr>
          </a:solidFill>
          <a:ln w="12700">
            <a:solidFill>
              <a:srgbClr val="A1A1A1"/>
            </a:solidFill>
          </a:ln>
        </p:spPr>
      </p:sp>
      <p:sp>
        <p:nvSpPr>
          <p:cNvPr name="AutoShape 12" id="12"/>
          <p:cNvSpPr/>
          <p:nvPr/>
        </p:nvSpPr>
        <p:spPr>
          <a:xfrm>
            <a:off x="2908300" y="3949700"/>
            <a:ext cx="10528300" cy="546100"/>
          </a:xfrm>
          <a:prstGeom prst="rect">
            <a:avLst/>
          </a:prstGeom>
          <a:solidFill>
            <a:srgbClr val="000000">
              <a:alpha val="0"/>
            </a:srgbClr>
          </a:solidFill>
          <a:ln w="12700">
            <a:solidFill>
              <a:srgbClr val="A1A1A1"/>
            </a:solidFill>
          </a:ln>
        </p:spPr>
      </p:sp>
      <p:sp>
        <p:nvSpPr>
          <p:cNvPr name="AutoShape 13" id="13"/>
          <p:cNvSpPr/>
          <p:nvPr/>
        </p:nvSpPr>
        <p:spPr>
          <a:xfrm>
            <a:off x="13436600" y="3949700"/>
            <a:ext cx="1905000" cy="546100"/>
          </a:xfrm>
          <a:prstGeom prst="rect">
            <a:avLst/>
          </a:prstGeom>
          <a:solidFill>
            <a:srgbClr val="000000">
              <a:alpha val="0"/>
            </a:srgbClr>
          </a:solidFill>
          <a:ln w="12700">
            <a:solidFill>
              <a:srgbClr val="A1A1A1"/>
            </a:solidFill>
          </a:ln>
        </p:spPr>
      </p:sp>
      <p:sp>
        <p:nvSpPr>
          <p:cNvPr name="AutoShape 14" id="14"/>
          <p:cNvSpPr/>
          <p:nvPr/>
        </p:nvSpPr>
        <p:spPr>
          <a:xfrm>
            <a:off x="889000" y="4508500"/>
            <a:ext cx="2006600" cy="546100"/>
          </a:xfrm>
          <a:prstGeom prst="rect">
            <a:avLst/>
          </a:prstGeom>
          <a:solidFill>
            <a:srgbClr val="000000">
              <a:alpha val="0"/>
            </a:srgbClr>
          </a:solidFill>
          <a:ln w="12700">
            <a:solidFill>
              <a:srgbClr val="A1A1A1"/>
            </a:solidFill>
          </a:ln>
        </p:spPr>
      </p:sp>
      <p:sp>
        <p:nvSpPr>
          <p:cNvPr name="AutoShape 15" id="15"/>
          <p:cNvSpPr/>
          <p:nvPr/>
        </p:nvSpPr>
        <p:spPr>
          <a:xfrm>
            <a:off x="2908300" y="4508500"/>
            <a:ext cx="10528300" cy="546100"/>
          </a:xfrm>
          <a:prstGeom prst="rect">
            <a:avLst/>
          </a:prstGeom>
          <a:solidFill>
            <a:srgbClr val="000000">
              <a:alpha val="0"/>
            </a:srgbClr>
          </a:solidFill>
          <a:ln w="12700">
            <a:solidFill>
              <a:srgbClr val="A1A1A1"/>
            </a:solidFill>
          </a:ln>
        </p:spPr>
      </p:sp>
      <p:sp>
        <p:nvSpPr>
          <p:cNvPr name="AutoShape 16" id="16"/>
          <p:cNvSpPr/>
          <p:nvPr/>
        </p:nvSpPr>
        <p:spPr>
          <a:xfrm>
            <a:off x="13436600" y="4508500"/>
            <a:ext cx="1905000" cy="546100"/>
          </a:xfrm>
          <a:prstGeom prst="rect">
            <a:avLst/>
          </a:prstGeom>
          <a:solidFill>
            <a:srgbClr val="000000">
              <a:alpha val="0"/>
            </a:srgbClr>
          </a:solidFill>
          <a:ln w="12700">
            <a:solidFill>
              <a:srgbClr val="A1A1A1"/>
            </a:solidFill>
          </a:ln>
        </p:spPr>
      </p:sp>
      <p:sp>
        <p:nvSpPr>
          <p:cNvPr name="AutoShape 17" id="17"/>
          <p:cNvSpPr/>
          <p:nvPr/>
        </p:nvSpPr>
        <p:spPr>
          <a:xfrm>
            <a:off x="889000" y="5067300"/>
            <a:ext cx="2006600" cy="546100"/>
          </a:xfrm>
          <a:prstGeom prst="rect">
            <a:avLst/>
          </a:prstGeom>
          <a:solidFill>
            <a:srgbClr val="000000">
              <a:alpha val="0"/>
            </a:srgbClr>
          </a:solidFill>
          <a:ln w="12700">
            <a:solidFill>
              <a:srgbClr val="A1A1A1"/>
            </a:solidFill>
          </a:ln>
        </p:spPr>
      </p:sp>
      <p:sp>
        <p:nvSpPr>
          <p:cNvPr name="AutoShape 18" id="18"/>
          <p:cNvSpPr/>
          <p:nvPr/>
        </p:nvSpPr>
        <p:spPr>
          <a:xfrm>
            <a:off x="2908300" y="5067300"/>
            <a:ext cx="10528300" cy="546100"/>
          </a:xfrm>
          <a:prstGeom prst="rect">
            <a:avLst/>
          </a:prstGeom>
          <a:solidFill>
            <a:srgbClr val="000000">
              <a:alpha val="0"/>
            </a:srgbClr>
          </a:solidFill>
          <a:ln w="12700">
            <a:solidFill>
              <a:srgbClr val="A1A1A1"/>
            </a:solidFill>
          </a:ln>
        </p:spPr>
      </p:sp>
      <p:sp>
        <p:nvSpPr>
          <p:cNvPr name="AutoShape 19" id="19"/>
          <p:cNvSpPr/>
          <p:nvPr/>
        </p:nvSpPr>
        <p:spPr>
          <a:xfrm>
            <a:off x="13436600" y="5067300"/>
            <a:ext cx="1905000" cy="546100"/>
          </a:xfrm>
          <a:prstGeom prst="rect">
            <a:avLst/>
          </a:prstGeom>
          <a:solidFill>
            <a:srgbClr val="000000">
              <a:alpha val="0"/>
            </a:srgbClr>
          </a:solidFill>
          <a:ln w="12700">
            <a:solidFill>
              <a:srgbClr val="A1A1A1"/>
            </a:solidFill>
          </a:ln>
        </p:spPr>
      </p:sp>
      <p:sp>
        <p:nvSpPr>
          <p:cNvPr name="AutoShape 20" id="20"/>
          <p:cNvSpPr/>
          <p:nvPr/>
        </p:nvSpPr>
        <p:spPr>
          <a:xfrm>
            <a:off x="889000" y="5613400"/>
            <a:ext cx="2006600" cy="546100"/>
          </a:xfrm>
          <a:prstGeom prst="rect">
            <a:avLst/>
          </a:prstGeom>
          <a:solidFill>
            <a:srgbClr val="000000">
              <a:alpha val="0"/>
            </a:srgbClr>
          </a:solidFill>
          <a:ln w="12700">
            <a:solidFill>
              <a:srgbClr val="A1A1A1"/>
            </a:solidFill>
          </a:ln>
        </p:spPr>
      </p:sp>
      <p:sp>
        <p:nvSpPr>
          <p:cNvPr name="AutoShape 21" id="21"/>
          <p:cNvSpPr/>
          <p:nvPr/>
        </p:nvSpPr>
        <p:spPr>
          <a:xfrm>
            <a:off x="2908300" y="5613400"/>
            <a:ext cx="10528300" cy="546100"/>
          </a:xfrm>
          <a:prstGeom prst="rect">
            <a:avLst/>
          </a:prstGeom>
          <a:solidFill>
            <a:srgbClr val="000000">
              <a:alpha val="0"/>
            </a:srgbClr>
          </a:solidFill>
          <a:ln w="12700">
            <a:solidFill>
              <a:srgbClr val="A1A1A1"/>
            </a:solidFill>
          </a:ln>
        </p:spPr>
      </p:sp>
      <p:sp>
        <p:nvSpPr>
          <p:cNvPr name="AutoShape 22" id="22"/>
          <p:cNvSpPr/>
          <p:nvPr/>
        </p:nvSpPr>
        <p:spPr>
          <a:xfrm>
            <a:off x="13436600" y="5613400"/>
            <a:ext cx="1905000" cy="546100"/>
          </a:xfrm>
          <a:prstGeom prst="rect">
            <a:avLst/>
          </a:prstGeom>
          <a:solidFill>
            <a:srgbClr val="000000">
              <a:alpha val="0"/>
            </a:srgbClr>
          </a:solidFill>
          <a:ln w="12700">
            <a:solidFill>
              <a:srgbClr val="A1A1A1"/>
            </a:solidFill>
          </a:ln>
        </p:spPr>
      </p:sp>
      <p:sp>
        <p:nvSpPr>
          <p:cNvPr name="AutoShape 23" id="23"/>
          <p:cNvSpPr/>
          <p:nvPr/>
        </p:nvSpPr>
        <p:spPr>
          <a:xfrm>
            <a:off x="889000" y="6172200"/>
            <a:ext cx="2006600" cy="546100"/>
          </a:xfrm>
          <a:prstGeom prst="rect">
            <a:avLst/>
          </a:prstGeom>
          <a:solidFill>
            <a:srgbClr val="000000">
              <a:alpha val="0"/>
            </a:srgbClr>
          </a:solidFill>
          <a:ln w="12700">
            <a:solidFill>
              <a:srgbClr val="A1A1A1"/>
            </a:solidFill>
          </a:ln>
        </p:spPr>
      </p:sp>
      <p:sp>
        <p:nvSpPr>
          <p:cNvPr name="AutoShape 24" id="24"/>
          <p:cNvSpPr/>
          <p:nvPr/>
        </p:nvSpPr>
        <p:spPr>
          <a:xfrm>
            <a:off x="2908300" y="6172200"/>
            <a:ext cx="10528300" cy="546100"/>
          </a:xfrm>
          <a:prstGeom prst="rect">
            <a:avLst/>
          </a:prstGeom>
          <a:solidFill>
            <a:srgbClr val="000000">
              <a:alpha val="0"/>
            </a:srgbClr>
          </a:solidFill>
          <a:ln w="12700">
            <a:solidFill>
              <a:srgbClr val="A1A1A1"/>
            </a:solidFill>
          </a:ln>
        </p:spPr>
      </p:sp>
      <p:sp>
        <p:nvSpPr>
          <p:cNvPr name="AutoShape 25" id="25"/>
          <p:cNvSpPr/>
          <p:nvPr/>
        </p:nvSpPr>
        <p:spPr>
          <a:xfrm>
            <a:off x="13436600" y="6172200"/>
            <a:ext cx="1905000" cy="546100"/>
          </a:xfrm>
          <a:prstGeom prst="rect">
            <a:avLst/>
          </a:prstGeom>
          <a:solidFill>
            <a:srgbClr val="000000">
              <a:alpha val="0"/>
            </a:srgbClr>
          </a:solidFill>
          <a:ln w="12700">
            <a:solidFill>
              <a:srgbClr val="A1A1A1"/>
            </a:solidFill>
          </a:ln>
        </p:spPr>
      </p:sp>
      <p:sp>
        <p:nvSpPr>
          <p:cNvPr name="AutoShape 26" id="26"/>
          <p:cNvSpPr/>
          <p:nvPr/>
        </p:nvSpPr>
        <p:spPr>
          <a:xfrm>
            <a:off x="889000" y="6731000"/>
            <a:ext cx="2006600" cy="546100"/>
          </a:xfrm>
          <a:prstGeom prst="rect">
            <a:avLst/>
          </a:prstGeom>
          <a:solidFill>
            <a:srgbClr val="000000">
              <a:alpha val="0"/>
            </a:srgbClr>
          </a:solidFill>
          <a:ln w="12700">
            <a:solidFill>
              <a:srgbClr val="A1A1A1"/>
            </a:solidFill>
          </a:ln>
        </p:spPr>
      </p:sp>
      <p:sp>
        <p:nvSpPr>
          <p:cNvPr name="AutoShape 27" id="27"/>
          <p:cNvSpPr/>
          <p:nvPr/>
        </p:nvSpPr>
        <p:spPr>
          <a:xfrm>
            <a:off x="2908300" y="6731000"/>
            <a:ext cx="10528300" cy="546100"/>
          </a:xfrm>
          <a:prstGeom prst="rect">
            <a:avLst/>
          </a:prstGeom>
          <a:solidFill>
            <a:srgbClr val="000000">
              <a:alpha val="0"/>
            </a:srgbClr>
          </a:solidFill>
          <a:ln w="12700">
            <a:solidFill>
              <a:srgbClr val="A1A1A1"/>
            </a:solidFill>
          </a:ln>
        </p:spPr>
      </p:sp>
      <p:sp>
        <p:nvSpPr>
          <p:cNvPr name="AutoShape 28" id="28"/>
          <p:cNvSpPr/>
          <p:nvPr/>
        </p:nvSpPr>
        <p:spPr>
          <a:xfrm>
            <a:off x="13436600" y="6731000"/>
            <a:ext cx="1905000" cy="546100"/>
          </a:xfrm>
          <a:prstGeom prst="rect">
            <a:avLst/>
          </a:prstGeom>
          <a:solidFill>
            <a:srgbClr val="000000">
              <a:alpha val="0"/>
            </a:srgbClr>
          </a:solidFill>
          <a:ln w="12700">
            <a:solidFill>
              <a:srgbClr val="A1A1A1"/>
            </a:solidFill>
          </a:ln>
        </p:spPr>
      </p:sp>
      <p:sp>
        <p:nvSpPr>
          <p:cNvPr name="AutoShape 29" id="29"/>
          <p:cNvSpPr/>
          <p:nvPr/>
        </p:nvSpPr>
        <p:spPr>
          <a:xfrm>
            <a:off x="889000" y="7289800"/>
            <a:ext cx="2006600" cy="546100"/>
          </a:xfrm>
          <a:prstGeom prst="rect">
            <a:avLst/>
          </a:prstGeom>
          <a:solidFill>
            <a:srgbClr val="000000">
              <a:alpha val="0"/>
            </a:srgbClr>
          </a:solidFill>
          <a:ln w="12700">
            <a:solidFill>
              <a:srgbClr val="A1A1A1"/>
            </a:solidFill>
          </a:ln>
        </p:spPr>
      </p:sp>
      <p:sp>
        <p:nvSpPr>
          <p:cNvPr name="AutoShape 30" id="30"/>
          <p:cNvSpPr/>
          <p:nvPr/>
        </p:nvSpPr>
        <p:spPr>
          <a:xfrm>
            <a:off x="2908300" y="7289800"/>
            <a:ext cx="10528300" cy="546100"/>
          </a:xfrm>
          <a:prstGeom prst="rect">
            <a:avLst/>
          </a:prstGeom>
          <a:solidFill>
            <a:srgbClr val="000000">
              <a:alpha val="0"/>
            </a:srgbClr>
          </a:solidFill>
          <a:ln w="12700">
            <a:solidFill>
              <a:srgbClr val="A1A1A1"/>
            </a:solidFill>
          </a:ln>
        </p:spPr>
      </p:sp>
      <p:sp>
        <p:nvSpPr>
          <p:cNvPr name="AutoShape 31" id="31"/>
          <p:cNvSpPr/>
          <p:nvPr/>
        </p:nvSpPr>
        <p:spPr>
          <a:xfrm>
            <a:off x="13436600" y="7289800"/>
            <a:ext cx="1905000" cy="546100"/>
          </a:xfrm>
          <a:prstGeom prst="rect">
            <a:avLst/>
          </a:prstGeom>
          <a:solidFill>
            <a:srgbClr val="000000">
              <a:alpha val="0"/>
            </a:srgbClr>
          </a:solidFill>
          <a:ln w="12700">
            <a:solidFill>
              <a:srgbClr val="A1A1A1"/>
            </a:solidFill>
          </a:ln>
        </p:spPr>
      </p:sp>
      <p:sp>
        <p:nvSpPr>
          <p:cNvPr name="TextBox 32" id="32"/>
          <p:cNvSpPr txBox="true"/>
          <p:nvPr/>
        </p:nvSpPr>
        <p:spPr>
          <a:xfrm>
            <a:off x="876300" y="1270000"/>
            <a:ext cx="14490700" cy="5969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3900" b="true">
                <a:solidFill>
                  <a:srgbClr val="000000"/>
                </a:solidFill>
                <a:latin typeface="Ubuntu"/>
              </a:rPr>
              <a:t>Implementation Test Cases</a:t>
            </a:r>
            <a:endParaRPr lang="en-US" sz="1100"/>
          </a:p>
        </p:txBody>
      </p:sp>
      <p:sp>
        <p:nvSpPr>
          <p:cNvPr name="TextBox 33" id="33"/>
          <p:cNvSpPr txBox="true"/>
          <p:nvPr/>
        </p:nvSpPr>
        <p:spPr>
          <a:xfrm>
            <a:off x="876300" y="2159000"/>
            <a:ext cx="144907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Eight test cases validated system correctness:</a:t>
            </a:r>
            <a:endParaRPr lang="en-US" sz="1100"/>
          </a:p>
        </p:txBody>
      </p:sp>
      <p:sp>
        <p:nvSpPr>
          <p:cNvPr name="TextBox 34" id="34"/>
          <p:cNvSpPr txBox="true"/>
          <p:nvPr/>
        </p:nvSpPr>
        <p:spPr>
          <a:xfrm>
            <a:off x="977900" y="2921000"/>
            <a:ext cx="18288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Test ID</a:t>
            </a:r>
            <a:endParaRPr lang="en-US" sz="1100"/>
          </a:p>
        </p:txBody>
      </p:sp>
      <p:sp>
        <p:nvSpPr>
          <p:cNvPr name="TextBox 35" id="35"/>
          <p:cNvSpPr txBox="true"/>
          <p:nvPr/>
        </p:nvSpPr>
        <p:spPr>
          <a:xfrm>
            <a:off x="2997200" y="2921000"/>
            <a:ext cx="103505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Objective</a:t>
            </a:r>
            <a:endParaRPr lang="en-US" sz="1100"/>
          </a:p>
        </p:txBody>
      </p:sp>
      <p:sp>
        <p:nvSpPr>
          <p:cNvPr name="TextBox 36" id="36"/>
          <p:cNvSpPr txBox="true"/>
          <p:nvPr/>
        </p:nvSpPr>
        <p:spPr>
          <a:xfrm>
            <a:off x="13525500" y="2921000"/>
            <a:ext cx="17272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Result</a:t>
            </a:r>
            <a:endParaRPr lang="en-US" sz="1100"/>
          </a:p>
        </p:txBody>
      </p:sp>
      <p:sp>
        <p:nvSpPr>
          <p:cNvPr name="TextBox 37" id="37"/>
          <p:cNvSpPr txBox="true"/>
          <p:nvPr/>
        </p:nvSpPr>
        <p:spPr>
          <a:xfrm>
            <a:off x="977900" y="3479800"/>
            <a:ext cx="18288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TC-01</a:t>
            </a:r>
            <a:endParaRPr lang="en-US" sz="1100"/>
          </a:p>
        </p:txBody>
      </p:sp>
      <p:sp>
        <p:nvSpPr>
          <p:cNvPr name="TextBox 38" id="38"/>
          <p:cNvSpPr txBox="true"/>
          <p:nvPr/>
        </p:nvSpPr>
        <p:spPr>
          <a:xfrm>
            <a:off x="2997200" y="3479800"/>
            <a:ext cx="103505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Baseline behavior validation</a:t>
            </a:r>
            <a:endParaRPr lang="en-US" sz="1100"/>
          </a:p>
        </p:txBody>
      </p:sp>
      <p:sp>
        <p:nvSpPr>
          <p:cNvPr name="TextBox 39" id="39"/>
          <p:cNvSpPr txBox="true"/>
          <p:nvPr/>
        </p:nvSpPr>
        <p:spPr>
          <a:xfrm>
            <a:off x="13525500" y="3479800"/>
            <a:ext cx="17272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Pass</a:t>
            </a:r>
            <a:endParaRPr lang="en-US" sz="1100"/>
          </a:p>
        </p:txBody>
      </p:sp>
      <p:sp>
        <p:nvSpPr>
          <p:cNvPr name="TextBox 40" id="40"/>
          <p:cNvSpPr txBox="true"/>
          <p:nvPr/>
        </p:nvSpPr>
        <p:spPr>
          <a:xfrm>
            <a:off x="977900" y="4038600"/>
            <a:ext cx="18288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TC-02</a:t>
            </a:r>
            <a:endParaRPr lang="en-US" sz="1100"/>
          </a:p>
        </p:txBody>
      </p:sp>
      <p:sp>
        <p:nvSpPr>
          <p:cNvPr name="TextBox 41" id="41"/>
          <p:cNvSpPr txBox="true"/>
          <p:nvPr/>
        </p:nvSpPr>
        <p:spPr>
          <a:xfrm>
            <a:off x="2997200" y="4038600"/>
            <a:ext cx="103505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Anomaly scoring with injected deviations</a:t>
            </a:r>
            <a:endParaRPr lang="en-US" sz="1100"/>
          </a:p>
        </p:txBody>
      </p:sp>
      <p:sp>
        <p:nvSpPr>
          <p:cNvPr name="TextBox 42" id="42"/>
          <p:cNvSpPr txBox="true"/>
          <p:nvPr/>
        </p:nvSpPr>
        <p:spPr>
          <a:xfrm>
            <a:off x="13525500" y="4038600"/>
            <a:ext cx="17272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Pass</a:t>
            </a:r>
            <a:endParaRPr lang="en-US" sz="1100"/>
          </a:p>
        </p:txBody>
      </p:sp>
      <p:sp>
        <p:nvSpPr>
          <p:cNvPr name="TextBox 43" id="43"/>
          <p:cNvSpPr txBox="true"/>
          <p:nvPr/>
        </p:nvSpPr>
        <p:spPr>
          <a:xfrm>
            <a:off x="977900" y="4597400"/>
            <a:ext cx="18288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TC-03</a:t>
            </a:r>
            <a:endParaRPr lang="en-US" sz="1100"/>
          </a:p>
        </p:txBody>
      </p:sp>
      <p:sp>
        <p:nvSpPr>
          <p:cNvPr name="TextBox 44" id="44"/>
          <p:cNvSpPr txBox="true"/>
          <p:nvPr/>
        </p:nvSpPr>
        <p:spPr>
          <a:xfrm>
            <a:off x="2997200" y="4597400"/>
            <a:ext cx="103505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Audit escalation logic</a:t>
            </a:r>
            <a:endParaRPr lang="en-US" sz="1100"/>
          </a:p>
        </p:txBody>
      </p:sp>
      <p:sp>
        <p:nvSpPr>
          <p:cNvPr name="TextBox 45" id="45"/>
          <p:cNvSpPr txBox="true"/>
          <p:nvPr/>
        </p:nvSpPr>
        <p:spPr>
          <a:xfrm>
            <a:off x="13525500" y="4597400"/>
            <a:ext cx="17272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Pass</a:t>
            </a:r>
            <a:endParaRPr lang="en-US" sz="1100"/>
          </a:p>
        </p:txBody>
      </p:sp>
      <p:sp>
        <p:nvSpPr>
          <p:cNvPr name="TextBox 46" id="46"/>
          <p:cNvSpPr txBox="true"/>
          <p:nvPr/>
        </p:nvSpPr>
        <p:spPr>
          <a:xfrm>
            <a:off x="977900" y="5156200"/>
            <a:ext cx="18288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TC-04</a:t>
            </a:r>
            <a:endParaRPr lang="en-US" sz="1100"/>
          </a:p>
        </p:txBody>
      </p:sp>
      <p:sp>
        <p:nvSpPr>
          <p:cNvPr name="TextBox 47" id="47"/>
          <p:cNvSpPr txBox="true"/>
          <p:nvPr/>
        </p:nvSpPr>
        <p:spPr>
          <a:xfrm>
            <a:off x="2997200" y="5156200"/>
            <a:ext cx="103505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Rapid SCADA integration</a:t>
            </a:r>
            <a:endParaRPr lang="en-US" sz="1100"/>
          </a:p>
        </p:txBody>
      </p:sp>
      <p:sp>
        <p:nvSpPr>
          <p:cNvPr name="TextBox 48" id="48"/>
          <p:cNvSpPr txBox="true"/>
          <p:nvPr/>
        </p:nvSpPr>
        <p:spPr>
          <a:xfrm>
            <a:off x="13525500" y="5156200"/>
            <a:ext cx="17272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Pass</a:t>
            </a:r>
            <a:endParaRPr lang="en-US" sz="1100"/>
          </a:p>
        </p:txBody>
      </p:sp>
      <p:sp>
        <p:nvSpPr>
          <p:cNvPr name="TextBox 49" id="49"/>
          <p:cNvSpPr txBox="true"/>
          <p:nvPr/>
        </p:nvSpPr>
        <p:spPr>
          <a:xfrm>
            <a:off x="977900" y="5702300"/>
            <a:ext cx="18288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TC-05</a:t>
            </a:r>
            <a:endParaRPr lang="en-US" sz="1100"/>
          </a:p>
        </p:txBody>
      </p:sp>
      <p:sp>
        <p:nvSpPr>
          <p:cNvPr name="TextBox 50" id="50"/>
          <p:cNvSpPr txBox="true"/>
          <p:nvPr/>
        </p:nvSpPr>
        <p:spPr>
          <a:xfrm>
            <a:off x="2997200" y="5702300"/>
            <a:ext cx="103505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Batched SCADA ingest (100 agents)</a:t>
            </a:r>
            <a:endParaRPr lang="en-US" sz="1100"/>
          </a:p>
        </p:txBody>
      </p:sp>
      <p:sp>
        <p:nvSpPr>
          <p:cNvPr name="TextBox 51" id="51"/>
          <p:cNvSpPr txBox="true"/>
          <p:nvPr/>
        </p:nvSpPr>
        <p:spPr>
          <a:xfrm>
            <a:off x="13525500" y="5702300"/>
            <a:ext cx="17272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Pass</a:t>
            </a:r>
            <a:endParaRPr lang="en-US" sz="1100"/>
          </a:p>
        </p:txBody>
      </p:sp>
      <p:sp>
        <p:nvSpPr>
          <p:cNvPr name="TextBox 52" id="52"/>
          <p:cNvSpPr txBox="true"/>
          <p:nvPr/>
        </p:nvSpPr>
        <p:spPr>
          <a:xfrm>
            <a:off x="977900" y="6261100"/>
            <a:ext cx="18288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TC-06</a:t>
            </a:r>
            <a:endParaRPr lang="en-US" sz="1100"/>
          </a:p>
        </p:txBody>
      </p:sp>
      <p:sp>
        <p:nvSpPr>
          <p:cNvPr name="TextBox 53" id="53"/>
          <p:cNvSpPr txBox="true"/>
          <p:nvPr/>
        </p:nvSpPr>
        <p:spPr>
          <a:xfrm>
            <a:off x="2997200" y="6261100"/>
            <a:ext cx="103505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Dashboard correctness</a:t>
            </a:r>
            <a:endParaRPr lang="en-US" sz="1100"/>
          </a:p>
        </p:txBody>
      </p:sp>
      <p:sp>
        <p:nvSpPr>
          <p:cNvPr name="TextBox 54" id="54"/>
          <p:cNvSpPr txBox="true"/>
          <p:nvPr/>
        </p:nvSpPr>
        <p:spPr>
          <a:xfrm>
            <a:off x="13525500" y="6261100"/>
            <a:ext cx="17272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Pass</a:t>
            </a:r>
            <a:endParaRPr lang="en-US" sz="1100"/>
          </a:p>
        </p:txBody>
      </p:sp>
      <p:sp>
        <p:nvSpPr>
          <p:cNvPr name="TextBox 55" id="55"/>
          <p:cNvSpPr txBox="true"/>
          <p:nvPr/>
        </p:nvSpPr>
        <p:spPr>
          <a:xfrm>
            <a:off x="977900" y="6819900"/>
            <a:ext cx="18288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TC-07</a:t>
            </a:r>
            <a:endParaRPr lang="en-US" sz="1100"/>
          </a:p>
        </p:txBody>
      </p:sp>
      <p:sp>
        <p:nvSpPr>
          <p:cNvPr name="TextBox 56" id="56"/>
          <p:cNvSpPr txBox="true"/>
          <p:nvPr/>
        </p:nvSpPr>
        <p:spPr>
          <a:xfrm>
            <a:off x="2997200" y="6819900"/>
            <a:ext cx="103505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Explainability output generation</a:t>
            </a:r>
            <a:endParaRPr lang="en-US" sz="1100"/>
          </a:p>
        </p:txBody>
      </p:sp>
      <p:sp>
        <p:nvSpPr>
          <p:cNvPr name="TextBox 57" id="57"/>
          <p:cNvSpPr txBox="true"/>
          <p:nvPr/>
        </p:nvSpPr>
        <p:spPr>
          <a:xfrm>
            <a:off x="13525500" y="6819900"/>
            <a:ext cx="17272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Pass</a:t>
            </a:r>
            <a:endParaRPr lang="en-US" sz="1100"/>
          </a:p>
        </p:txBody>
      </p:sp>
      <p:sp>
        <p:nvSpPr>
          <p:cNvPr name="TextBox 58" id="58"/>
          <p:cNvSpPr txBox="true"/>
          <p:nvPr/>
        </p:nvSpPr>
        <p:spPr>
          <a:xfrm>
            <a:off x="977900" y="7378700"/>
            <a:ext cx="18288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TC-08</a:t>
            </a:r>
            <a:endParaRPr lang="en-US" sz="1100"/>
          </a:p>
        </p:txBody>
      </p:sp>
      <p:sp>
        <p:nvSpPr>
          <p:cNvPr name="TextBox 59" id="59"/>
          <p:cNvSpPr txBox="true"/>
          <p:nvPr/>
        </p:nvSpPr>
        <p:spPr>
          <a:xfrm>
            <a:off x="2997200" y="7378700"/>
            <a:ext cx="103505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Runtime stability</a:t>
            </a:r>
            <a:endParaRPr lang="en-US" sz="1100"/>
          </a:p>
        </p:txBody>
      </p:sp>
      <p:sp>
        <p:nvSpPr>
          <p:cNvPr name="TextBox 60" id="60"/>
          <p:cNvSpPr txBox="true"/>
          <p:nvPr/>
        </p:nvSpPr>
        <p:spPr>
          <a:xfrm>
            <a:off x="13525500" y="7378700"/>
            <a:ext cx="17272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Pass</a:t>
            </a:r>
            <a:endParaRPr lang="en-US" sz="1100"/>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0" y="0"/>
            <a:ext cx="16256000" cy="9144000"/>
          </a:xfrm>
          <a:prstGeom prst="rect">
            <a:avLst/>
          </a:prstGeom>
          <a:solidFill>
            <a:srgbClr val="0D0A2C">
              <a:alpha val="74902"/>
            </a:srgbClr>
          </a:solidFill>
        </p:spPr>
      </p:sp>
      <p:pic>
        <p:nvPicPr>
          <p:cNvPr name="Picture 3" id="3"/>
          <p:cNvPicPr>
            <a:picLocks noChangeAspect="true"/>
          </p:cNvPicPr>
          <p:nvPr/>
        </p:nvPicPr>
        <p:blipFill>
          <a:blip r:embed="rId2"/>
          <a:srcRect t="56" b="56"/>
          <a:stretch>
            <a:fillRect/>
          </a:stretch>
        </p:blipFill>
        <p:spPr>
          <a:xfrm>
            <a:off x="0" y="0"/>
            <a:ext cx="16256000" cy="9144000"/>
          </a:xfrm>
          <a:prstGeom prst="rect">
            <a:avLst/>
          </a:prstGeom>
        </p:spPr>
      </p:pic>
      <p:sp>
        <p:nvSpPr>
          <p:cNvPr name="AutoShape 4" id="4"/>
          <p:cNvSpPr/>
          <p:nvPr/>
        </p:nvSpPr>
        <p:spPr>
          <a:xfrm>
            <a:off x="876300" y="1625600"/>
            <a:ext cx="14490700" cy="2209800"/>
          </a:xfrm>
          <a:prstGeom prst="roundRect">
            <a:avLst>
              <a:gd name="adj" fmla="val 3448"/>
            </a:avLst>
          </a:prstGeom>
          <a:solidFill>
            <a:srgbClr val="000000">
              <a:alpha val="0"/>
            </a:srgbClr>
          </a:solidFill>
        </p:spPr>
      </p:sp>
      <p:sp>
        <p:nvSpPr>
          <p:cNvPr name="AutoShape 5" id="5"/>
          <p:cNvSpPr/>
          <p:nvPr/>
        </p:nvSpPr>
        <p:spPr>
          <a:xfrm>
            <a:off x="876300" y="1625600"/>
            <a:ext cx="4610100" cy="2209800"/>
          </a:xfrm>
          <a:prstGeom prst="roundRect">
            <a:avLst>
              <a:gd name="adj" fmla="val 3448"/>
            </a:avLst>
          </a:prstGeom>
          <a:solidFill>
            <a:srgbClr val="000000">
              <a:alpha val="0"/>
            </a:srgbClr>
          </a:solidFill>
        </p:spPr>
      </p:sp>
      <p:sp>
        <p:nvSpPr>
          <p:cNvPr name="AutoShape 6" id="6"/>
          <p:cNvSpPr/>
          <p:nvPr/>
        </p:nvSpPr>
        <p:spPr>
          <a:xfrm>
            <a:off x="5816600" y="1625600"/>
            <a:ext cx="4610100" cy="2209800"/>
          </a:xfrm>
          <a:prstGeom prst="roundRect">
            <a:avLst>
              <a:gd name="adj" fmla="val 3448"/>
            </a:avLst>
          </a:prstGeom>
          <a:solidFill>
            <a:srgbClr val="000000">
              <a:alpha val="0"/>
            </a:srgbClr>
          </a:solidFill>
        </p:spPr>
      </p:sp>
      <p:sp>
        <p:nvSpPr>
          <p:cNvPr name="AutoShape 7" id="7"/>
          <p:cNvSpPr/>
          <p:nvPr/>
        </p:nvSpPr>
        <p:spPr>
          <a:xfrm>
            <a:off x="10744200" y="1625600"/>
            <a:ext cx="4610100" cy="2209800"/>
          </a:xfrm>
          <a:prstGeom prst="roundRect">
            <a:avLst>
              <a:gd name="adj" fmla="val 3448"/>
            </a:avLst>
          </a:prstGeom>
          <a:solidFill>
            <a:srgbClr val="000000">
              <a:alpha val="0"/>
            </a:srgbClr>
          </a:solidFill>
        </p:spPr>
      </p:sp>
      <p:sp>
        <p:nvSpPr>
          <p:cNvPr name="TextBox 8" id="8"/>
          <p:cNvSpPr txBox="true"/>
          <p:nvPr/>
        </p:nvSpPr>
        <p:spPr>
          <a:xfrm>
            <a:off x="876300" y="736600"/>
            <a:ext cx="14490700" cy="5969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3900" b="true">
                <a:solidFill>
                  <a:srgbClr val="000000"/>
                </a:solidFill>
                <a:latin typeface="Ubuntu"/>
              </a:rPr>
              <a:t>Live SCADA Validation</a:t>
            </a:r>
            <a:endParaRPr lang="en-US" sz="1100"/>
          </a:p>
        </p:txBody>
      </p:sp>
      <p:sp>
        <p:nvSpPr>
          <p:cNvPr name="TextBox 9" id="9"/>
          <p:cNvSpPr txBox="true"/>
          <p:nvPr/>
        </p:nvSpPr>
        <p:spPr>
          <a:xfrm>
            <a:off x="876300" y="2451100"/>
            <a:ext cx="4610100" cy="444500"/>
          </a:xfrm>
          <a:prstGeom prst="rect">
            <a:avLst/>
          </a:prstGeom>
          <a:solidFill>
            <a:srgbClr val="000000">
              <a:alpha val="0"/>
            </a:srgbClr>
          </a:solidFill>
        </p:spPr>
        <p:txBody>
          <a:bodyPr anchor="ctr" rtlCol="false" rIns="0" lIns="0" tIns="0" bIns="0"/>
          <a:lstStyle/>
          <a:p>
            <a:pPr algn="ctr" indent="0">
              <a:lnSpc>
                <a:spcPct val="120000"/>
              </a:lnSpc>
              <a:defRPr/>
            </a:pPr>
            <a:r>
              <a:rPr lang="en-US"/>
              <a:t/>
            </a:r>
            <a:r>
              <a:rPr lang="en-US" sz="2900" b="true">
                <a:solidFill>
                  <a:srgbClr val="000000"/>
                </a:solidFill>
                <a:latin typeface="Ubuntu"/>
              </a:rPr>
              <a:t>Live Agents</a:t>
            </a:r>
            <a:endParaRPr lang="en-US" sz="1100"/>
          </a:p>
        </p:txBody>
      </p:sp>
      <p:sp>
        <p:nvSpPr>
          <p:cNvPr name="TextBox 10" id="10"/>
          <p:cNvSpPr txBox="true"/>
          <p:nvPr/>
        </p:nvSpPr>
        <p:spPr>
          <a:xfrm>
            <a:off x="5816600" y="2451100"/>
            <a:ext cx="4610100" cy="444500"/>
          </a:xfrm>
          <a:prstGeom prst="rect">
            <a:avLst/>
          </a:prstGeom>
          <a:solidFill>
            <a:srgbClr val="000000">
              <a:alpha val="0"/>
            </a:srgbClr>
          </a:solidFill>
        </p:spPr>
        <p:txBody>
          <a:bodyPr anchor="ctr" rtlCol="false" rIns="0" lIns="0" tIns="0" bIns="0"/>
          <a:lstStyle/>
          <a:p>
            <a:pPr algn="ctr" indent="0">
              <a:lnSpc>
                <a:spcPct val="120000"/>
              </a:lnSpc>
              <a:defRPr/>
            </a:pPr>
            <a:r>
              <a:rPr lang="en-US"/>
              <a:t/>
            </a:r>
            <a:r>
              <a:rPr lang="en-US" sz="2900" b="true">
                <a:solidFill>
                  <a:srgbClr val="000000"/>
                </a:solidFill>
                <a:latin typeface="Ubuntu"/>
              </a:rPr>
              <a:t>Non-Live Agents</a:t>
            </a:r>
            <a:endParaRPr lang="en-US" sz="1100"/>
          </a:p>
        </p:txBody>
      </p:sp>
      <p:sp>
        <p:nvSpPr>
          <p:cNvPr name="TextBox 11" id="11"/>
          <p:cNvSpPr txBox="true"/>
          <p:nvPr/>
        </p:nvSpPr>
        <p:spPr>
          <a:xfrm>
            <a:off x="10744200" y="2451100"/>
            <a:ext cx="4610100" cy="444500"/>
          </a:xfrm>
          <a:prstGeom prst="rect">
            <a:avLst/>
          </a:prstGeom>
          <a:solidFill>
            <a:srgbClr val="000000">
              <a:alpha val="0"/>
            </a:srgbClr>
          </a:solidFill>
        </p:spPr>
        <p:txBody>
          <a:bodyPr anchor="ctr" rtlCol="false" rIns="0" lIns="0" tIns="0" bIns="0"/>
          <a:lstStyle/>
          <a:p>
            <a:pPr algn="ctr" indent="0">
              <a:lnSpc>
                <a:spcPct val="120000"/>
              </a:lnSpc>
              <a:defRPr/>
            </a:pPr>
            <a:r>
              <a:rPr lang="en-US"/>
              <a:t/>
            </a:r>
            <a:r>
              <a:rPr lang="en-US" sz="2900" b="true">
                <a:solidFill>
                  <a:srgbClr val="000000"/>
                </a:solidFill>
                <a:latin typeface="Ubuntu"/>
              </a:rPr>
              <a:t>SCADA Pipeline</a:t>
            </a:r>
            <a:endParaRPr lang="en-US" sz="1100"/>
          </a:p>
        </p:txBody>
      </p:sp>
      <p:sp>
        <p:nvSpPr>
          <p:cNvPr name="TextBox 12" id="12"/>
          <p:cNvSpPr txBox="true"/>
          <p:nvPr/>
        </p:nvSpPr>
        <p:spPr>
          <a:xfrm>
            <a:off x="876300" y="4127500"/>
            <a:ext cx="144907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000000"/>
                </a:solidFill>
                <a:latin typeface="Ubuntu"/>
              </a:rPr>
              <a:t>Key Points</a:t>
            </a:r>
            <a:endParaRPr lang="en-US" sz="1100"/>
          </a:p>
        </p:txBody>
      </p:sp>
      <p:sp>
        <p:nvSpPr>
          <p:cNvPr name="TextBox 13" id="13"/>
          <p:cNvSpPr txBox="true"/>
          <p:nvPr/>
        </p:nvSpPr>
        <p:spPr>
          <a:xfrm>
            <a:off x="876300" y="7277100"/>
            <a:ext cx="144907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000000"/>
                </a:solidFill>
                <a:latin typeface="Ubuntu"/>
              </a:rPr>
              <a:t>Screenshot Placeholder</a:t>
            </a:r>
            <a:endParaRPr lang="en-US" sz="1100"/>
          </a:p>
        </p:txBody>
      </p:sp>
      <p:sp>
        <p:nvSpPr>
          <p:cNvPr name="TextBox 14" id="14"/>
          <p:cNvSpPr txBox="true"/>
          <p:nvPr/>
        </p:nvSpPr>
        <p:spPr>
          <a:xfrm>
            <a:off x="876300" y="1663700"/>
            <a:ext cx="4851400" cy="749300"/>
          </a:xfrm>
          <a:prstGeom prst="roundRect">
            <a:avLst>
              <a:gd name="adj" fmla="val 11864"/>
            </a:avLst>
          </a:prstGeom>
          <a:solidFill>
            <a:srgbClr val="000000">
              <a:alpha val="0"/>
            </a:srgbClr>
          </a:solidFill>
        </p:spPr>
        <p:txBody>
          <a:bodyPr anchor="ctr" rtlCol="false" rIns="0" lIns="0" tIns="0" bIns="0"/>
          <a:lstStyle/>
          <a:p>
            <a:pPr algn="ctr" indent="0">
              <a:lnSpc>
                <a:spcPct val="100000"/>
              </a:lnSpc>
              <a:defRPr/>
            </a:pPr>
            <a:r>
              <a:rPr lang="en-US"/>
              <a:t/>
            </a:r>
            <a:r>
              <a:rPr lang="en-US" sz="5200" b="true">
                <a:solidFill>
                  <a:srgbClr val="000000"/>
                </a:solidFill>
                <a:highlight>
                  <a:srgbClr val="000000">
                    <a:alpha val="0"/>
                  </a:srgbClr>
                </a:highlight>
                <a:latin typeface="Ubuntu"/>
              </a:rPr>
              <a:t>100</a:t>
            </a:r>
            <a:endParaRPr lang="en-US" sz="1100"/>
          </a:p>
        </p:txBody>
      </p:sp>
      <p:sp>
        <p:nvSpPr>
          <p:cNvPr name="TextBox 15" id="15"/>
          <p:cNvSpPr txBox="true"/>
          <p:nvPr/>
        </p:nvSpPr>
        <p:spPr>
          <a:xfrm>
            <a:off x="876300" y="3086100"/>
            <a:ext cx="4610100" cy="749300"/>
          </a:xfrm>
          <a:prstGeom prst="rect">
            <a:avLst/>
          </a:prstGeom>
          <a:solidFill>
            <a:srgbClr val="000000">
              <a:alpha val="0"/>
            </a:srgbClr>
          </a:solidFill>
        </p:spPr>
        <p:txBody>
          <a:bodyPr anchor="ctr" rtlCol="false" rIns="0" lIns="0" tIns="0" bIns="0"/>
          <a:lstStyle/>
          <a:p>
            <a:pPr algn="ctr" indent="0">
              <a:lnSpc>
                <a:spcPct val="150000"/>
              </a:lnSpc>
              <a:defRPr/>
            </a:pPr>
            <a:r>
              <a:rPr lang="en-US"/>
              <a:t/>
            </a:r>
            <a:r>
              <a:rPr lang="en-US" sz="1900" b="true">
                <a:solidFill>
                  <a:srgbClr val="000000"/>
                </a:solidFill>
                <a:latin typeface="Poppins"/>
              </a:rPr>
              <a:t>Number of agents currently reporting live telemetry</a:t>
            </a:r>
            <a:endParaRPr lang="en-US" sz="1100"/>
          </a:p>
        </p:txBody>
      </p:sp>
      <p:sp>
        <p:nvSpPr>
          <p:cNvPr name="TextBox 16" id="16"/>
          <p:cNvSpPr txBox="true"/>
          <p:nvPr/>
        </p:nvSpPr>
        <p:spPr>
          <a:xfrm>
            <a:off x="5816600" y="1663700"/>
            <a:ext cx="4851400" cy="749300"/>
          </a:xfrm>
          <a:prstGeom prst="roundRect">
            <a:avLst>
              <a:gd name="adj" fmla="val 11864"/>
            </a:avLst>
          </a:prstGeom>
          <a:solidFill>
            <a:srgbClr val="000000">
              <a:alpha val="0"/>
            </a:srgbClr>
          </a:solidFill>
        </p:spPr>
        <p:txBody>
          <a:bodyPr anchor="ctr" rtlCol="false" rIns="0" lIns="0" tIns="0" bIns="0"/>
          <a:lstStyle/>
          <a:p>
            <a:pPr algn="ctr" indent="0">
              <a:lnSpc>
                <a:spcPct val="100000"/>
              </a:lnSpc>
              <a:defRPr/>
            </a:pPr>
            <a:r>
              <a:rPr lang="en-US"/>
              <a:t/>
            </a:r>
            <a:r>
              <a:rPr lang="en-US" sz="5200" b="true">
                <a:solidFill>
                  <a:srgbClr val="000000"/>
                </a:solidFill>
                <a:highlight>
                  <a:srgbClr val="000000">
                    <a:alpha val="0"/>
                  </a:srgbClr>
                </a:highlight>
                <a:latin typeface="Ubuntu"/>
              </a:rPr>
              <a:t>0</a:t>
            </a:r>
            <a:endParaRPr lang="en-US" sz="1100"/>
          </a:p>
        </p:txBody>
      </p:sp>
      <p:sp>
        <p:nvSpPr>
          <p:cNvPr name="TextBox 17" id="17"/>
          <p:cNvSpPr txBox="true"/>
          <p:nvPr/>
        </p:nvSpPr>
        <p:spPr>
          <a:xfrm>
            <a:off x="5816600" y="3086100"/>
            <a:ext cx="4610100" cy="368300"/>
          </a:xfrm>
          <a:prstGeom prst="rect">
            <a:avLst/>
          </a:prstGeom>
          <a:solidFill>
            <a:srgbClr val="000000">
              <a:alpha val="0"/>
            </a:srgbClr>
          </a:solidFill>
        </p:spPr>
        <p:txBody>
          <a:bodyPr anchor="ctr" rtlCol="false" rIns="0" lIns="0" tIns="0" bIns="0"/>
          <a:lstStyle/>
          <a:p>
            <a:pPr algn="ctr" indent="0">
              <a:lnSpc>
                <a:spcPct val="150000"/>
              </a:lnSpc>
              <a:defRPr/>
            </a:pPr>
            <a:r>
              <a:rPr lang="en-US"/>
              <a:t/>
            </a:r>
            <a:r>
              <a:rPr lang="en-US" sz="1900" b="true">
                <a:solidFill>
                  <a:srgbClr val="000000"/>
                </a:solidFill>
                <a:latin typeface="Poppins"/>
              </a:rPr>
              <a:t>Number of agents not reporting</a:t>
            </a:r>
            <a:endParaRPr lang="en-US" sz="1100"/>
          </a:p>
        </p:txBody>
      </p:sp>
      <p:sp>
        <p:nvSpPr>
          <p:cNvPr name="TextBox 18" id="18"/>
          <p:cNvSpPr txBox="true"/>
          <p:nvPr/>
        </p:nvSpPr>
        <p:spPr>
          <a:xfrm>
            <a:off x="10744200" y="1663700"/>
            <a:ext cx="4851400" cy="749300"/>
          </a:xfrm>
          <a:prstGeom prst="roundRect">
            <a:avLst>
              <a:gd name="adj" fmla="val 11864"/>
            </a:avLst>
          </a:prstGeom>
          <a:solidFill>
            <a:srgbClr val="000000">
              <a:alpha val="0"/>
            </a:srgbClr>
          </a:solidFill>
        </p:spPr>
        <p:txBody>
          <a:bodyPr anchor="ctr" rtlCol="false" rIns="0" lIns="0" tIns="0" bIns="0"/>
          <a:lstStyle/>
          <a:p>
            <a:pPr algn="ctr" indent="0">
              <a:lnSpc>
                <a:spcPct val="100000"/>
              </a:lnSpc>
              <a:defRPr/>
            </a:pPr>
            <a:r>
              <a:rPr lang="en-US"/>
              <a:t/>
            </a:r>
            <a:r>
              <a:rPr lang="en-US" sz="5200" b="true">
                <a:solidFill>
                  <a:srgbClr val="000000"/>
                </a:solidFill>
                <a:highlight>
                  <a:srgbClr val="000000">
                    <a:alpha val="0"/>
                  </a:srgbClr>
                </a:highlight>
                <a:latin typeface="Ubuntu"/>
              </a:rPr>
              <a:t>Fully Operational</a:t>
            </a:r>
            <a:endParaRPr lang="en-US" sz="1100"/>
          </a:p>
        </p:txBody>
      </p:sp>
      <p:sp>
        <p:nvSpPr>
          <p:cNvPr name="TextBox 19" id="19"/>
          <p:cNvSpPr txBox="true"/>
          <p:nvPr/>
        </p:nvSpPr>
        <p:spPr>
          <a:xfrm>
            <a:off x="10744200" y="3086100"/>
            <a:ext cx="4610100" cy="368300"/>
          </a:xfrm>
          <a:prstGeom prst="rect">
            <a:avLst/>
          </a:prstGeom>
          <a:solidFill>
            <a:srgbClr val="000000">
              <a:alpha val="0"/>
            </a:srgbClr>
          </a:solidFill>
        </p:spPr>
        <p:txBody>
          <a:bodyPr anchor="ctr" rtlCol="false" rIns="0" lIns="0" tIns="0" bIns="0"/>
          <a:lstStyle/>
          <a:p>
            <a:pPr algn="ctr" indent="0">
              <a:lnSpc>
                <a:spcPct val="150000"/>
              </a:lnSpc>
              <a:defRPr/>
            </a:pPr>
            <a:r>
              <a:rPr lang="en-US"/>
              <a:t/>
            </a:r>
            <a:r>
              <a:rPr lang="en-US" sz="1900" b="true">
                <a:solidFill>
                  <a:srgbClr val="000000"/>
                </a:solidFill>
                <a:latin typeface="Poppins"/>
              </a:rPr>
              <a:t>End-to-end pipeline status</a:t>
            </a:r>
            <a:endParaRPr lang="en-US" sz="1100"/>
          </a:p>
        </p:txBody>
      </p:sp>
      <p:sp>
        <p:nvSpPr>
          <p:cNvPr name="TextBox 20" id="20"/>
          <p:cNvSpPr txBox="true"/>
          <p:nvPr/>
        </p:nvSpPr>
        <p:spPr>
          <a:xfrm>
            <a:off x="1130300" y="4876800"/>
            <a:ext cx="142367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Full SCADA-to-backend-to-dashboard pipeline operational</a:t>
            </a:r>
            <a:endParaRPr lang="en-US" sz="1100"/>
          </a:p>
        </p:txBody>
      </p:sp>
      <p:sp>
        <p:nvSpPr>
          <p:cNvPr name="TextBox 21" id="21"/>
          <p:cNvSpPr txBox="true"/>
          <p:nvPr/>
        </p:nvSpPr>
        <p:spPr>
          <a:xfrm>
            <a:off x="1130300" y="5461000"/>
            <a:ext cx="142367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Real-time telemetry retrieval and processing validated</a:t>
            </a:r>
            <a:endParaRPr lang="en-US" sz="1100"/>
          </a:p>
        </p:txBody>
      </p:sp>
      <p:sp>
        <p:nvSpPr>
          <p:cNvPr name="TextBox 22" id="22"/>
          <p:cNvSpPr txBox="true"/>
          <p:nvPr/>
        </p:nvSpPr>
        <p:spPr>
          <a:xfrm>
            <a:off x="1130300" y="6032500"/>
            <a:ext cx="142367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Continuous monitoring state maintained without pipeline collapse</a:t>
            </a:r>
            <a:endParaRPr lang="en-US" sz="1100"/>
          </a:p>
        </p:txBody>
      </p:sp>
      <p:sp>
        <p:nvSpPr>
          <p:cNvPr name="TextBox 23" id="23"/>
          <p:cNvSpPr txBox="true"/>
          <p:nvPr/>
        </p:nvSpPr>
        <p:spPr>
          <a:xfrm>
            <a:off x="1130300" y="6616700"/>
            <a:ext cx="142367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Verified through dedicated tracing script</a:t>
            </a:r>
            <a:endParaRPr lang="en-US" sz="1100"/>
          </a:p>
        </p:txBody>
      </p:sp>
      <p:sp>
        <p:nvSpPr>
          <p:cNvPr name="TextBox 24" id="24"/>
          <p:cNvSpPr txBox="true"/>
          <p:nvPr/>
        </p:nvSpPr>
        <p:spPr>
          <a:xfrm>
            <a:off x="876300" y="8013700"/>
            <a:ext cx="144907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Reserved space for live SCADA verification screenshot</a:t>
            </a:r>
            <a:endParaRPr lang="en-US" sz="1100"/>
          </a:p>
        </p:txBody>
      </p:sp>
      <p:sp>
        <p:nvSpPr>
          <p:cNvPr name="TextBox 25" id="25"/>
          <p:cNvSpPr txBox="true"/>
          <p:nvPr/>
        </p:nvSpPr>
        <p:spPr>
          <a:xfrm>
            <a:off x="749300" y="49403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
        <p:nvSpPr>
          <p:cNvPr name="TextBox 26" id="26"/>
          <p:cNvSpPr txBox="true"/>
          <p:nvPr/>
        </p:nvSpPr>
        <p:spPr>
          <a:xfrm>
            <a:off x="749300" y="55118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
        <p:nvSpPr>
          <p:cNvPr name="TextBox 27" id="27"/>
          <p:cNvSpPr txBox="true"/>
          <p:nvPr/>
        </p:nvSpPr>
        <p:spPr>
          <a:xfrm>
            <a:off x="749300" y="60960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
        <p:nvSpPr>
          <p:cNvPr name="TextBox 28" id="28"/>
          <p:cNvSpPr txBox="true"/>
          <p:nvPr/>
        </p:nvSpPr>
        <p:spPr>
          <a:xfrm>
            <a:off x="749300" y="6680200"/>
            <a:ext cx="241300" cy="241300"/>
          </a:xfrm>
          <a:prstGeom prst="rect">
            <a:avLst/>
          </a:prstGeom>
          <a:solidFill>
            <a:srgbClr val="000000">
              <a:alpha val="0"/>
            </a:srgbClr>
          </a:solidFill>
        </p:spPr>
        <p:txBody>
          <a:bodyPr anchor="ctr" rtlCol="false" rIns="0" lIns="0" tIns="0" bIns="0"/>
          <a:lstStyle/>
          <a:p>
            <a:pPr algn="ctr">
              <a:lnSpc>
                <a:spcPct val="100000"/>
              </a:lnSpc>
              <a:defRPr/>
            </a:pPr>
            <a:r>
              <a:rPr lang="en-US"/>
              <a:t/>
            </a:r>
            <a:r>
              <a:rPr lang="en-US" sz="1900" b="false">
                <a:solidFill>
                  <a:srgbClr val="000000"/>
                </a:solidFill>
                <a:highlight>
                  <a:srgbClr val="000000">
                    <a:alpha val="0"/>
                  </a:srgbClr>
                </a:highlight>
                <a:ea typeface="Poppins"/>
              </a:rPr>
              <a:t>●</a:t>
            </a:r>
            <a:endParaRPr lang="en-US" sz="1100"/>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0" y="0"/>
            <a:ext cx="16256000" cy="9144000"/>
          </a:xfrm>
          <a:prstGeom prst="rect">
            <a:avLst/>
          </a:prstGeom>
          <a:solidFill>
            <a:srgbClr val="0D0A2C">
              <a:alpha val="74902"/>
            </a:srgbClr>
          </a:solidFill>
        </p:spPr>
      </p:sp>
      <p:pic>
        <p:nvPicPr>
          <p:cNvPr name="Picture 3" id="3"/>
          <p:cNvPicPr>
            <a:picLocks noChangeAspect="true"/>
          </p:cNvPicPr>
          <p:nvPr/>
        </p:nvPicPr>
        <p:blipFill>
          <a:blip r:embed="rId2"/>
          <a:srcRect t="56" b="56"/>
          <a:stretch>
            <a:fillRect/>
          </a:stretch>
        </p:blipFill>
        <p:spPr>
          <a:xfrm>
            <a:off x="0" y="0"/>
            <a:ext cx="16256000" cy="9144000"/>
          </a:xfrm>
          <a:prstGeom prst="rect">
            <a:avLst/>
          </a:prstGeom>
        </p:spPr>
      </p:pic>
      <p:sp>
        <p:nvSpPr>
          <p:cNvPr name="AutoShape 4" id="4"/>
          <p:cNvSpPr/>
          <p:nvPr/>
        </p:nvSpPr>
        <p:spPr>
          <a:xfrm>
            <a:off x="876300" y="3098800"/>
            <a:ext cx="14490700" cy="4470400"/>
          </a:xfrm>
          <a:prstGeom prst="rect">
            <a:avLst/>
          </a:prstGeom>
          <a:solidFill>
            <a:srgbClr val="000000">
              <a:alpha val="0"/>
            </a:srgbClr>
          </a:solidFill>
          <a:ln w="12700">
            <a:solidFill>
              <a:srgbClr val="A1A1A1"/>
            </a:solidFill>
          </a:ln>
        </p:spPr>
      </p:sp>
      <p:sp>
        <p:nvSpPr>
          <p:cNvPr name="AutoShape 5" id="5"/>
          <p:cNvSpPr/>
          <p:nvPr/>
        </p:nvSpPr>
        <p:spPr>
          <a:xfrm>
            <a:off x="889000" y="3111500"/>
            <a:ext cx="10528300" cy="546100"/>
          </a:xfrm>
          <a:prstGeom prst="rect">
            <a:avLst/>
          </a:prstGeom>
          <a:solidFill>
            <a:srgbClr val="D1D1D1">
              <a:alpha val="71765"/>
            </a:srgbClr>
          </a:solidFill>
          <a:ln w="12700">
            <a:solidFill>
              <a:srgbClr val="A1A1A1"/>
            </a:solidFill>
          </a:ln>
        </p:spPr>
      </p:sp>
      <p:sp>
        <p:nvSpPr>
          <p:cNvPr name="AutoShape 6" id="6"/>
          <p:cNvSpPr/>
          <p:nvPr/>
        </p:nvSpPr>
        <p:spPr>
          <a:xfrm>
            <a:off x="11417300" y="3111500"/>
            <a:ext cx="3924300" cy="546100"/>
          </a:xfrm>
          <a:prstGeom prst="rect">
            <a:avLst/>
          </a:prstGeom>
          <a:solidFill>
            <a:srgbClr val="D1D1D1">
              <a:alpha val="71765"/>
            </a:srgbClr>
          </a:solidFill>
          <a:ln w="12700">
            <a:solidFill>
              <a:srgbClr val="A1A1A1"/>
            </a:solidFill>
          </a:ln>
        </p:spPr>
      </p:sp>
      <p:sp>
        <p:nvSpPr>
          <p:cNvPr name="AutoShape 7" id="7"/>
          <p:cNvSpPr/>
          <p:nvPr/>
        </p:nvSpPr>
        <p:spPr>
          <a:xfrm>
            <a:off x="889000" y="3670300"/>
            <a:ext cx="10528300" cy="546100"/>
          </a:xfrm>
          <a:prstGeom prst="rect">
            <a:avLst/>
          </a:prstGeom>
          <a:solidFill>
            <a:srgbClr val="000000">
              <a:alpha val="0"/>
            </a:srgbClr>
          </a:solidFill>
          <a:ln w="12700">
            <a:solidFill>
              <a:srgbClr val="A1A1A1"/>
            </a:solidFill>
          </a:ln>
        </p:spPr>
      </p:sp>
      <p:sp>
        <p:nvSpPr>
          <p:cNvPr name="AutoShape 8" id="8"/>
          <p:cNvSpPr/>
          <p:nvPr/>
        </p:nvSpPr>
        <p:spPr>
          <a:xfrm>
            <a:off x="11417300" y="3670300"/>
            <a:ext cx="3924300" cy="546100"/>
          </a:xfrm>
          <a:prstGeom prst="rect">
            <a:avLst/>
          </a:prstGeom>
          <a:solidFill>
            <a:srgbClr val="000000">
              <a:alpha val="0"/>
            </a:srgbClr>
          </a:solidFill>
          <a:ln w="12700">
            <a:solidFill>
              <a:srgbClr val="A1A1A1"/>
            </a:solidFill>
          </a:ln>
        </p:spPr>
      </p:sp>
      <p:sp>
        <p:nvSpPr>
          <p:cNvPr name="AutoShape 9" id="9"/>
          <p:cNvSpPr/>
          <p:nvPr/>
        </p:nvSpPr>
        <p:spPr>
          <a:xfrm>
            <a:off x="889000" y="4229100"/>
            <a:ext cx="10528300" cy="546100"/>
          </a:xfrm>
          <a:prstGeom prst="rect">
            <a:avLst/>
          </a:prstGeom>
          <a:solidFill>
            <a:srgbClr val="000000">
              <a:alpha val="0"/>
            </a:srgbClr>
          </a:solidFill>
          <a:ln w="12700">
            <a:solidFill>
              <a:srgbClr val="A1A1A1"/>
            </a:solidFill>
          </a:ln>
        </p:spPr>
      </p:sp>
      <p:sp>
        <p:nvSpPr>
          <p:cNvPr name="AutoShape 10" id="10"/>
          <p:cNvSpPr/>
          <p:nvPr/>
        </p:nvSpPr>
        <p:spPr>
          <a:xfrm>
            <a:off x="11417300" y="4229100"/>
            <a:ext cx="3924300" cy="546100"/>
          </a:xfrm>
          <a:prstGeom prst="rect">
            <a:avLst/>
          </a:prstGeom>
          <a:solidFill>
            <a:srgbClr val="000000">
              <a:alpha val="0"/>
            </a:srgbClr>
          </a:solidFill>
          <a:ln w="12700">
            <a:solidFill>
              <a:srgbClr val="A1A1A1"/>
            </a:solidFill>
          </a:ln>
        </p:spPr>
      </p:sp>
      <p:sp>
        <p:nvSpPr>
          <p:cNvPr name="AutoShape 11" id="11"/>
          <p:cNvSpPr/>
          <p:nvPr/>
        </p:nvSpPr>
        <p:spPr>
          <a:xfrm>
            <a:off x="889000" y="4787900"/>
            <a:ext cx="10528300" cy="546100"/>
          </a:xfrm>
          <a:prstGeom prst="rect">
            <a:avLst/>
          </a:prstGeom>
          <a:solidFill>
            <a:srgbClr val="000000">
              <a:alpha val="0"/>
            </a:srgbClr>
          </a:solidFill>
          <a:ln w="12700">
            <a:solidFill>
              <a:srgbClr val="A1A1A1"/>
            </a:solidFill>
          </a:ln>
        </p:spPr>
      </p:sp>
      <p:sp>
        <p:nvSpPr>
          <p:cNvPr name="AutoShape 12" id="12"/>
          <p:cNvSpPr/>
          <p:nvPr/>
        </p:nvSpPr>
        <p:spPr>
          <a:xfrm>
            <a:off x="11417300" y="4787900"/>
            <a:ext cx="3924300" cy="546100"/>
          </a:xfrm>
          <a:prstGeom prst="rect">
            <a:avLst/>
          </a:prstGeom>
          <a:solidFill>
            <a:srgbClr val="000000">
              <a:alpha val="0"/>
            </a:srgbClr>
          </a:solidFill>
          <a:ln w="12700">
            <a:solidFill>
              <a:srgbClr val="A1A1A1"/>
            </a:solidFill>
          </a:ln>
        </p:spPr>
      </p:sp>
      <p:sp>
        <p:nvSpPr>
          <p:cNvPr name="AutoShape 13" id="13"/>
          <p:cNvSpPr/>
          <p:nvPr/>
        </p:nvSpPr>
        <p:spPr>
          <a:xfrm>
            <a:off x="889000" y="5346700"/>
            <a:ext cx="10528300" cy="546100"/>
          </a:xfrm>
          <a:prstGeom prst="rect">
            <a:avLst/>
          </a:prstGeom>
          <a:solidFill>
            <a:srgbClr val="000000">
              <a:alpha val="0"/>
            </a:srgbClr>
          </a:solidFill>
          <a:ln w="12700">
            <a:solidFill>
              <a:srgbClr val="A1A1A1"/>
            </a:solidFill>
          </a:ln>
        </p:spPr>
      </p:sp>
      <p:sp>
        <p:nvSpPr>
          <p:cNvPr name="AutoShape 14" id="14"/>
          <p:cNvSpPr/>
          <p:nvPr/>
        </p:nvSpPr>
        <p:spPr>
          <a:xfrm>
            <a:off x="11417300" y="5346700"/>
            <a:ext cx="3924300" cy="546100"/>
          </a:xfrm>
          <a:prstGeom prst="rect">
            <a:avLst/>
          </a:prstGeom>
          <a:solidFill>
            <a:srgbClr val="000000">
              <a:alpha val="0"/>
            </a:srgbClr>
          </a:solidFill>
          <a:ln w="12700">
            <a:solidFill>
              <a:srgbClr val="A1A1A1"/>
            </a:solidFill>
          </a:ln>
        </p:spPr>
      </p:sp>
      <p:sp>
        <p:nvSpPr>
          <p:cNvPr name="AutoShape 15" id="15"/>
          <p:cNvSpPr/>
          <p:nvPr/>
        </p:nvSpPr>
        <p:spPr>
          <a:xfrm>
            <a:off x="889000" y="5892800"/>
            <a:ext cx="10528300" cy="546100"/>
          </a:xfrm>
          <a:prstGeom prst="rect">
            <a:avLst/>
          </a:prstGeom>
          <a:solidFill>
            <a:srgbClr val="000000">
              <a:alpha val="0"/>
            </a:srgbClr>
          </a:solidFill>
          <a:ln w="12700">
            <a:solidFill>
              <a:srgbClr val="A1A1A1"/>
            </a:solidFill>
          </a:ln>
        </p:spPr>
      </p:sp>
      <p:sp>
        <p:nvSpPr>
          <p:cNvPr name="AutoShape 16" id="16"/>
          <p:cNvSpPr/>
          <p:nvPr/>
        </p:nvSpPr>
        <p:spPr>
          <a:xfrm>
            <a:off x="11417300" y="5892800"/>
            <a:ext cx="3924300" cy="546100"/>
          </a:xfrm>
          <a:prstGeom prst="rect">
            <a:avLst/>
          </a:prstGeom>
          <a:solidFill>
            <a:srgbClr val="000000">
              <a:alpha val="0"/>
            </a:srgbClr>
          </a:solidFill>
          <a:ln w="12700">
            <a:solidFill>
              <a:srgbClr val="A1A1A1"/>
            </a:solidFill>
          </a:ln>
        </p:spPr>
      </p:sp>
      <p:sp>
        <p:nvSpPr>
          <p:cNvPr name="AutoShape 17" id="17"/>
          <p:cNvSpPr/>
          <p:nvPr/>
        </p:nvSpPr>
        <p:spPr>
          <a:xfrm>
            <a:off x="889000" y="6451600"/>
            <a:ext cx="10528300" cy="546100"/>
          </a:xfrm>
          <a:prstGeom prst="rect">
            <a:avLst/>
          </a:prstGeom>
          <a:solidFill>
            <a:srgbClr val="000000">
              <a:alpha val="0"/>
            </a:srgbClr>
          </a:solidFill>
          <a:ln w="12700">
            <a:solidFill>
              <a:srgbClr val="A1A1A1"/>
            </a:solidFill>
          </a:ln>
        </p:spPr>
      </p:sp>
      <p:sp>
        <p:nvSpPr>
          <p:cNvPr name="AutoShape 18" id="18"/>
          <p:cNvSpPr/>
          <p:nvPr/>
        </p:nvSpPr>
        <p:spPr>
          <a:xfrm>
            <a:off x="11417300" y="6451600"/>
            <a:ext cx="3924300" cy="546100"/>
          </a:xfrm>
          <a:prstGeom prst="rect">
            <a:avLst/>
          </a:prstGeom>
          <a:solidFill>
            <a:srgbClr val="000000">
              <a:alpha val="0"/>
            </a:srgbClr>
          </a:solidFill>
          <a:ln w="12700">
            <a:solidFill>
              <a:srgbClr val="A1A1A1"/>
            </a:solidFill>
          </a:ln>
        </p:spPr>
      </p:sp>
      <p:sp>
        <p:nvSpPr>
          <p:cNvPr name="AutoShape 19" id="19"/>
          <p:cNvSpPr/>
          <p:nvPr/>
        </p:nvSpPr>
        <p:spPr>
          <a:xfrm>
            <a:off x="889000" y="7010400"/>
            <a:ext cx="10528300" cy="546100"/>
          </a:xfrm>
          <a:prstGeom prst="rect">
            <a:avLst/>
          </a:prstGeom>
          <a:solidFill>
            <a:srgbClr val="000000">
              <a:alpha val="0"/>
            </a:srgbClr>
          </a:solidFill>
          <a:ln w="12700">
            <a:solidFill>
              <a:srgbClr val="A1A1A1"/>
            </a:solidFill>
          </a:ln>
        </p:spPr>
      </p:sp>
      <p:sp>
        <p:nvSpPr>
          <p:cNvPr name="AutoShape 20" id="20"/>
          <p:cNvSpPr/>
          <p:nvPr/>
        </p:nvSpPr>
        <p:spPr>
          <a:xfrm>
            <a:off x="11417300" y="7010400"/>
            <a:ext cx="3924300" cy="546100"/>
          </a:xfrm>
          <a:prstGeom prst="rect">
            <a:avLst/>
          </a:prstGeom>
          <a:solidFill>
            <a:srgbClr val="000000">
              <a:alpha val="0"/>
            </a:srgbClr>
          </a:solidFill>
          <a:ln w="12700">
            <a:solidFill>
              <a:srgbClr val="A1A1A1"/>
            </a:solidFill>
          </a:ln>
        </p:spPr>
      </p:sp>
      <p:sp>
        <p:nvSpPr>
          <p:cNvPr name="TextBox 21" id="21"/>
          <p:cNvSpPr txBox="true"/>
          <p:nvPr/>
        </p:nvSpPr>
        <p:spPr>
          <a:xfrm>
            <a:off x="876300" y="1549400"/>
            <a:ext cx="14490700" cy="5969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3900" b="true">
                <a:solidFill>
                  <a:srgbClr val="000000"/>
                </a:solidFill>
                <a:latin typeface="Ubuntu"/>
              </a:rPr>
              <a:t>Primary Thesis Result (N=100)</a:t>
            </a:r>
            <a:endParaRPr lang="en-US" sz="1100"/>
          </a:p>
        </p:txBody>
      </p:sp>
      <p:sp>
        <p:nvSpPr>
          <p:cNvPr name="TextBox 22" id="22"/>
          <p:cNvSpPr txBox="true"/>
          <p:nvPr/>
        </p:nvSpPr>
        <p:spPr>
          <a:xfrm>
            <a:off x="876300" y="2438400"/>
            <a:ext cx="144907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Validated thesis-primary operating profile:</a:t>
            </a:r>
            <a:endParaRPr lang="en-US" sz="1100"/>
          </a:p>
        </p:txBody>
      </p:sp>
      <p:sp>
        <p:nvSpPr>
          <p:cNvPr name="TextBox 23" id="23"/>
          <p:cNvSpPr txBox="true"/>
          <p:nvPr/>
        </p:nvSpPr>
        <p:spPr>
          <a:xfrm>
            <a:off x="977900" y="3200400"/>
            <a:ext cx="103505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Metric</a:t>
            </a:r>
            <a:endParaRPr lang="en-US" sz="1100"/>
          </a:p>
        </p:txBody>
      </p:sp>
      <p:sp>
        <p:nvSpPr>
          <p:cNvPr name="TextBox 24" id="24"/>
          <p:cNvSpPr txBox="true"/>
          <p:nvPr/>
        </p:nvSpPr>
        <p:spPr>
          <a:xfrm>
            <a:off x="11506200" y="3200400"/>
            <a:ext cx="37465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Value</a:t>
            </a:r>
            <a:endParaRPr lang="en-US" sz="1100"/>
          </a:p>
        </p:txBody>
      </p:sp>
      <p:sp>
        <p:nvSpPr>
          <p:cNvPr name="TextBox 25" id="25"/>
          <p:cNvSpPr txBox="true"/>
          <p:nvPr/>
        </p:nvSpPr>
        <p:spPr>
          <a:xfrm>
            <a:off x="977900" y="3759200"/>
            <a:ext cx="103505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Attack Rate Reduction</a:t>
            </a:r>
            <a:endParaRPr lang="en-US" sz="1100"/>
          </a:p>
        </p:txBody>
      </p:sp>
      <p:sp>
        <p:nvSpPr>
          <p:cNvPr name="TextBox 26" id="26"/>
          <p:cNvSpPr txBox="true"/>
          <p:nvPr/>
        </p:nvSpPr>
        <p:spPr>
          <a:xfrm>
            <a:off x="11506200" y="3759200"/>
            <a:ext cx="37465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77.47%</a:t>
            </a:r>
            <a:endParaRPr lang="en-US" sz="1100"/>
          </a:p>
        </p:txBody>
      </p:sp>
      <p:sp>
        <p:nvSpPr>
          <p:cNvPr name="TextBox 27" id="27"/>
          <p:cNvSpPr txBox="true"/>
          <p:nvPr/>
        </p:nvSpPr>
        <p:spPr>
          <a:xfrm>
            <a:off x="977900" y="4318000"/>
            <a:ext cx="103505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Cost Efficiency</a:t>
            </a:r>
            <a:endParaRPr lang="en-US" sz="1100"/>
          </a:p>
        </p:txBody>
      </p:sp>
      <p:sp>
        <p:nvSpPr>
          <p:cNvPr name="TextBox 28" id="28"/>
          <p:cNvSpPr txBox="true"/>
          <p:nvPr/>
        </p:nvSpPr>
        <p:spPr>
          <a:xfrm>
            <a:off x="11506200" y="4318000"/>
            <a:ext cx="37465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54.83%</a:t>
            </a:r>
            <a:endParaRPr lang="en-US" sz="1100"/>
          </a:p>
        </p:txBody>
      </p:sp>
      <p:sp>
        <p:nvSpPr>
          <p:cNvPr name="TextBox 29" id="29"/>
          <p:cNvSpPr txBox="true"/>
          <p:nvPr/>
        </p:nvSpPr>
        <p:spPr>
          <a:xfrm>
            <a:off x="977900" y="4876800"/>
            <a:ext cx="103505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Risk Mitigation</a:t>
            </a:r>
            <a:endParaRPr lang="en-US" sz="1100"/>
          </a:p>
        </p:txBody>
      </p:sp>
      <p:sp>
        <p:nvSpPr>
          <p:cNvPr name="TextBox 30" id="30"/>
          <p:cNvSpPr txBox="true"/>
          <p:nvPr/>
        </p:nvSpPr>
        <p:spPr>
          <a:xfrm>
            <a:off x="11506200" y="4876800"/>
            <a:ext cx="37465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95.93%</a:t>
            </a:r>
            <a:endParaRPr lang="en-US" sz="1100"/>
          </a:p>
        </p:txBody>
      </p:sp>
      <p:sp>
        <p:nvSpPr>
          <p:cNvPr name="TextBox 31" id="31"/>
          <p:cNvSpPr txBox="true"/>
          <p:nvPr/>
        </p:nvSpPr>
        <p:spPr>
          <a:xfrm>
            <a:off x="977900" y="5435600"/>
            <a:ext cx="103505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Accuracy</a:t>
            </a:r>
            <a:endParaRPr lang="en-US" sz="1100"/>
          </a:p>
        </p:txBody>
      </p:sp>
      <p:sp>
        <p:nvSpPr>
          <p:cNvPr name="TextBox 32" id="32"/>
          <p:cNvSpPr txBox="true"/>
          <p:nvPr/>
        </p:nvSpPr>
        <p:spPr>
          <a:xfrm>
            <a:off x="11506200" y="5435600"/>
            <a:ext cx="37465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99.14%</a:t>
            </a:r>
            <a:endParaRPr lang="en-US" sz="1100"/>
          </a:p>
        </p:txBody>
      </p:sp>
      <p:sp>
        <p:nvSpPr>
          <p:cNvPr name="TextBox 33" id="33"/>
          <p:cNvSpPr txBox="true"/>
          <p:nvPr/>
        </p:nvSpPr>
        <p:spPr>
          <a:xfrm>
            <a:off x="977900" y="5981700"/>
            <a:ext cx="103505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Recall</a:t>
            </a:r>
            <a:endParaRPr lang="en-US" sz="1100"/>
          </a:p>
        </p:txBody>
      </p:sp>
      <p:sp>
        <p:nvSpPr>
          <p:cNvPr name="TextBox 34" id="34"/>
          <p:cNvSpPr txBox="true"/>
          <p:nvPr/>
        </p:nvSpPr>
        <p:spPr>
          <a:xfrm>
            <a:off x="11506200" y="5981700"/>
            <a:ext cx="37465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100.0%</a:t>
            </a:r>
            <a:endParaRPr lang="en-US" sz="1100"/>
          </a:p>
        </p:txBody>
      </p:sp>
      <p:sp>
        <p:nvSpPr>
          <p:cNvPr name="TextBox 35" id="35"/>
          <p:cNvSpPr txBox="true"/>
          <p:nvPr/>
        </p:nvSpPr>
        <p:spPr>
          <a:xfrm>
            <a:off x="977900" y="6540500"/>
            <a:ext cx="103505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F1 Score</a:t>
            </a:r>
            <a:endParaRPr lang="en-US" sz="1100"/>
          </a:p>
        </p:txBody>
      </p:sp>
      <p:sp>
        <p:nvSpPr>
          <p:cNvPr name="TextBox 36" id="36"/>
          <p:cNvSpPr txBox="true"/>
          <p:nvPr/>
        </p:nvSpPr>
        <p:spPr>
          <a:xfrm>
            <a:off x="11506200" y="6540500"/>
            <a:ext cx="37465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25.67%</a:t>
            </a:r>
            <a:endParaRPr lang="en-US" sz="1100"/>
          </a:p>
        </p:txBody>
      </p:sp>
      <p:sp>
        <p:nvSpPr>
          <p:cNvPr name="TextBox 37" id="37"/>
          <p:cNvSpPr txBox="true"/>
          <p:nvPr/>
        </p:nvSpPr>
        <p:spPr>
          <a:xfrm>
            <a:off x="977900" y="7099300"/>
            <a:ext cx="103505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Audit Coverage</a:t>
            </a:r>
            <a:endParaRPr lang="en-US" sz="1100"/>
          </a:p>
        </p:txBody>
      </p:sp>
      <p:sp>
        <p:nvSpPr>
          <p:cNvPr name="TextBox 38" id="38"/>
          <p:cNvSpPr txBox="true"/>
          <p:nvPr/>
        </p:nvSpPr>
        <p:spPr>
          <a:xfrm>
            <a:off x="11506200" y="7099300"/>
            <a:ext cx="37465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100%</a:t>
            </a:r>
            <a:endParaRPr lang="en-US" sz="1100"/>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0" y="0"/>
            <a:ext cx="16256000" cy="9144000"/>
          </a:xfrm>
          <a:prstGeom prst="rect">
            <a:avLst/>
          </a:prstGeom>
          <a:solidFill>
            <a:srgbClr val="0D0A2C">
              <a:alpha val="74902"/>
            </a:srgbClr>
          </a:solidFill>
        </p:spPr>
      </p:sp>
      <p:pic>
        <p:nvPicPr>
          <p:cNvPr name="Picture 3" id="3"/>
          <p:cNvPicPr>
            <a:picLocks noChangeAspect="true"/>
          </p:cNvPicPr>
          <p:nvPr/>
        </p:nvPicPr>
        <p:blipFill>
          <a:blip r:embed="rId2"/>
          <a:srcRect t="56" b="56"/>
          <a:stretch>
            <a:fillRect/>
          </a:stretch>
        </p:blipFill>
        <p:spPr>
          <a:xfrm>
            <a:off x="0" y="0"/>
            <a:ext cx="16256000" cy="9144000"/>
          </a:xfrm>
          <a:prstGeom prst="rect">
            <a:avLst/>
          </a:prstGeom>
        </p:spPr>
      </p:pic>
      <p:sp>
        <p:nvSpPr>
          <p:cNvPr name="AutoShape 4" id="4"/>
          <p:cNvSpPr/>
          <p:nvPr/>
        </p:nvSpPr>
        <p:spPr>
          <a:xfrm>
            <a:off x="876300" y="3263900"/>
            <a:ext cx="6921500" cy="3873500"/>
          </a:xfrm>
          <a:prstGeom prst="roundRect">
            <a:avLst>
              <a:gd name="adj" fmla="val 2295"/>
            </a:avLst>
          </a:prstGeom>
          <a:solidFill>
            <a:srgbClr val="D1D1D1">
              <a:alpha val="71765"/>
            </a:srgbClr>
          </a:solidFill>
        </p:spPr>
      </p:sp>
      <p:pic>
        <p:nvPicPr>
          <p:cNvPr name="Picture 5" id="5"/>
          <p:cNvPicPr>
            <a:picLocks noChangeAspect="true"/>
          </p:cNvPicPr>
          <p:nvPr/>
        </p:nvPicPr>
        <p:blipFill>
          <a:blip r:embed="rId3"/>
          <a:stretch>
            <a:fillRect/>
          </a:stretch>
        </p:blipFill>
        <p:spPr>
          <a:xfrm>
            <a:off x="876300" y="3263900"/>
            <a:ext cx="6908800" cy="3873500"/>
          </a:xfrm>
          <a:prstGeom prst="rect">
            <a:avLst/>
          </a:prstGeom>
        </p:spPr>
      </p:pic>
      <p:sp>
        <p:nvSpPr>
          <p:cNvPr name="TextBox 6" id="6"/>
          <p:cNvSpPr txBox="true"/>
          <p:nvPr/>
        </p:nvSpPr>
        <p:spPr>
          <a:xfrm>
            <a:off x="876300" y="1397000"/>
            <a:ext cx="14490700" cy="5969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3900" b="true">
                <a:solidFill>
                  <a:srgbClr val="000000"/>
                </a:solidFill>
                <a:latin typeface="Ubuntu"/>
              </a:rPr>
              <a:t>Base Paper vs Proposed System</a:t>
            </a:r>
            <a:endParaRPr lang="en-US" sz="1100"/>
          </a:p>
        </p:txBody>
      </p:sp>
      <p:sp>
        <p:nvSpPr>
          <p:cNvPr name="TextBox 7" id="7"/>
          <p:cNvSpPr txBox="true"/>
          <p:nvPr/>
        </p:nvSpPr>
        <p:spPr>
          <a:xfrm>
            <a:off x="8432800" y="4457700"/>
            <a:ext cx="69215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000000"/>
                </a:solidFill>
                <a:latin typeface="Ubuntu"/>
              </a:rPr>
              <a:t>Summary</a:t>
            </a:r>
            <a:endParaRPr lang="en-US" sz="1100"/>
          </a:p>
        </p:txBody>
      </p:sp>
      <p:sp>
        <p:nvSpPr>
          <p:cNvPr name="TextBox 8" id="8"/>
          <p:cNvSpPr txBox="true"/>
          <p:nvPr/>
        </p:nvSpPr>
        <p:spPr>
          <a:xfrm>
            <a:off x="876300" y="2286000"/>
            <a:ext cx="144907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Comparison on primary operational metrics:</a:t>
            </a:r>
            <a:endParaRPr lang="en-US" sz="1100"/>
          </a:p>
        </p:txBody>
      </p:sp>
      <p:sp>
        <p:nvSpPr>
          <p:cNvPr name="TextBox 9" id="9"/>
          <p:cNvSpPr txBox="true"/>
          <p:nvPr/>
        </p:nvSpPr>
        <p:spPr>
          <a:xfrm>
            <a:off x="8432800" y="5194300"/>
            <a:ext cx="6921500" cy="749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Proposed system surpasses base paper on all primary operational metrics.</a:t>
            </a:r>
            <a:endParaRPr lang="en-US" sz="1100"/>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0" y="0"/>
            <a:ext cx="16256000" cy="9144000"/>
          </a:xfrm>
          <a:prstGeom prst="rect">
            <a:avLst/>
          </a:prstGeom>
          <a:solidFill>
            <a:srgbClr val="0D0A2C">
              <a:alpha val="74902"/>
            </a:srgbClr>
          </a:solidFill>
        </p:spPr>
      </p:sp>
      <p:pic>
        <p:nvPicPr>
          <p:cNvPr name="Picture 3" id="3"/>
          <p:cNvPicPr>
            <a:picLocks noChangeAspect="true"/>
          </p:cNvPicPr>
          <p:nvPr/>
        </p:nvPicPr>
        <p:blipFill>
          <a:blip r:embed="rId2"/>
          <a:srcRect t="56" b="56"/>
          <a:stretch>
            <a:fillRect/>
          </a:stretch>
        </p:blipFill>
        <p:spPr>
          <a:xfrm>
            <a:off x="0" y="0"/>
            <a:ext cx="16256000" cy="9144000"/>
          </a:xfrm>
          <a:prstGeom prst="rect">
            <a:avLst/>
          </a:prstGeom>
        </p:spPr>
      </p:pic>
      <p:sp>
        <p:nvSpPr>
          <p:cNvPr name="AutoShape 4" id="4"/>
          <p:cNvSpPr/>
          <p:nvPr/>
        </p:nvSpPr>
        <p:spPr>
          <a:xfrm>
            <a:off x="876300" y="3886200"/>
            <a:ext cx="14490700" cy="2247900"/>
          </a:xfrm>
          <a:prstGeom prst="rect">
            <a:avLst/>
          </a:prstGeom>
          <a:solidFill>
            <a:srgbClr val="000000">
              <a:alpha val="0"/>
            </a:srgbClr>
          </a:solidFill>
          <a:ln w="12700">
            <a:solidFill>
              <a:srgbClr val="A1A1A1"/>
            </a:solidFill>
          </a:ln>
        </p:spPr>
      </p:sp>
      <p:sp>
        <p:nvSpPr>
          <p:cNvPr name="AutoShape 5" id="5"/>
          <p:cNvSpPr/>
          <p:nvPr/>
        </p:nvSpPr>
        <p:spPr>
          <a:xfrm>
            <a:off x="889000" y="3898900"/>
            <a:ext cx="1739900" cy="546100"/>
          </a:xfrm>
          <a:prstGeom prst="rect">
            <a:avLst/>
          </a:prstGeom>
          <a:solidFill>
            <a:srgbClr val="D1D1D1">
              <a:alpha val="71765"/>
            </a:srgbClr>
          </a:solidFill>
          <a:ln w="12700">
            <a:solidFill>
              <a:srgbClr val="A1A1A1"/>
            </a:solidFill>
          </a:ln>
        </p:spPr>
      </p:sp>
      <p:sp>
        <p:nvSpPr>
          <p:cNvPr name="AutoShape 6" id="6"/>
          <p:cNvSpPr/>
          <p:nvPr/>
        </p:nvSpPr>
        <p:spPr>
          <a:xfrm>
            <a:off x="2641600" y="3898900"/>
            <a:ext cx="3822700" cy="546100"/>
          </a:xfrm>
          <a:prstGeom prst="rect">
            <a:avLst/>
          </a:prstGeom>
          <a:solidFill>
            <a:srgbClr val="D1D1D1">
              <a:alpha val="71765"/>
            </a:srgbClr>
          </a:solidFill>
          <a:ln w="12700">
            <a:solidFill>
              <a:srgbClr val="A1A1A1"/>
            </a:solidFill>
          </a:ln>
        </p:spPr>
      </p:sp>
      <p:sp>
        <p:nvSpPr>
          <p:cNvPr name="AutoShape 7" id="7"/>
          <p:cNvSpPr/>
          <p:nvPr/>
        </p:nvSpPr>
        <p:spPr>
          <a:xfrm>
            <a:off x="6464300" y="3898900"/>
            <a:ext cx="3289300" cy="546100"/>
          </a:xfrm>
          <a:prstGeom prst="rect">
            <a:avLst/>
          </a:prstGeom>
          <a:solidFill>
            <a:srgbClr val="D1D1D1">
              <a:alpha val="71765"/>
            </a:srgbClr>
          </a:solidFill>
          <a:ln w="12700">
            <a:solidFill>
              <a:srgbClr val="A1A1A1"/>
            </a:solidFill>
          </a:ln>
        </p:spPr>
      </p:sp>
      <p:sp>
        <p:nvSpPr>
          <p:cNvPr name="AutoShape 8" id="8"/>
          <p:cNvSpPr/>
          <p:nvPr/>
        </p:nvSpPr>
        <p:spPr>
          <a:xfrm>
            <a:off x="9766300" y="3898900"/>
            <a:ext cx="3314700" cy="546100"/>
          </a:xfrm>
          <a:prstGeom prst="rect">
            <a:avLst/>
          </a:prstGeom>
          <a:solidFill>
            <a:srgbClr val="D1D1D1">
              <a:alpha val="71765"/>
            </a:srgbClr>
          </a:solidFill>
          <a:ln w="12700">
            <a:solidFill>
              <a:srgbClr val="A1A1A1"/>
            </a:solidFill>
          </a:ln>
        </p:spPr>
      </p:sp>
      <p:sp>
        <p:nvSpPr>
          <p:cNvPr name="AutoShape 9" id="9"/>
          <p:cNvSpPr/>
          <p:nvPr/>
        </p:nvSpPr>
        <p:spPr>
          <a:xfrm>
            <a:off x="13093700" y="3898900"/>
            <a:ext cx="2260600" cy="546100"/>
          </a:xfrm>
          <a:prstGeom prst="rect">
            <a:avLst/>
          </a:prstGeom>
          <a:solidFill>
            <a:srgbClr val="D1D1D1">
              <a:alpha val="71765"/>
            </a:srgbClr>
          </a:solidFill>
          <a:ln w="12700">
            <a:solidFill>
              <a:srgbClr val="A1A1A1"/>
            </a:solidFill>
          </a:ln>
        </p:spPr>
      </p:sp>
      <p:sp>
        <p:nvSpPr>
          <p:cNvPr name="AutoShape 10" id="10"/>
          <p:cNvSpPr/>
          <p:nvPr/>
        </p:nvSpPr>
        <p:spPr>
          <a:xfrm>
            <a:off x="889000" y="4457700"/>
            <a:ext cx="1739900" cy="546100"/>
          </a:xfrm>
          <a:prstGeom prst="rect">
            <a:avLst/>
          </a:prstGeom>
          <a:solidFill>
            <a:srgbClr val="000000">
              <a:alpha val="0"/>
            </a:srgbClr>
          </a:solidFill>
          <a:ln w="12700">
            <a:solidFill>
              <a:srgbClr val="A1A1A1"/>
            </a:solidFill>
          </a:ln>
        </p:spPr>
      </p:sp>
      <p:sp>
        <p:nvSpPr>
          <p:cNvPr name="AutoShape 11" id="11"/>
          <p:cNvSpPr/>
          <p:nvPr/>
        </p:nvSpPr>
        <p:spPr>
          <a:xfrm>
            <a:off x="2641600" y="4457700"/>
            <a:ext cx="3822700" cy="546100"/>
          </a:xfrm>
          <a:prstGeom prst="rect">
            <a:avLst/>
          </a:prstGeom>
          <a:solidFill>
            <a:srgbClr val="000000">
              <a:alpha val="0"/>
            </a:srgbClr>
          </a:solidFill>
          <a:ln w="12700">
            <a:solidFill>
              <a:srgbClr val="A1A1A1"/>
            </a:solidFill>
          </a:ln>
        </p:spPr>
      </p:sp>
      <p:sp>
        <p:nvSpPr>
          <p:cNvPr name="AutoShape 12" id="12"/>
          <p:cNvSpPr/>
          <p:nvPr/>
        </p:nvSpPr>
        <p:spPr>
          <a:xfrm>
            <a:off x="6464300" y="4457700"/>
            <a:ext cx="3289300" cy="546100"/>
          </a:xfrm>
          <a:prstGeom prst="rect">
            <a:avLst/>
          </a:prstGeom>
          <a:solidFill>
            <a:srgbClr val="000000">
              <a:alpha val="0"/>
            </a:srgbClr>
          </a:solidFill>
          <a:ln w="12700">
            <a:solidFill>
              <a:srgbClr val="A1A1A1"/>
            </a:solidFill>
          </a:ln>
        </p:spPr>
      </p:sp>
      <p:sp>
        <p:nvSpPr>
          <p:cNvPr name="AutoShape 13" id="13"/>
          <p:cNvSpPr/>
          <p:nvPr/>
        </p:nvSpPr>
        <p:spPr>
          <a:xfrm>
            <a:off x="9766300" y="4457700"/>
            <a:ext cx="3314700" cy="546100"/>
          </a:xfrm>
          <a:prstGeom prst="rect">
            <a:avLst/>
          </a:prstGeom>
          <a:solidFill>
            <a:srgbClr val="000000">
              <a:alpha val="0"/>
            </a:srgbClr>
          </a:solidFill>
          <a:ln w="12700">
            <a:solidFill>
              <a:srgbClr val="A1A1A1"/>
            </a:solidFill>
          </a:ln>
        </p:spPr>
      </p:sp>
      <p:sp>
        <p:nvSpPr>
          <p:cNvPr name="AutoShape 14" id="14"/>
          <p:cNvSpPr/>
          <p:nvPr/>
        </p:nvSpPr>
        <p:spPr>
          <a:xfrm>
            <a:off x="13093700" y="4457700"/>
            <a:ext cx="2260600" cy="546100"/>
          </a:xfrm>
          <a:prstGeom prst="rect">
            <a:avLst/>
          </a:prstGeom>
          <a:solidFill>
            <a:srgbClr val="000000">
              <a:alpha val="0"/>
            </a:srgbClr>
          </a:solidFill>
          <a:ln w="12700">
            <a:solidFill>
              <a:srgbClr val="A1A1A1"/>
            </a:solidFill>
          </a:ln>
        </p:spPr>
      </p:sp>
      <p:sp>
        <p:nvSpPr>
          <p:cNvPr name="AutoShape 15" id="15"/>
          <p:cNvSpPr/>
          <p:nvPr/>
        </p:nvSpPr>
        <p:spPr>
          <a:xfrm>
            <a:off x="889000" y="5003800"/>
            <a:ext cx="1739900" cy="546100"/>
          </a:xfrm>
          <a:prstGeom prst="rect">
            <a:avLst/>
          </a:prstGeom>
          <a:solidFill>
            <a:srgbClr val="000000">
              <a:alpha val="0"/>
            </a:srgbClr>
          </a:solidFill>
          <a:ln w="12700">
            <a:solidFill>
              <a:srgbClr val="A1A1A1"/>
            </a:solidFill>
          </a:ln>
        </p:spPr>
      </p:sp>
      <p:sp>
        <p:nvSpPr>
          <p:cNvPr name="AutoShape 16" id="16"/>
          <p:cNvSpPr/>
          <p:nvPr/>
        </p:nvSpPr>
        <p:spPr>
          <a:xfrm>
            <a:off x="2641600" y="5003800"/>
            <a:ext cx="3822700" cy="546100"/>
          </a:xfrm>
          <a:prstGeom prst="rect">
            <a:avLst/>
          </a:prstGeom>
          <a:solidFill>
            <a:srgbClr val="000000">
              <a:alpha val="0"/>
            </a:srgbClr>
          </a:solidFill>
          <a:ln w="12700">
            <a:solidFill>
              <a:srgbClr val="A1A1A1"/>
            </a:solidFill>
          </a:ln>
        </p:spPr>
      </p:sp>
      <p:sp>
        <p:nvSpPr>
          <p:cNvPr name="AutoShape 17" id="17"/>
          <p:cNvSpPr/>
          <p:nvPr/>
        </p:nvSpPr>
        <p:spPr>
          <a:xfrm>
            <a:off x="6464300" y="5003800"/>
            <a:ext cx="3289300" cy="546100"/>
          </a:xfrm>
          <a:prstGeom prst="rect">
            <a:avLst/>
          </a:prstGeom>
          <a:solidFill>
            <a:srgbClr val="000000">
              <a:alpha val="0"/>
            </a:srgbClr>
          </a:solidFill>
          <a:ln w="12700">
            <a:solidFill>
              <a:srgbClr val="A1A1A1"/>
            </a:solidFill>
          </a:ln>
        </p:spPr>
      </p:sp>
      <p:sp>
        <p:nvSpPr>
          <p:cNvPr name="AutoShape 18" id="18"/>
          <p:cNvSpPr/>
          <p:nvPr/>
        </p:nvSpPr>
        <p:spPr>
          <a:xfrm>
            <a:off x="9766300" y="5003800"/>
            <a:ext cx="3314700" cy="546100"/>
          </a:xfrm>
          <a:prstGeom prst="rect">
            <a:avLst/>
          </a:prstGeom>
          <a:solidFill>
            <a:srgbClr val="000000">
              <a:alpha val="0"/>
            </a:srgbClr>
          </a:solidFill>
          <a:ln w="12700">
            <a:solidFill>
              <a:srgbClr val="A1A1A1"/>
            </a:solidFill>
          </a:ln>
        </p:spPr>
      </p:sp>
      <p:sp>
        <p:nvSpPr>
          <p:cNvPr name="AutoShape 19" id="19"/>
          <p:cNvSpPr/>
          <p:nvPr/>
        </p:nvSpPr>
        <p:spPr>
          <a:xfrm>
            <a:off x="13093700" y="5003800"/>
            <a:ext cx="2260600" cy="546100"/>
          </a:xfrm>
          <a:prstGeom prst="rect">
            <a:avLst/>
          </a:prstGeom>
          <a:solidFill>
            <a:srgbClr val="000000">
              <a:alpha val="0"/>
            </a:srgbClr>
          </a:solidFill>
          <a:ln w="12700">
            <a:solidFill>
              <a:srgbClr val="A1A1A1"/>
            </a:solidFill>
          </a:ln>
        </p:spPr>
      </p:sp>
      <p:sp>
        <p:nvSpPr>
          <p:cNvPr name="AutoShape 20" id="20"/>
          <p:cNvSpPr/>
          <p:nvPr/>
        </p:nvSpPr>
        <p:spPr>
          <a:xfrm>
            <a:off x="889000" y="5562600"/>
            <a:ext cx="1739900" cy="546100"/>
          </a:xfrm>
          <a:prstGeom prst="rect">
            <a:avLst/>
          </a:prstGeom>
          <a:solidFill>
            <a:srgbClr val="000000">
              <a:alpha val="0"/>
            </a:srgbClr>
          </a:solidFill>
          <a:ln w="12700">
            <a:solidFill>
              <a:srgbClr val="A1A1A1"/>
            </a:solidFill>
          </a:ln>
        </p:spPr>
      </p:sp>
      <p:sp>
        <p:nvSpPr>
          <p:cNvPr name="AutoShape 21" id="21"/>
          <p:cNvSpPr/>
          <p:nvPr/>
        </p:nvSpPr>
        <p:spPr>
          <a:xfrm>
            <a:off x="2641600" y="5562600"/>
            <a:ext cx="3822700" cy="546100"/>
          </a:xfrm>
          <a:prstGeom prst="rect">
            <a:avLst/>
          </a:prstGeom>
          <a:solidFill>
            <a:srgbClr val="000000">
              <a:alpha val="0"/>
            </a:srgbClr>
          </a:solidFill>
          <a:ln w="12700">
            <a:solidFill>
              <a:srgbClr val="A1A1A1"/>
            </a:solidFill>
          </a:ln>
        </p:spPr>
      </p:sp>
      <p:sp>
        <p:nvSpPr>
          <p:cNvPr name="AutoShape 22" id="22"/>
          <p:cNvSpPr/>
          <p:nvPr/>
        </p:nvSpPr>
        <p:spPr>
          <a:xfrm>
            <a:off x="6464300" y="5562600"/>
            <a:ext cx="3289300" cy="546100"/>
          </a:xfrm>
          <a:prstGeom prst="rect">
            <a:avLst/>
          </a:prstGeom>
          <a:solidFill>
            <a:srgbClr val="000000">
              <a:alpha val="0"/>
            </a:srgbClr>
          </a:solidFill>
          <a:ln w="12700">
            <a:solidFill>
              <a:srgbClr val="A1A1A1"/>
            </a:solidFill>
          </a:ln>
        </p:spPr>
      </p:sp>
      <p:sp>
        <p:nvSpPr>
          <p:cNvPr name="AutoShape 23" id="23"/>
          <p:cNvSpPr/>
          <p:nvPr/>
        </p:nvSpPr>
        <p:spPr>
          <a:xfrm>
            <a:off x="9766300" y="5562600"/>
            <a:ext cx="3314700" cy="546100"/>
          </a:xfrm>
          <a:prstGeom prst="rect">
            <a:avLst/>
          </a:prstGeom>
          <a:solidFill>
            <a:srgbClr val="000000">
              <a:alpha val="0"/>
            </a:srgbClr>
          </a:solidFill>
          <a:ln w="12700">
            <a:solidFill>
              <a:srgbClr val="A1A1A1"/>
            </a:solidFill>
          </a:ln>
        </p:spPr>
      </p:sp>
      <p:sp>
        <p:nvSpPr>
          <p:cNvPr name="AutoShape 24" id="24"/>
          <p:cNvSpPr/>
          <p:nvPr/>
        </p:nvSpPr>
        <p:spPr>
          <a:xfrm>
            <a:off x="13093700" y="5562600"/>
            <a:ext cx="2260600" cy="546100"/>
          </a:xfrm>
          <a:prstGeom prst="rect">
            <a:avLst/>
          </a:prstGeom>
          <a:solidFill>
            <a:srgbClr val="000000">
              <a:alpha val="0"/>
            </a:srgbClr>
          </a:solidFill>
          <a:ln w="12700">
            <a:solidFill>
              <a:srgbClr val="A1A1A1"/>
            </a:solidFill>
          </a:ln>
        </p:spPr>
      </p:sp>
      <p:sp>
        <p:nvSpPr>
          <p:cNvPr name="TextBox 25" id="25"/>
          <p:cNvSpPr txBox="true"/>
          <p:nvPr/>
        </p:nvSpPr>
        <p:spPr>
          <a:xfrm>
            <a:off x="876300" y="2336800"/>
            <a:ext cx="14490700" cy="5969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3900" b="true">
                <a:solidFill>
                  <a:srgbClr val="000000"/>
                </a:solidFill>
                <a:latin typeface="Ubuntu"/>
              </a:rPr>
              <a:t>Scaled Results</a:t>
            </a:r>
            <a:endParaRPr lang="en-US" sz="1100"/>
          </a:p>
        </p:txBody>
      </p:sp>
      <p:sp>
        <p:nvSpPr>
          <p:cNvPr name="TextBox 26" id="26"/>
          <p:cNvSpPr txBox="true"/>
          <p:nvPr/>
        </p:nvSpPr>
        <p:spPr>
          <a:xfrm>
            <a:off x="876300" y="3225800"/>
            <a:ext cx="144907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Performance across different grid sizes:</a:t>
            </a:r>
            <a:endParaRPr lang="en-US" sz="1100"/>
          </a:p>
        </p:txBody>
      </p:sp>
      <p:sp>
        <p:nvSpPr>
          <p:cNvPr name="TextBox 27" id="27"/>
          <p:cNvSpPr txBox="true"/>
          <p:nvPr/>
        </p:nvSpPr>
        <p:spPr>
          <a:xfrm>
            <a:off x="977900" y="3987800"/>
            <a:ext cx="15621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Agents</a:t>
            </a:r>
            <a:endParaRPr lang="en-US" sz="1100"/>
          </a:p>
        </p:txBody>
      </p:sp>
      <p:sp>
        <p:nvSpPr>
          <p:cNvPr name="TextBox 28" id="28"/>
          <p:cNvSpPr txBox="true"/>
          <p:nvPr/>
        </p:nvSpPr>
        <p:spPr>
          <a:xfrm>
            <a:off x="2730500" y="3987800"/>
            <a:ext cx="36449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Attack Reduction</a:t>
            </a:r>
            <a:endParaRPr lang="en-US" sz="1100"/>
          </a:p>
        </p:txBody>
      </p:sp>
      <p:sp>
        <p:nvSpPr>
          <p:cNvPr name="TextBox 29" id="29"/>
          <p:cNvSpPr txBox="true"/>
          <p:nvPr/>
        </p:nvSpPr>
        <p:spPr>
          <a:xfrm>
            <a:off x="6553200" y="3987800"/>
            <a:ext cx="31115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Cost Efficiency</a:t>
            </a:r>
            <a:endParaRPr lang="en-US" sz="1100"/>
          </a:p>
        </p:txBody>
      </p:sp>
      <p:sp>
        <p:nvSpPr>
          <p:cNvPr name="TextBox 30" id="30"/>
          <p:cNvSpPr txBox="true"/>
          <p:nvPr/>
        </p:nvSpPr>
        <p:spPr>
          <a:xfrm>
            <a:off x="9855200" y="3987800"/>
            <a:ext cx="31369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Risk Mitigation</a:t>
            </a:r>
            <a:endParaRPr lang="en-US" sz="1100"/>
          </a:p>
        </p:txBody>
      </p:sp>
      <p:sp>
        <p:nvSpPr>
          <p:cNvPr name="TextBox 31" id="31"/>
          <p:cNvSpPr txBox="true"/>
          <p:nvPr/>
        </p:nvSpPr>
        <p:spPr>
          <a:xfrm>
            <a:off x="13182600" y="3987800"/>
            <a:ext cx="20828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Accuracy</a:t>
            </a:r>
            <a:endParaRPr lang="en-US" sz="1100"/>
          </a:p>
        </p:txBody>
      </p:sp>
      <p:sp>
        <p:nvSpPr>
          <p:cNvPr name="TextBox 32" id="32"/>
          <p:cNvSpPr txBox="true"/>
          <p:nvPr/>
        </p:nvSpPr>
        <p:spPr>
          <a:xfrm>
            <a:off x="977900" y="4546600"/>
            <a:ext cx="15621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N=100</a:t>
            </a:r>
            <a:endParaRPr lang="en-US" sz="1100"/>
          </a:p>
        </p:txBody>
      </p:sp>
      <p:sp>
        <p:nvSpPr>
          <p:cNvPr name="TextBox 33" id="33"/>
          <p:cNvSpPr txBox="true"/>
          <p:nvPr/>
        </p:nvSpPr>
        <p:spPr>
          <a:xfrm>
            <a:off x="2730500" y="4546600"/>
            <a:ext cx="36449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77.47%</a:t>
            </a:r>
            <a:endParaRPr lang="en-US" sz="1100"/>
          </a:p>
        </p:txBody>
      </p:sp>
      <p:sp>
        <p:nvSpPr>
          <p:cNvPr name="TextBox 34" id="34"/>
          <p:cNvSpPr txBox="true"/>
          <p:nvPr/>
        </p:nvSpPr>
        <p:spPr>
          <a:xfrm>
            <a:off x="6553200" y="4546600"/>
            <a:ext cx="31115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54.83%</a:t>
            </a:r>
            <a:endParaRPr lang="en-US" sz="1100"/>
          </a:p>
        </p:txBody>
      </p:sp>
      <p:sp>
        <p:nvSpPr>
          <p:cNvPr name="TextBox 35" id="35"/>
          <p:cNvSpPr txBox="true"/>
          <p:nvPr/>
        </p:nvSpPr>
        <p:spPr>
          <a:xfrm>
            <a:off x="9855200" y="4546600"/>
            <a:ext cx="31369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95.93%</a:t>
            </a:r>
            <a:endParaRPr lang="en-US" sz="1100"/>
          </a:p>
        </p:txBody>
      </p:sp>
      <p:sp>
        <p:nvSpPr>
          <p:cNvPr name="TextBox 36" id="36"/>
          <p:cNvSpPr txBox="true"/>
          <p:nvPr/>
        </p:nvSpPr>
        <p:spPr>
          <a:xfrm>
            <a:off x="13182600" y="4546600"/>
            <a:ext cx="20828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99.14%</a:t>
            </a:r>
            <a:endParaRPr lang="en-US" sz="1100"/>
          </a:p>
        </p:txBody>
      </p:sp>
      <p:sp>
        <p:nvSpPr>
          <p:cNvPr name="TextBox 37" id="37"/>
          <p:cNvSpPr txBox="true"/>
          <p:nvPr/>
        </p:nvSpPr>
        <p:spPr>
          <a:xfrm>
            <a:off x="977900" y="5092700"/>
            <a:ext cx="15621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N=200</a:t>
            </a:r>
            <a:endParaRPr lang="en-US" sz="1100"/>
          </a:p>
        </p:txBody>
      </p:sp>
      <p:sp>
        <p:nvSpPr>
          <p:cNvPr name="TextBox 38" id="38"/>
          <p:cNvSpPr txBox="true"/>
          <p:nvPr/>
        </p:nvSpPr>
        <p:spPr>
          <a:xfrm>
            <a:off x="2730500" y="5092700"/>
            <a:ext cx="36449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75.13%</a:t>
            </a:r>
            <a:endParaRPr lang="en-US" sz="1100"/>
          </a:p>
        </p:txBody>
      </p:sp>
      <p:sp>
        <p:nvSpPr>
          <p:cNvPr name="TextBox 39" id="39"/>
          <p:cNvSpPr txBox="true"/>
          <p:nvPr/>
        </p:nvSpPr>
        <p:spPr>
          <a:xfrm>
            <a:off x="6553200" y="5092700"/>
            <a:ext cx="31115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49.22%</a:t>
            </a:r>
            <a:endParaRPr lang="en-US" sz="1100"/>
          </a:p>
        </p:txBody>
      </p:sp>
      <p:sp>
        <p:nvSpPr>
          <p:cNvPr name="TextBox 40" id="40"/>
          <p:cNvSpPr txBox="true"/>
          <p:nvPr/>
        </p:nvSpPr>
        <p:spPr>
          <a:xfrm>
            <a:off x="9855200" y="5092700"/>
            <a:ext cx="31369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96.65%</a:t>
            </a:r>
            <a:endParaRPr lang="en-US" sz="1100"/>
          </a:p>
        </p:txBody>
      </p:sp>
      <p:sp>
        <p:nvSpPr>
          <p:cNvPr name="TextBox 41" id="41"/>
          <p:cNvSpPr txBox="true"/>
          <p:nvPr/>
        </p:nvSpPr>
        <p:spPr>
          <a:xfrm>
            <a:off x="13182600" y="5092700"/>
            <a:ext cx="20828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99.01%</a:t>
            </a:r>
            <a:endParaRPr lang="en-US" sz="1100"/>
          </a:p>
        </p:txBody>
      </p:sp>
      <p:sp>
        <p:nvSpPr>
          <p:cNvPr name="TextBox 42" id="42"/>
          <p:cNvSpPr txBox="true"/>
          <p:nvPr/>
        </p:nvSpPr>
        <p:spPr>
          <a:xfrm>
            <a:off x="977900" y="5651500"/>
            <a:ext cx="15621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N=500</a:t>
            </a:r>
            <a:endParaRPr lang="en-US" sz="1100"/>
          </a:p>
        </p:txBody>
      </p:sp>
      <p:sp>
        <p:nvSpPr>
          <p:cNvPr name="TextBox 43" id="43"/>
          <p:cNvSpPr txBox="true"/>
          <p:nvPr/>
        </p:nvSpPr>
        <p:spPr>
          <a:xfrm>
            <a:off x="2730500" y="5651500"/>
            <a:ext cx="36449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34.20%</a:t>
            </a:r>
            <a:endParaRPr lang="en-US" sz="1100"/>
          </a:p>
        </p:txBody>
      </p:sp>
      <p:sp>
        <p:nvSpPr>
          <p:cNvPr name="TextBox 44" id="44"/>
          <p:cNvSpPr txBox="true"/>
          <p:nvPr/>
        </p:nvSpPr>
        <p:spPr>
          <a:xfrm>
            <a:off x="6553200" y="5651500"/>
            <a:ext cx="31115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73.19%</a:t>
            </a:r>
            <a:endParaRPr lang="en-US" sz="1100"/>
          </a:p>
        </p:txBody>
      </p:sp>
      <p:sp>
        <p:nvSpPr>
          <p:cNvPr name="TextBox 45" id="45"/>
          <p:cNvSpPr txBox="true"/>
          <p:nvPr/>
        </p:nvSpPr>
        <p:spPr>
          <a:xfrm>
            <a:off x="9855200" y="5651500"/>
            <a:ext cx="31369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82.36%</a:t>
            </a:r>
            <a:endParaRPr lang="en-US" sz="1100"/>
          </a:p>
        </p:txBody>
      </p:sp>
      <p:sp>
        <p:nvSpPr>
          <p:cNvPr name="TextBox 46" id="46"/>
          <p:cNvSpPr txBox="true"/>
          <p:nvPr/>
        </p:nvSpPr>
        <p:spPr>
          <a:xfrm>
            <a:off x="13182600" y="5651500"/>
            <a:ext cx="20828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99.08%</a:t>
            </a:r>
            <a:endParaRPr lang="en-US" sz="1100"/>
          </a:p>
        </p:txBody>
      </p:sp>
      <p:sp>
        <p:nvSpPr>
          <p:cNvPr name="TextBox 47" id="47"/>
          <p:cNvSpPr txBox="true"/>
          <p:nvPr/>
        </p:nvSpPr>
        <p:spPr>
          <a:xfrm>
            <a:off x="876300" y="6413500"/>
            <a:ext cx="144907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Accuracy consistently high across all scales. Tradeoffs between efficiency and mitigation observed.</a:t>
            </a:r>
            <a:endParaRPr lang="en-US" sz="1100"/>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0" y="0"/>
            <a:ext cx="16256000" cy="9144000"/>
          </a:xfrm>
          <a:prstGeom prst="rect">
            <a:avLst/>
          </a:prstGeom>
          <a:solidFill>
            <a:srgbClr val="0D0A2C">
              <a:alpha val="74902"/>
            </a:srgbClr>
          </a:solidFill>
        </p:spPr>
      </p:sp>
      <p:pic>
        <p:nvPicPr>
          <p:cNvPr name="Picture 3" id="3"/>
          <p:cNvPicPr>
            <a:picLocks noChangeAspect="true"/>
          </p:cNvPicPr>
          <p:nvPr/>
        </p:nvPicPr>
        <p:blipFill>
          <a:blip r:embed="rId2"/>
          <a:srcRect t="56" b="56"/>
          <a:stretch>
            <a:fillRect/>
          </a:stretch>
        </p:blipFill>
        <p:spPr>
          <a:xfrm>
            <a:off x="0" y="0"/>
            <a:ext cx="16256000" cy="9144000"/>
          </a:xfrm>
          <a:prstGeom prst="rect">
            <a:avLst/>
          </a:prstGeom>
        </p:spPr>
      </p:pic>
      <p:sp>
        <p:nvSpPr>
          <p:cNvPr name="AutoShape 4" id="4"/>
          <p:cNvSpPr/>
          <p:nvPr/>
        </p:nvSpPr>
        <p:spPr>
          <a:xfrm>
            <a:off x="876300" y="3429000"/>
            <a:ext cx="14490700" cy="3162300"/>
          </a:xfrm>
          <a:prstGeom prst="rect">
            <a:avLst/>
          </a:prstGeom>
          <a:solidFill>
            <a:srgbClr val="000000">
              <a:alpha val="0"/>
            </a:srgbClr>
          </a:solidFill>
        </p:spPr>
      </p:sp>
      <p:sp>
        <p:nvSpPr>
          <p:cNvPr name="AutoShape 5" id="5"/>
          <p:cNvSpPr/>
          <p:nvPr/>
        </p:nvSpPr>
        <p:spPr>
          <a:xfrm>
            <a:off x="876300" y="3429000"/>
            <a:ext cx="3378200" cy="1968500"/>
          </a:xfrm>
          <a:prstGeom prst="rect">
            <a:avLst/>
          </a:prstGeom>
          <a:solidFill>
            <a:srgbClr val="000000">
              <a:alpha val="0"/>
            </a:srgbClr>
          </a:solidFill>
        </p:spPr>
      </p:sp>
      <p:sp>
        <p:nvSpPr>
          <p:cNvPr name="AutoShape 6" id="6"/>
          <p:cNvSpPr/>
          <p:nvPr/>
        </p:nvSpPr>
        <p:spPr>
          <a:xfrm>
            <a:off x="876300" y="3429000"/>
            <a:ext cx="558800" cy="558800"/>
          </a:xfrm>
          <a:prstGeom prst="roundRect">
            <a:avLst>
              <a:gd name="adj" fmla="val 15909"/>
            </a:avLst>
          </a:prstGeom>
          <a:solidFill>
            <a:srgbClr val="D1D1D1"/>
          </a:solidFill>
        </p:spPr>
      </p:sp>
      <p:sp>
        <p:nvSpPr>
          <p:cNvPr name="AutoShape 7" id="7"/>
          <p:cNvSpPr/>
          <p:nvPr/>
        </p:nvSpPr>
        <p:spPr>
          <a:xfrm>
            <a:off x="4572000" y="3429000"/>
            <a:ext cx="3378200" cy="1968500"/>
          </a:xfrm>
          <a:prstGeom prst="rect">
            <a:avLst/>
          </a:prstGeom>
          <a:solidFill>
            <a:srgbClr val="000000">
              <a:alpha val="0"/>
            </a:srgbClr>
          </a:solidFill>
        </p:spPr>
      </p:sp>
      <p:sp>
        <p:nvSpPr>
          <p:cNvPr name="AutoShape 8" id="8"/>
          <p:cNvSpPr/>
          <p:nvPr/>
        </p:nvSpPr>
        <p:spPr>
          <a:xfrm>
            <a:off x="4572000" y="3429000"/>
            <a:ext cx="558800" cy="558800"/>
          </a:xfrm>
          <a:prstGeom prst="roundRect">
            <a:avLst>
              <a:gd name="adj" fmla="val 15909"/>
            </a:avLst>
          </a:prstGeom>
          <a:solidFill>
            <a:srgbClr val="D1D1D1"/>
          </a:solidFill>
        </p:spPr>
      </p:sp>
      <p:sp>
        <p:nvSpPr>
          <p:cNvPr name="AutoShape 9" id="9"/>
          <p:cNvSpPr/>
          <p:nvPr/>
        </p:nvSpPr>
        <p:spPr>
          <a:xfrm>
            <a:off x="8280400" y="3429000"/>
            <a:ext cx="3378200" cy="1968500"/>
          </a:xfrm>
          <a:prstGeom prst="rect">
            <a:avLst/>
          </a:prstGeom>
          <a:solidFill>
            <a:srgbClr val="000000">
              <a:alpha val="0"/>
            </a:srgbClr>
          </a:solidFill>
        </p:spPr>
      </p:sp>
      <p:sp>
        <p:nvSpPr>
          <p:cNvPr name="AutoShape 10" id="10"/>
          <p:cNvSpPr/>
          <p:nvPr/>
        </p:nvSpPr>
        <p:spPr>
          <a:xfrm>
            <a:off x="8280400" y="3429000"/>
            <a:ext cx="558800" cy="558800"/>
          </a:xfrm>
          <a:prstGeom prst="roundRect">
            <a:avLst>
              <a:gd name="adj" fmla="val 15909"/>
            </a:avLst>
          </a:prstGeom>
          <a:solidFill>
            <a:srgbClr val="D1D1D1"/>
          </a:solidFill>
        </p:spPr>
      </p:sp>
      <p:sp>
        <p:nvSpPr>
          <p:cNvPr name="AutoShape 11" id="11"/>
          <p:cNvSpPr/>
          <p:nvPr/>
        </p:nvSpPr>
        <p:spPr>
          <a:xfrm>
            <a:off x="11976100" y="3429000"/>
            <a:ext cx="3378200" cy="1968500"/>
          </a:xfrm>
          <a:prstGeom prst="rect">
            <a:avLst/>
          </a:prstGeom>
          <a:solidFill>
            <a:srgbClr val="000000">
              <a:alpha val="0"/>
            </a:srgbClr>
          </a:solidFill>
        </p:spPr>
      </p:sp>
      <p:sp>
        <p:nvSpPr>
          <p:cNvPr name="AutoShape 12" id="12"/>
          <p:cNvSpPr/>
          <p:nvPr/>
        </p:nvSpPr>
        <p:spPr>
          <a:xfrm>
            <a:off x="11976100" y="3429000"/>
            <a:ext cx="558800" cy="558800"/>
          </a:xfrm>
          <a:prstGeom prst="roundRect">
            <a:avLst>
              <a:gd name="adj" fmla="val 15909"/>
            </a:avLst>
          </a:prstGeom>
          <a:solidFill>
            <a:srgbClr val="D1D1D1"/>
          </a:solidFill>
        </p:spPr>
      </p:sp>
      <p:sp>
        <p:nvSpPr>
          <p:cNvPr name="AutoShape 13" id="13"/>
          <p:cNvSpPr/>
          <p:nvPr/>
        </p:nvSpPr>
        <p:spPr>
          <a:xfrm>
            <a:off x="876300" y="6032500"/>
            <a:ext cx="14490700" cy="558800"/>
          </a:xfrm>
          <a:prstGeom prst="rect">
            <a:avLst/>
          </a:prstGeom>
          <a:solidFill>
            <a:srgbClr val="000000">
              <a:alpha val="0"/>
            </a:srgbClr>
          </a:solidFill>
        </p:spPr>
      </p:sp>
      <p:sp>
        <p:nvSpPr>
          <p:cNvPr name="AutoShape 14" id="14"/>
          <p:cNvSpPr/>
          <p:nvPr/>
        </p:nvSpPr>
        <p:spPr>
          <a:xfrm>
            <a:off x="876300" y="6032500"/>
            <a:ext cx="558800" cy="558800"/>
          </a:xfrm>
          <a:prstGeom prst="roundRect">
            <a:avLst>
              <a:gd name="adj" fmla="val 15909"/>
            </a:avLst>
          </a:prstGeom>
          <a:solidFill>
            <a:srgbClr val="D1D1D1"/>
          </a:solidFill>
        </p:spPr>
      </p:sp>
      <p:sp>
        <p:nvSpPr>
          <p:cNvPr name="TextBox 15" id="15"/>
          <p:cNvSpPr txBox="true"/>
          <p:nvPr/>
        </p:nvSpPr>
        <p:spPr>
          <a:xfrm>
            <a:off x="876300" y="2540000"/>
            <a:ext cx="14490700" cy="5969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3900" b="true">
                <a:solidFill>
                  <a:srgbClr val="000000"/>
                </a:solidFill>
                <a:latin typeface="Ubuntu"/>
              </a:rPr>
              <a:t>Result Discussion</a:t>
            </a:r>
            <a:endParaRPr lang="en-US" sz="1100"/>
          </a:p>
        </p:txBody>
      </p:sp>
      <p:sp>
        <p:nvSpPr>
          <p:cNvPr name="TextBox 16" id="16"/>
          <p:cNvSpPr txBox="true"/>
          <p:nvPr/>
        </p:nvSpPr>
        <p:spPr>
          <a:xfrm>
            <a:off x="1066800" y="35179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1</a:t>
            </a:r>
            <a:endParaRPr lang="en-US" sz="1100"/>
          </a:p>
        </p:txBody>
      </p:sp>
      <p:sp>
        <p:nvSpPr>
          <p:cNvPr name="TextBox 17" id="17"/>
          <p:cNvSpPr txBox="true"/>
          <p:nvPr/>
        </p:nvSpPr>
        <p:spPr>
          <a:xfrm>
            <a:off x="4775200" y="35179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2</a:t>
            </a:r>
            <a:endParaRPr lang="en-US" sz="1100"/>
          </a:p>
        </p:txBody>
      </p:sp>
      <p:sp>
        <p:nvSpPr>
          <p:cNvPr name="TextBox 18" id="18"/>
          <p:cNvSpPr txBox="true"/>
          <p:nvPr/>
        </p:nvSpPr>
        <p:spPr>
          <a:xfrm>
            <a:off x="8470900" y="35179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3</a:t>
            </a:r>
            <a:endParaRPr lang="en-US" sz="1100"/>
          </a:p>
        </p:txBody>
      </p:sp>
      <p:sp>
        <p:nvSpPr>
          <p:cNvPr name="TextBox 19" id="19"/>
          <p:cNvSpPr txBox="true"/>
          <p:nvPr/>
        </p:nvSpPr>
        <p:spPr>
          <a:xfrm>
            <a:off x="12179300" y="35179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4</a:t>
            </a:r>
            <a:endParaRPr lang="en-US" sz="1100"/>
          </a:p>
        </p:txBody>
      </p:sp>
      <p:sp>
        <p:nvSpPr>
          <p:cNvPr name="TextBox 20" id="20"/>
          <p:cNvSpPr txBox="true"/>
          <p:nvPr/>
        </p:nvSpPr>
        <p:spPr>
          <a:xfrm>
            <a:off x="1066800" y="61214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5</a:t>
            </a:r>
            <a:endParaRPr lang="en-US" sz="1100"/>
          </a:p>
        </p:txBody>
      </p:sp>
      <p:sp>
        <p:nvSpPr>
          <p:cNvPr name="TextBox 21" id="21"/>
          <p:cNvSpPr txBox="true"/>
          <p:nvPr/>
        </p:nvSpPr>
        <p:spPr>
          <a:xfrm>
            <a:off x="1689100" y="3505200"/>
            <a:ext cx="2565400" cy="1879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Medium scale (N=200) achieves highest risk mitigation at 96.65%</a:t>
            </a:r>
            <a:endParaRPr lang="en-US" sz="1100"/>
          </a:p>
        </p:txBody>
      </p:sp>
      <p:sp>
        <p:nvSpPr>
          <p:cNvPr name="TextBox 22" id="22"/>
          <p:cNvSpPr txBox="true"/>
          <p:nvPr/>
        </p:nvSpPr>
        <p:spPr>
          <a:xfrm>
            <a:off x="5397500" y="3505200"/>
            <a:ext cx="2565400" cy="1879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N=500 achieves strongest cost efficiency at 73.19% but reduced mitigation</a:t>
            </a:r>
            <a:endParaRPr lang="en-US" sz="1100"/>
          </a:p>
        </p:txBody>
      </p:sp>
      <p:sp>
        <p:nvSpPr>
          <p:cNvPr name="TextBox 23" id="23"/>
          <p:cNvSpPr txBox="true"/>
          <p:nvPr/>
        </p:nvSpPr>
        <p:spPr>
          <a:xfrm>
            <a:off x="9093200" y="3505200"/>
            <a:ext cx="2565400" cy="1511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Attack reduction declines noticeably at larger scale: N=500 at 34.20%</a:t>
            </a:r>
            <a:endParaRPr lang="en-US" sz="1100"/>
          </a:p>
        </p:txBody>
      </p:sp>
      <p:sp>
        <p:nvSpPr>
          <p:cNvPr name="TextBox 24" id="24"/>
          <p:cNvSpPr txBox="true"/>
          <p:nvPr/>
        </p:nvSpPr>
        <p:spPr>
          <a:xfrm>
            <a:off x="12801600" y="3505200"/>
            <a:ext cx="2565400" cy="1879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Tradeoff between efficiency and detection effectiveness as complexity grows</a:t>
            </a:r>
            <a:endParaRPr lang="en-US" sz="1100"/>
          </a:p>
        </p:txBody>
      </p:sp>
      <p:sp>
        <p:nvSpPr>
          <p:cNvPr name="TextBox 25" id="25"/>
          <p:cNvSpPr txBox="true"/>
          <p:nvPr/>
        </p:nvSpPr>
        <p:spPr>
          <a:xfrm>
            <a:off x="1689100" y="6121400"/>
            <a:ext cx="136652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System remains operationally usable across evaluated range</a:t>
            </a:r>
            <a:endParaRPr lang="en-US" sz="1100"/>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0" y="0"/>
            <a:ext cx="16256000" cy="9144000"/>
          </a:xfrm>
          <a:prstGeom prst="rect">
            <a:avLst/>
          </a:prstGeom>
          <a:solidFill>
            <a:srgbClr val="0D0A2C">
              <a:alpha val="74902"/>
            </a:srgbClr>
          </a:solidFill>
        </p:spPr>
      </p:sp>
      <p:pic>
        <p:nvPicPr>
          <p:cNvPr name="Picture 3" id="3"/>
          <p:cNvPicPr>
            <a:picLocks noChangeAspect="true"/>
          </p:cNvPicPr>
          <p:nvPr/>
        </p:nvPicPr>
        <p:blipFill>
          <a:blip r:embed="rId2"/>
          <a:srcRect t="56" b="56"/>
          <a:stretch>
            <a:fillRect/>
          </a:stretch>
        </p:blipFill>
        <p:spPr>
          <a:xfrm>
            <a:off x="0" y="0"/>
            <a:ext cx="16256000" cy="9144000"/>
          </a:xfrm>
          <a:prstGeom prst="rect">
            <a:avLst/>
          </a:prstGeom>
        </p:spPr>
      </p:pic>
      <p:sp>
        <p:nvSpPr>
          <p:cNvPr name="AutoShape 4" id="4"/>
          <p:cNvSpPr/>
          <p:nvPr/>
        </p:nvSpPr>
        <p:spPr>
          <a:xfrm>
            <a:off x="876300" y="3124200"/>
            <a:ext cx="14490700" cy="3771900"/>
          </a:xfrm>
          <a:prstGeom prst="rect">
            <a:avLst/>
          </a:prstGeom>
          <a:solidFill>
            <a:srgbClr val="000000">
              <a:alpha val="0"/>
            </a:srgbClr>
          </a:solidFill>
        </p:spPr>
      </p:sp>
      <p:sp>
        <p:nvSpPr>
          <p:cNvPr name="AutoShape 5" id="5"/>
          <p:cNvSpPr/>
          <p:nvPr/>
        </p:nvSpPr>
        <p:spPr>
          <a:xfrm>
            <a:off x="876300" y="3124200"/>
            <a:ext cx="7112000" cy="3771900"/>
          </a:xfrm>
          <a:prstGeom prst="roundRect">
            <a:avLst>
              <a:gd name="adj" fmla="val 2356"/>
            </a:avLst>
          </a:prstGeom>
          <a:solidFill>
            <a:srgbClr val="D1D1D1">
              <a:alpha val="71765"/>
            </a:srgbClr>
          </a:solidFill>
        </p:spPr>
      </p:sp>
      <p:sp>
        <p:nvSpPr>
          <p:cNvPr name="AutoShape 6" id="6"/>
          <p:cNvSpPr/>
          <p:nvPr/>
        </p:nvSpPr>
        <p:spPr>
          <a:xfrm>
            <a:off x="8242300" y="3124200"/>
            <a:ext cx="7112000" cy="3771900"/>
          </a:xfrm>
          <a:prstGeom prst="roundRect">
            <a:avLst>
              <a:gd name="adj" fmla="val 2356"/>
            </a:avLst>
          </a:prstGeom>
          <a:solidFill>
            <a:srgbClr val="D1D1D1">
              <a:alpha val="71765"/>
            </a:srgbClr>
          </a:solidFill>
        </p:spPr>
      </p:sp>
      <p:sp>
        <p:nvSpPr>
          <p:cNvPr name="TextBox 7" id="7"/>
          <p:cNvSpPr txBox="true"/>
          <p:nvPr/>
        </p:nvSpPr>
        <p:spPr>
          <a:xfrm>
            <a:off x="876300" y="2235200"/>
            <a:ext cx="14490700" cy="5969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3900" b="true">
                <a:solidFill>
                  <a:srgbClr val="000000"/>
                </a:solidFill>
                <a:latin typeface="Ubuntu"/>
              </a:rPr>
              <a:t>Accuracy vs F1 Interpretation</a:t>
            </a:r>
            <a:endParaRPr lang="en-US" sz="1100"/>
          </a:p>
        </p:txBody>
      </p:sp>
      <p:sp>
        <p:nvSpPr>
          <p:cNvPr name="TextBox 8" id="8"/>
          <p:cNvSpPr txBox="true"/>
          <p:nvPr/>
        </p:nvSpPr>
        <p:spPr>
          <a:xfrm>
            <a:off x="1130300" y="3378200"/>
            <a:ext cx="66040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000000"/>
                </a:solidFill>
                <a:latin typeface="Ubuntu"/>
              </a:rPr>
              <a:t>Class Imbalance Context</a:t>
            </a:r>
            <a:endParaRPr lang="en-US" sz="1100"/>
          </a:p>
        </p:txBody>
      </p:sp>
      <p:sp>
        <p:nvSpPr>
          <p:cNvPr name="TextBox 9" id="9"/>
          <p:cNvSpPr txBox="true"/>
          <p:nvPr/>
        </p:nvSpPr>
        <p:spPr>
          <a:xfrm>
            <a:off x="8496300" y="3378200"/>
            <a:ext cx="66040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000000"/>
                </a:solidFill>
                <a:latin typeface="Ubuntu"/>
              </a:rPr>
              <a:t>Metric Interpretation</a:t>
            </a:r>
            <a:endParaRPr lang="en-US" sz="1100"/>
          </a:p>
        </p:txBody>
      </p:sp>
      <p:sp>
        <p:nvSpPr>
          <p:cNvPr name="TextBox 10" id="10"/>
          <p:cNvSpPr txBox="true"/>
          <p:nvPr/>
        </p:nvSpPr>
        <p:spPr>
          <a:xfrm>
            <a:off x="1130300" y="4000500"/>
            <a:ext cx="6604000" cy="2641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Observed scenarios show very high overall accuracy near 99% while the F1 score remains modest at 25.67%. This results from normal or low-risk states dominating the event distribution, creating highly imbalanced operating conditions where rare events are underrepresented in the data.</a:t>
            </a:r>
            <a:endParaRPr lang="en-US" sz="1100"/>
          </a:p>
        </p:txBody>
      </p:sp>
      <p:sp>
        <p:nvSpPr>
          <p:cNvPr name="TextBox 11" id="11"/>
          <p:cNvSpPr txBox="true"/>
          <p:nvPr/>
        </p:nvSpPr>
        <p:spPr>
          <a:xfrm>
            <a:off x="8496300" y="4000500"/>
            <a:ext cx="6604000" cy="2641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Accuracy primarily reflects overall correctness across dominant classes, whereas the F1 score is more sensitive to the detection performance on minority and anomalous classes. Such metric behavior is expected in cyber-physical monitoring systems where anomalies are rare but critical to identify.</a:t>
            </a:r>
            <a:endParaRPr lang="en-US" sz="1100"/>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0" y="0"/>
            <a:ext cx="16256000" cy="9144000"/>
          </a:xfrm>
          <a:prstGeom prst="rect">
            <a:avLst/>
          </a:prstGeom>
          <a:solidFill>
            <a:srgbClr val="0D0A2C">
              <a:alpha val="74902"/>
            </a:srgbClr>
          </a:solidFill>
        </p:spPr>
      </p:sp>
      <p:pic>
        <p:nvPicPr>
          <p:cNvPr name="Picture 3" id="3"/>
          <p:cNvPicPr>
            <a:picLocks noChangeAspect="true"/>
          </p:cNvPicPr>
          <p:nvPr/>
        </p:nvPicPr>
        <p:blipFill>
          <a:blip r:embed="rId2"/>
          <a:srcRect t="56" b="56"/>
          <a:stretch>
            <a:fillRect/>
          </a:stretch>
        </p:blipFill>
        <p:spPr>
          <a:xfrm>
            <a:off x="0" y="0"/>
            <a:ext cx="16256000" cy="9144000"/>
          </a:xfrm>
          <a:prstGeom prst="rect">
            <a:avLst/>
          </a:prstGeom>
        </p:spPr>
      </p:pic>
      <p:sp>
        <p:nvSpPr>
          <p:cNvPr name="AutoShape 4" id="4"/>
          <p:cNvSpPr/>
          <p:nvPr/>
        </p:nvSpPr>
        <p:spPr>
          <a:xfrm>
            <a:off x="876300" y="2451100"/>
            <a:ext cx="14490700" cy="3162300"/>
          </a:xfrm>
          <a:prstGeom prst="rect">
            <a:avLst/>
          </a:prstGeom>
          <a:solidFill>
            <a:srgbClr val="000000">
              <a:alpha val="0"/>
            </a:srgbClr>
          </a:solidFill>
        </p:spPr>
      </p:sp>
      <p:sp>
        <p:nvSpPr>
          <p:cNvPr name="AutoShape 5" id="5"/>
          <p:cNvSpPr/>
          <p:nvPr/>
        </p:nvSpPr>
        <p:spPr>
          <a:xfrm>
            <a:off x="876300" y="2451100"/>
            <a:ext cx="3378200" cy="1968500"/>
          </a:xfrm>
          <a:prstGeom prst="rect">
            <a:avLst/>
          </a:prstGeom>
          <a:solidFill>
            <a:srgbClr val="000000">
              <a:alpha val="0"/>
            </a:srgbClr>
          </a:solidFill>
        </p:spPr>
      </p:sp>
      <p:sp>
        <p:nvSpPr>
          <p:cNvPr name="AutoShape 6" id="6"/>
          <p:cNvSpPr/>
          <p:nvPr/>
        </p:nvSpPr>
        <p:spPr>
          <a:xfrm>
            <a:off x="876300" y="2451100"/>
            <a:ext cx="558800" cy="558800"/>
          </a:xfrm>
          <a:prstGeom prst="roundRect">
            <a:avLst>
              <a:gd name="adj" fmla="val 15909"/>
            </a:avLst>
          </a:prstGeom>
          <a:solidFill>
            <a:srgbClr val="D1D1D1"/>
          </a:solidFill>
        </p:spPr>
      </p:sp>
      <p:sp>
        <p:nvSpPr>
          <p:cNvPr name="AutoShape 7" id="7"/>
          <p:cNvSpPr/>
          <p:nvPr/>
        </p:nvSpPr>
        <p:spPr>
          <a:xfrm>
            <a:off x="4572000" y="2451100"/>
            <a:ext cx="3378200" cy="1968500"/>
          </a:xfrm>
          <a:prstGeom prst="rect">
            <a:avLst/>
          </a:prstGeom>
          <a:solidFill>
            <a:srgbClr val="000000">
              <a:alpha val="0"/>
            </a:srgbClr>
          </a:solidFill>
        </p:spPr>
      </p:sp>
      <p:sp>
        <p:nvSpPr>
          <p:cNvPr name="AutoShape 8" id="8"/>
          <p:cNvSpPr/>
          <p:nvPr/>
        </p:nvSpPr>
        <p:spPr>
          <a:xfrm>
            <a:off x="4572000" y="2451100"/>
            <a:ext cx="558800" cy="558800"/>
          </a:xfrm>
          <a:prstGeom prst="roundRect">
            <a:avLst>
              <a:gd name="adj" fmla="val 15909"/>
            </a:avLst>
          </a:prstGeom>
          <a:solidFill>
            <a:srgbClr val="D1D1D1"/>
          </a:solidFill>
        </p:spPr>
      </p:sp>
      <p:sp>
        <p:nvSpPr>
          <p:cNvPr name="AutoShape 9" id="9"/>
          <p:cNvSpPr/>
          <p:nvPr/>
        </p:nvSpPr>
        <p:spPr>
          <a:xfrm>
            <a:off x="8280400" y="2451100"/>
            <a:ext cx="3378200" cy="1968500"/>
          </a:xfrm>
          <a:prstGeom prst="rect">
            <a:avLst/>
          </a:prstGeom>
          <a:solidFill>
            <a:srgbClr val="000000">
              <a:alpha val="0"/>
            </a:srgbClr>
          </a:solidFill>
        </p:spPr>
      </p:sp>
      <p:sp>
        <p:nvSpPr>
          <p:cNvPr name="AutoShape 10" id="10"/>
          <p:cNvSpPr/>
          <p:nvPr/>
        </p:nvSpPr>
        <p:spPr>
          <a:xfrm>
            <a:off x="8280400" y="2451100"/>
            <a:ext cx="558800" cy="558800"/>
          </a:xfrm>
          <a:prstGeom prst="roundRect">
            <a:avLst>
              <a:gd name="adj" fmla="val 15909"/>
            </a:avLst>
          </a:prstGeom>
          <a:solidFill>
            <a:srgbClr val="D1D1D1"/>
          </a:solidFill>
        </p:spPr>
      </p:sp>
      <p:sp>
        <p:nvSpPr>
          <p:cNvPr name="AutoShape 11" id="11"/>
          <p:cNvSpPr/>
          <p:nvPr/>
        </p:nvSpPr>
        <p:spPr>
          <a:xfrm>
            <a:off x="11976100" y="2451100"/>
            <a:ext cx="3378200" cy="1968500"/>
          </a:xfrm>
          <a:prstGeom prst="rect">
            <a:avLst/>
          </a:prstGeom>
          <a:solidFill>
            <a:srgbClr val="000000">
              <a:alpha val="0"/>
            </a:srgbClr>
          </a:solidFill>
        </p:spPr>
      </p:sp>
      <p:sp>
        <p:nvSpPr>
          <p:cNvPr name="AutoShape 12" id="12"/>
          <p:cNvSpPr/>
          <p:nvPr/>
        </p:nvSpPr>
        <p:spPr>
          <a:xfrm>
            <a:off x="11976100" y="2451100"/>
            <a:ext cx="558800" cy="558800"/>
          </a:xfrm>
          <a:prstGeom prst="roundRect">
            <a:avLst>
              <a:gd name="adj" fmla="val 15909"/>
            </a:avLst>
          </a:prstGeom>
          <a:solidFill>
            <a:srgbClr val="D1D1D1"/>
          </a:solidFill>
        </p:spPr>
      </p:sp>
      <p:sp>
        <p:nvSpPr>
          <p:cNvPr name="AutoShape 13" id="13"/>
          <p:cNvSpPr/>
          <p:nvPr/>
        </p:nvSpPr>
        <p:spPr>
          <a:xfrm>
            <a:off x="876300" y="5054600"/>
            <a:ext cx="14490700" cy="558800"/>
          </a:xfrm>
          <a:prstGeom prst="rect">
            <a:avLst/>
          </a:prstGeom>
          <a:solidFill>
            <a:srgbClr val="000000">
              <a:alpha val="0"/>
            </a:srgbClr>
          </a:solidFill>
        </p:spPr>
      </p:sp>
      <p:sp>
        <p:nvSpPr>
          <p:cNvPr name="AutoShape 14" id="14"/>
          <p:cNvSpPr/>
          <p:nvPr/>
        </p:nvSpPr>
        <p:spPr>
          <a:xfrm>
            <a:off x="876300" y="5054600"/>
            <a:ext cx="558800" cy="558800"/>
          </a:xfrm>
          <a:prstGeom prst="roundRect">
            <a:avLst>
              <a:gd name="adj" fmla="val 15909"/>
            </a:avLst>
          </a:prstGeom>
          <a:solidFill>
            <a:srgbClr val="D1D1D1"/>
          </a:solidFill>
        </p:spPr>
      </p:sp>
      <p:sp>
        <p:nvSpPr>
          <p:cNvPr name="TextBox 15" id="15"/>
          <p:cNvSpPr txBox="true"/>
          <p:nvPr/>
        </p:nvSpPr>
        <p:spPr>
          <a:xfrm>
            <a:off x="876300" y="1562100"/>
            <a:ext cx="14490700" cy="5969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3900" b="true">
                <a:solidFill>
                  <a:srgbClr val="000000"/>
                </a:solidFill>
                <a:latin typeface="Ubuntu"/>
              </a:rPr>
              <a:t>Live Dashboard / XAI Evidence</a:t>
            </a:r>
            <a:endParaRPr lang="en-US" sz="1100"/>
          </a:p>
        </p:txBody>
      </p:sp>
      <p:sp>
        <p:nvSpPr>
          <p:cNvPr name="TextBox 16" id="16"/>
          <p:cNvSpPr txBox="true"/>
          <p:nvPr/>
        </p:nvSpPr>
        <p:spPr>
          <a:xfrm>
            <a:off x="1066800" y="25527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1</a:t>
            </a:r>
            <a:endParaRPr lang="en-US" sz="1100"/>
          </a:p>
        </p:txBody>
      </p:sp>
      <p:sp>
        <p:nvSpPr>
          <p:cNvPr name="TextBox 17" id="17"/>
          <p:cNvSpPr txBox="true"/>
          <p:nvPr/>
        </p:nvSpPr>
        <p:spPr>
          <a:xfrm>
            <a:off x="4775200" y="25527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2</a:t>
            </a:r>
            <a:endParaRPr lang="en-US" sz="1100"/>
          </a:p>
        </p:txBody>
      </p:sp>
      <p:sp>
        <p:nvSpPr>
          <p:cNvPr name="TextBox 18" id="18"/>
          <p:cNvSpPr txBox="true"/>
          <p:nvPr/>
        </p:nvSpPr>
        <p:spPr>
          <a:xfrm>
            <a:off x="8470900" y="25527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3</a:t>
            </a:r>
            <a:endParaRPr lang="en-US" sz="1100"/>
          </a:p>
        </p:txBody>
      </p:sp>
      <p:sp>
        <p:nvSpPr>
          <p:cNvPr name="TextBox 19" id="19"/>
          <p:cNvSpPr txBox="true"/>
          <p:nvPr/>
        </p:nvSpPr>
        <p:spPr>
          <a:xfrm>
            <a:off x="12179300" y="25527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4</a:t>
            </a:r>
            <a:endParaRPr lang="en-US" sz="1100"/>
          </a:p>
        </p:txBody>
      </p:sp>
      <p:sp>
        <p:nvSpPr>
          <p:cNvPr name="TextBox 20" id="20"/>
          <p:cNvSpPr txBox="true"/>
          <p:nvPr/>
        </p:nvSpPr>
        <p:spPr>
          <a:xfrm>
            <a:off x="1066800" y="51562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5</a:t>
            </a:r>
            <a:endParaRPr lang="en-US" sz="1100"/>
          </a:p>
        </p:txBody>
      </p:sp>
      <p:sp>
        <p:nvSpPr>
          <p:cNvPr name="TextBox 21" id="21"/>
          <p:cNvSpPr txBox="true"/>
          <p:nvPr/>
        </p:nvSpPr>
        <p:spPr>
          <a:xfrm>
            <a:off x="1689100" y="2540000"/>
            <a:ext cx="2565400" cy="1511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Anomaly scoring view showing agent risk score and severity</a:t>
            </a:r>
            <a:endParaRPr lang="en-US" sz="1100"/>
          </a:p>
        </p:txBody>
      </p:sp>
      <p:sp>
        <p:nvSpPr>
          <p:cNvPr name="TextBox 22" id="22"/>
          <p:cNvSpPr txBox="true"/>
          <p:nvPr/>
        </p:nvSpPr>
        <p:spPr>
          <a:xfrm>
            <a:off x="5397500" y="2540000"/>
            <a:ext cx="2565400" cy="1879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Audit decision display with MAINTAIN_AUDIT or INCREASE_AUDIT action</a:t>
            </a:r>
            <a:endParaRPr lang="en-US" sz="1100"/>
          </a:p>
        </p:txBody>
      </p:sp>
      <p:sp>
        <p:nvSpPr>
          <p:cNvPr name="TextBox 23" id="23"/>
          <p:cNvSpPr txBox="true"/>
          <p:nvPr/>
        </p:nvSpPr>
        <p:spPr>
          <a:xfrm>
            <a:off x="9093200" y="2540000"/>
            <a:ext cx="2565400" cy="1130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Top contributing features identified for explainability</a:t>
            </a:r>
            <a:endParaRPr lang="en-US" sz="1100"/>
          </a:p>
        </p:txBody>
      </p:sp>
      <p:sp>
        <p:nvSpPr>
          <p:cNvPr name="TextBox 24" id="24"/>
          <p:cNvSpPr txBox="true"/>
          <p:nvPr/>
        </p:nvSpPr>
        <p:spPr>
          <a:xfrm>
            <a:off x="12801600" y="2540000"/>
            <a:ext cx="2565400" cy="1511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Real-time SCADA grid status and connectivity indicators</a:t>
            </a:r>
            <a:endParaRPr lang="en-US" sz="1100"/>
          </a:p>
        </p:txBody>
      </p:sp>
      <p:sp>
        <p:nvSpPr>
          <p:cNvPr name="TextBox 25" id="25"/>
          <p:cNvSpPr txBox="true"/>
          <p:nvPr/>
        </p:nvSpPr>
        <p:spPr>
          <a:xfrm>
            <a:off x="1689100" y="5143500"/>
            <a:ext cx="136652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Audit trail and response flow visualization</a:t>
            </a:r>
            <a:endParaRPr lang="en-US" sz="1100"/>
          </a:p>
        </p:txBody>
      </p:sp>
      <p:sp>
        <p:nvSpPr>
          <p:cNvPr name="TextBox 26" id="26"/>
          <p:cNvSpPr txBox="true"/>
          <p:nvPr/>
        </p:nvSpPr>
        <p:spPr>
          <a:xfrm>
            <a:off x="876300" y="6223000"/>
            <a:ext cx="6921500" cy="749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Reserve space for dashboard screenshot showing anomaly, audit, and explanation views</a:t>
            </a:r>
            <a:endParaRPr lang="en-US" sz="1100"/>
          </a:p>
        </p:txBody>
      </p:sp>
      <p:sp>
        <p:nvSpPr>
          <p:cNvPr name="TextBox 27" id="27"/>
          <p:cNvSpPr txBox="true"/>
          <p:nvPr/>
        </p:nvSpPr>
        <p:spPr>
          <a:xfrm>
            <a:off x="8432800" y="6223000"/>
            <a:ext cx="6921500" cy="749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Screenshot placeholder (to be replaced with actual dashboard image)</a:t>
            </a:r>
            <a:endParaRPr lang="en-US" sz="1100"/>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0" y="0"/>
            <a:ext cx="16256000" cy="9144000"/>
          </a:xfrm>
          <a:prstGeom prst="rect">
            <a:avLst/>
          </a:prstGeom>
          <a:solidFill>
            <a:srgbClr val="0D0A2C">
              <a:alpha val="74902"/>
            </a:srgbClr>
          </a:solidFill>
        </p:spPr>
      </p:sp>
      <p:pic>
        <p:nvPicPr>
          <p:cNvPr name="Picture 3" id="3"/>
          <p:cNvPicPr>
            <a:picLocks noChangeAspect="true"/>
          </p:cNvPicPr>
          <p:nvPr/>
        </p:nvPicPr>
        <p:blipFill>
          <a:blip r:embed="rId2"/>
          <a:srcRect t="56" b="56"/>
          <a:stretch>
            <a:fillRect/>
          </a:stretch>
        </p:blipFill>
        <p:spPr>
          <a:xfrm>
            <a:off x="0" y="0"/>
            <a:ext cx="16256000" cy="9144000"/>
          </a:xfrm>
          <a:prstGeom prst="rect">
            <a:avLst/>
          </a:prstGeom>
        </p:spPr>
      </p:pic>
      <p:sp>
        <p:nvSpPr>
          <p:cNvPr name="AutoShape 4" id="4"/>
          <p:cNvSpPr/>
          <p:nvPr/>
        </p:nvSpPr>
        <p:spPr>
          <a:xfrm>
            <a:off x="876300" y="3429000"/>
            <a:ext cx="14490700" cy="3162300"/>
          </a:xfrm>
          <a:prstGeom prst="rect">
            <a:avLst/>
          </a:prstGeom>
          <a:solidFill>
            <a:srgbClr val="000000">
              <a:alpha val="0"/>
            </a:srgbClr>
          </a:solidFill>
        </p:spPr>
      </p:sp>
      <p:sp>
        <p:nvSpPr>
          <p:cNvPr name="AutoShape 5" id="5"/>
          <p:cNvSpPr/>
          <p:nvPr/>
        </p:nvSpPr>
        <p:spPr>
          <a:xfrm>
            <a:off x="876300" y="3429000"/>
            <a:ext cx="3378200" cy="1968500"/>
          </a:xfrm>
          <a:prstGeom prst="rect">
            <a:avLst/>
          </a:prstGeom>
          <a:solidFill>
            <a:srgbClr val="000000">
              <a:alpha val="0"/>
            </a:srgbClr>
          </a:solidFill>
        </p:spPr>
      </p:sp>
      <p:sp>
        <p:nvSpPr>
          <p:cNvPr name="AutoShape 6" id="6"/>
          <p:cNvSpPr/>
          <p:nvPr/>
        </p:nvSpPr>
        <p:spPr>
          <a:xfrm>
            <a:off x="876300" y="3429000"/>
            <a:ext cx="558800" cy="558800"/>
          </a:xfrm>
          <a:prstGeom prst="roundRect">
            <a:avLst>
              <a:gd name="adj" fmla="val 15909"/>
            </a:avLst>
          </a:prstGeom>
          <a:solidFill>
            <a:srgbClr val="D1D1D1"/>
          </a:solidFill>
        </p:spPr>
      </p:sp>
      <p:sp>
        <p:nvSpPr>
          <p:cNvPr name="AutoShape 7" id="7"/>
          <p:cNvSpPr/>
          <p:nvPr/>
        </p:nvSpPr>
        <p:spPr>
          <a:xfrm>
            <a:off x="4572000" y="3429000"/>
            <a:ext cx="3378200" cy="1968500"/>
          </a:xfrm>
          <a:prstGeom prst="rect">
            <a:avLst/>
          </a:prstGeom>
          <a:solidFill>
            <a:srgbClr val="000000">
              <a:alpha val="0"/>
            </a:srgbClr>
          </a:solidFill>
        </p:spPr>
      </p:sp>
      <p:sp>
        <p:nvSpPr>
          <p:cNvPr name="AutoShape 8" id="8"/>
          <p:cNvSpPr/>
          <p:nvPr/>
        </p:nvSpPr>
        <p:spPr>
          <a:xfrm>
            <a:off x="4572000" y="3429000"/>
            <a:ext cx="558800" cy="558800"/>
          </a:xfrm>
          <a:prstGeom prst="roundRect">
            <a:avLst>
              <a:gd name="adj" fmla="val 15909"/>
            </a:avLst>
          </a:prstGeom>
          <a:solidFill>
            <a:srgbClr val="D1D1D1"/>
          </a:solidFill>
        </p:spPr>
      </p:sp>
      <p:sp>
        <p:nvSpPr>
          <p:cNvPr name="AutoShape 9" id="9"/>
          <p:cNvSpPr/>
          <p:nvPr/>
        </p:nvSpPr>
        <p:spPr>
          <a:xfrm>
            <a:off x="8280400" y="3429000"/>
            <a:ext cx="3378200" cy="1968500"/>
          </a:xfrm>
          <a:prstGeom prst="rect">
            <a:avLst/>
          </a:prstGeom>
          <a:solidFill>
            <a:srgbClr val="000000">
              <a:alpha val="0"/>
            </a:srgbClr>
          </a:solidFill>
        </p:spPr>
      </p:sp>
      <p:sp>
        <p:nvSpPr>
          <p:cNvPr name="AutoShape 10" id="10"/>
          <p:cNvSpPr/>
          <p:nvPr/>
        </p:nvSpPr>
        <p:spPr>
          <a:xfrm>
            <a:off x="8280400" y="3429000"/>
            <a:ext cx="558800" cy="558800"/>
          </a:xfrm>
          <a:prstGeom prst="roundRect">
            <a:avLst>
              <a:gd name="adj" fmla="val 15909"/>
            </a:avLst>
          </a:prstGeom>
          <a:solidFill>
            <a:srgbClr val="D1D1D1"/>
          </a:solidFill>
        </p:spPr>
      </p:sp>
      <p:sp>
        <p:nvSpPr>
          <p:cNvPr name="AutoShape 11" id="11"/>
          <p:cNvSpPr/>
          <p:nvPr/>
        </p:nvSpPr>
        <p:spPr>
          <a:xfrm>
            <a:off x="11976100" y="3429000"/>
            <a:ext cx="3378200" cy="1968500"/>
          </a:xfrm>
          <a:prstGeom prst="rect">
            <a:avLst/>
          </a:prstGeom>
          <a:solidFill>
            <a:srgbClr val="000000">
              <a:alpha val="0"/>
            </a:srgbClr>
          </a:solidFill>
        </p:spPr>
      </p:sp>
      <p:sp>
        <p:nvSpPr>
          <p:cNvPr name="AutoShape 12" id="12"/>
          <p:cNvSpPr/>
          <p:nvPr/>
        </p:nvSpPr>
        <p:spPr>
          <a:xfrm>
            <a:off x="11976100" y="3429000"/>
            <a:ext cx="558800" cy="558800"/>
          </a:xfrm>
          <a:prstGeom prst="roundRect">
            <a:avLst>
              <a:gd name="adj" fmla="val 15909"/>
            </a:avLst>
          </a:prstGeom>
          <a:solidFill>
            <a:srgbClr val="D1D1D1"/>
          </a:solidFill>
        </p:spPr>
      </p:sp>
      <p:sp>
        <p:nvSpPr>
          <p:cNvPr name="AutoShape 13" id="13"/>
          <p:cNvSpPr/>
          <p:nvPr/>
        </p:nvSpPr>
        <p:spPr>
          <a:xfrm>
            <a:off x="876300" y="6032500"/>
            <a:ext cx="14490700" cy="558800"/>
          </a:xfrm>
          <a:prstGeom prst="rect">
            <a:avLst/>
          </a:prstGeom>
          <a:solidFill>
            <a:srgbClr val="000000">
              <a:alpha val="0"/>
            </a:srgbClr>
          </a:solidFill>
        </p:spPr>
      </p:sp>
      <p:sp>
        <p:nvSpPr>
          <p:cNvPr name="AutoShape 14" id="14"/>
          <p:cNvSpPr/>
          <p:nvPr/>
        </p:nvSpPr>
        <p:spPr>
          <a:xfrm>
            <a:off x="876300" y="6032500"/>
            <a:ext cx="558800" cy="558800"/>
          </a:xfrm>
          <a:prstGeom prst="roundRect">
            <a:avLst>
              <a:gd name="adj" fmla="val 15909"/>
            </a:avLst>
          </a:prstGeom>
          <a:solidFill>
            <a:srgbClr val="D1D1D1"/>
          </a:solidFill>
        </p:spPr>
      </p:sp>
      <p:sp>
        <p:nvSpPr>
          <p:cNvPr name="TextBox 15" id="15"/>
          <p:cNvSpPr txBox="true"/>
          <p:nvPr/>
        </p:nvSpPr>
        <p:spPr>
          <a:xfrm>
            <a:off x="876300" y="2540000"/>
            <a:ext cx="14490700" cy="5969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3900" b="true">
                <a:solidFill>
                  <a:srgbClr val="000000"/>
                </a:solidFill>
                <a:latin typeface="Ubuntu"/>
              </a:rPr>
              <a:t>Limitations</a:t>
            </a:r>
            <a:endParaRPr lang="en-US" sz="1100"/>
          </a:p>
        </p:txBody>
      </p:sp>
      <p:sp>
        <p:nvSpPr>
          <p:cNvPr name="TextBox 16" id="16"/>
          <p:cNvSpPr txBox="true"/>
          <p:nvPr/>
        </p:nvSpPr>
        <p:spPr>
          <a:xfrm>
            <a:off x="1066800" y="35179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1</a:t>
            </a:r>
            <a:endParaRPr lang="en-US" sz="1100"/>
          </a:p>
        </p:txBody>
      </p:sp>
      <p:sp>
        <p:nvSpPr>
          <p:cNvPr name="TextBox 17" id="17"/>
          <p:cNvSpPr txBox="true"/>
          <p:nvPr/>
        </p:nvSpPr>
        <p:spPr>
          <a:xfrm>
            <a:off x="4775200" y="35179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2</a:t>
            </a:r>
            <a:endParaRPr lang="en-US" sz="1100"/>
          </a:p>
        </p:txBody>
      </p:sp>
      <p:sp>
        <p:nvSpPr>
          <p:cNvPr name="TextBox 18" id="18"/>
          <p:cNvSpPr txBox="true"/>
          <p:nvPr/>
        </p:nvSpPr>
        <p:spPr>
          <a:xfrm>
            <a:off x="8470900" y="35179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3</a:t>
            </a:r>
            <a:endParaRPr lang="en-US" sz="1100"/>
          </a:p>
        </p:txBody>
      </p:sp>
      <p:sp>
        <p:nvSpPr>
          <p:cNvPr name="TextBox 19" id="19"/>
          <p:cNvSpPr txBox="true"/>
          <p:nvPr/>
        </p:nvSpPr>
        <p:spPr>
          <a:xfrm>
            <a:off x="12179300" y="35179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4</a:t>
            </a:r>
            <a:endParaRPr lang="en-US" sz="1100"/>
          </a:p>
        </p:txBody>
      </p:sp>
      <p:sp>
        <p:nvSpPr>
          <p:cNvPr name="TextBox 20" id="20"/>
          <p:cNvSpPr txBox="true"/>
          <p:nvPr/>
        </p:nvSpPr>
        <p:spPr>
          <a:xfrm>
            <a:off x="1066800" y="61214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5</a:t>
            </a:r>
            <a:endParaRPr lang="en-US" sz="1100"/>
          </a:p>
        </p:txBody>
      </p:sp>
      <p:sp>
        <p:nvSpPr>
          <p:cNvPr name="TextBox 21" id="21"/>
          <p:cNvSpPr txBox="true"/>
          <p:nvPr/>
        </p:nvSpPr>
        <p:spPr>
          <a:xfrm>
            <a:off x="1689100" y="3505200"/>
            <a:ext cx="2565400" cy="1511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Baseline-driven live logic rather than fully adaptive learning system</a:t>
            </a:r>
            <a:endParaRPr lang="en-US" sz="1100"/>
          </a:p>
        </p:txBody>
      </p:sp>
      <p:sp>
        <p:nvSpPr>
          <p:cNvPr name="TextBox 22" id="22"/>
          <p:cNvSpPr txBox="true"/>
          <p:nvPr/>
        </p:nvSpPr>
        <p:spPr>
          <a:xfrm>
            <a:off x="5397500" y="3505200"/>
            <a:ext cx="2565400" cy="1511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Hand-set baselines not automatically learned from operational data</a:t>
            </a:r>
            <a:endParaRPr lang="en-US" sz="1100"/>
          </a:p>
        </p:txBody>
      </p:sp>
      <p:sp>
        <p:nvSpPr>
          <p:cNvPr name="TextBox 23" id="23"/>
          <p:cNvSpPr txBox="true"/>
          <p:nvPr/>
        </p:nvSpPr>
        <p:spPr>
          <a:xfrm>
            <a:off x="9093200" y="3505200"/>
            <a:ext cx="2565400" cy="1879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Calculated telemetry within Rapid SCADA, not physical field devices</a:t>
            </a:r>
            <a:endParaRPr lang="en-US" sz="1100"/>
          </a:p>
        </p:txBody>
      </p:sp>
      <p:sp>
        <p:nvSpPr>
          <p:cNvPr name="TextBox 24" id="24"/>
          <p:cNvSpPr txBox="true"/>
          <p:nvPr/>
        </p:nvSpPr>
        <p:spPr>
          <a:xfrm>
            <a:off x="12801600" y="3505200"/>
            <a:ext cx="2565400" cy="1511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System represents strong prototype, not full physical utility deployment</a:t>
            </a:r>
            <a:endParaRPr lang="en-US" sz="1100"/>
          </a:p>
        </p:txBody>
      </p:sp>
      <p:sp>
        <p:nvSpPr>
          <p:cNvPr name="TextBox 25" id="25"/>
          <p:cNvSpPr txBox="true"/>
          <p:nvPr/>
        </p:nvSpPr>
        <p:spPr>
          <a:xfrm>
            <a:off x="1689100" y="6121400"/>
            <a:ext cx="136652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Scalability tradeoffs observed at larger grid sizes</a:t>
            </a:r>
            <a:endParaRPr lang="en-US" sz="1100"/>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0" y="0"/>
            <a:ext cx="16256000" cy="9144000"/>
          </a:xfrm>
          <a:prstGeom prst="rect">
            <a:avLst/>
          </a:prstGeom>
          <a:solidFill>
            <a:srgbClr val="0D0A2C">
              <a:alpha val="74902"/>
            </a:srgbClr>
          </a:solidFill>
        </p:spPr>
      </p:sp>
      <p:pic>
        <p:nvPicPr>
          <p:cNvPr name="Picture 3" id="3"/>
          <p:cNvPicPr>
            <a:picLocks noChangeAspect="true"/>
          </p:cNvPicPr>
          <p:nvPr/>
        </p:nvPicPr>
        <p:blipFill>
          <a:blip r:embed="rId2"/>
          <a:srcRect t="56" b="56"/>
          <a:stretch>
            <a:fillRect/>
          </a:stretch>
        </p:blipFill>
        <p:spPr>
          <a:xfrm>
            <a:off x="0" y="0"/>
            <a:ext cx="16256000" cy="9144000"/>
          </a:xfrm>
          <a:prstGeom prst="rect">
            <a:avLst/>
          </a:prstGeom>
        </p:spPr>
      </p:pic>
      <p:sp>
        <p:nvSpPr>
          <p:cNvPr name="AutoShape 4" id="4"/>
          <p:cNvSpPr/>
          <p:nvPr/>
        </p:nvSpPr>
        <p:spPr>
          <a:xfrm>
            <a:off x="876300" y="3429000"/>
            <a:ext cx="14490700" cy="3162300"/>
          </a:xfrm>
          <a:prstGeom prst="rect">
            <a:avLst/>
          </a:prstGeom>
          <a:solidFill>
            <a:srgbClr val="000000">
              <a:alpha val="0"/>
            </a:srgbClr>
          </a:solidFill>
        </p:spPr>
      </p:sp>
      <p:sp>
        <p:nvSpPr>
          <p:cNvPr name="AutoShape 5" id="5"/>
          <p:cNvSpPr/>
          <p:nvPr/>
        </p:nvSpPr>
        <p:spPr>
          <a:xfrm>
            <a:off x="876300" y="3429000"/>
            <a:ext cx="3378200" cy="1968500"/>
          </a:xfrm>
          <a:prstGeom prst="rect">
            <a:avLst/>
          </a:prstGeom>
          <a:solidFill>
            <a:srgbClr val="000000">
              <a:alpha val="0"/>
            </a:srgbClr>
          </a:solidFill>
        </p:spPr>
      </p:sp>
      <p:sp>
        <p:nvSpPr>
          <p:cNvPr name="AutoShape 6" id="6"/>
          <p:cNvSpPr/>
          <p:nvPr/>
        </p:nvSpPr>
        <p:spPr>
          <a:xfrm>
            <a:off x="876300" y="3429000"/>
            <a:ext cx="558800" cy="558800"/>
          </a:xfrm>
          <a:prstGeom prst="roundRect">
            <a:avLst>
              <a:gd name="adj" fmla="val 15909"/>
            </a:avLst>
          </a:prstGeom>
          <a:solidFill>
            <a:srgbClr val="D1D1D1"/>
          </a:solidFill>
        </p:spPr>
      </p:sp>
      <p:sp>
        <p:nvSpPr>
          <p:cNvPr name="AutoShape 7" id="7"/>
          <p:cNvSpPr/>
          <p:nvPr/>
        </p:nvSpPr>
        <p:spPr>
          <a:xfrm>
            <a:off x="4572000" y="3429000"/>
            <a:ext cx="3378200" cy="1968500"/>
          </a:xfrm>
          <a:prstGeom prst="rect">
            <a:avLst/>
          </a:prstGeom>
          <a:solidFill>
            <a:srgbClr val="000000">
              <a:alpha val="0"/>
            </a:srgbClr>
          </a:solidFill>
        </p:spPr>
      </p:sp>
      <p:sp>
        <p:nvSpPr>
          <p:cNvPr name="AutoShape 8" id="8"/>
          <p:cNvSpPr/>
          <p:nvPr/>
        </p:nvSpPr>
        <p:spPr>
          <a:xfrm>
            <a:off x="4572000" y="3429000"/>
            <a:ext cx="558800" cy="558800"/>
          </a:xfrm>
          <a:prstGeom prst="roundRect">
            <a:avLst>
              <a:gd name="adj" fmla="val 15909"/>
            </a:avLst>
          </a:prstGeom>
          <a:solidFill>
            <a:srgbClr val="D1D1D1"/>
          </a:solidFill>
        </p:spPr>
      </p:sp>
      <p:sp>
        <p:nvSpPr>
          <p:cNvPr name="AutoShape 9" id="9"/>
          <p:cNvSpPr/>
          <p:nvPr/>
        </p:nvSpPr>
        <p:spPr>
          <a:xfrm>
            <a:off x="8280400" y="3429000"/>
            <a:ext cx="3378200" cy="1968500"/>
          </a:xfrm>
          <a:prstGeom prst="rect">
            <a:avLst/>
          </a:prstGeom>
          <a:solidFill>
            <a:srgbClr val="000000">
              <a:alpha val="0"/>
            </a:srgbClr>
          </a:solidFill>
        </p:spPr>
      </p:sp>
      <p:sp>
        <p:nvSpPr>
          <p:cNvPr name="AutoShape 10" id="10"/>
          <p:cNvSpPr/>
          <p:nvPr/>
        </p:nvSpPr>
        <p:spPr>
          <a:xfrm>
            <a:off x="8280400" y="3429000"/>
            <a:ext cx="558800" cy="558800"/>
          </a:xfrm>
          <a:prstGeom prst="roundRect">
            <a:avLst>
              <a:gd name="adj" fmla="val 15909"/>
            </a:avLst>
          </a:prstGeom>
          <a:solidFill>
            <a:srgbClr val="D1D1D1"/>
          </a:solidFill>
        </p:spPr>
      </p:sp>
      <p:sp>
        <p:nvSpPr>
          <p:cNvPr name="AutoShape 11" id="11"/>
          <p:cNvSpPr/>
          <p:nvPr/>
        </p:nvSpPr>
        <p:spPr>
          <a:xfrm>
            <a:off x="11976100" y="3429000"/>
            <a:ext cx="3378200" cy="1968500"/>
          </a:xfrm>
          <a:prstGeom prst="rect">
            <a:avLst/>
          </a:prstGeom>
          <a:solidFill>
            <a:srgbClr val="000000">
              <a:alpha val="0"/>
            </a:srgbClr>
          </a:solidFill>
        </p:spPr>
      </p:sp>
      <p:sp>
        <p:nvSpPr>
          <p:cNvPr name="AutoShape 12" id="12"/>
          <p:cNvSpPr/>
          <p:nvPr/>
        </p:nvSpPr>
        <p:spPr>
          <a:xfrm>
            <a:off x="11976100" y="3429000"/>
            <a:ext cx="558800" cy="558800"/>
          </a:xfrm>
          <a:prstGeom prst="roundRect">
            <a:avLst>
              <a:gd name="adj" fmla="val 15909"/>
            </a:avLst>
          </a:prstGeom>
          <a:solidFill>
            <a:srgbClr val="D1D1D1"/>
          </a:solidFill>
        </p:spPr>
      </p:sp>
      <p:sp>
        <p:nvSpPr>
          <p:cNvPr name="AutoShape 13" id="13"/>
          <p:cNvSpPr/>
          <p:nvPr/>
        </p:nvSpPr>
        <p:spPr>
          <a:xfrm>
            <a:off x="876300" y="6032500"/>
            <a:ext cx="14490700" cy="558800"/>
          </a:xfrm>
          <a:prstGeom prst="rect">
            <a:avLst/>
          </a:prstGeom>
          <a:solidFill>
            <a:srgbClr val="000000">
              <a:alpha val="0"/>
            </a:srgbClr>
          </a:solidFill>
        </p:spPr>
      </p:sp>
      <p:sp>
        <p:nvSpPr>
          <p:cNvPr name="AutoShape 14" id="14"/>
          <p:cNvSpPr/>
          <p:nvPr/>
        </p:nvSpPr>
        <p:spPr>
          <a:xfrm>
            <a:off x="876300" y="6032500"/>
            <a:ext cx="558800" cy="558800"/>
          </a:xfrm>
          <a:prstGeom prst="roundRect">
            <a:avLst>
              <a:gd name="adj" fmla="val 15909"/>
            </a:avLst>
          </a:prstGeom>
          <a:solidFill>
            <a:srgbClr val="D1D1D1"/>
          </a:solidFill>
        </p:spPr>
      </p:sp>
      <p:sp>
        <p:nvSpPr>
          <p:cNvPr name="TextBox 15" id="15"/>
          <p:cNvSpPr txBox="true"/>
          <p:nvPr/>
        </p:nvSpPr>
        <p:spPr>
          <a:xfrm>
            <a:off x="876300" y="2540000"/>
            <a:ext cx="14490700" cy="5969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3900" b="true">
                <a:solidFill>
                  <a:srgbClr val="000000"/>
                </a:solidFill>
                <a:latin typeface="Ubuntu"/>
              </a:rPr>
              <a:t>Conclusion</a:t>
            </a:r>
            <a:endParaRPr lang="en-US" sz="1100"/>
          </a:p>
        </p:txBody>
      </p:sp>
      <p:sp>
        <p:nvSpPr>
          <p:cNvPr name="TextBox 16" id="16"/>
          <p:cNvSpPr txBox="true"/>
          <p:nvPr/>
        </p:nvSpPr>
        <p:spPr>
          <a:xfrm>
            <a:off x="1066800" y="35179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1</a:t>
            </a:r>
            <a:endParaRPr lang="en-US" sz="1100"/>
          </a:p>
        </p:txBody>
      </p:sp>
      <p:sp>
        <p:nvSpPr>
          <p:cNvPr name="TextBox 17" id="17"/>
          <p:cNvSpPr txBox="true"/>
          <p:nvPr/>
        </p:nvSpPr>
        <p:spPr>
          <a:xfrm>
            <a:off x="4775200" y="35179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2</a:t>
            </a:r>
            <a:endParaRPr lang="en-US" sz="1100"/>
          </a:p>
        </p:txBody>
      </p:sp>
      <p:sp>
        <p:nvSpPr>
          <p:cNvPr name="TextBox 18" id="18"/>
          <p:cNvSpPr txBox="true"/>
          <p:nvPr/>
        </p:nvSpPr>
        <p:spPr>
          <a:xfrm>
            <a:off x="8470900" y="35179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3</a:t>
            </a:r>
            <a:endParaRPr lang="en-US" sz="1100"/>
          </a:p>
        </p:txBody>
      </p:sp>
      <p:sp>
        <p:nvSpPr>
          <p:cNvPr name="TextBox 19" id="19"/>
          <p:cNvSpPr txBox="true"/>
          <p:nvPr/>
        </p:nvSpPr>
        <p:spPr>
          <a:xfrm>
            <a:off x="12179300" y="35179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4</a:t>
            </a:r>
            <a:endParaRPr lang="en-US" sz="1100"/>
          </a:p>
        </p:txBody>
      </p:sp>
      <p:sp>
        <p:nvSpPr>
          <p:cNvPr name="TextBox 20" id="20"/>
          <p:cNvSpPr txBox="true"/>
          <p:nvPr/>
        </p:nvSpPr>
        <p:spPr>
          <a:xfrm>
            <a:off x="1066800" y="61214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5</a:t>
            </a:r>
            <a:endParaRPr lang="en-US" sz="1100"/>
          </a:p>
        </p:txBody>
      </p:sp>
      <p:sp>
        <p:nvSpPr>
          <p:cNvPr name="TextBox 21" id="21"/>
          <p:cNvSpPr txBox="true"/>
          <p:nvPr/>
        </p:nvSpPr>
        <p:spPr>
          <a:xfrm>
            <a:off x="1689100" y="3505200"/>
            <a:ext cx="2565400" cy="1879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Framework integrates anomaly detection, audit intelligence, and SCADA monitoring</a:t>
            </a:r>
            <a:endParaRPr lang="en-US" sz="1100"/>
          </a:p>
        </p:txBody>
      </p:sp>
      <p:sp>
        <p:nvSpPr>
          <p:cNvPr name="TextBox 22" id="22"/>
          <p:cNvSpPr txBox="true"/>
          <p:nvPr/>
        </p:nvSpPr>
        <p:spPr>
          <a:xfrm>
            <a:off x="5397500" y="3505200"/>
            <a:ext cx="2565400" cy="1511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Two-workspace separation ensures experiment and live operational clarity</a:t>
            </a:r>
            <a:endParaRPr lang="en-US" sz="1100"/>
          </a:p>
        </p:txBody>
      </p:sp>
      <p:sp>
        <p:nvSpPr>
          <p:cNvPr name="TextBox 23" id="23"/>
          <p:cNvSpPr txBox="true"/>
          <p:nvPr/>
        </p:nvSpPr>
        <p:spPr>
          <a:xfrm>
            <a:off x="9093200" y="3505200"/>
            <a:ext cx="2565400" cy="1511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N=100 configuration surpasses base paper on primary operational metrics</a:t>
            </a:r>
            <a:endParaRPr lang="en-US" sz="1100"/>
          </a:p>
        </p:txBody>
      </p:sp>
      <p:sp>
        <p:nvSpPr>
          <p:cNvPr name="TextBox 24" id="24"/>
          <p:cNvSpPr txBox="true"/>
          <p:nvPr/>
        </p:nvSpPr>
        <p:spPr>
          <a:xfrm>
            <a:off x="12801600" y="3505200"/>
            <a:ext cx="2565400" cy="1511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Real SCADA-to-backend pipeline validated with 100 live agents</a:t>
            </a:r>
            <a:endParaRPr lang="en-US" sz="1100"/>
          </a:p>
        </p:txBody>
      </p:sp>
      <p:sp>
        <p:nvSpPr>
          <p:cNvPr name="TextBox 25" id="25"/>
          <p:cNvSpPr txBox="true"/>
          <p:nvPr/>
        </p:nvSpPr>
        <p:spPr>
          <a:xfrm>
            <a:off x="1689100" y="6121400"/>
            <a:ext cx="136652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Explainable deviation-based approach supports operator transparency and trust</a:t>
            </a:r>
            <a:endParaRPr lang="en-US" sz="1100"/>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0" y="0"/>
            <a:ext cx="16256000" cy="9144000"/>
          </a:xfrm>
          <a:prstGeom prst="rect">
            <a:avLst/>
          </a:prstGeom>
          <a:solidFill>
            <a:srgbClr val="0D0A2C">
              <a:alpha val="74902"/>
            </a:srgbClr>
          </a:solidFill>
        </p:spPr>
      </p:sp>
      <p:pic>
        <p:nvPicPr>
          <p:cNvPr name="Picture 3" id="3"/>
          <p:cNvPicPr>
            <a:picLocks noChangeAspect="true"/>
          </p:cNvPicPr>
          <p:nvPr/>
        </p:nvPicPr>
        <p:blipFill>
          <a:blip r:embed="rId2"/>
          <a:srcRect t="56" b="56"/>
          <a:stretch>
            <a:fillRect/>
          </a:stretch>
        </p:blipFill>
        <p:spPr>
          <a:xfrm>
            <a:off x="0" y="0"/>
            <a:ext cx="16256000" cy="9144000"/>
          </a:xfrm>
          <a:prstGeom prst="rect">
            <a:avLst/>
          </a:prstGeom>
        </p:spPr>
      </p:pic>
      <p:sp>
        <p:nvSpPr>
          <p:cNvPr name="AutoShape 4" id="4"/>
          <p:cNvSpPr/>
          <p:nvPr/>
        </p:nvSpPr>
        <p:spPr>
          <a:xfrm>
            <a:off x="876300" y="2755900"/>
            <a:ext cx="14490700" cy="2794000"/>
          </a:xfrm>
          <a:prstGeom prst="rect">
            <a:avLst/>
          </a:prstGeom>
          <a:solidFill>
            <a:srgbClr val="000000">
              <a:alpha val="0"/>
            </a:srgbClr>
          </a:solidFill>
        </p:spPr>
      </p:sp>
      <p:sp>
        <p:nvSpPr>
          <p:cNvPr name="AutoShape 5" id="5"/>
          <p:cNvSpPr/>
          <p:nvPr/>
        </p:nvSpPr>
        <p:spPr>
          <a:xfrm>
            <a:off x="876300" y="2755900"/>
            <a:ext cx="3378200" cy="1587500"/>
          </a:xfrm>
          <a:prstGeom prst="rect">
            <a:avLst/>
          </a:prstGeom>
          <a:solidFill>
            <a:srgbClr val="000000">
              <a:alpha val="0"/>
            </a:srgbClr>
          </a:solidFill>
        </p:spPr>
      </p:sp>
      <p:sp>
        <p:nvSpPr>
          <p:cNvPr name="AutoShape 6" id="6"/>
          <p:cNvSpPr/>
          <p:nvPr/>
        </p:nvSpPr>
        <p:spPr>
          <a:xfrm>
            <a:off x="876300" y="2755900"/>
            <a:ext cx="558800" cy="558800"/>
          </a:xfrm>
          <a:prstGeom prst="roundRect">
            <a:avLst>
              <a:gd name="adj" fmla="val 15909"/>
            </a:avLst>
          </a:prstGeom>
          <a:solidFill>
            <a:srgbClr val="D1D1D1"/>
          </a:solidFill>
        </p:spPr>
      </p:sp>
      <p:sp>
        <p:nvSpPr>
          <p:cNvPr name="AutoShape 7" id="7"/>
          <p:cNvSpPr/>
          <p:nvPr/>
        </p:nvSpPr>
        <p:spPr>
          <a:xfrm>
            <a:off x="4572000" y="2755900"/>
            <a:ext cx="3378200" cy="1587500"/>
          </a:xfrm>
          <a:prstGeom prst="rect">
            <a:avLst/>
          </a:prstGeom>
          <a:solidFill>
            <a:srgbClr val="000000">
              <a:alpha val="0"/>
            </a:srgbClr>
          </a:solidFill>
        </p:spPr>
      </p:sp>
      <p:sp>
        <p:nvSpPr>
          <p:cNvPr name="AutoShape 8" id="8"/>
          <p:cNvSpPr/>
          <p:nvPr/>
        </p:nvSpPr>
        <p:spPr>
          <a:xfrm>
            <a:off x="4572000" y="2755900"/>
            <a:ext cx="558800" cy="558800"/>
          </a:xfrm>
          <a:prstGeom prst="roundRect">
            <a:avLst>
              <a:gd name="adj" fmla="val 15909"/>
            </a:avLst>
          </a:prstGeom>
          <a:solidFill>
            <a:srgbClr val="D1D1D1"/>
          </a:solidFill>
        </p:spPr>
      </p:sp>
      <p:sp>
        <p:nvSpPr>
          <p:cNvPr name="AutoShape 9" id="9"/>
          <p:cNvSpPr/>
          <p:nvPr/>
        </p:nvSpPr>
        <p:spPr>
          <a:xfrm>
            <a:off x="8280400" y="2755900"/>
            <a:ext cx="3378200" cy="1587500"/>
          </a:xfrm>
          <a:prstGeom prst="rect">
            <a:avLst/>
          </a:prstGeom>
          <a:solidFill>
            <a:srgbClr val="000000">
              <a:alpha val="0"/>
            </a:srgbClr>
          </a:solidFill>
        </p:spPr>
      </p:sp>
      <p:sp>
        <p:nvSpPr>
          <p:cNvPr name="AutoShape 10" id="10"/>
          <p:cNvSpPr/>
          <p:nvPr/>
        </p:nvSpPr>
        <p:spPr>
          <a:xfrm>
            <a:off x="8280400" y="2755900"/>
            <a:ext cx="558800" cy="558800"/>
          </a:xfrm>
          <a:prstGeom prst="roundRect">
            <a:avLst>
              <a:gd name="adj" fmla="val 15909"/>
            </a:avLst>
          </a:prstGeom>
          <a:solidFill>
            <a:srgbClr val="D1D1D1"/>
          </a:solidFill>
        </p:spPr>
      </p:sp>
      <p:sp>
        <p:nvSpPr>
          <p:cNvPr name="AutoShape 11" id="11"/>
          <p:cNvSpPr/>
          <p:nvPr/>
        </p:nvSpPr>
        <p:spPr>
          <a:xfrm>
            <a:off x="11976100" y="2755900"/>
            <a:ext cx="3378200" cy="1587500"/>
          </a:xfrm>
          <a:prstGeom prst="rect">
            <a:avLst/>
          </a:prstGeom>
          <a:solidFill>
            <a:srgbClr val="000000">
              <a:alpha val="0"/>
            </a:srgbClr>
          </a:solidFill>
        </p:spPr>
      </p:sp>
      <p:sp>
        <p:nvSpPr>
          <p:cNvPr name="AutoShape 12" id="12"/>
          <p:cNvSpPr/>
          <p:nvPr/>
        </p:nvSpPr>
        <p:spPr>
          <a:xfrm>
            <a:off x="11976100" y="2755900"/>
            <a:ext cx="558800" cy="558800"/>
          </a:xfrm>
          <a:prstGeom prst="roundRect">
            <a:avLst>
              <a:gd name="adj" fmla="val 15909"/>
            </a:avLst>
          </a:prstGeom>
          <a:solidFill>
            <a:srgbClr val="D1D1D1"/>
          </a:solidFill>
        </p:spPr>
      </p:sp>
      <p:sp>
        <p:nvSpPr>
          <p:cNvPr name="AutoShape 13" id="13"/>
          <p:cNvSpPr/>
          <p:nvPr/>
        </p:nvSpPr>
        <p:spPr>
          <a:xfrm>
            <a:off x="876300" y="4991100"/>
            <a:ext cx="14490700" cy="558800"/>
          </a:xfrm>
          <a:prstGeom prst="rect">
            <a:avLst/>
          </a:prstGeom>
          <a:solidFill>
            <a:srgbClr val="000000">
              <a:alpha val="0"/>
            </a:srgbClr>
          </a:solidFill>
        </p:spPr>
      </p:sp>
      <p:sp>
        <p:nvSpPr>
          <p:cNvPr name="AutoShape 14" id="14"/>
          <p:cNvSpPr/>
          <p:nvPr/>
        </p:nvSpPr>
        <p:spPr>
          <a:xfrm>
            <a:off x="876300" y="4991100"/>
            <a:ext cx="558800" cy="558800"/>
          </a:xfrm>
          <a:prstGeom prst="roundRect">
            <a:avLst>
              <a:gd name="adj" fmla="val 15909"/>
            </a:avLst>
          </a:prstGeom>
          <a:solidFill>
            <a:srgbClr val="D1D1D1"/>
          </a:solidFill>
        </p:spPr>
      </p:sp>
      <p:sp>
        <p:nvSpPr>
          <p:cNvPr name="TextBox 15" id="15"/>
          <p:cNvSpPr txBox="true"/>
          <p:nvPr/>
        </p:nvSpPr>
        <p:spPr>
          <a:xfrm>
            <a:off x="876300" y="1866900"/>
            <a:ext cx="14490700" cy="5969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3900" b="true">
                <a:solidFill>
                  <a:srgbClr val="000000"/>
                </a:solidFill>
                <a:latin typeface="Ubuntu"/>
              </a:rPr>
              <a:t>Future Work</a:t>
            </a:r>
            <a:endParaRPr lang="en-US" sz="1100"/>
          </a:p>
        </p:txBody>
      </p:sp>
      <p:sp>
        <p:nvSpPr>
          <p:cNvPr name="TextBox 16" id="16"/>
          <p:cNvSpPr txBox="true"/>
          <p:nvPr/>
        </p:nvSpPr>
        <p:spPr>
          <a:xfrm>
            <a:off x="1066800" y="28575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1</a:t>
            </a:r>
            <a:endParaRPr lang="en-US" sz="1100"/>
          </a:p>
        </p:txBody>
      </p:sp>
      <p:sp>
        <p:nvSpPr>
          <p:cNvPr name="TextBox 17" id="17"/>
          <p:cNvSpPr txBox="true"/>
          <p:nvPr/>
        </p:nvSpPr>
        <p:spPr>
          <a:xfrm>
            <a:off x="4775200" y="28575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2</a:t>
            </a:r>
            <a:endParaRPr lang="en-US" sz="1100"/>
          </a:p>
        </p:txBody>
      </p:sp>
      <p:sp>
        <p:nvSpPr>
          <p:cNvPr name="TextBox 18" id="18"/>
          <p:cNvSpPr txBox="true"/>
          <p:nvPr/>
        </p:nvSpPr>
        <p:spPr>
          <a:xfrm>
            <a:off x="8470900" y="28575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3</a:t>
            </a:r>
            <a:endParaRPr lang="en-US" sz="1100"/>
          </a:p>
        </p:txBody>
      </p:sp>
      <p:sp>
        <p:nvSpPr>
          <p:cNvPr name="TextBox 19" id="19"/>
          <p:cNvSpPr txBox="true"/>
          <p:nvPr/>
        </p:nvSpPr>
        <p:spPr>
          <a:xfrm>
            <a:off x="12179300" y="28575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4</a:t>
            </a:r>
            <a:endParaRPr lang="en-US" sz="1100"/>
          </a:p>
        </p:txBody>
      </p:sp>
      <p:sp>
        <p:nvSpPr>
          <p:cNvPr name="TextBox 20" id="20"/>
          <p:cNvSpPr txBox="true"/>
          <p:nvPr/>
        </p:nvSpPr>
        <p:spPr>
          <a:xfrm>
            <a:off x="1066800" y="50800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Ubuntu"/>
              </a:rPr>
              <a:t>5</a:t>
            </a:r>
            <a:endParaRPr lang="en-US" sz="1100"/>
          </a:p>
        </p:txBody>
      </p:sp>
      <p:sp>
        <p:nvSpPr>
          <p:cNvPr name="TextBox 21" id="21"/>
          <p:cNvSpPr txBox="true"/>
          <p:nvPr/>
        </p:nvSpPr>
        <p:spPr>
          <a:xfrm>
            <a:off x="1689100" y="2844800"/>
            <a:ext cx="2565400" cy="1511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Adaptive baseline learning from operational data streams</a:t>
            </a:r>
            <a:endParaRPr lang="en-US" sz="1100"/>
          </a:p>
        </p:txBody>
      </p:sp>
      <p:sp>
        <p:nvSpPr>
          <p:cNvPr name="TextBox 22" id="22"/>
          <p:cNvSpPr txBox="true"/>
          <p:nvPr/>
        </p:nvSpPr>
        <p:spPr>
          <a:xfrm>
            <a:off x="5397500" y="2844800"/>
            <a:ext cx="2565400" cy="1130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Temporal logic for time-series anomaly patterns</a:t>
            </a:r>
            <a:endParaRPr lang="en-US" sz="1100"/>
          </a:p>
        </p:txBody>
      </p:sp>
      <p:sp>
        <p:nvSpPr>
          <p:cNvPr name="TextBox 23" id="23"/>
          <p:cNvSpPr txBox="true"/>
          <p:nvPr/>
        </p:nvSpPr>
        <p:spPr>
          <a:xfrm>
            <a:off x="9093200" y="2844800"/>
            <a:ext cx="2565400" cy="1511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Integration with physical field devices for real utility deployment</a:t>
            </a:r>
            <a:endParaRPr lang="en-US" sz="1100"/>
          </a:p>
        </p:txBody>
      </p:sp>
      <p:sp>
        <p:nvSpPr>
          <p:cNvPr name="TextBox 24" id="24"/>
          <p:cNvSpPr txBox="true"/>
          <p:nvPr/>
        </p:nvSpPr>
        <p:spPr>
          <a:xfrm>
            <a:off x="12801600" y="2844800"/>
            <a:ext cx="2565400" cy="1511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Advanced audit optimization under dynamic resource constraints</a:t>
            </a:r>
            <a:endParaRPr lang="en-US" sz="1100"/>
          </a:p>
        </p:txBody>
      </p:sp>
      <p:sp>
        <p:nvSpPr>
          <p:cNvPr name="TextBox 25" id="25"/>
          <p:cNvSpPr txBox="true"/>
          <p:nvPr/>
        </p:nvSpPr>
        <p:spPr>
          <a:xfrm>
            <a:off x="1689100" y="5080000"/>
            <a:ext cx="136652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000000"/>
                </a:solidFill>
                <a:latin typeface="Poppins"/>
              </a:rPr>
              <a:t>Extended scalability evaluation beyond N=500</a:t>
            </a:r>
            <a:endParaRPr lang="en-US" sz="1100"/>
          </a:p>
        </p:txBody>
      </p:sp>
      <p:sp>
        <p:nvSpPr>
          <p:cNvPr name="TextBox 26" id="26"/>
          <p:cNvSpPr txBox="true"/>
          <p:nvPr/>
        </p:nvSpPr>
        <p:spPr>
          <a:xfrm>
            <a:off x="876300" y="5842000"/>
            <a:ext cx="14490700" cy="5588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2400" b="true">
                <a:solidFill>
                  <a:srgbClr val="000000"/>
                </a:solidFill>
                <a:latin typeface="Poppins"/>
              </a:rPr>
              <a:t>Thank You</a:t>
            </a:r>
            <a:endParaRPr lang="en-US" sz="1100"/>
          </a:p>
        </p:txBody>
      </p:sp>
      <p:sp>
        <p:nvSpPr>
          <p:cNvPr name="TextBox 27" id="27"/>
          <p:cNvSpPr txBox="true"/>
          <p:nvPr/>
        </p:nvSpPr>
        <p:spPr>
          <a:xfrm>
            <a:off x="876300" y="6692900"/>
            <a:ext cx="14490700" cy="5588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2400" b="true">
                <a:solidFill>
                  <a:srgbClr val="000000"/>
                </a:solidFill>
                <a:latin typeface="Poppins"/>
              </a:rPr>
              <a:t>Open for Questions</a:t>
            </a:r>
            <a:endParaRPr lang="en-US" sz="11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