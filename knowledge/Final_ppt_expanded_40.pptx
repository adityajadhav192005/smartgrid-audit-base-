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87" r:id="rId12"/>
    <p:sldId id="288" r:id="rId13"/>
    <p:sldId id="263" r:id="rId14"/>
    <p:sldId id="264" r:id="rId15"/>
    <p:sldId id="265" r:id="rId16"/>
    <p:sldId id="266" r:id="rId17"/>
    <p:sldId id="267" r:id="rId18"/>
    <p:sldId id="268" r:id="rId19"/>
    <p:sldId id="286" r:id="rId20"/>
    <p:sldId id="269" r:id="rId21"/>
    <p:sldId id="272" r:id="rId22"/>
    <p:sldId id="271"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A8BF0-8C5C-44D7-9346-1DF6E160FB5F}" v="1" dt="2026-03-22T19:26:27.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84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56" b="56"/>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000000">
              <a:alpha val="0"/>
            </a:srgbClr>
          </a:solidFill>
        </p:spPr>
      </p:sp>
      <p:sp>
        <p:nvSpPr>
          <p:cNvPr id="6" name="TextBox 6"/>
          <p:cNvSpPr txBox="1"/>
          <p:nvPr/>
        </p:nvSpPr>
        <p:spPr>
          <a:xfrm>
            <a:off x="876300" y="33274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SmartGrid AI Audit Framework</a:t>
            </a:r>
            <a:endParaRPr lang="en-US" sz="1100"/>
          </a:p>
        </p:txBody>
      </p:sp>
      <p:sp>
        <p:nvSpPr>
          <p:cNvPr id="7" name="TextBox 7"/>
          <p:cNvSpPr txBox="1"/>
          <p:nvPr/>
        </p:nvSpPr>
        <p:spPr>
          <a:xfrm>
            <a:off x="876300" y="4368800"/>
            <a:ext cx="144907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Cyber-Physical Monitoring and Audit Intelligence for Modern Smart Grid Systems</a:t>
            </a:r>
            <a:endParaRPr lang="en-US" sz="1100"/>
          </a:p>
        </p:txBody>
      </p:sp>
      <p:sp>
        <p:nvSpPr>
          <p:cNvPr id="8" name="TextBox 8"/>
          <p:cNvSpPr txBox="1"/>
          <p:nvPr/>
        </p:nvSpPr>
        <p:spPr>
          <a:xfrm>
            <a:off x="876300" y="5029200"/>
            <a:ext cx="14490700" cy="469900"/>
          </a:xfrm>
          <a:prstGeom prst="rect">
            <a:avLst/>
          </a:prstGeom>
          <a:solidFill>
            <a:srgbClr val="000000">
              <a:alpha val="0"/>
            </a:srgbClr>
          </a:solidFill>
        </p:spPr>
        <p:txBody>
          <a:bodyPr lIns="0" tIns="0" rIns="0" bIns="0" rtlCol="0" anchor="ctr"/>
          <a:lstStyle/>
          <a:p>
            <a:pPr indent="0" algn="ctr">
              <a:lnSpc>
                <a:spcPct val="150000"/>
              </a:lnSpc>
              <a:defRPr/>
            </a:pPr>
            <a:r>
              <a:rPr lang="en-US" sz="2400" b="1">
                <a:solidFill>
                  <a:srgbClr val="000000"/>
                </a:solidFill>
                <a:latin typeface="Poppins"/>
              </a:rPr>
              <a:t>Aditya Sanjay Jadhav (242050010)</a:t>
            </a:r>
            <a:endParaRPr lang="en-US" sz="1100"/>
          </a:p>
        </p:txBody>
      </p:sp>
      <p:sp>
        <p:nvSpPr>
          <p:cNvPr id="9" name="TextBox 9"/>
          <p:cNvSpPr txBox="1"/>
          <p:nvPr/>
        </p:nvSpPr>
        <p:spPr>
          <a:xfrm>
            <a:off x="876300" y="5499100"/>
            <a:ext cx="14490700" cy="2921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Guide: Shrinivas Khedkar | Dept. of Computer Engineering &amp; IT, VJTI Mumbai</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76500"/>
            <a:ext cx="14490700" cy="5664200"/>
          </a:xfrm>
          <a:prstGeom prst="rect">
            <a:avLst/>
          </a:prstGeom>
          <a:solidFill>
            <a:srgbClr val="000000">
              <a:alpha val="0"/>
            </a:srgbClr>
          </a:solidFill>
        </p:spPr>
      </p:sp>
      <p:sp>
        <p:nvSpPr>
          <p:cNvPr id="5" name="AutoShape 5"/>
          <p:cNvSpPr/>
          <p:nvPr/>
        </p:nvSpPr>
        <p:spPr>
          <a:xfrm>
            <a:off x="876300" y="2476500"/>
            <a:ext cx="3429000" cy="38735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476500"/>
            <a:ext cx="3429000" cy="38735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476500"/>
            <a:ext cx="3429000" cy="38735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476500"/>
            <a:ext cx="3429000" cy="38735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04000"/>
            <a:ext cx="14490700" cy="1536700"/>
          </a:xfrm>
          <a:prstGeom prst="roundRect">
            <a:avLst>
              <a:gd name="adj" fmla="val 5785"/>
            </a:avLst>
          </a:prstGeom>
          <a:solidFill>
            <a:srgbClr val="000000">
              <a:alpha val="0"/>
            </a:srgbClr>
          </a:solidFill>
          <a:ln w="12700">
            <a:solidFill>
              <a:srgbClr val="A1A1A1"/>
            </a:solidFill>
          </a:ln>
        </p:spPr>
      </p:sp>
      <p:sp>
        <p:nvSpPr>
          <p:cNvPr id="10" name="TextBox 10"/>
          <p:cNvSpPr txBox="1"/>
          <p:nvPr/>
        </p:nvSpPr>
        <p:spPr>
          <a:xfrm>
            <a:off x="876300" y="9779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Problem Statement: Insufficient Cyber-Physical Anomaly Detection in Smart Grids</a:t>
            </a:r>
            <a:endParaRPr lang="en-US" sz="1100"/>
          </a:p>
        </p:txBody>
      </p:sp>
      <p:sp>
        <p:nvSpPr>
          <p:cNvPr id="11" name="TextBox 11"/>
          <p:cNvSpPr txBox="1"/>
          <p:nvPr/>
        </p:nvSpPr>
        <p:spPr>
          <a:xfrm>
            <a:off x="1143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Traditional Monitoring</a:t>
            </a:r>
            <a:endParaRPr lang="en-US" sz="1100"/>
          </a:p>
        </p:txBody>
      </p:sp>
      <p:sp>
        <p:nvSpPr>
          <p:cNvPr id="12" name="TextBox 12"/>
          <p:cNvSpPr txBox="1"/>
          <p:nvPr/>
        </p:nvSpPr>
        <p:spPr>
          <a:xfrm>
            <a:off x="4826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Dual Vulnerabilities</a:t>
            </a:r>
            <a:endParaRPr lang="en-US" sz="1100"/>
          </a:p>
        </p:txBody>
      </p:sp>
      <p:sp>
        <p:nvSpPr>
          <p:cNvPr id="13" name="TextBox 13"/>
          <p:cNvSpPr txBox="1"/>
          <p:nvPr/>
        </p:nvSpPr>
        <p:spPr>
          <a:xfrm>
            <a:off x="8509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Lack of Explainability</a:t>
            </a:r>
            <a:endParaRPr lang="en-US" sz="1100"/>
          </a:p>
        </p:txBody>
      </p:sp>
      <p:sp>
        <p:nvSpPr>
          <p:cNvPr id="14" name="TextBox 14"/>
          <p:cNvSpPr txBox="1"/>
          <p:nvPr/>
        </p:nvSpPr>
        <p:spPr>
          <a:xfrm>
            <a:off x="122047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Resource Allocation Gap</a:t>
            </a:r>
            <a:endParaRPr lang="en-US" sz="1100"/>
          </a:p>
        </p:txBody>
      </p:sp>
      <p:sp>
        <p:nvSpPr>
          <p:cNvPr id="15" name="TextBox 15"/>
          <p:cNvSpPr txBox="1"/>
          <p:nvPr/>
        </p:nvSpPr>
        <p:spPr>
          <a:xfrm>
            <a:off x="1143000" y="68707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Need for Real-Time Integration</a:t>
            </a:r>
            <a:endParaRPr lang="en-US" sz="1100"/>
          </a:p>
        </p:txBody>
      </p:sp>
      <p:sp>
        <p:nvSpPr>
          <p:cNvPr id="16" name="TextBox 16"/>
          <p:cNvSpPr txBox="1"/>
          <p:nvPr/>
        </p:nvSpPr>
        <p:spPr>
          <a:xfrm>
            <a:off x="1143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Traditional monitoring relies on static thresholds and periodic audits</a:t>
            </a:r>
            <a:endParaRPr lang="en-US" sz="1100"/>
          </a:p>
        </p:txBody>
      </p:sp>
      <p:sp>
        <p:nvSpPr>
          <p:cNvPr id="17" name="TextBox 17"/>
          <p:cNvSpPr txBox="1"/>
          <p:nvPr/>
        </p:nvSpPr>
        <p:spPr>
          <a:xfrm>
            <a:off x="4826000" y="3822700"/>
            <a:ext cx="28956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Cyber-physical systems expose electrical and communication vulnerabilities simultaneously</a:t>
            </a:r>
            <a:endParaRPr lang="en-US" sz="1100"/>
          </a:p>
        </p:txBody>
      </p:sp>
      <p:sp>
        <p:nvSpPr>
          <p:cNvPr id="18" name="TextBox 18"/>
          <p:cNvSpPr txBox="1"/>
          <p:nvPr/>
        </p:nvSpPr>
        <p:spPr>
          <a:xfrm>
            <a:off x="8509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Existing approaches lack operational decision support and explainability</a:t>
            </a:r>
            <a:endParaRPr lang="en-US" sz="1100"/>
          </a:p>
        </p:txBody>
      </p:sp>
      <p:sp>
        <p:nvSpPr>
          <p:cNvPr id="19" name="TextBox 19"/>
          <p:cNvSpPr txBox="1"/>
          <p:nvPr/>
        </p:nvSpPr>
        <p:spPr>
          <a:xfrm>
            <a:off x="122047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Gap between anomaly detection and audit resource allocation</a:t>
            </a:r>
            <a:endParaRPr lang="en-US" sz="1100"/>
          </a:p>
        </p:txBody>
      </p:sp>
      <p:sp>
        <p:nvSpPr>
          <p:cNvPr id="20" name="TextBox 20"/>
          <p:cNvSpPr txBox="1"/>
          <p:nvPr/>
        </p:nvSpPr>
        <p:spPr>
          <a:xfrm>
            <a:off x="1143000" y="75057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real-time SCADA-integrated monitoring with audit intelligence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55800"/>
            <a:ext cx="14490700" cy="6565900"/>
          </a:xfrm>
          <a:prstGeom prst="rect">
            <a:avLst/>
          </a:prstGeom>
          <a:solidFill>
            <a:srgbClr val="000000">
              <a:alpha val="0"/>
            </a:srgbClr>
          </a:solidFill>
        </p:spPr>
      </p:sp>
      <p:sp>
        <p:nvSpPr>
          <p:cNvPr id="5" name="AutoShape 5"/>
          <p:cNvSpPr/>
          <p:nvPr/>
        </p:nvSpPr>
        <p:spPr>
          <a:xfrm>
            <a:off x="876300" y="1955800"/>
            <a:ext cx="3429000" cy="4076700"/>
          </a:xfrm>
          <a:prstGeom prst="roundRect">
            <a:avLst>
              <a:gd name="adj" fmla="val 2222"/>
            </a:avLst>
          </a:prstGeom>
          <a:solidFill>
            <a:srgbClr val="D1D1D1">
              <a:alpha val="71765"/>
            </a:srgbClr>
          </a:solidFill>
        </p:spPr>
      </p:sp>
      <p:sp>
        <p:nvSpPr>
          <p:cNvPr id="6" name="AutoShape 6"/>
          <p:cNvSpPr/>
          <p:nvPr/>
        </p:nvSpPr>
        <p:spPr>
          <a:xfrm>
            <a:off x="1168400" y="2171700"/>
            <a:ext cx="673100" cy="673100"/>
          </a:xfrm>
          <a:prstGeom prst="roundRect">
            <a:avLst>
              <a:gd name="adj" fmla="val 49056"/>
            </a:avLst>
          </a:prstGeom>
          <a:solidFill>
            <a:srgbClr val="000000"/>
          </a:solidFill>
        </p:spPr>
      </p:sp>
      <p:sp>
        <p:nvSpPr>
          <p:cNvPr id="7" name="AutoShape 7"/>
          <p:cNvSpPr/>
          <p:nvPr/>
        </p:nvSpPr>
        <p:spPr>
          <a:xfrm>
            <a:off x="4559300" y="1955800"/>
            <a:ext cx="3429000" cy="4076700"/>
          </a:xfrm>
          <a:prstGeom prst="roundRect">
            <a:avLst>
              <a:gd name="adj" fmla="val 2222"/>
            </a:avLst>
          </a:prstGeom>
          <a:solidFill>
            <a:srgbClr val="D1D1D1">
              <a:alpha val="71765"/>
            </a:srgbClr>
          </a:solidFill>
        </p:spPr>
      </p:sp>
      <p:sp>
        <p:nvSpPr>
          <p:cNvPr id="8" name="AutoShape 8"/>
          <p:cNvSpPr/>
          <p:nvPr/>
        </p:nvSpPr>
        <p:spPr>
          <a:xfrm>
            <a:off x="4851400" y="2171700"/>
            <a:ext cx="673100" cy="673100"/>
          </a:xfrm>
          <a:prstGeom prst="roundRect">
            <a:avLst>
              <a:gd name="adj" fmla="val 49056"/>
            </a:avLst>
          </a:prstGeom>
          <a:solidFill>
            <a:srgbClr val="000000"/>
          </a:solidFill>
        </p:spPr>
      </p:sp>
      <p:sp>
        <p:nvSpPr>
          <p:cNvPr id="9" name="AutoShape 9"/>
          <p:cNvSpPr/>
          <p:nvPr/>
        </p:nvSpPr>
        <p:spPr>
          <a:xfrm>
            <a:off x="8242300" y="1955800"/>
            <a:ext cx="3429000" cy="4076700"/>
          </a:xfrm>
          <a:prstGeom prst="roundRect">
            <a:avLst>
              <a:gd name="adj" fmla="val 2222"/>
            </a:avLst>
          </a:prstGeom>
          <a:solidFill>
            <a:srgbClr val="D1D1D1">
              <a:alpha val="71765"/>
            </a:srgbClr>
          </a:solidFill>
        </p:spPr>
      </p:sp>
      <p:sp>
        <p:nvSpPr>
          <p:cNvPr id="10" name="AutoShape 10"/>
          <p:cNvSpPr/>
          <p:nvPr/>
        </p:nvSpPr>
        <p:spPr>
          <a:xfrm>
            <a:off x="8534400" y="2171700"/>
            <a:ext cx="673100" cy="673100"/>
          </a:xfrm>
          <a:prstGeom prst="roundRect">
            <a:avLst>
              <a:gd name="adj" fmla="val 49056"/>
            </a:avLst>
          </a:prstGeom>
          <a:solidFill>
            <a:srgbClr val="000000"/>
          </a:solidFill>
        </p:spPr>
      </p:sp>
      <p:sp>
        <p:nvSpPr>
          <p:cNvPr id="11" name="AutoShape 11"/>
          <p:cNvSpPr/>
          <p:nvPr/>
        </p:nvSpPr>
        <p:spPr>
          <a:xfrm>
            <a:off x="11938000" y="1955800"/>
            <a:ext cx="3429000" cy="4076700"/>
          </a:xfrm>
          <a:prstGeom prst="roundRect">
            <a:avLst>
              <a:gd name="adj" fmla="val 2222"/>
            </a:avLst>
          </a:prstGeom>
          <a:solidFill>
            <a:srgbClr val="D1D1D1">
              <a:alpha val="71765"/>
            </a:srgbClr>
          </a:solidFill>
        </p:spPr>
      </p:sp>
      <p:sp>
        <p:nvSpPr>
          <p:cNvPr id="12" name="AutoShape 12"/>
          <p:cNvSpPr/>
          <p:nvPr/>
        </p:nvSpPr>
        <p:spPr>
          <a:xfrm>
            <a:off x="12230100" y="2171700"/>
            <a:ext cx="673100" cy="673100"/>
          </a:xfrm>
          <a:prstGeom prst="roundRect">
            <a:avLst>
              <a:gd name="adj" fmla="val 49056"/>
            </a:avLst>
          </a:prstGeom>
          <a:solidFill>
            <a:srgbClr val="000000"/>
          </a:solidFill>
        </p:spPr>
      </p:sp>
      <p:sp>
        <p:nvSpPr>
          <p:cNvPr id="13" name="AutoShape 13"/>
          <p:cNvSpPr/>
          <p:nvPr/>
        </p:nvSpPr>
        <p:spPr>
          <a:xfrm>
            <a:off x="876300" y="6261100"/>
            <a:ext cx="14490700" cy="2247900"/>
          </a:xfrm>
          <a:prstGeom prst="roundRect">
            <a:avLst>
              <a:gd name="adj" fmla="val 3389"/>
            </a:avLst>
          </a:prstGeom>
          <a:solidFill>
            <a:srgbClr val="D1D1D1">
              <a:alpha val="71765"/>
            </a:srgbClr>
          </a:solidFill>
        </p:spPr>
      </p:sp>
      <p:sp>
        <p:nvSpPr>
          <p:cNvPr id="14" name="AutoShape 14"/>
          <p:cNvSpPr/>
          <p:nvPr/>
        </p:nvSpPr>
        <p:spPr>
          <a:xfrm>
            <a:off x="1168400" y="6489700"/>
            <a:ext cx="673100" cy="673100"/>
          </a:xfrm>
          <a:prstGeom prst="roundRect">
            <a:avLst>
              <a:gd name="adj" fmla="val 49056"/>
            </a:avLst>
          </a:prstGeom>
          <a:solidFill>
            <a:srgbClr val="000000"/>
          </a:solidFill>
        </p:spPr>
      </p:sp>
      <p:sp>
        <p:nvSpPr>
          <p:cNvPr id="15" name="TextBox 15"/>
          <p:cNvSpPr txBox="1"/>
          <p:nvPr/>
        </p:nvSpPr>
        <p:spPr>
          <a:xfrm>
            <a:off x="876300" y="609600"/>
            <a:ext cx="14490700" cy="10795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Motivation: Dynamic Audit Intelligence for Distributed Grid Environments</a:t>
            </a:r>
            <a:endParaRPr lang="en-US" sz="1100"/>
          </a:p>
        </p:txBody>
      </p:sp>
      <p:sp>
        <p:nvSpPr>
          <p:cNvPr id="16" name="TextBox 16"/>
          <p:cNvSpPr txBox="1"/>
          <p:nvPr/>
        </p:nvSpPr>
        <p:spPr>
          <a:xfrm>
            <a:off x="1130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Static auditing limits</a:t>
            </a:r>
            <a:endParaRPr lang="en-US" sz="1100"/>
          </a:p>
        </p:txBody>
      </p:sp>
      <p:sp>
        <p:nvSpPr>
          <p:cNvPr id="17" name="TextBox 17"/>
          <p:cNvSpPr txBox="1"/>
          <p:nvPr/>
        </p:nvSpPr>
        <p:spPr>
          <a:xfrm>
            <a:off x="4813300" y="30734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Actionable operator guidance</a:t>
            </a:r>
            <a:endParaRPr lang="en-US" sz="1100"/>
          </a:p>
        </p:txBody>
      </p:sp>
      <p:sp>
        <p:nvSpPr>
          <p:cNvPr id="18" name="TextBox 18"/>
          <p:cNvSpPr txBox="1"/>
          <p:nvPr/>
        </p:nvSpPr>
        <p:spPr>
          <a:xfrm>
            <a:off x="8496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Prioritization for critical risks</a:t>
            </a:r>
            <a:endParaRPr lang="en-US" sz="1100"/>
          </a:p>
        </p:txBody>
      </p:sp>
      <p:sp>
        <p:nvSpPr>
          <p:cNvPr id="19" name="TextBox 19"/>
          <p:cNvSpPr txBox="1"/>
          <p:nvPr/>
        </p:nvSpPr>
        <p:spPr>
          <a:xfrm>
            <a:off x="12179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Real-time integration</a:t>
            </a:r>
            <a:endParaRPr lang="en-US" sz="1100"/>
          </a:p>
        </p:txBody>
      </p:sp>
      <p:sp>
        <p:nvSpPr>
          <p:cNvPr id="20" name="TextBox 20"/>
          <p:cNvSpPr txBox="1"/>
          <p:nvPr/>
        </p:nvSpPr>
        <p:spPr>
          <a:xfrm>
            <a:off x="1130300" y="73914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for trust</a:t>
            </a:r>
            <a:endParaRPr lang="en-US" sz="1100"/>
          </a:p>
        </p:txBody>
      </p:sp>
      <p:sp>
        <p:nvSpPr>
          <p:cNvPr id="21" name="TextBox 21"/>
          <p:cNvSpPr txBox="1"/>
          <p:nvPr/>
        </p:nvSpPr>
        <p:spPr>
          <a:xfrm>
            <a:off x="1130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Static auditing increases cost or leaves vulnerabilities undetected</a:t>
            </a:r>
            <a:endParaRPr lang="en-US" sz="1100"/>
          </a:p>
        </p:txBody>
      </p:sp>
      <p:sp>
        <p:nvSpPr>
          <p:cNvPr id="22" name="TextBox 22"/>
          <p:cNvSpPr txBox="1"/>
          <p:nvPr/>
        </p:nvSpPr>
        <p:spPr>
          <a:xfrm>
            <a:off x="4813300" y="44577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Operators require actionable guidance beyond classification accuracy</a:t>
            </a:r>
            <a:endParaRPr lang="en-US" sz="1100"/>
          </a:p>
        </p:txBody>
      </p:sp>
      <p:sp>
        <p:nvSpPr>
          <p:cNvPr id="23" name="TextBox 23"/>
          <p:cNvSpPr txBox="1"/>
          <p:nvPr/>
        </p:nvSpPr>
        <p:spPr>
          <a:xfrm>
            <a:off x="8496300" y="4051300"/>
            <a:ext cx="2921000" cy="10033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Audit prioritization needed to address critical risks efficiently</a:t>
            </a:r>
            <a:endParaRPr lang="en-US" sz="1100"/>
          </a:p>
        </p:txBody>
      </p:sp>
      <p:sp>
        <p:nvSpPr>
          <p:cNvPr id="24" name="TextBox 24"/>
          <p:cNvSpPr txBox="1"/>
          <p:nvPr/>
        </p:nvSpPr>
        <p:spPr>
          <a:xfrm>
            <a:off x="12179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Real-time supervisory integration essential for operational deployment</a:t>
            </a:r>
            <a:endParaRPr lang="en-US" sz="1100"/>
          </a:p>
        </p:txBody>
      </p:sp>
      <p:sp>
        <p:nvSpPr>
          <p:cNvPr id="25" name="TextBox 25"/>
          <p:cNvSpPr txBox="1"/>
          <p:nvPr/>
        </p:nvSpPr>
        <p:spPr>
          <a:xfrm>
            <a:off x="1130300" y="7950200"/>
            <a:ext cx="13982700" cy="330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Explainability critical for operator trust and decision transparency</a:t>
            </a:r>
            <a:endParaRPr lang="en-US" sz="1100"/>
          </a:p>
        </p:txBody>
      </p:sp>
      <p:pic>
        <p:nvPicPr>
          <p:cNvPr id="26" name="Picture 26"/>
          <p:cNvPicPr>
            <a:picLocks noChangeAspect="1"/>
          </p:cNvPicPr>
          <p:nvPr/>
        </p:nvPicPr>
        <p:blipFill>
          <a:blip r:embed="rId3"/>
          <a:stretch>
            <a:fillRect/>
          </a:stretch>
        </p:blipFill>
        <p:spPr>
          <a:xfrm>
            <a:off x="1397000" y="2400300"/>
            <a:ext cx="215900" cy="215900"/>
          </a:xfrm>
          <a:prstGeom prst="rect">
            <a:avLst/>
          </a:prstGeom>
        </p:spPr>
      </p:pic>
      <p:pic>
        <p:nvPicPr>
          <p:cNvPr id="27" name="Picture 27"/>
          <p:cNvPicPr>
            <a:picLocks noChangeAspect="1"/>
          </p:cNvPicPr>
          <p:nvPr/>
        </p:nvPicPr>
        <p:blipFill>
          <a:blip r:embed="rId3"/>
          <a:stretch>
            <a:fillRect/>
          </a:stretch>
        </p:blipFill>
        <p:spPr>
          <a:xfrm>
            <a:off x="5067300" y="2400300"/>
            <a:ext cx="215900" cy="215900"/>
          </a:xfrm>
          <a:prstGeom prst="rect">
            <a:avLst/>
          </a:prstGeom>
        </p:spPr>
      </p:pic>
      <p:pic>
        <p:nvPicPr>
          <p:cNvPr id="28" name="Picture 28"/>
          <p:cNvPicPr>
            <a:picLocks noChangeAspect="1"/>
          </p:cNvPicPr>
          <p:nvPr/>
        </p:nvPicPr>
        <p:blipFill>
          <a:blip r:embed="rId3"/>
          <a:stretch>
            <a:fillRect/>
          </a:stretch>
        </p:blipFill>
        <p:spPr>
          <a:xfrm>
            <a:off x="8763000" y="2400300"/>
            <a:ext cx="215900" cy="215900"/>
          </a:xfrm>
          <a:prstGeom prst="rect">
            <a:avLst/>
          </a:prstGeom>
        </p:spPr>
      </p:pic>
      <p:pic>
        <p:nvPicPr>
          <p:cNvPr id="29" name="Picture 29"/>
          <p:cNvPicPr>
            <a:picLocks noChangeAspect="1"/>
          </p:cNvPicPr>
          <p:nvPr/>
        </p:nvPicPr>
        <p:blipFill>
          <a:blip r:embed="rId4"/>
          <a:stretch>
            <a:fillRect/>
          </a:stretch>
        </p:blipFill>
        <p:spPr>
          <a:xfrm>
            <a:off x="12446000" y="2400300"/>
            <a:ext cx="215900" cy="215900"/>
          </a:xfrm>
          <a:prstGeom prst="rect">
            <a:avLst/>
          </a:prstGeom>
        </p:spPr>
      </p:pic>
      <p:pic>
        <p:nvPicPr>
          <p:cNvPr id="30" name="Picture 30"/>
          <p:cNvPicPr>
            <a:picLocks noChangeAspect="1"/>
          </p:cNvPicPr>
          <p:nvPr/>
        </p:nvPicPr>
        <p:blipFill>
          <a:blip r:embed="rId5"/>
          <a:stretch>
            <a:fillRect/>
          </a:stretch>
        </p:blipFill>
        <p:spPr>
          <a:xfrm>
            <a:off x="1409700" y="6731000"/>
            <a:ext cx="177800" cy="17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530600"/>
            <a:ext cx="14490700" cy="3543300"/>
          </a:xfrm>
          <a:prstGeom prst="rect">
            <a:avLst/>
          </a:prstGeom>
          <a:solidFill>
            <a:srgbClr val="000000">
              <a:alpha val="0"/>
            </a:srgbClr>
          </a:solidFill>
        </p:spPr>
      </p:sp>
      <p:sp>
        <p:nvSpPr>
          <p:cNvPr id="5" name="AutoShape 5"/>
          <p:cNvSpPr/>
          <p:nvPr/>
        </p:nvSpPr>
        <p:spPr>
          <a:xfrm>
            <a:off x="876300" y="3530600"/>
            <a:ext cx="3378200" cy="2349500"/>
          </a:xfrm>
          <a:prstGeom prst="rect">
            <a:avLst/>
          </a:prstGeom>
          <a:solidFill>
            <a:srgbClr val="000000">
              <a:alpha val="0"/>
            </a:srgbClr>
          </a:solidFill>
        </p:spPr>
      </p:sp>
      <p:sp>
        <p:nvSpPr>
          <p:cNvPr id="6" name="AutoShape 6"/>
          <p:cNvSpPr/>
          <p:nvPr/>
        </p:nvSpPr>
        <p:spPr>
          <a:xfrm>
            <a:off x="876300" y="3530600"/>
            <a:ext cx="558800" cy="558800"/>
          </a:xfrm>
          <a:prstGeom prst="roundRect">
            <a:avLst>
              <a:gd name="adj" fmla="val 15909"/>
            </a:avLst>
          </a:prstGeom>
          <a:solidFill>
            <a:srgbClr val="D1D1D1"/>
          </a:solidFill>
        </p:spPr>
      </p:sp>
      <p:sp>
        <p:nvSpPr>
          <p:cNvPr id="7" name="AutoShape 7"/>
          <p:cNvSpPr/>
          <p:nvPr/>
        </p:nvSpPr>
        <p:spPr>
          <a:xfrm>
            <a:off x="4572000" y="3530600"/>
            <a:ext cx="3378200" cy="2349500"/>
          </a:xfrm>
          <a:prstGeom prst="rect">
            <a:avLst/>
          </a:prstGeom>
          <a:solidFill>
            <a:srgbClr val="000000">
              <a:alpha val="0"/>
            </a:srgbClr>
          </a:solidFill>
        </p:spPr>
      </p:sp>
      <p:sp>
        <p:nvSpPr>
          <p:cNvPr id="8" name="AutoShape 8"/>
          <p:cNvSpPr/>
          <p:nvPr/>
        </p:nvSpPr>
        <p:spPr>
          <a:xfrm>
            <a:off x="4572000" y="3530600"/>
            <a:ext cx="558800" cy="558800"/>
          </a:xfrm>
          <a:prstGeom prst="roundRect">
            <a:avLst>
              <a:gd name="adj" fmla="val 15909"/>
            </a:avLst>
          </a:prstGeom>
          <a:solidFill>
            <a:srgbClr val="D1D1D1"/>
          </a:solidFill>
        </p:spPr>
      </p:sp>
      <p:sp>
        <p:nvSpPr>
          <p:cNvPr id="9" name="AutoShape 9"/>
          <p:cNvSpPr/>
          <p:nvPr/>
        </p:nvSpPr>
        <p:spPr>
          <a:xfrm>
            <a:off x="8280400" y="3530600"/>
            <a:ext cx="3378200" cy="2349500"/>
          </a:xfrm>
          <a:prstGeom prst="rect">
            <a:avLst/>
          </a:prstGeom>
          <a:solidFill>
            <a:srgbClr val="000000">
              <a:alpha val="0"/>
            </a:srgbClr>
          </a:solidFill>
        </p:spPr>
      </p:sp>
      <p:sp>
        <p:nvSpPr>
          <p:cNvPr id="10" name="AutoShape 10"/>
          <p:cNvSpPr/>
          <p:nvPr/>
        </p:nvSpPr>
        <p:spPr>
          <a:xfrm>
            <a:off x="8280400" y="3530600"/>
            <a:ext cx="558800" cy="558800"/>
          </a:xfrm>
          <a:prstGeom prst="roundRect">
            <a:avLst>
              <a:gd name="adj" fmla="val 15909"/>
            </a:avLst>
          </a:prstGeom>
          <a:solidFill>
            <a:srgbClr val="D1D1D1"/>
          </a:solidFill>
        </p:spPr>
      </p:sp>
      <p:sp>
        <p:nvSpPr>
          <p:cNvPr id="11" name="AutoShape 11"/>
          <p:cNvSpPr/>
          <p:nvPr/>
        </p:nvSpPr>
        <p:spPr>
          <a:xfrm>
            <a:off x="11976100" y="3530600"/>
            <a:ext cx="3378200" cy="2349500"/>
          </a:xfrm>
          <a:prstGeom prst="rect">
            <a:avLst/>
          </a:prstGeom>
          <a:solidFill>
            <a:srgbClr val="000000">
              <a:alpha val="0"/>
            </a:srgbClr>
          </a:solidFill>
        </p:spPr>
      </p:sp>
      <p:sp>
        <p:nvSpPr>
          <p:cNvPr id="12" name="AutoShape 12"/>
          <p:cNvSpPr/>
          <p:nvPr/>
        </p:nvSpPr>
        <p:spPr>
          <a:xfrm>
            <a:off x="11976100" y="3530600"/>
            <a:ext cx="558800" cy="558800"/>
          </a:xfrm>
          <a:prstGeom prst="roundRect">
            <a:avLst>
              <a:gd name="adj" fmla="val 15909"/>
            </a:avLst>
          </a:prstGeom>
          <a:solidFill>
            <a:srgbClr val="D1D1D1"/>
          </a:solidFill>
        </p:spPr>
      </p:sp>
      <p:sp>
        <p:nvSpPr>
          <p:cNvPr id="13" name="AutoShape 13"/>
          <p:cNvSpPr/>
          <p:nvPr/>
        </p:nvSpPr>
        <p:spPr>
          <a:xfrm>
            <a:off x="876300" y="6515100"/>
            <a:ext cx="14490700" cy="558800"/>
          </a:xfrm>
          <a:prstGeom prst="rect">
            <a:avLst/>
          </a:prstGeom>
          <a:solidFill>
            <a:srgbClr val="000000">
              <a:alpha val="0"/>
            </a:srgbClr>
          </a:solidFill>
        </p:spPr>
      </p:sp>
      <p:sp>
        <p:nvSpPr>
          <p:cNvPr id="14" name="AutoShape 14"/>
          <p:cNvSpPr/>
          <p:nvPr/>
        </p:nvSpPr>
        <p:spPr>
          <a:xfrm>
            <a:off x="876300" y="6515100"/>
            <a:ext cx="558800" cy="558800"/>
          </a:xfrm>
          <a:prstGeom prst="roundRect">
            <a:avLst>
              <a:gd name="adj" fmla="val 15909"/>
            </a:avLst>
          </a:prstGeom>
          <a:solidFill>
            <a:srgbClr val="D1D1D1"/>
          </a:solidFill>
        </p:spPr>
      </p:sp>
      <p:sp>
        <p:nvSpPr>
          <p:cNvPr id="15" name="TextBox 15"/>
          <p:cNvSpPr txBox="1"/>
          <p:nvPr/>
        </p:nvSpPr>
        <p:spPr>
          <a:xfrm>
            <a:off x="876300" y="204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Objectives: Building an Explainable SCADA-Integrated Audit Framework</a:t>
            </a:r>
            <a:endParaRPr lang="en-US" sz="1100"/>
          </a:p>
        </p:txBody>
      </p:sp>
      <p:sp>
        <p:nvSpPr>
          <p:cNvPr id="16" name="TextBox 16"/>
          <p:cNvSpPr txBox="1"/>
          <p:nvPr/>
        </p:nvSpPr>
        <p:spPr>
          <a:xfrm>
            <a:off x="10668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616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 Design cyber-physical anomaly detection across electrical and communication features</a:t>
            </a:r>
            <a:endParaRPr lang="en-US" sz="1100"/>
          </a:p>
        </p:txBody>
      </p:sp>
      <p:sp>
        <p:nvSpPr>
          <p:cNvPr id="22" name="TextBox 22"/>
          <p:cNvSpPr txBox="1"/>
          <p:nvPr/>
        </p:nvSpPr>
        <p:spPr>
          <a:xfrm>
            <a:off x="53975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 Implement explainable deviation-based scoring for transparent decisions</a:t>
            </a:r>
            <a:endParaRPr lang="en-US" sz="1100"/>
          </a:p>
        </p:txBody>
      </p:sp>
      <p:sp>
        <p:nvSpPr>
          <p:cNvPr id="23" name="TextBox 23"/>
          <p:cNvSpPr txBox="1"/>
          <p:nvPr/>
        </p:nvSpPr>
        <p:spPr>
          <a:xfrm>
            <a:off x="90932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 Develop audit decision framework prioritizing high-risk assets under constraints</a:t>
            </a:r>
            <a:endParaRPr lang="en-US" sz="1100"/>
          </a:p>
        </p:txBody>
      </p:sp>
      <p:sp>
        <p:nvSpPr>
          <p:cNvPr id="24" name="TextBox 24"/>
          <p:cNvSpPr txBox="1"/>
          <p:nvPr/>
        </p:nvSpPr>
        <p:spPr>
          <a:xfrm>
            <a:off x="128016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 Integrate Rapid SCADA as live telemetry source for real-time monitoring</a:t>
            </a:r>
            <a:endParaRPr lang="en-US" sz="1100"/>
          </a:p>
        </p:txBody>
      </p:sp>
      <p:sp>
        <p:nvSpPr>
          <p:cNvPr id="25" name="TextBox 25"/>
          <p:cNvSpPr txBox="1"/>
          <p:nvPr/>
        </p:nvSpPr>
        <p:spPr>
          <a:xfrm>
            <a:off x="1689100" y="6604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 Separate experiment evaluation from live operational monitoring for clarity</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882900"/>
            <a:ext cx="14490700" cy="4851400"/>
          </a:xfrm>
          <a:prstGeom prst="rect">
            <a:avLst/>
          </a:prstGeom>
          <a:solidFill>
            <a:srgbClr val="000000">
              <a:alpha val="0"/>
            </a:srgbClr>
          </a:solidFill>
        </p:spPr>
      </p:sp>
      <p:sp>
        <p:nvSpPr>
          <p:cNvPr id="5" name="AutoShape 5"/>
          <p:cNvSpPr/>
          <p:nvPr/>
        </p:nvSpPr>
        <p:spPr>
          <a:xfrm>
            <a:off x="876300" y="2882900"/>
            <a:ext cx="3378200" cy="3124200"/>
          </a:xfrm>
          <a:prstGeom prst="rect">
            <a:avLst/>
          </a:prstGeom>
          <a:solidFill>
            <a:srgbClr val="000000">
              <a:alpha val="0"/>
            </a:srgbClr>
          </a:solidFill>
        </p:spPr>
      </p:sp>
      <p:sp>
        <p:nvSpPr>
          <p:cNvPr id="6" name="AutoShape 6"/>
          <p:cNvSpPr/>
          <p:nvPr/>
        </p:nvSpPr>
        <p:spPr>
          <a:xfrm>
            <a:off x="876300" y="2882900"/>
            <a:ext cx="558800" cy="558800"/>
          </a:xfrm>
          <a:prstGeom prst="roundRect">
            <a:avLst>
              <a:gd name="adj" fmla="val 15909"/>
            </a:avLst>
          </a:prstGeom>
          <a:solidFill>
            <a:srgbClr val="D1D1D1"/>
          </a:solidFill>
        </p:spPr>
      </p:sp>
      <p:sp>
        <p:nvSpPr>
          <p:cNvPr id="7" name="AutoShape 7"/>
          <p:cNvSpPr/>
          <p:nvPr/>
        </p:nvSpPr>
        <p:spPr>
          <a:xfrm>
            <a:off x="4572000" y="2882900"/>
            <a:ext cx="3378200" cy="3124200"/>
          </a:xfrm>
          <a:prstGeom prst="rect">
            <a:avLst/>
          </a:prstGeom>
          <a:solidFill>
            <a:srgbClr val="000000">
              <a:alpha val="0"/>
            </a:srgbClr>
          </a:solidFill>
        </p:spPr>
      </p:sp>
      <p:sp>
        <p:nvSpPr>
          <p:cNvPr id="8" name="AutoShape 8"/>
          <p:cNvSpPr/>
          <p:nvPr/>
        </p:nvSpPr>
        <p:spPr>
          <a:xfrm>
            <a:off x="4572000" y="2882900"/>
            <a:ext cx="558800" cy="558800"/>
          </a:xfrm>
          <a:prstGeom prst="roundRect">
            <a:avLst>
              <a:gd name="adj" fmla="val 15909"/>
            </a:avLst>
          </a:prstGeom>
          <a:solidFill>
            <a:srgbClr val="D1D1D1"/>
          </a:solidFill>
        </p:spPr>
      </p:sp>
      <p:sp>
        <p:nvSpPr>
          <p:cNvPr id="9" name="AutoShape 9"/>
          <p:cNvSpPr/>
          <p:nvPr/>
        </p:nvSpPr>
        <p:spPr>
          <a:xfrm>
            <a:off x="8280400" y="2882900"/>
            <a:ext cx="3378200" cy="3124200"/>
          </a:xfrm>
          <a:prstGeom prst="rect">
            <a:avLst/>
          </a:prstGeom>
          <a:solidFill>
            <a:srgbClr val="000000">
              <a:alpha val="0"/>
            </a:srgbClr>
          </a:solidFill>
        </p:spPr>
      </p:sp>
      <p:sp>
        <p:nvSpPr>
          <p:cNvPr id="10" name="AutoShape 10"/>
          <p:cNvSpPr/>
          <p:nvPr/>
        </p:nvSpPr>
        <p:spPr>
          <a:xfrm>
            <a:off x="8280400" y="2882900"/>
            <a:ext cx="558800" cy="558800"/>
          </a:xfrm>
          <a:prstGeom prst="roundRect">
            <a:avLst>
              <a:gd name="adj" fmla="val 15909"/>
            </a:avLst>
          </a:prstGeom>
          <a:solidFill>
            <a:srgbClr val="D1D1D1"/>
          </a:solidFill>
        </p:spPr>
      </p:sp>
      <p:sp>
        <p:nvSpPr>
          <p:cNvPr id="11" name="AutoShape 11"/>
          <p:cNvSpPr/>
          <p:nvPr/>
        </p:nvSpPr>
        <p:spPr>
          <a:xfrm>
            <a:off x="11976100" y="2882900"/>
            <a:ext cx="3378200" cy="3124200"/>
          </a:xfrm>
          <a:prstGeom prst="rect">
            <a:avLst/>
          </a:prstGeom>
          <a:solidFill>
            <a:srgbClr val="000000">
              <a:alpha val="0"/>
            </a:srgbClr>
          </a:solidFill>
        </p:spPr>
      </p:sp>
      <p:sp>
        <p:nvSpPr>
          <p:cNvPr id="12" name="AutoShape 12"/>
          <p:cNvSpPr/>
          <p:nvPr/>
        </p:nvSpPr>
        <p:spPr>
          <a:xfrm>
            <a:off x="11976100" y="2882900"/>
            <a:ext cx="558800" cy="558800"/>
          </a:xfrm>
          <a:prstGeom prst="roundRect">
            <a:avLst>
              <a:gd name="adj" fmla="val 15909"/>
            </a:avLst>
          </a:prstGeom>
          <a:solidFill>
            <a:srgbClr val="D1D1D1"/>
          </a:solidFill>
        </p:spPr>
      </p:sp>
      <p:sp>
        <p:nvSpPr>
          <p:cNvPr id="13" name="AutoShape 13"/>
          <p:cNvSpPr/>
          <p:nvPr/>
        </p:nvSpPr>
        <p:spPr>
          <a:xfrm>
            <a:off x="876300" y="6642100"/>
            <a:ext cx="14490700" cy="1092200"/>
          </a:xfrm>
          <a:prstGeom prst="rect">
            <a:avLst/>
          </a:prstGeom>
          <a:solidFill>
            <a:srgbClr val="000000">
              <a:alpha val="0"/>
            </a:srgbClr>
          </a:solidFill>
        </p:spPr>
      </p:sp>
      <p:sp>
        <p:nvSpPr>
          <p:cNvPr id="14" name="AutoShape 14"/>
          <p:cNvSpPr/>
          <p:nvPr/>
        </p:nvSpPr>
        <p:spPr>
          <a:xfrm>
            <a:off x="876300" y="6642100"/>
            <a:ext cx="558800" cy="558800"/>
          </a:xfrm>
          <a:prstGeom prst="roundRect">
            <a:avLst>
              <a:gd name="adj" fmla="val 15909"/>
            </a:avLst>
          </a:prstGeom>
          <a:solidFill>
            <a:srgbClr val="D1D1D1"/>
          </a:solidFill>
        </p:spPr>
      </p:sp>
      <p:sp>
        <p:nvSpPr>
          <p:cNvPr id="15" name="TextBox 15"/>
          <p:cNvSpPr txBox="1"/>
          <p:nvPr/>
        </p:nvSpPr>
        <p:spPr>
          <a:xfrm>
            <a:off x="876300" y="13843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Gap: From Conceptual Models to Operational Deployment</a:t>
            </a:r>
            <a:endParaRPr lang="en-US" sz="1100"/>
          </a:p>
        </p:txBody>
      </p:sp>
      <p:sp>
        <p:nvSpPr>
          <p:cNvPr id="16" name="TextBox 16"/>
          <p:cNvSpPr txBox="1"/>
          <p:nvPr/>
        </p:nvSpPr>
        <p:spPr>
          <a:xfrm>
            <a:off x="10668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Detection vs. Audit</a:t>
            </a:r>
            <a:endParaRPr lang="en-US" sz="1100"/>
          </a:p>
        </p:txBody>
      </p:sp>
      <p:sp>
        <p:nvSpPr>
          <p:cNvPr id="18" name="TextBox 18"/>
          <p:cNvSpPr txBox="1"/>
          <p:nvPr/>
        </p:nvSpPr>
        <p:spPr>
          <a:xfrm>
            <a:off x="47752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 Integration</a:t>
            </a:r>
            <a:endParaRPr lang="en-US" sz="1100"/>
          </a:p>
        </p:txBody>
      </p:sp>
      <p:sp>
        <p:nvSpPr>
          <p:cNvPr id="20" name="TextBox 20"/>
          <p:cNvSpPr txBox="1"/>
          <p:nvPr/>
        </p:nvSpPr>
        <p:spPr>
          <a:xfrm>
            <a:off x="84709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Operator Visualization</a:t>
            </a:r>
            <a:endParaRPr lang="en-US" sz="1100"/>
          </a:p>
        </p:txBody>
      </p:sp>
      <p:sp>
        <p:nvSpPr>
          <p:cNvPr id="22" name="TextBox 22"/>
          <p:cNvSpPr txBox="1"/>
          <p:nvPr/>
        </p:nvSpPr>
        <p:spPr>
          <a:xfrm>
            <a:off x="121793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2971800"/>
            <a:ext cx="25654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Experimental vs Operational</a:t>
            </a:r>
            <a:endParaRPr lang="en-US" sz="1100"/>
          </a:p>
        </p:txBody>
      </p:sp>
      <p:sp>
        <p:nvSpPr>
          <p:cNvPr id="24" name="TextBox 24"/>
          <p:cNvSpPr txBox="1"/>
          <p:nvPr/>
        </p:nvSpPr>
        <p:spPr>
          <a:xfrm>
            <a:off x="1066800" y="6743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7310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Deployment Engineering</a:t>
            </a:r>
            <a:endParaRPr lang="en-US" sz="1100"/>
          </a:p>
        </p:txBody>
      </p:sp>
      <p:sp>
        <p:nvSpPr>
          <p:cNvPr id="26" name="TextBox 26"/>
          <p:cNvSpPr txBox="1"/>
          <p:nvPr/>
        </p:nvSpPr>
        <p:spPr>
          <a:xfrm>
            <a:off x="16891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Most works focus on detection accuracy without audit allocation</a:t>
            </a:r>
            <a:endParaRPr lang="en-US" sz="1100"/>
          </a:p>
        </p:txBody>
      </p:sp>
      <p:sp>
        <p:nvSpPr>
          <p:cNvPr id="27" name="TextBox 27"/>
          <p:cNvSpPr txBox="1"/>
          <p:nvPr/>
        </p:nvSpPr>
        <p:spPr>
          <a:xfrm>
            <a:off x="5397500" y="40513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Limited live SCADA integration in existing frameworks</a:t>
            </a:r>
            <a:endParaRPr lang="en-US" sz="1100"/>
          </a:p>
        </p:txBody>
      </p:sp>
      <p:sp>
        <p:nvSpPr>
          <p:cNvPr id="28" name="TextBox 28"/>
          <p:cNvSpPr txBox="1"/>
          <p:nvPr/>
        </p:nvSpPr>
        <p:spPr>
          <a:xfrm>
            <a:off x="90932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Insufficient operator-facing visualization and explainability</a:t>
            </a:r>
            <a:endParaRPr lang="en-US" sz="1100"/>
          </a:p>
        </p:txBody>
      </p:sp>
      <p:sp>
        <p:nvSpPr>
          <p:cNvPr id="29" name="TextBox 29"/>
          <p:cNvSpPr txBox="1"/>
          <p:nvPr/>
        </p:nvSpPr>
        <p:spPr>
          <a:xfrm>
            <a:off x="12801600" y="45085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Lack of separation between experimental and operational modes</a:t>
            </a:r>
            <a:endParaRPr lang="en-US" sz="1100"/>
          </a:p>
        </p:txBody>
      </p:sp>
      <p:sp>
        <p:nvSpPr>
          <p:cNvPr id="30" name="TextBox 30"/>
          <p:cNvSpPr txBox="1"/>
          <p:nvPr/>
        </p:nvSpPr>
        <p:spPr>
          <a:xfrm>
            <a:off x="1689100" y="7366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deployment-oriented engineering with honest telemetry provenance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30400"/>
            <a:ext cx="14490700" cy="6578600"/>
          </a:xfrm>
          <a:prstGeom prst="rect">
            <a:avLst/>
          </a:prstGeom>
          <a:solidFill>
            <a:srgbClr val="000000">
              <a:alpha val="0"/>
            </a:srgbClr>
          </a:solidFill>
        </p:spPr>
      </p:sp>
      <p:sp>
        <p:nvSpPr>
          <p:cNvPr id="5" name="AutoShape 5"/>
          <p:cNvSpPr/>
          <p:nvPr/>
        </p:nvSpPr>
        <p:spPr>
          <a:xfrm>
            <a:off x="876300" y="1930400"/>
            <a:ext cx="4660900" cy="3683000"/>
          </a:xfrm>
          <a:prstGeom prst="roundRect">
            <a:avLst>
              <a:gd name="adj" fmla="val 2068"/>
            </a:avLst>
          </a:prstGeom>
          <a:solidFill>
            <a:srgbClr val="D1D1D1">
              <a:alpha val="71765"/>
            </a:srgbClr>
          </a:solidFill>
        </p:spPr>
      </p:sp>
      <p:sp>
        <p:nvSpPr>
          <p:cNvPr id="6" name="AutoShape 6"/>
          <p:cNvSpPr/>
          <p:nvPr/>
        </p:nvSpPr>
        <p:spPr>
          <a:xfrm>
            <a:off x="5791200" y="1930400"/>
            <a:ext cx="4660900" cy="3683000"/>
          </a:xfrm>
          <a:prstGeom prst="roundRect">
            <a:avLst>
              <a:gd name="adj" fmla="val 2068"/>
            </a:avLst>
          </a:prstGeom>
          <a:solidFill>
            <a:srgbClr val="D1D1D1">
              <a:alpha val="71765"/>
            </a:srgbClr>
          </a:solidFill>
        </p:spPr>
      </p:sp>
      <p:sp>
        <p:nvSpPr>
          <p:cNvPr id="7" name="AutoShape 7"/>
          <p:cNvSpPr/>
          <p:nvPr/>
        </p:nvSpPr>
        <p:spPr>
          <a:xfrm>
            <a:off x="10706100" y="1930400"/>
            <a:ext cx="4660900" cy="3683000"/>
          </a:xfrm>
          <a:prstGeom prst="roundRect">
            <a:avLst>
              <a:gd name="adj" fmla="val 2068"/>
            </a:avLst>
          </a:prstGeom>
          <a:solidFill>
            <a:srgbClr val="D1D1D1">
              <a:alpha val="71765"/>
            </a:srgbClr>
          </a:solidFill>
        </p:spPr>
      </p:sp>
      <p:sp>
        <p:nvSpPr>
          <p:cNvPr id="8" name="AutoShape 8"/>
          <p:cNvSpPr/>
          <p:nvPr/>
        </p:nvSpPr>
        <p:spPr>
          <a:xfrm>
            <a:off x="876300" y="5842000"/>
            <a:ext cx="7112000" cy="2679700"/>
          </a:xfrm>
          <a:prstGeom prst="roundRect">
            <a:avLst>
              <a:gd name="adj" fmla="val 2843"/>
            </a:avLst>
          </a:prstGeom>
          <a:solidFill>
            <a:srgbClr val="D1D1D1">
              <a:alpha val="71765"/>
            </a:srgbClr>
          </a:solidFill>
        </p:spPr>
      </p:sp>
      <p:sp>
        <p:nvSpPr>
          <p:cNvPr id="9" name="AutoShape 9"/>
          <p:cNvSpPr/>
          <p:nvPr/>
        </p:nvSpPr>
        <p:spPr>
          <a:xfrm>
            <a:off x="8242300" y="5842000"/>
            <a:ext cx="7112000" cy="2679700"/>
          </a:xfrm>
          <a:prstGeom prst="roundRect">
            <a:avLst>
              <a:gd name="adj" fmla="val 2843"/>
            </a:avLst>
          </a:prstGeom>
          <a:solidFill>
            <a:srgbClr val="D1D1D1">
              <a:alpha val="71765"/>
            </a:srgbClr>
          </a:solidFill>
        </p:spPr>
      </p:sp>
      <p:sp>
        <p:nvSpPr>
          <p:cNvPr id="10" name="TextBox 10"/>
          <p:cNvSpPr txBox="1"/>
          <p:nvPr/>
        </p:nvSpPr>
        <p:spPr>
          <a:xfrm>
            <a:off x="876300" y="609600"/>
            <a:ext cx="14490700" cy="10668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Base Paper: AI-Driven Audit Framework for Distributed Smart Grids</a:t>
            </a:r>
            <a:endParaRPr lang="en-US" sz="1100"/>
          </a:p>
        </p:txBody>
      </p:sp>
      <p:sp>
        <p:nvSpPr>
          <p:cNvPr id="11" name="TextBox 11"/>
          <p:cNvSpPr txBox="1"/>
          <p:nvPr/>
        </p:nvSpPr>
        <p:spPr>
          <a:xfrm>
            <a:off x="11303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Priyadarsini (2025)</a:t>
            </a:r>
            <a:endParaRPr lang="en-US" sz="1100"/>
          </a:p>
        </p:txBody>
      </p:sp>
      <p:sp>
        <p:nvSpPr>
          <p:cNvPr id="12" name="TextBox 12"/>
          <p:cNvSpPr txBox="1"/>
          <p:nvPr/>
        </p:nvSpPr>
        <p:spPr>
          <a:xfrm>
            <a:off x="60452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Multi-Agent Grid</a:t>
            </a:r>
            <a:endParaRPr lang="en-US" sz="1100"/>
          </a:p>
        </p:txBody>
      </p:sp>
      <p:sp>
        <p:nvSpPr>
          <p:cNvPr id="13" name="TextBox 13"/>
          <p:cNvSpPr txBox="1"/>
          <p:nvPr/>
        </p:nvSpPr>
        <p:spPr>
          <a:xfrm>
            <a:off x="109601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Reported Metrics</a:t>
            </a:r>
            <a:endParaRPr lang="en-US" sz="1100"/>
          </a:p>
        </p:txBody>
      </p:sp>
      <p:sp>
        <p:nvSpPr>
          <p:cNvPr id="14" name="TextBox 14"/>
          <p:cNvSpPr txBox="1"/>
          <p:nvPr/>
        </p:nvSpPr>
        <p:spPr>
          <a:xfrm>
            <a:off x="1130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Conceptual Foundation</a:t>
            </a:r>
            <a:endParaRPr lang="en-US" sz="1100"/>
          </a:p>
        </p:txBody>
      </p:sp>
      <p:sp>
        <p:nvSpPr>
          <p:cNvPr id="15" name="TextBox 15"/>
          <p:cNvSpPr txBox="1"/>
          <p:nvPr/>
        </p:nvSpPr>
        <p:spPr>
          <a:xfrm>
            <a:off x="8496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Simulation Focus</a:t>
            </a:r>
            <a:endParaRPr lang="en-US" sz="1100"/>
          </a:p>
        </p:txBody>
      </p:sp>
      <p:sp>
        <p:nvSpPr>
          <p:cNvPr id="16" name="TextBox 16"/>
          <p:cNvSpPr txBox="1"/>
          <p:nvPr/>
        </p:nvSpPr>
        <p:spPr>
          <a:xfrm>
            <a:off x="1130300" y="2717800"/>
            <a:ext cx="4152900" cy="2679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paper by Priyadarsini (2025) establishes a clear linkage between anomaly detection outputs and subsequent audit optimization, proposing algorithms that translate detections into prioritized audit tasks.</a:t>
            </a:r>
            <a:endParaRPr lang="en-US" sz="1100"/>
          </a:p>
        </p:txBody>
      </p:sp>
      <p:sp>
        <p:nvSpPr>
          <p:cNvPr id="17" name="TextBox 17"/>
          <p:cNvSpPr txBox="1"/>
          <p:nvPr/>
        </p:nvSpPr>
        <p:spPr>
          <a:xfrm>
            <a:off x="60452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Describes a multi-agent smart grid architecture that supports dynamic adjustment of audit resources, enabling agents to reallocate inspections in response to evolving anomaly likelihoods and constraints.</a:t>
            </a:r>
            <a:endParaRPr lang="en-US" sz="1100"/>
          </a:p>
        </p:txBody>
      </p:sp>
      <p:sp>
        <p:nvSpPr>
          <p:cNvPr id="18" name="TextBox 18"/>
          <p:cNvSpPr txBox="1"/>
          <p:nvPr/>
        </p:nvSpPr>
        <p:spPr>
          <a:xfrm>
            <a:off x="109601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Key reported performance metrics include Cost at 42.5%, Coverage at 93.8%, Accuracy at 98.4%, and Risk Mitigation at 87.9%, demonstrating strong simulated effectiveness across objectives.</a:t>
            </a:r>
            <a:endParaRPr lang="en-US" sz="1100"/>
          </a:p>
        </p:txBody>
      </p:sp>
      <p:sp>
        <p:nvSpPr>
          <p:cNvPr id="19" name="TextBox 19"/>
          <p:cNvSpPr txBox="1"/>
          <p:nvPr/>
        </p:nvSpPr>
        <p:spPr>
          <a:xfrm>
            <a:off x="1130300" y="6629400"/>
            <a:ext cx="6604000" cy="1663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Presents a strong conceptual foundation that systematically connects anomaly detection signals with audit planning decisions, offering theoretical justification and formal mappings between components.</a:t>
            </a:r>
            <a:endParaRPr lang="en-US" sz="1100"/>
          </a:p>
        </p:txBody>
      </p:sp>
      <p:sp>
        <p:nvSpPr>
          <p:cNvPr id="20" name="TextBox 20"/>
          <p:cNvSpPr txBox="1"/>
          <p:nvPr/>
        </p:nvSpPr>
        <p:spPr>
          <a:xfrm>
            <a:off x="8496300" y="6629400"/>
            <a:ext cx="6604000" cy="1333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work is primarily simulation-oriented and does not include deployment with live SCADA systems, emphasizing modeling and synthetic experiments rather than field implementation.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Base Paper Limitations: Implementation and Integration Gaps</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Absence of live SCADA integration and real-time telemetry handling, preventing continuous operational data ingestion and immediate responsiveness.</a:t>
            </a:r>
            <a:endParaRPr lang="en-US" sz="1100"/>
          </a:p>
        </p:txBody>
      </p:sp>
      <p:sp>
        <p:nvSpPr>
          <p:cNvPr id="17" name="TextBox 17"/>
          <p:cNvSpPr txBox="1"/>
          <p:nvPr/>
        </p:nvSpPr>
        <p:spPr>
          <a:xfrm>
            <a:off x="4826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deployment-oriented system architecture and engineering detail, lacking concrete guidance for production-grade implementation and scaling.</a:t>
            </a:r>
            <a:endParaRPr lang="en-US" sz="1100"/>
          </a:p>
        </p:txBody>
      </p:sp>
      <p:sp>
        <p:nvSpPr>
          <p:cNvPr id="18" name="TextBox 18"/>
          <p:cNvSpPr txBox="1"/>
          <p:nvPr/>
        </p:nvSpPr>
        <p:spPr>
          <a:xfrm>
            <a:off x="8509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No explicit separation between experiment evaluation and operational monitoring, which risks mixing offline validation with live decision workflows.</a:t>
            </a:r>
            <a:endParaRPr lang="en-US" sz="1100"/>
          </a:p>
        </p:txBody>
      </p:sp>
      <p:sp>
        <p:nvSpPr>
          <p:cNvPr id="19" name="TextBox 19"/>
          <p:cNvSpPr txBox="1"/>
          <p:nvPr/>
        </p:nvSpPr>
        <p:spPr>
          <a:xfrm>
            <a:off x="122047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Insufficient operator-facing visualization and workflow support, reducing situational awareness and hindering effective human-in-the-loop operations.</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emphasis on explainability in live decision pathways, making it difficult to trace, justify, and audit automated operational actions.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Capability Comparison: Base Paper vs Proposed Framework</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Development Progress of the SmartGrid AI Audit Framework</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Proposed System Overview: Explainable Cyber-Physical Audit Platform</a:t>
            </a:r>
            <a:endParaRPr lang="en-US" sz="1100"/>
          </a:p>
        </p:txBody>
      </p:sp>
      <p:sp>
        <p:nvSpPr>
          <p:cNvPr id="16" name="TextBox 16"/>
          <p:cNvSpPr txBox="1"/>
          <p:nvPr/>
        </p:nvSpPr>
        <p:spPr>
          <a:xfrm>
            <a:off x="1130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Unified Framework</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Two Operational Workspaces</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Scoring</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Live Telemetry Pipeline</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Operator-Facing Dashboard</a:t>
            </a:r>
            <a:endParaRPr lang="en-US" sz="1100"/>
          </a:p>
        </p:txBody>
      </p:sp>
      <p:sp>
        <p:nvSpPr>
          <p:cNvPr id="21" name="TextBox 21"/>
          <p:cNvSpPr txBox="1"/>
          <p:nvPr/>
        </p:nvSpPr>
        <p:spPr>
          <a:xfrm>
            <a:off x="1130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Combines anomaly detection, audit intelligence, and SCADA monitoring into a single cohesive platform for end-to-end cyber-physical assurance.</a:t>
            </a:r>
            <a:endParaRPr lang="en-US" sz="1100"/>
          </a:p>
        </p:txBody>
      </p:sp>
      <p:sp>
        <p:nvSpPr>
          <p:cNvPr id="22" name="TextBox 22"/>
          <p:cNvSpPr txBox="1"/>
          <p:nvPr/>
        </p:nvSpPr>
        <p:spPr>
          <a:xfrm>
            <a:off x="4813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Provides Experiment Running for controlled tests and Rapid SCADA Live for real-time operational monitoring and intervention.</a:t>
            </a:r>
            <a:endParaRPr lang="en-US" sz="1100"/>
          </a:p>
        </p:txBody>
      </p:sp>
      <p:sp>
        <p:nvSpPr>
          <p:cNvPr id="23" name="TextBox 23"/>
          <p:cNvSpPr txBox="1"/>
          <p:nvPr/>
        </p:nvSpPr>
        <p:spPr>
          <a:xfrm>
            <a:off x="8496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Calculates anomaly scores based on deviations and offers feature-level explainability to pinpoint root causes and contributing signals.</a:t>
            </a:r>
            <a:endParaRPr lang="en-US" sz="1100"/>
          </a:p>
        </p:txBody>
      </p:sp>
      <p:sp>
        <p:nvSpPr>
          <p:cNvPr id="24" name="TextBox 24"/>
          <p:cNvSpPr txBox="1"/>
          <p:nvPr/>
        </p:nvSpPr>
        <p:spPr>
          <a:xfrm>
            <a:off x="12179300" y="35306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Streams real-time data through Rapid SCADA Web API integration to ensure low-latency ingestion and continuous observability.</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Separates experimental views from live operational displays, enabling operators to switch contexts without data overlap.</a:t>
            </a:r>
            <a:endParaRPr lang="en-US" sz="1100"/>
          </a:p>
        </p:txBody>
      </p:sp>
      <p:pic>
        <p:nvPicPr>
          <p:cNvPr id="26" name="Picture 26"/>
          <p:cNvPicPr>
            <a:picLocks noChangeAspect="1"/>
          </p:cNvPicPr>
          <p:nvPr/>
        </p:nvPicPr>
        <p:blipFill>
          <a:blip r:embed="rId3"/>
          <a:stretch>
            <a:fillRect/>
          </a:stretch>
        </p:blipFill>
        <p:spPr>
          <a:xfrm>
            <a:off x="1397000" y="2095500"/>
            <a:ext cx="190500" cy="1905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409700" y="6731000"/>
            <a:ext cx="190500" cy="190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5" name="AutoShape 5"/>
          <p:cNvSpPr/>
          <p:nvPr/>
        </p:nvSpPr>
        <p:spPr>
          <a:xfrm>
            <a:off x="876300" y="1765300"/>
            <a:ext cx="3429000" cy="5435600"/>
          </a:xfrm>
          <a:prstGeom prst="roundRect">
            <a:avLst>
              <a:gd name="adj" fmla="val 2592"/>
            </a:avLst>
          </a:prstGeom>
          <a:solidFill>
            <a:srgbClr val="D1D1D1">
              <a:alpha val="71765"/>
            </a:srgbClr>
          </a:solidFill>
        </p:spPr>
      </p:sp>
      <p:sp>
        <p:nvSpPr>
          <p:cNvPr id="6" name="AutoShape 6"/>
          <p:cNvSpPr/>
          <p:nvPr/>
        </p:nvSpPr>
        <p:spPr>
          <a:xfrm>
            <a:off x="4559300" y="1765300"/>
            <a:ext cx="3429000" cy="5435600"/>
          </a:xfrm>
          <a:prstGeom prst="roundRect">
            <a:avLst>
              <a:gd name="adj" fmla="val 2592"/>
            </a:avLst>
          </a:prstGeom>
          <a:solidFill>
            <a:srgbClr val="D1D1D1">
              <a:alpha val="71765"/>
            </a:srgbClr>
          </a:solidFill>
        </p:spPr>
      </p:sp>
      <p:sp>
        <p:nvSpPr>
          <p:cNvPr id="7" name="AutoShape 7"/>
          <p:cNvSpPr/>
          <p:nvPr/>
        </p:nvSpPr>
        <p:spPr>
          <a:xfrm>
            <a:off x="8242300" y="1765300"/>
            <a:ext cx="3429000" cy="5435600"/>
          </a:xfrm>
          <a:prstGeom prst="roundRect">
            <a:avLst>
              <a:gd name="adj" fmla="val 2592"/>
            </a:avLst>
          </a:prstGeom>
          <a:solidFill>
            <a:srgbClr val="D1D1D1">
              <a:alpha val="71765"/>
            </a:srgbClr>
          </a:solidFill>
        </p:spPr>
      </p:sp>
      <p:sp>
        <p:nvSpPr>
          <p:cNvPr id="8" name="AutoShape 8"/>
          <p:cNvSpPr/>
          <p:nvPr/>
        </p:nvSpPr>
        <p:spPr>
          <a:xfrm>
            <a:off x="11938000" y="1765300"/>
            <a:ext cx="3429000" cy="5435600"/>
          </a:xfrm>
          <a:prstGeom prst="roundRect">
            <a:avLst>
              <a:gd name="adj" fmla="val 2592"/>
            </a:avLst>
          </a:prstGeom>
          <a:solidFill>
            <a:srgbClr val="D1D1D1">
              <a:alpha val="71765"/>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System Architecture: Four-Tier Modular Design</a:t>
            </a:r>
            <a:endParaRPr lang="en-US" sz="1100"/>
          </a:p>
        </p:txBody>
      </p:sp>
      <p:sp>
        <p:nvSpPr>
          <p:cNvPr id="10" name="TextBox 10"/>
          <p:cNvSpPr txBox="1"/>
          <p:nvPr/>
        </p:nvSpPr>
        <p:spPr>
          <a:xfrm>
            <a:off x="1130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1 — Data Ingestion</a:t>
            </a:r>
            <a:endParaRPr lang="en-US" sz="1100"/>
          </a:p>
        </p:txBody>
      </p:sp>
      <p:sp>
        <p:nvSpPr>
          <p:cNvPr id="11" name="TextBox 11"/>
          <p:cNvSpPr txBox="1"/>
          <p:nvPr/>
        </p:nvSpPr>
        <p:spPr>
          <a:xfrm>
            <a:off x="4813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2 — Feature Processing</a:t>
            </a:r>
            <a:endParaRPr lang="en-US" sz="1100"/>
          </a:p>
        </p:txBody>
      </p:sp>
      <p:sp>
        <p:nvSpPr>
          <p:cNvPr id="12" name="TextBox 12"/>
          <p:cNvSpPr txBox="1"/>
          <p:nvPr/>
        </p:nvSpPr>
        <p:spPr>
          <a:xfrm>
            <a:off x="8496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3 — Anomaly &amp; Risk</a:t>
            </a:r>
            <a:endParaRPr lang="en-US" sz="1100"/>
          </a:p>
        </p:txBody>
      </p:sp>
      <p:sp>
        <p:nvSpPr>
          <p:cNvPr id="13" name="TextBox 13"/>
          <p:cNvSpPr txBox="1"/>
          <p:nvPr/>
        </p:nvSpPr>
        <p:spPr>
          <a:xfrm>
            <a:off x="12179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4 — Operator Interface</a:t>
            </a:r>
            <a:endParaRPr lang="en-US" sz="1100"/>
          </a:p>
        </p:txBody>
      </p:sp>
      <p:sp>
        <p:nvSpPr>
          <p:cNvPr id="14" name="TextBox 14"/>
          <p:cNvSpPr txBox="1"/>
          <p:nvPr/>
        </p:nvSpPr>
        <p:spPr>
          <a:xfrm>
            <a:off x="1130300" y="3098800"/>
            <a:ext cx="2921000" cy="3771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Collects raw telemetry from the experiment workspace and Rapid SCADA live streams, ensuring reliable, timestamped ingestion and initial validation for downstream processing.</a:t>
            </a:r>
            <a:endParaRPr lang="en-US" sz="1100"/>
          </a:p>
        </p:txBody>
      </p:sp>
      <p:sp>
        <p:nvSpPr>
          <p:cNvPr id="15" name="TextBox 15"/>
          <p:cNvSpPr txBox="1"/>
          <p:nvPr/>
        </p:nvSpPr>
        <p:spPr>
          <a:xfrm>
            <a:off x="4813300" y="35560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Processes sensor and operational data to extract features, mapping physical measurements to cyber baselines and normal behavior profiles for context-aware analysis.</a:t>
            </a:r>
            <a:endParaRPr lang="en-US" sz="1100"/>
          </a:p>
        </p:txBody>
      </p:sp>
      <p:sp>
        <p:nvSpPr>
          <p:cNvPr id="16" name="TextBox 16"/>
          <p:cNvSpPr txBox="1"/>
          <p:nvPr/>
        </p:nvSpPr>
        <p:spPr>
          <a:xfrm>
            <a:off x="8496300" y="30988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Performs anomaly scoring, risk assessment, and audit decision logic using statistical and ML models to prioritize incidents and generate forensic evidence traces.</a:t>
            </a:r>
            <a:endParaRPr lang="en-US" sz="1100"/>
          </a:p>
        </p:txBody>
      </p:sp>
      <p:sp>
        <p:nvSpPr>
          <p:cNvPr id="17" name="TextBox 17"/>
          <p:cNvSpPr txBox="1"/>
          <p:nvPr/>
        </p:nvSpPr>
        <p:spPr>
          <a:xfrm>
            <a:off x="12179300" y="3556000"/>
            <a:ext cx="2921000" cy="3022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Provides dashboard visualization, alerts, and explainability tools for operators, enabling interactive investigation, drill-downs, and audit reporting.</a:t>
            </a:r>
            <a:endParaRPr lang="en-US" sz="1100"/>
          </a:p>
        </p:txBody>
      </p:sp>
      <p:sp>
        <p:nvSpPr>
          <p:cNvPr id="18" name="TextBox 18"/>
          <p:cNvSpPr txBox="1"/>
          <p:nvPr/>
        </p:nvSpPr>
        <p:spPr>
          <a:xfrm>
            <a:off x="876300" y="74930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The right-side illustration represents the end-to-end SmartGrid AI Audit Framework, showing data flow from SCADA through processing tiers to the operator dashboard.</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20900"/>
            <a:ext cx="14490700" cy="6337300"/>
          </a:xfrm>
          <a:prstGeom prst="rect">
            <a:avLst/>
          </a:prstGeom>
          <a:solidFill>
            <a:srgbClr val="000000">
              <a:alpha val="0"/>
            </a:srgbClr>
          </a:solidFill>
        </p:spPr>
      </p:sp>
      <p:sp>
        <p:nvSpPr>
          <p:cNvPr id="5" name="AutoShape 5"/>
          <p:cNvSpPr/>
          <p:nvPr/>
        </p:nvSpPr>
        <p:spPr>
          <a:xfrm>
            <a:off x="876300" y="2120900"/>
            <a:ext cx="3619500" cy="6337300"/>
          </a:xfrm>
          <a:prstGeom prst="rect">
            <a:avLst/>
          </a:prstGeom>
          <a:solidFill>
            <a:srgbClr val="000000">
              <a:alpha val="0"/>
            </a:srgbClr>
          </a:solidFill>
        </p:spPr>
      </p:sp>
      <p:sp>
        <p:nvSpPr>
          <p:cNvPr id="6" name="AutoShape 6"/>
          <p:cNvSpPr/>
          <p:nvPr/>
        </p:nvSpPr>
        <p:spPr>
          <a:xfrm>
            <a:off x="876300" y="2120900"/>
            <a:ext cx="3619500" cy="977900"/>
          </a:xfrm>
          <a:prstGeom prst="rect">
            <a:avLst/>
          </a:prstGeom>
          <a:solidFill>
            <a:srgbClr val="000000">
              <a:alpha val="0"/>
            </a:srgbClr>
          </a:solidFill>
        </p:spPr>
      </p:sp>
      <p:sp>
        <p:nvSpPr>
          <p:cNvPr id="7" name="AutoShape 7"/>
          <p:cNvSpPr/>
          <p:nvPr/>
        </p:nvSpPr>
        <p:spPr>
          <a:xfrm>
            <a:off x="4495800" y="2120900"/>
            <a:ext cx="3619500" cy="6337300"/>
          </a:xfrm>
          <a:prstGeom prst="rect">
            <a:avLst/>
          </a:prstGeom>
          <a:solidFill>
            <a:srgbClr val="000000">
              <a:alpha val="0"/>
            </a:srgbClr>
          </a:solidFill>
        </p:spPr>
      </p:sp>
      <p:sp>
        <p:nvSpPr>
          <p:cNvPr id="8" name="AutoShape 8"/>
          <p:cNvSpPr/>
          <p:nvPr/>
        </p:nvSpPr>
        <p:spPr>
          <a:xfrm>
            <a:off x="4495800" y="2120900"/>
            <a:ext cx="3619500" cy="977900"/>
          </a:xfrm>
          <a:prstGeom prst="rect">
            <a:avLst/>
          </a:prstGeom>
          <a:solidFill>
            <a:srgbClr val="000000">
              <a:alpha val="0"/>
            </a:srgbClr>
          </a:solidFill>
        </p:spPr>
      </p:sp>
      <p:sp>
        <p:nvSpPr>
          <p:cNvPr id="9" name="AutoShape 9"/>
          <p:cNvSpPr/>
          <p:nvPr/>
        </p:nvSpPr>
        <p:spPr>
          <a:xfrm>
            <a:off x="8115300" y="2120900"/>
            <a:ext cx="3619500" cy="6337300"/>
          </a:xfrm>
          <a:prstGeom prst="rect">
            <a:avLst/>
          </a:prstGeom>
          <a:solidFill>
            <a:srgbClr val="000000">
              <a:alpha val="0"/>
            </a:srgbClr>
          </a:solidFill>
        </p:spPr>
      </p:sp>
      <p:sp>
        <p:nvSpPr>
          <p:cNvPr id="10" name="AutoShape 10"/>
          <p:cNvSpPr/>
          <p:nvPr/>
        </p:nvSpPr>
        <p:spPr>
          <a:xfrm>
            <a:off x="8115300" y="2120900"/>
            <a:ext cx="3619500" cy="977900"/>
          </a:xfrm>
          <a:prstGeom prst="rect">
            <a:avLst/>
          </a:prstGeom>
          <a:solidFill>
            <a:srgbClr val="000000">
              <a:alpha val="0"/>
            </a:srgbClr>
          </a:solidFill>
        </p:spPr>
      </p:sp>
      <p:sp>
        <p:nvSpPr>
          <p:cNvPr id="11" name="AutoShape 11"/>
          <p:cNvSpPr/>
          <p:nvPr/>
        </p:nvSpPr>
        <p:spPr>
          <a:xfrm>
            <a:off x="11747500" y="2120900"/>
            <a:ext cx="3619500" cy="6337300"/>
          </a:xfrm>
          <a:prstGeom prst="rect">
            <a:avLst/>
          </a:prstGeom>
          <a:solidFill>
            <a:srgbClr val="000000">
              <a:alpha val="0"/>
            </a:srgbClr>
          </a:solidFill>
        </p:spPr>
      </p:sp>
      <p:sp>
        <p:nvSpPr>
          <p:cNvPr id="12" name="AutoShape 12"/>
          <p:cNvSpPr/>
          <p:nvPr/>
        </p:nvSpPr>
        <p:spPr>
          <a:xfrm>
            <a:off x="11747500" y="2120900"/>
            <a:ext cx="3619500" cy="977900"/>
          </a:xfrm>
          <a:prstGeom prst="rect">
            <a:avLst/>
          </a:prstGeom>
          <a:solidFill>
            <a:srgbClr val="000000">
              <a:alpha val="0"/>
            </a:srgbClr>
          </a:solidFill>
        </p:spPr>
      </p:sp>
      <p:pic>
        <p:nvPicPr>
          <p:cNvPr id="13" name="Picture 13"/>
          <p:cNvPicPr>
            <a:picLocks noChangeAspect="1"/>
          </p:cNvPicPr>
          <p:nvPr/>
        </p:nvPicPr>
        <p:blipFill>
          <a:blip r:embed="rId3"/>
          <a:stretch>
            <a:fillRect/>
          </a:stretch>
        </p:blipFill>
        <p:spPr>
          <a:xfrm>
            <a:off x="901700" y="2120900"/>
            <a:ext cx="3543300" cy="977900"/>
          </a:xfrm>
          <a:prstGeom prst="rect">
            <a:avLst/>
          </a:prstGeom>
        </p:spPr>
      </p:pic>
      <p:pic>
        <p:nvPicPr>
          <p:cNvPr id="14" name="Picture 14"/>
          <p:cNvPicPr>
            <a:picLocks noChangeAspect="1"/>
          </p:cNvPicPr>
          <p:nvPr/>
        </p:nvPicPr>
        <p:blipFill>
          <a:blip r:embed="rId3"/>
          <a:stretch>
            <a:fillRect/>
          </a:stretch>
        </p:blipFill>
        <p:spPr>
          <a:xfrm>
            <a:off x="4521200" y="2120900"/>
            <a:ext cx="3543300" cy="977900"/>
          </a:xfrm>
          <a:prstGeom prst="rect">
            <a:avLst/>
          </a:prstGeom>
        </p:spPr>
      </p:pic>
      <p:pic>
        <p:nvPicPr>
          <p:cNvPr id="15" name="Picture 15"/>
          <p:cNvPicPr>
            <a:picLocks noChangeAspect="1"/>
          </p:cNvPicPr>
          <p:nvPr/>
        </p:nvPicPr>
        <p:blipFill>
          <a:blip r:embed="rId3"/>
          <a:stretch>
            <a:fillRect/>
          </a:stretch>
        </p:blipFill>
        <p:spPr>
          <a:xfrm>
            <a:off x="8140700" y="2120900"/>
            <a:ext cx="3543300" cy="977900"/>
          </a:xfrm>
          <a:prstGeom prst="rect">
            <a:avLst/>
          </a:prstGeom>
        </p:spPr>
      </p:pic>
      <p:pic>
        <p:nvPicPr>
          <p:cNvPr id="16" name="Picture 16"/>
          <p:cNvPicPr>
            <a:picLocks noChangeAspect="1"/>
          </p:cNvPicPr>
          <p:nvPr/>
        </p:nvPicPr>
        <p:blipFill>
          <a:blip r:embed="rId3"/>
          <a:stretch>
            <a:fillRect/>
          </a:stretch>
        </p:blipFill>
        <p:spPr>
          <a:xfrm>
            <a:off x="11772900" y="2120900"/>
            <a:ext cx="3543300" cy="977900"/>
          </a:xfrm>
          <a:prstGeom prst="rect">
            <a:avLst/>
          </a:prstGeom>
        </p:spPr>
      </p:pic>
      <p:sp>
        <p:nvSpPr>
          <p:cNvPr id="17" name="TextBox 17"/>
          <p:cNvSpPr txBox="1"/>
          <p:nvPr/>
        </p:nvSpPr>
        <p:spPr>
          <a:xfrm>
            <a:off x="876300" y="673100"/>
            <a:ext cx="14490700" cy="1168400"/>
          </a:xfrm>
          <a:prstGeom prst="rect">
            <a:avLst/>
          </a:prstGeom>
          <a:solidFill>
            <a:srgbClr val="000000">
              <a:alpha val="0"/>
            </a:srgbClr>
          </a:solidFill>
        </p:spPr>
        <p:txBody>
          <a:bodyPr lIns="0" tIns="0" rIns="0" bIns="0" rtlCol="0" anchor="ctr"/>
          <a:lstStyle/>
          <a:p>
            <a:pPr indent="0" algn="l">
              <a:lnSpc>
                <a:spcPct val="120000"/>
              </a:lnSpc>
              <a:defRPr/>
            </a:pPr>
            <a:r>
              <a:rPr lang="en-US" sz="3800" b="1">
                <a:solidFill>
                  <a:srgbClr val="000000"/>
                </a:solidFill>
                <a:latin typeface="Ubuntu"/>
              </a:rPr>
              <a:t>Two-Workspace Design: Separation of Experiment and Operational Contexts</a:t>
            </a:r>
            <a:endParaRPr lang="en-US" sz="1100"/>
          </a:p>
        </p:txBody>
      </p:sp>
      <p:sp>
        <p:nvSpPr>
          <p:cNvPr id="18" name="TextBox 18"/>
          <p:cNvSpPr txBox="1"/>
          <p:nvPr/>
        </p:nvSpPr>
        <p:spPr>
          <a:xfrm>
            <a:off x="876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1</a:t>
            </a:r>
            <a:endParaRPr lang="en-US" sz="1100"/>
          </a:p>
        </p:txBody>
      </p:sp>
      <p:sp>
        <p:nvSpPr>
          <p:cNvPr id="19" name="TextBox 19"/>
          <p:cNvSpPr txBox="1"/>
          <p:nvPr/>
        </p:nvSpPr>
        <p:spPr>
          <a:xfrm>
            <a:off x="1130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 Running Workspace</a:t>
            </a:r>
            <a:endParaRPr lang="en-US" sz="1100"/>
          </a:p>
        </p:txBody>
      </p:sp>
      <p:sp>
        <p:nvSpPr>
          <p:cNvPr id="20" name="TextBox 20"/>
          <p:cNvSpPr txBox="1"/>
          <p:nvPr/>
        </p:nvSpPr>
        <p:spPr>
          <a:xfrm>
            <a:off x="44958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Rapid SCADA Live Workspace</a:t>
            </a:r>
            <a:endParaRPr lang="en-US" sz="1100"/>
          </a:p>
        </p:txBody>
      </p:sp>
      <p:sp>
        <p:nvSpPr>
          <p:cNvPr id="22" name="TextBox 22"/>
          <p:cNvSpPr txBox="1"/>
          <p:nvPr/>
        </p:nvSpPr>
        <p:spPr>
          <a:xfrm>
            <a:off x="8115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3</a:t>
            </a:r>
            <a:endParaRPr lang="en-US" sz="1100"/>
          </a:p>
        </p:txBody>
      </p:sp>
      <p:sp>
        <p:nvSpPr>
          <p:cNvPr id="23" name="TextBox 23"/>
          <p:cNvSpPr txBox="1"/>
          <p:nvPr/>
        </p:nvSpPr>
        <p:spPr>
          <a:xfrm>
            <a:off x="8369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Isolation of Experimental Outputs</a:t>
            </a:r>
            <a:endParaRPr lang="en-US" sz="1100"/>
          </a:p>
        </p:txBody>
      </p:sp>
      <p:sp>
        <p:nvSpPr>
          <p:cNvPr id="24" name="TextBox 24"/>
          <p:cNvSpPr txBox="1"/>
          <p:nvPr/>
        </p:nvSpPr>
        <p:spPr>
          <a:xfrm>
            <a:off x="117475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4</a:t>
            </a:r>
            <a:endParaRPr lang="en-US" sz="1100"/>
          </a:p>
        </p:txBody>
      </p:sp>
      <p:sp>
        <p:nvSpPr>
          <p:cNvPr id="25" name="TextBox 25"/>
          <p:cNvSpPr txBox="1"/>
          <p:nvPr/>
        </p:nvSpPr>
        <p:spPr>
          <a:xfrm>
            <a:off x="120015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Technical Interpretability</a:t>
            </a:r>
            <a:endParaRPr lang="en-US" sz="1100"/>
          </a:p>
        </p:txBody>
      </p:sp>
      <p:sp>
        <p:nvSpPr>
          <p:cNvPr id="26" name="TextBox 26"/>
          <p:cNvSpPr txBox="1"/>
          <p:nvPr/>
        </p:nvSpPr>
        <p:spPr>
          <a:xfrm>
            <a:off x="1130300" y="4902200"/>
            <a:ext cx="3111500" cy="33147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Simulation, benchmarking, and ablation analysis conducted across varied grid sizes to evaluate models and configurations in an isolated experimental environment.</a:t>
            </a:r>
            <a:endParaRPr lang="en-US" sz="1100"/>
          </a:p>
        </p:txBody>
      </p:sp>
      <p:sp>
        <p:nvSpPr>
          <p:cNvPr id="27" name="TextBox 27"/>
          <p:cNvSpPr txBox="1"/>
          <p:nvPr/>
        </p:nvSpPr>
        <p:spPr>
          <a:xfrm>
            <a:off x="47498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Real-time monitoring of operational systems with anomaly scoring and audit support to ensure continuous visibility and rapid response in production.</a:t>
            </a:r>
            <a:endParaRPr lang="en-US" sz="1100"/>
          </a:p>
        </p:txBody>
      </p:sp>
      <p:sp>
        <p:nvSpPr>
          <p:cNvPr id="28" name="TextBox 28"/>
          <p:cNvSpPr txBox="1"/>
          <p:nvPr/>
        </p:nvSpPr>
        <p:spPr>
          <a:xfrm>
            <a:off x="8369300" y="49022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Prevents experimental outputs from interfering with live operational data by enforcing strict separation and controlled data flows between environments.</a:t>
            </a:r>
            <a:endParaRPr lang="en-US" sz="1100"/>
          </a:p>
        </p:txBody>
      </p:sp>
      <p:sp>
        <p:nvSpPr>
          <p:cNvPr id="29" name="TextBox 29"/>
          <p:cNvSpPr txBox="1"/>
          <p:nvPr/>
        </p:nvSpPr>
        <p:spPr>
          <a:xfrm>
            <a:off x="120015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Ensures interpretability for both evaluation and monitoring use cases through consistent logging, metrics, and explainability tools across workspaces.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536700"/>
            <a:ext cx="14490700" cy="7112000"/>
          </a:xfrm>
          <a:prstGeom prst="rect">
            <a:avLst/>
          </a:prstGeom>
          <a:solidFill>
            <a:srgbClr val="000000">
              <a:alpha val="0"/>
            </a:srgbClr>
          </a:solidFill>
        </p:spPr>
      </p:sp>
      <p:sp>
        <p:nvSpPr>
          <p:cNvPr id="5" name="AutoShape 5"/>
          <p:cNvSpPr/>
          <p:nvPr/>
        </p:nvSpPr>
        <p:spPr>
          <a:xfrm>
            <a:off x="876300" y="1536700"/>
            <a:ext cx="14490700" cy="1066800"/>
          </a:xfrm>
          <a:prstGeom prst="rect">
            <a:avLst/>
          </a:prstGeom>
          <a:solidFill>
            <a:srgbClr val="000000">
              <a:alpha val="0"/>
            </a:srgbClr>
          </a:solidFill>
        </p:spPr>
      </p:sp>
      <p:sp>
        <p:nvSpPr>
          <p:cNvPr id="6" name="AutoShape 6"/>
          <p:cNvSpPr/>
          <p:nvPr/>
        </p:nvSpPr>
        <p:spPr>
          <a:xfrm>
            <a:off x="876300" y="1536700"/>
            <a:ext cx="14490700" cy="1066800"/>
          </a:xfrm>
          <a:prstGeom prst="roundRect">
            <a:avLst>
              <a:gd name="adj" fmla="val 4761"/>
            </a:avLst>
          </a:prstGeom>
          <a:solidFill>
            <a:srgbClr val="000000">
              <a:alpha val="0"/>
            </a:srgbClr>
          </a:solidFill>
        </p:spPr>
      </p:sp>
      <p:sp>
        <p:nvSpPr>
          <p:cNvPr id="7" name="AutoShape 7"/>
          <p:cNvSpPr/>
          <p:nvPr/>
        </p:nvSpPr>
        <p:spPr>
          <a:xfrm>
            <a:off x="876300" y="1536700"/>
            <a:ext cx="241300" cy="1066800"/>
          </a:xfrm>
          <a:prstGeom prst="roundRect">
            <a:avLst>
              <a:gd name="adj" fmla="val 26315"/>
            </a:avLst>
          </a:prstGeom>
          <a:solidFill>
            <a:srgbClr val="D1D1D1"/>
          </a:solidFill>
        </p:spPr>
      </p:sp>
      <p:sp>
        <p:nvSpPr>
          <p:cNvPr id="8" name="AutoShape 8"/>
          <p:cNvSpPr/>
          <p:nvPr/>
        </p:nvSpPr>
        <p:spPr>
          <a:xfrm>
            <a:off x="1257300" y="3048000"/>
            <a:ext cx="14109700" cy="1066800"/>
          </a:xfrm>
          <a:prstGeom prst="rect">
            <a:avLst/>
          </a:prstGeom>
          <a:solidFill>
            <a:srgbClr val="000000">
              <a:alpha val="0"/>
            </a:srgbClr>
          </a:solidFill>
        </p:spPr>
      </p:sp>
      <p:sp>
        <p:nvSpPr>
          <p:cNvPr id="9" name="AutoShape 9"/>
          <p:cNvSpPr/>
          <p:nvPr/>
        </p:nvSpPr>
        <p:spPr>
          <a:xfrm>
            <a:off x="1257300" y="3048000"/>
            <a:ext cx="14109700" cy="1066800"/>
          </a:xfrm>
          <a:prstGeom prst="roundRect">
            <a:avLst>
              <a:gd name="adj" fmla="val 4761"/>
            </a:avLst>
          </a:prstGeom>
          <a:solidFill>
            <a:srgbClr val="000000">
              <a:alpha val="0"/>
            </a:srgbClr>
          </a:solidFill>
        </p:spPr>
      </p:sp>
      <p:sp>
        <p:nvSpPr>
          <p:cNvPr id="10" name="AutoShape 10"/>
          <p:cNvSpPr/>
          <p:nvPr/>
        </p:nvSpPr>
        <p:spPr>
          <a:xfrm>
            <a:off x="1257300" y="3048000"/>
            <a:ext cx="241300" cy="1066800"/>
          </a:xfrm>
          <a:prstGeom prst="roundRect">
            <a:avLst>
              <a:gd name="adj" fmla="val 26315"/>
            </a:avLst>
          </a:prstGeom>
          <a:solidFill>
            <a:srgbClr val="D1D1D1"/>
          </a:solidFill>
        </p:spPr>
      </p:sp>
      <p:sp>
        <p:nvSpPr>
          <p:cNvPr id="11" name="AutoShape 11"/>
          <p:cNvSpPr/>
          <p:nvPr/>
        </p:nvSpPr>
        <p:spPr>
          <a:xfrm>
            <a:off x="1625600" y="4559300"/>
            <a:ext cx="13728700" cy="1066800"/>
          </a:xfrm>
          <a:prstGeom prst="rect">
            <a:avLst/>
          </a:prstGeom>
          <a:solidFill>
            <a:srgbClr val="000000">
              <a:alpha val="0"/>
            </a:srgbClr>
          </a:solidFill>
        </p:spPr>
      </p:sp>
      <p:sp>
        <p:nvSpPr>
          <p:cNvPr id="12" name="AutoShape 12"/>
          <p:cNvSpPr/>
          <p:nvPr/>
        </p:nvSpPr>
        <p:spPr>
          <a:xfrm>
            <a:off x="1625600" y="4559300"/>
            <a:ext cx="13728700" cy="1066800"/>
          </a:xfrm>
          <a:prstGeom prst="roundRect">
            <a:avLst>
              <a:gd name="adj" fmla="val 4761"/>
            </a:avLst>
          </a:prstGeom>
          <a:solidFill>
            <a:srgbClr val="000000">
              <a:alpha val="0"/>
            </a:srgbClr>
          </a:solidFill>
        </p:spPr>
      </p:sp>
      <p:sp>
        <p:nvSpPr>
          <p:cNvPr id="13" name="AutoShape 13"/>
          <p:cNvSpPr/>
          <p:nvPr/>
        </p:nvSpPr>
        <p:spPr>
          <a:xfrm>
            <a:off x="1625600" y="4559300"/>
            <a:ext cx="241300" cy="1066800"/>
          </a:xfrm>
          <a:prstGeom prst="roundRect">
            <a:avLst>
              <a:gd name="adj" fmla="val 26315"/>
            </a:avLst>
          </a:prstGeom>
          <a:solidFill>
            <a:srgbClr val="D1D1D1"/>
          </a:solidFill>
        </p:spPr>
      </p:sp>
      <p:sp>
        <p:nvSpPr>
          <p:cNvPr id="14" name="AutoShape 14"/>
          <p:cNvSpPr/>
          <p:nvPr/>
        </p:nvSpPr>
        <p:spPr>
          <a:xfrm>
            <a:off x="2006600" y="6070600"/>
            <a:ext cx="13347700" cy="1066800"/>
          </a:xfrm>
          <a:prstGeom prst="rect">
            <a:avLst/>
          </a:prstGeom>
          <a:solidFill>
            <a:srgbClr val="000000">
              <a:alpha val="0"/>
            </a:srgbClr>
          </a:solidFill>
        </p:spPr>
      </p:sp>
      <p:sp>
        <p:nvSpPr>
          <p:cNvPr id="15" name="AutoShape 15"/>
          <p:cNvSpPr/>
          <p:nvPr/>
        </p:nvSpPr>
        <p:spPr>
          <a:xfrm>
            <a:off x="2006600" y="6070600"/>
            <a:ext cx="13347700" cy="1066800"/>
          </a:xfrm>
          <a:prstGeom prst="roundRect">
            <a:avLst>
              <a:gd name="adj" fmla="val 4761"/>
            </a:avLst>
          </a:prstGeom>
          <a:solidFill>
            <a:srgbClr val="000000">
              <a:alpha val="0"/>
            </a:srgbClr>
          </a:solidFill>
        </p:spPr>
      </p:sp>
      <p:sp>
        <p:nvSpPr>
          <p:cNvPr id="16" name="AutoShape 16"/>
          <p:cNvSpPr/>
          <p:nvPr/>
        </p:nvSpPr>
        <p:spPr>
          <a:xfrm>
            <a:off x="2006600" y="6070600"/>
            <a:ext cx="241300" cy="1066800"/>
          </a:xfrm>
          <a:prstGeom prst="roundRect">
            <a:avLst>
              <a:gd name="adj" fmla="val 26315"/>
            </a:avLst>
          </a:prstGeom>
          <a:solidFill>
            <a:srgbClr val="D1D1D1"/>
          </a:solidFill>
        </p:spPr>
      </p:sp>
      <p:sp>
        <p:nvSpPr>
          <p:cNvPr id="17" name="AutoShape 17"/>
          <p:cNvSpPr/>
          <p:nvPr/>
        </p:nvSpPr>
        <p:spPr>
          <a:xfrm>
            <a:off x="1625600" y="7581900"/>
            <a:ext cx="13728700" cy="1066800"/>
          </a:xfrm>
          <a:prstGeom prst="rect">
            <a:avLst/>
          </a:prstGeom>
          <a:solidFill>
            <a:srgbClr val="000000">
              <a:alpha val="0"/>
            </a:srgbClr>
          </a:solidFill>
        </p:spPr>
      </p:sp>
      <p:sp>
        <p:nvSpPr>
          <p:cNvPr id="18" name="AutoShape 18"/>
          <p:cNvSpPr/>
          <p:nvPr/>
        </p:nvSpPr>
        <p:spPr>
          <a:xfrm>
            <a:off x="1625600" y="7581900"/>
            <a:ext cx="13728700" cy="1066800"/>
          </a:xfrm>
          <a:prstGeom prst="roundRect">
            <a:avLst>
              <a:gd name="adj" fmla="val 4761"/>
            </a:avLst>
          </a:prstGeom>
          <a:solidFill>
            <a:srgbClr val="000000">
              <a:alpha val="0"/>
            </a:srgbClr>
          </a:solidFill>
        </p:spPr>
      </p:sp>
      <p:sp>
        <p:nvSpPr>
          <p:cNvPr id="19" name="AutoShape 19"/>
          <p:cNvSpPr/>
          <p:nvPr/>
        </p:nvSpPr>
        <p:spPr>
          <a:xfrm>
            <a:off x="1625600" y="7581900"/>
            <a:ext cx="241300" cy="1066800"/>
          </a:xfrm>
          <a:prstGeom prst="roundRect">
            <a:avLst>
              <a:gd name="adj" fmla="val 26315"/>
            </a:avLst>
          </a:prstGeom>
          <a:solidFill>
            <a:srgbClr val="D1D1D1"/>
          </a:solidFill>
        </p:spPr>
      </p:sp>
      <p:sp>
        <p:nvSpPr>
          <p:cNvPr id="20" name="TextBox 20"/>
          <p:cNvSpPr txBox="1"/>
          <p:nvPr/>
        </p:nvSpPr>
        <p:spPr>
          <a:xfrm>
            <a:off x="876300" y="482600"/>
            <a:ext cx="14490700" cy="8509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Rapid SCADA Integration: Live Supervisory Telemetry Pipeline</a:t>
            </a:r>
            <a:endParaRPr lang="en-US" sz="1100"/>
          </a:p>
        </p:txBody>
      </p:sp>
      <p:sp>
        <p:nvSpPr>
          <p:cNvPr id="21" name="TextBox 21"/>
          <p:cNvSpPr txBox="1"/>
          <p:nvPr/>
        </p:nvSpPr>
        <p:spPr>
          <a:xfrm>
            <a:off x="1384300" y="1714500"/>
            <a:ext cx="13982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Rapid SCADA Webstation</a:t>
            </a:r>
            <a:endParaRPr lang="en-US" sz="1100"/>
          </a:p>
        </p:txBody>
      </p:sp>
      <p:sp>
        <p:nvSpPr>
          <p:cNvPr id="22" name="TextBox 22"/>
          <p:cNvSpPr txBox="1"/>
          <p:nvPr/>
        </p:nvSpPr>
        <p:spPr>
          <a:xfrm>
            <a:off x="1752600" y="3225800"/>
            <a:ext cx="13601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PowerShell Bridge</a:t>
            </a:r>
            <a:endParaRPr lang="en-US" sz="1100"/>
          </a:p>
        </p:txBody>
      </p:sp>
      <p:sp>
        <p:nvSpPr>
          <p:cNvPr id="23" name="TextBox 23"/>
          <p:cNvSpPr txBox="1"/>
          <p:nvPr/>
        </p:nvSpPr>
        <p:spPr>
          <a:xfrm>
            <a:off x="2133600" y="47371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Batched Ingest Design</a:t>
            </a:r>
            <a:endParaRPr lang="en-US" sz="1100"/>
          </a:p>
        </p:txBody>
      </p:sp>
      <p:sp>
        <p:nvSpPr>
          <p:cNvPr id="24" name="TextBox 24"/>
          <p:cNvSpPr txBox="1"/>
          <p:nvPr/>
        </p:nvSpPr>
        <p:spPr>
          <a:xfrm>
            <a:off x="2514600" y="6248400"/>
            <a:ext cx="128524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FastAPI Backend</a:t>
            </a:r>
            <a:endParaRPr lang="en-US" sz="1100"/>
          </a:p>
        </p:txBody>
      </p:sp>
      <p:sp>
        <p:nvSpPr>
          <p:cNvPr id="25" name="TextBox 25"/>
          <p:cNvSpPr txBox="1"/>
          <p:nvPr/>
        </p:nvSpPr>
        <p:spPr>
          <a:xfrm>
            <a:off x="2133600" y="77597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Calculated Telemetry</a:t>
            </a:r>
            <a:endParaRPr lang="en-US" sz="1100"/>
          </a:p>
        </p:txBody>
      </p:sp>
      <p:sp>
        <p:nvSpPr>
          <p:cNvPr id="26" name="TextBox 26"/>
          <p:cNvSpPr txBox="1"/>
          <p:nvPr/>
        </p:nvSpPr>
        <p:spPr>
          <a:xfrm>
            <a:off x="1384300" y="2159000"/>
            <a:ext cx="13982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Rapid SCADA Webstation at 127.0.0.1:10109 as supervisory telemetry layer</a:t>
            </a:r>
            <a:endParaRPr lang="en-US" sz="1100"/>
          </a:p>
        </p:txBody>
      </p:sp>
      <p:sp>
        <p:nvSpPr>
          <p:cNvPr id="27" name="TextBox 27"/>
          <p:cNvSpPr txBox="1"/>
          <p:nvPr/>
        </p:nvSpPr>
        <p:spPr>
          <a:xfrm>
            <a:off x="1752600" y="3670300"/>
            <a:ext cx="13601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PowerShell bridge retrieves channel data via authenticated Web API access</a:t>
            </a:r>
            <a:endParaRPr lang="en-US" sz="1100"/>
          </a:p>
        </p:txBody>
      </p:sp>
      <p:sp>
        <p:nvSpPr>
          <p:cNvPr id="28" name="TextBox 28"/>
          <p:cNvSpPr txBox="1"/>
          <p:nvPr/>
        </p:nvSpPr>
        <p:spPr>
          <a:xfrm>
            <a:off x="2133600" y="51816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Batched ingest design to avoid rate-limit instability from per-agent posting</a:t>
            </a:r>
            <a:endParaRPr lang="en-US" sz="1100"/>
          </a:p>
        </p:txBody>
      </p:sp>
      <p:sp>
        <p:nvSpPr>
          <p:cNvPr id="29" name="TextBox 29"/>
          <p:cNvSpPr txBox="1"/>
          <p:nvPr/>
        </p:nvSpPr>
        <p:spPr>
          <a:xfrm>
            <a:off x="2514600" y="6692900"/>
            <a:ext cx="128524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FastAPI backend processes SCADA data through anomaly and audit pipeline</a:t>
            </a:r>
            <a:endParaRPr lang="en-US" sz="1100"/>
          </a:p>
        </p:txBody>
      </p:sp>
      <p:sp>
        <p:nvSpPr>
          <p:cNvPr id="30" name="TextBox 30"/>
          <p:cNvSpPr txBox="1"/>
          <p:nvPr/>
        </p:nvSpPr>
        <p:spPr>
          <a:xfrm>
            <a:off x="2133600" y="82042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Current telemetry generated via calculated channels within SCADA (not physical field devices)</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00300"/>
            <a:ext cx="14490700" cy="4775200"/>
          </a:xfrm>
          <a:prstGeom prst="rect">
            <a:avLst/>
          </a:prstGeom>
          <a:solidFill>
            <a:srgbClr val="000000">
              <a:alpha val="0"/>
            </a:srgbClr>
          </a:solidFill>
        </p:spPr>
      </p:sp>
      <p:sp>
        <p:nvSpPr>
          <p:cNvPr id="5" name="AutoShape 5"/>
          <p:cNvSpPr/>
          <p:nvPr/>
        </p:nvSpPr>
        <p:spPr>
          <a:xfrm>
            <a:off x="876300" y="2400300"/>
            <a:ext cx="3429000" cy="4775200"/>
          </a:xfrm>
          <a:prstGeom prst="roundRect">
            <a:avLst>
              <a:gd name="adj" fmla="val 2592"/>
            </a:avLst>
          </a:prstGeom>
          <a:solidFill>
            <a:srgbClr val="D1D1D1">
              <a:alpha val="71765"/>
            </a:srgbClr>
          </a:solidFill>
        </p:spPr>
      </p:sp>
      <p:sp>
        <p:nvSpPr>
          <p:cNvPr id="6" name="AutoShape 6"/>
          <p:cNvSpPr/>
          <p:nvPr/>
        </p:nvSpPr>
        <p:spPr>
          <a:xfrm>
            <a:off x="1130300" y="2654300"/>
            <a:ext cx="749300" cy="749300"/>
          </a:xfrm>
          <a:prstGeom prst="roundRect">
            <a:avLst>
              <a:gd name="adj" fmla="val 49152"/>
            </a:avLst>
          </a:prstGeom>
          <a:solidFill>
            <a:srgbClr val="000000"/>
          </a:solidFill>
        </p:spPr>
      </p:sp>
      <p:sp>
        <p:nvSpPr>
          <p:cNvPr id="7" name="AutoShape 7"/>
          <p:cNvSpPr/>
          <p:nvPr/>
        </p:nvSpPr>
        <p:spPr>
          <a:xfrm>
            <a:off x="4559300" y="2400300"/>
            <a:ext cx="3429000" cy="4775200"/>
          </a:xfrm>
          <a:prstGeom prst="roundRect">
            <a:avLst>
              <a:gd name="adj" fmla="val 2592"/>
            </a:avLst>
          </a:prstGeom>
          <a:solidFill>
            <a:srgbClr val="D1D1D1">
              <a:alpha val="71765"/>
            </a:srgbClr>
          </a:solidFill>
        </p:spPr>
      </p:sp>
      <p:sp>
        <p:nvSpPr>
          <p:cNvPr id="8" name="AutoShape 8"/>
          <p:cNvSpPr/>
          <p:nvPr/>
        </p:nvSpPr>
        <p:spPr>
          <a:xfrm>
            <a:off x="4813300" y="2654300"/>
            <a:ext cx="749300" cy="749300"/>
          </a:xfrm>
          <a:prstGeom prst="roundRect">
            <a:avLst>
              <a:gd name="adj" fmla="val 49152"/>
            </a:avLst>
          </a:prstGeom>
          <a:solidFill>
            <a:srgbClr val="000000"/>
          </a:solidFill>
        </p:spPr>
      </p:sp>
      <p:sp>
        <p:nvSpPr>
          <p:cNvPr id="9" name="AutoShape 9"/>
          <p:cNvSpPr/>
          <p:nvPr/>
        </p:nvSpPr>
        <p:spPr>
          <a:xfrm>
            <a:off x="8242300" y="2400300"/>
            <a:ext cx="3429000" cy="4775200"/>
          </a:xfrm>
          <a:prstGeom prst="roundRect">
            <a:avLst>
              <a:gd name="adj" fmla="val 2592"/>
            </a:avLst>
          </a:prstGeom>
          <a:solidFill>
            <a:srgbClr val="D1D1D1">
              <a:alpha val="71765"/>
            </a:srgbClr>
          </a:solidFill>
        </p:spPr>
      </p:sp>
      <p:sp>
        <p:nvSpPr>
          <p:cNvPr id="10" name="AutoShape 10"/>
          <p:cNvSpPr/>
          <p:nvPr/>
        </p:nvSpPr>
        <p:spPr>
          <a:xfrm>
            <a:off x="8496300" y="2654300"/>
            <a:ext cx="749300" cy="749300"/>
          </a:xfrm>
          <a:prstGeom prst="roundRect">
            <a:avLst>
              <a:gd name="adj" fmla="val 49152"/>
            </a:avLst>
          </a:prstGeom>
          <a:solidFill>
            <a:srgbClr val="000000"/>
          </a:solidFill>
        </p:spPr>
      </p:sp>
      <p:sp>
        <p:nvSpPr>
          <p:cNvPr id="11" name="AutoShape 11"/>
          <p:cNvSpPr/>
          <p:nvPr/>
        </p:nvSpPr>
        <p:spPr>
          <a:xfrm>
            <a:off x="11938000" y="2400300"/>
            <a:ext cx="3429000" cy="4775200"/>
          </a:xfrm>
          <a:prstGeom prst="roundRect">
            <a:avLst>
              <a:gd name="adj" fmla="val 2592"/>
            </a:avLst>
          </a:prstGeom>
          <a:solidFill>
            <a:srgbClr val="D1D1D1">
              <a:alpha val="71765"/>
            </a:srgbClr>
          </a:solidFill>
        </p:spPr>
      </p:sp>
      <p:sp>
        <p:nvSpPr>
          <p:cNvPr id="12" name="AutoShape 12"/>
          <p:cNvSpPr/>
          <p:nvPr/>
        </p:nvSpPr>
        <p:spPr>
          <a:xfrm>
            <a:off x="12179300" y="2654300"/>
            <a:ext cx="749300" cy="749300"/>
          </a:xfrm>
          <a:prstGeom prst="roundRect">
            <a:avLst>
              <a:gd name="adj" fmla="val 49152"/>
            </a:avLst>
          </a:prstGeom>
          <a:solidFill>
            <a:srgbClr val="000000"/>
          </a:solidFill>
        </p:spPr>
      </p:sp>
      <p:sp>
        <p:nvSpPr>
          <p:cNvPr id="13" name="TextBox 13"/>
          <p:cNvSpPr txBox="1"/>
          <p:nvPr/>
        </p:nvSpPr>
        <p:spPr>
          <a:xfrm>
            <a:off x="876300" y="901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100-Agent SCADA Grid: Fixed Asset Topology for Live Monitoring</a:t>
            </a:r>
            <a:endParaRPr lang="en-US" sz="1100"/>
          </a:p>
        </p:txBody>
      </p:sp>
      <p:sp>
        <p:nvSpPr>
          <p:cNvPr id="14" name="TextBox 14"/>
          <p:cNvSpPr txBox="1"/>
          <p:nvPr/>
        </p:nvSpPr>
        <p:spPr>
          <a:xfrm>
            <a:off x="1130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Generators</a:t>
            </a:r>
            <a:endParaRPr lang="en-US" sz="1100"/>
          </a:p>
        </p:txBody>
      </p:sp>
      <p:sp>
        <p:nvSpPr>
          <p:cNvPr id="15" name="TextBox 15"/>
          <p:cNvSpPr txBox="1"/>
          <p:nvPr/>
        </p:nvSpPr>
        <p:spPr>
          <a:xfrm>
            <a:off x="4813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Substations</a:t>
            </a:r>
            <a:endParaRPr lang="en-US" sz="1100"/>
          </a:p>
        </p:txBody>
      </p:sp>
      <p:sp>
        <p:nvSpPr>
          <p:cNvPr id="16" name="TextBox 16"/>
          <p:cNvSpPr txBox="1"/>
          <p:nvPr/>
        </p:nvSpPr>
        <p:spPr>
          <a:xfrm>
            <a:off x="8496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PMUs</a:t>
            </a:r>
            <a:endParaRPr lang="en-US" sz="1100"/>
          </a:p>
        </p:txBody>
      </p:sp>
      <p:sp>
        <p:nvSpPr>
          <p:cNvPr id="17" name="TextBox 17"/>
          <p:cNvSpPr txBox="1"/>
          <p:nvPr/>
        </p:nvSpPr>
        <p:spPr>
          <a:xfrm>
            <a:off x="12179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Breakers</a:t>
            </a:r>
            <a:endParaRPr lang="en-US" sz="1100"/>
          </a:p>
        </p:txBody>
      </p:sp>
      <p:sp>
        <p:nvSpPr>
          <p:cNvPr id="18" name="TextBox 18"/>
          <p:cNvSpPr txBox="1"/>
          <p:nvPr/>
        </p:nvSpPr>
        <p:spPr>
          <a:xfrm>
            <a:off x="1130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GEN-01 to GEN-20 — Twenty distributed generation units forming the primary power sources in the topology.</a:t>
            </a:r>
            <a:endParaRPr lang="en-US" sz="1100"/>
          </a:p>
        </p:txBody>
      </p:sp>
      <p:sp>
        <p:nvSpPr>
          <p:cNvPr id="19" name="TextBox 19"/>
          <p:cNvSpPr txBox="1"/>
          <p:nvPr/>
        </p:nvSpPr>
        <p:spPr>
          <a:xfrm>
            <a:off x="4813300" y="4292600"/>
            <a:ext cx="29210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SUB-21 to SUB-50 — Thirty substations handling stepping, routing, and protection across the grid.</a:t>
            </a:r>
            <a:endParaRPr lang="en-US" sz="1100"/>
          </a:p>
        </p:txBody>
      </p:sp>
      <p:sp>
        <p:nvSpPr>
          <p:cNvPr id="20" name="TextBox 20"/>
          <p:cNvSpPr txBox="1"/>
          <p:nvPr/>
        </p:nvSpPr>
        <p:spPr>
          <a:xfrm>
            <a:off x="8496300" y="4292600"/>
            <a:ext cx="29210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PMU-51 to PMU-75 — Twenty-five phasor measurement units providing synchronized measurement points for state estimation.</a:t>
            </a:r>
            <a:endParaRPr lang="en-US" sz="1100"/>
          </a:p>
        </p:txBody>
      </p:sp>
      <p:sp>
        <p:nvSpPr>
          <p:cNvPr id="21" name="TextBox 21"/>
          <p:cNvSpPr txBox="1"/>
          <p:nvPr/>
        </p:nvSpPr>
        <p:spPr>
          <a:xfrm>
            <a:off x="12179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BRK-76 to BRK-100 — Twenty-five breakers managing sectionalization and fault isolation within the grid.</a:t>
            </a:r>
            <a:endParaRPr lang="en-US" sz="1100"/>
          </a:p>
        </p:txBody>
      </p:sp>
      <p:sp>
        <p:nvSpPr>
          <p:cNvPr id="22" name="TextBox 22"/>
          <p:cNvSpPr txBox="1"/>
          <p:nvPr/>
        </p:nvSpPr>
        <p:spPr>
          <a:xfrm>
            <a:off x="876300" y="74676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Implementation note: Implemented as a 300-channel Rapid SCADA model using calculated channels to aggregate and compute derived states for live monitoring and control.</a:t>
            </a:r>
            <a:endParaRPr lang="en-US" sz="1100"/>
          </a:p>
        </p:txBody>
      </p:sp>
      <p:pic>
        <p:nvPicPr>
          <p:cNvPr id="23" name="Picture 23"/>
          <p:cNvPicPr>
            <a:picLocks noChangeAspect="1"/>
          </p:cNvPicPr>
          <p:nvPr/>
        </p:nvPicPr>
        <p:blipFill>
          <a:blip r:embed="rId3"/>
          <a:stretch>
            <a:fillRect/>
          </a:stretch>
        </p:blipFill>
        <p:spPr>
          <a:xfrm>
            <a:off x="1397000" y="2921000"/>
            <a:ext cx="215900" cy="215900"/>
          </a:xfrm>
          <a:prstGeom prst="rect">
            <a:avLst/>
          </a:prstGeom>
        </p:spPr>
      </p:pic>
      <p:pic>
        <p:nvPicPr>
          <p:cNvPr id="24" name="Picture 24"/>
          <p:cNvPicPr>
            <a:picLocks noChangeAspect="1"/>
          </p:cNvPicPr>
          <p:nvPr/>
        </p:nvPicPr>
        <p:blipFill>
          <a:blip r:embed="rId4"/>
          <a:stretch>
            <a:fillRect/>
          </a:stretch>
        </p:blipFill>
        <p:spPr>
          <a:xfrm>
            <a:off x="5067300" y="2908300"/>
            <a:ext cx="241300" cy="241300"/>
          </a:xfrm>
          <a:prstGeom prst="rect">
            <a:avLst/>
          </a:prstGeom>
        </p:spPr>
      </p:pic>
      <p:pic>
        <p:nvPicPr>
          <p:cNvPr id="25" name="Picture 25"/>
          <p:cNvPicPr>
            <a:picLocks noChangeAspect="1"/>
          </p:cNvPicPr>
          <p:nvPr/>
        </p:nvPicPr>
        <p:blipFill>
          <a:blip r:embed="rId5"/>
          <a:stretch>
            <a:fillRect/>
          </a:stretch>
        </p:blipFill>
        <p:spPr>
          <a:xfrm>
            <a:off x="8750300" y="2908300"/>
            <a:ext cx="241300" cy="241300"/>
          </a:xfrm>
          <a:prstGeom prst="rect">
            <a:avLst/>
          </a:prstGeom>
        </p:spPr>
      </p:pic>
      <p:pic>
        <p:nvPicPr>
          <p:cNvPr id="26" name="Picture 26"/>
          <p:cNvPicPr>
            <a:picLocks noChangeAspect="1"/>
          </p:cNvPicPr>
          <p:nvPr/>
        </p:nvPicPr>
        <p:blipFill>
          <a:blip r:embed="rId6"/>
          <a:stretch>
            <a:fillRect/>
          </a:stretch>
        </p:blipFill>
        <p:spPr>
          <a:xfrm>
            <a:off x="12433300" y="2908300"/>
            <a:ext cx="241300" cy="241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409700"/>
            <a:ext cx="14490700" cy="7112000"/>
          </a:xfrm>
          <a:prstGeom prst="rect">
            <a:avLst/>
          </a:prstGeom>
          <a:solidFill>
            <a:srgbClr val="000000">
              <a:alpha val="0"/>
            </a:srgbClr>
          </a:solidFill>
        </p:spPr>
      </p:sp>
      <p:sp>
        <p:nvSpPr>
          <p:cNvPr id="5" name="AutoShape 5"/>
          <p:cNvSpPr/>
          <p:nvPr/>
        </p:nvSpPr>
        <p:spPr>
          <a:xfrm>
            <a:off x="876300" y="1409700"/>
            <a:ext cx="3429000" cy="5194300"/>
          </a:xfrm>
          <a:prstGeom prst="roundRect">
            <a:avLst>
              <a:gd name="adj" fmla="val 2222"/>
            </a:avLst>
          </a:prstGeom>
          <a:solidFill>
            <a:srgbClr val="D1D1D1">
              <a:alpha val="71765"/>
            </a:srgbClr>
          </a:solidFill>
        </p:spPr>
      </p:sp>
      <p:sp>
        <p:nvSpPr>
          <p:cNvPr id="6" name="AutoShape 6"/>
          <p:cNvSpPr/>
          <p:nvPr/>
        </p:nvSpPr>
        <p:spPr>
          <a:xfrm>
            <a:off x="4559300" y="1409700"/>
            <a:ext cx="3429000" cy="5194300"/>
          </a:xfrm>
          <a:prstGeom prst="roundRect">
            <a:avLst>
              <a:gd name="adj" fmla="val 2222"/>
            </a:avLst>
          </a:prstGeom>
          <a:solidFill>
            <a:srgbClr val="D1D1D1">
              <a:alpha val="71765"/>
            </a:srgbClr>
          </a:solidFill>
        </p:spPr>
      </p:sp>
      <p:sp>
        <p:nvSpPr>
          <p:cNvPr id="7" name="AutoShape 7"/>
          <p:cNvSpPr/>
          <p:nvPr/>
        </p:nvSpPr>
        <p:spPr>
          <a:xfrm>
            <a:off x="8242300" y="1409700"/>
            <a:ext cx="3429000" cy="5194300"/>
          </a:xfrm>
          <a:prstGeom prst="roundRect">
            <a:avLst>
              <a:gd name="adj" fmla="val 2222"/>
            </a:avLst>
          </a:prstGeom>
          <a:solidFill>
            <a:srgbClr val="D1D1D1">
              <a:alpha val="71765"/>
            </a:srgbClr>
          </a:solidFill>
        </p:spPr>
      </p:sp>
      <p:sp>
        <p:nvSpPr>
          <p:cNvPr id="8" name="AutoShape 8"/>
          <p:cNvSpPr/>
          <p:nvPr/>
        </p:nvSpPr>
        <p:spPr>
          <a:xfrm>
            <a:off x="11938000" y="1409700"/>
            <a:ext cx="3429000" cy="5194300"/>
          </a:xfrm>
          <a:prstGeom prst="roundRect">
            <a:avLst>
              <a:gd name="adj" fmla="val 2222"/>
            </a:avLst>
          </a:prstGeom>
          <a:solidFill>
            <a:srgbClr val="D1D1D1">
              <a:alpha val="71765"/>
            </a:srgbClr>
          </a:solidFill>
        </p:spPr>
      </p:sp>
      <p:sp>
        <p:nvSpPr>
          <p:cNvPr id="9" name="AutoShape 9"/>
          <p:cNvSpPr/>
          <p:nvPr/>
        </p:nvSpPr>
        <p:spPr>
          <a:xfrm>
            <a:off x="876300" y="6832600"/>
            <a:ext cx="14490700" cy="1676400"/>
          </a:xfrm>
          <a:prstGeom prst="roundRect">
            <a:avLst>
              <a:gd name="adj" fmla="val 4545"/>
            </a:avLst>
          </a:prstGeom>
          <a:solidFill>
            <a:srgbClr val="D1D1D1">
              <a:alpha val="71765"/>
            </a:srgbClr>
          </a:solidFill>
        </p:spPr>
      </p:sp>
      <p:sp>
        <p:nvSpPr>
          <p:cNvPr id="10" name="TextBox 10"/>
          <p:cNvSpPr txBox="1"/>
          <p:nvPr/>
        </p:nvSpPr>
        <p:spPr>
          <a:xfrm>
            <a:off x="876300" y="609600"/>
            <a:ext cx="14490700" cy="5334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Algorithm Overview: Deviation-Based Explainable Scoring</a:t>
            </a:r>
            <a:endParaRPr lang="en-US" sz="1100"/>
          </a:p>
        </p:txBody>
      </p:sp>
      <p:sp>
        <p:nvSpPr>
          <p:cNvPr id="11" name="TextBox 11"/>
          <p:cNvSpPr txBox="1"/>
          <p:nvPr/>
        </p:nvSpPr>
        <p:spPr>
          <a:xfrm>
            <a:off x="1130300" y="1625600"/>
            <a:ext cx="2921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Anomaly score</a:t>
            </a:r>
            <a:endParaRPr lang="en-US" sz="1100"/>
          </a:p>
        </p:txBody>
      </p:sp>
      <p:sp>
        <p:nvSpPr>
          <p:cNvPr id="12" name="TextBox 12"/>
          <p:cNvSpPr txBox="1"/>
          <p:nvPr/>
        </p:nvSpPr>
        <p:spPr>
          <a:xfrm>
            <a:off x="4813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Criticality weight wi</a:t>
            </a:r>
            <a:endParaRPr lang="en-US" sz="1100"/>
          </a:p>
        </p:txBody>
      </p:sp>
      <p:sp>
        <p:nvSpPr>
          <p:cNvPr id="13" name="TextBox 13"/>
          <p:cNvSpPr txBox="1"/>
          <p:nvPr/>
        </p:nvSpPr>
        <p:spPr>
          <a:xfrm>
            <a:off x="8496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Risk assessment</a:t>
            </a:r>
            <a:endParaRPr lang="en-US" sz="1100"/>
          </a:p>
        </p:txBody>
      </p:sp>
      <p:sp>
        <p:nvSpPr>
          <p:cNvPr id="14" name="TextBox 14"/>
          <p:cNvSpPr txBox="1"/>
          <p:nvPr/>
        </p:nvSpPr>
        <p:spPr>
          <a:xfrm>
            <a:off x="12179300" y="16256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Threshold-based audit policy</a:t>
            </a:r>
            <a:endParaRPr lang="en-US" sz="1100"/>
          </a:p>
        </p:txBody>
      </p:sp>
      <p:sp>
        <p:nvSpPr>
          <p:cNvPr id="15" name="TextBox 15"/>
          <p:cNvSpPr txBox="1"/>
          <p:nvPr/>
        </p:nvSpPr>
        <p:spPr>
          <a:xfrm>
            <a:off x="1130300" y="70612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focus</a:t>
            </a:r>
            <a:endParaRPr lang="en-US" sz="1100"/>
          </a:p>
        </p:txBody>
      </p:sp>
      <p:sp>
        <p:nvSpPr>
          <p:cNvPr id="16" name="TextBox 16"/>
          <p:cNvSpPr txBox="1"/>
          <p:nvPr/>
        </p:nvSpPr>
        <p:spPr>
          <a:xfrm>
            <a:off x="1130300" y="21971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anomaly score is defined as Si(t) = wi(dx + dy), where dx denotes the physical deviation and dy denotes the cyber deviation, combining both domains into a single interpretable metric for each asset over time.</a:t>
            </a:r>
            <a:endParaRPr lang="en-US" sz="1100"/>
          </a:p>
        </p:txBody>
      </p:sp>
      <p:sp>
        <p:nvSpPr>
          <p:cNvPr id="17" name="TextBox 17"/>
          <p:cNvSpPr txBox="1"/>
          <p:nvPr/>
        </p:nvSpPr>
        <p:spPr>
          <a:xfrm>
            <a:off x="4813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wi represents the criticality weight assigned to each asset class; it scales the combined deviation to reflect the operational importance and potential impact of anomalies for different asset types.</a:t>
            </a:r>
            <a:endParaRPr lang="en-US" sz="1100"/>
          </a:p>
        </p:txBody>
      </p:sp>
      <p:sp>
        <p:nvSpPr>
          <p:cNvPr id="18" name="TextBox 18"/>
          <p:cNvSpPr txBox="1"/>
          <p:nvPr/>
        </p:nvSpPr>
        <p:spPr>
          <a:xfrm>
            <a:off x="8496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Risk is assessed by evaluating the deviation magnitude together with operational importance, enabling prioritization of responses based on both observed deviation severity and asset criticality.</a:t>
            </a:r>
            <a:endParaRPr lang="en-US" sz="1100"/>
          </a:p>
        </p:txBody>
      </p:sp>
      <p:sp>
        <p:nvSpPr>
          <p:cNvPr id="19" name="TextBox 19"/>
          <p:cNvSpPr txBox="1"/>
          <p:nvPr/>
        </p:nvSpPr>
        <p:spPr>
          <a:xfrm>
            <a:off x="12179300" y="3009900"/>
            <a:ext cx="2921000" cy="3365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 threshold-based audit policy is applied: if the computed score exceeds a predefined threshold, the system escalates for investigation and response; otherwise routine monitoring is maintained.</a:t>
            </a:r>
            <a:endParaRPr lang="en-US" sz="1100"/>
          </a:p>
        </p:txBody>
      </p:sp>
      <p:sp>
        <p:nvSpPr>
          <p:cNvPr id="20" name="TextBox 20"/>
          <p:cNvSpPr txBox="1"/>
          <p:nvPr/>
        </p:nvSpPr>
        <p:spPr>
          <a:xfrm>
            <a:off x="1130300" y="7620000"/>
            <a:ext cx="13982700" cy="6731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design prioritizes deliberate explainability rather than opaque black-box outputs, ensuring that operators can understand score contributors and maintain operational stability through transparent reasoning.</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a:extLst>
              <a:ext uri="{FF2B5EF4-FFF2-40B4-BE49-F238E27FC236}">
                <a16:creationId xmlns:a16="http://schemas.microsoft.com/office/drawing/2014/main" id="{D3D81ECC-9D7E-2BE2-D163-83CABC8594EC}"/>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7" name="AutoShape 2">
            <a:extLst>
              <a:ext uri="{FF2B5EF4-FFF2-40B4-BE49-F238E27FC236}">
                <a16:creationId xmlns:a16="http://schemas.microsoft.com/office/drawing/2014/main" id="{8F1F2C34-E1E6-BA32-8689-3CBFABD3C1C9}"/>
              </a:ext>
            </a:extLst>
          </p:cNvPr>
          <p:cNvSpPr/>
          <p:nvPr/>
        </p:nvSpPr>
        <p:spPr>
          <a:xfrm>
            <a:off x="0" y="0"/>
            <a:ext cx="16256000" cy="9144000"/>
          </a:xfrm>
          <a:prstGeom prst="rect">
            <a:avLst/>
          </a:prstGeom>
          <a:solidFill>
            <a:srgbClr val="0D0A2C">
              <a:alpha val="74902"/>
            </a:srgbClr>
          </a:solidFill>
        </p:spPr>
      </p:sp>
      <p:pic>
        <p:nvPicPr>
          <p:cNvPr id="8" name="Picture 3">
            <a:extLst>
              <a:ext uri="{FF2B5EF4-FFF2-40B4-BE49-F238E27FC236}">
                <a16:creationId xmlns:a16="http://schemas.microsoft.com/office/drawing/2014/main" id="{4E46B1EE-FACD-2F36-70CE-86C916B9C473}"/>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9" name="TextBox 4">
            <a:extLst>
              <a:ext uri="{FF2B5EF4-FFF2-40B4-BE49-F238E27FC236}">
                <a16:creationId xmlns:a16="http://schemas.microsoft.com/office/drawing/2014/main" id="{EEDBACE1-3AAD-84C9-8EE4-C1948E05504D}"/>
              </a:ext>
            </a:extLst>
          </p:cNvPr>
          <p:cNvSpPr txBox="1"/>
          <p:nvPr/>
        </p:nvSpPr>
        <p:spPr>
          <a:xfrm>
            <a:off x="876300" y="381000"/>
            <a:ext cx="14490700" cy="673100"/>
          </a:xfrm>
          <a:prstGeom prst="rect">
            <a:avLst/>
          </a:prstGeom>
          <a:solidFill>
            <a:srgbClr val="000000">
              <a:alpha val="0"/>
            </a:srgbClr>
          </a:solidFill>
        </p:spPr>
        <p:txBody>
          <a:bodyPr lIns="0" tIns="0" rIns="0" bIns="0" rtlCol="0" anchor="ctr"/>
          <a:lstStyle/>
          <a:p>
            <a:pPr indent="0" algn="l">
              <a:defRPr/>
            </a:pPr>
            <a:r>
              <a:rPr lang="en-US" sz="2800" b="1" dirty="0">
                <a:solidFill>
                  <a:srgbClr val="000000"/>
                </a:solidFill>
                <a:latin typeface="Ubuntu"/>
              </a:rPr>
              <a:t>Algorithm Flow: Experiment Module vs Rapid SCADA Live Module</a:t>
            </a:r>
            <a:endParaRPr lang="en-US" sz="1400" dirty="0"/>
          </a:p>
        </p:txBody>
      </p:sp>
      <p:sp>
        <p:nvSpPr>
          <p:cNvPr id="10" name="TextBox 5">
            <a:extLst>
              <a:ext uri="{FF2B5EF4-FFF2-40B4-BE49-F238E27FC236}">
                <a16:creationId xmlns:a16="http://schemas.microsoft.com/office/drawing/2014/main" id="{B84A25B5-E8BF-C821-E198-3495F12A6002}"/>
              </a:ext>
            </a:extLst>
          </p:cNvPr>
          <p:cNvSpPr txBox="1"/>
          <p:nvPr/>
        </p:nvSpPr>
        <p:spPr>
          <a:xfrm>
            <a:off x="876300" y="1409700"/>
            <a:ext cx="6921500" cy="254000"/>
          </a:xfrm>
          <a:prstGeom prst="rect">
            <a:avLst/>
          </a:prstGeom>
          <a:solidFill>
            <a:srgbClr val="000000">
              <a:alpha val="0"/>
            </a:srgbClr>
          </a:solidFill>
        </p:spPr>
        <p:txBody>
          <a:bodyPr lIns="0" tIns="0" rIns="0" bIns="0" rtlCol="0" anchor="ctr"/>
          <a:lstStyle/>
          <a:p>
            <a:pPr indent="0" algn="l">
              <a:defRPr/>
            </a:pPr>
            <a:r>
              <a:rPr lang="en-US" sz="2000" b="1" dirty="0">
                <a:solidFill>
                  <a:srgbClr val="000000"/>
                </a:solidFill>
                <a:latin typeface="Ubuntu"/>
              </a:rPr>
              <a:t>Live SCADA Algorithm Flow</a:t>
            </a:r>
            <a:endParaRPr lang="en-US" sz="1400" dirty="0"/>
          </a:p>
        </p:txBody>
      </p:sp>
      <p:sp>
        <p:nvSpPr>
          <p:cNvPr id="11" name="TextBox 6">
            <a:extLst>
              <a:ext uri="{FF2B5EF4-FFF2-40B4-BE49-F238E27FC236}">
                <a16:creationId xmlns:a16="http://schemas.microsoft.com/office/drawing/2014/main" id="{FA60187C-CE4C-9F7D-1B78-FE6F9C1918D5}"/>
              </a:ext>
            </a:extLst>
          </p:cNvPr>
          <p:cNvSpPr txBox="1"/>
          <p:nvPr/>
        </p:nvSpPr>
        <p:spPr>
          <a:xfrm>
            <a:off x="8432800" y="1409700"/>
            <a:ext cx="69215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Experiment Module Algorithm Flow</a:t>
            </a:r>
            <a:endParaRPr lang="en-US" sz="1400"/>
          </a:p>
        </p:txBody>
      </p:sp>
      <p:sp>
        <p:nvSpPr>
          <p:cNvPr id="12" name="TextBox 7">
            <a:extLst>
              <a:ext uri="{FF2B5EF4-FFF2-40B4-BE49-F238E27FC236}">
                <a16:creationId xmlns:a16="http://schemas.microsoft.com/office/drawing/2014/main" id="{8F137A00-A40F-8083-E870-25E054E08A7D}"/>
              </a:ext>
            </a:extLst>
          </p:cNvPr>
          <p:cNvSpPr txBox="1"/>
          <p:nvPr/>
        </p:nvSpPr>
        <p:spPr>
          <a:xfrm>
            <a:off x="876300" y="7683500"/>
            <a:ext cx="144907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Simple Difference</a:t>
            </a:r>
            <a:endParaRPr lang="en-US" sz="1400"/>
          </a:p>
        </p:txBody>
      </p:sp>
      <p:sp>
        <p:nvSpPr>
          <p:cNvPr id="13" name="TextBox 8">
            <a:extLst>
              <a:ext uri="{FF2B5EF4-FFF2-40B4-BE49-F238E27FC236}">
                <a16:creationId xmlns:a16="http://schemas.microsoft.com/office/drawing/2014/main" id="{A7716775-92E4-2744-28D1-3A640B9ED9DA}"/>
              </a:ext>
            </a:extLst>
          </p:cNvPr>
          <p:cNvSpPr txBox="1"/>
          <p:nvPr/>
        </p:nvSpPr>
        <p:spPr>
          <a:xfrm>
            <a:off x="1130300" y="1828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Rapid SCADA generates current values for the 100-agent grid through calculated channels.</a:t>
            </a:r>
            <a:endParaRPr lang="en-US" sz="1400"/>
          </a:p>
        </p:txBody>
      </p:sp>
      <p:sp>
        <p:nvSpPr>
          <p:cNvPr id="14" name="TextBox 9">
            <a:extLst>
              <a:ext uri="{FF2B5EF4-FFF2-40B4-BE49-F238E27FC236}">
                <a16:creationId xmlns:a16="http://schemas.microsoft.com/office/drawing/2014/main" id="{408B994B-AAFB-252D-B9C4-FDF4CC60D6F9}"/>
              </a:ext>
            </a:extLst>
          </p:cNvPr>
          <p:cNvSpPr txBox="1"/>
          <p:nvPr/>
        </p:nvSpPr>
        <p:spPr>
          <a:xfrm>
            <a:off x="1130300" y="2374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PowerShell bridge reads those live values from the Rapid SCADA Web API.</a:t>
            </a:r>
            <a:endParaRPr lang="en-US" sz="1400"/>
          </a:p>
        </p:txBody>
      </p:sp>
      <p:sp>
        <p:nvSpPr>
          <p:cNvPr id="15" name="TextBox 10">
            <a:extLst>
              <a:ext uri="{FF2B5EF4-FFF2-40B4-BE49-F238E27FC236}">
                <a16:creationId xmlns:a16="http://schemas.microsoft.com/office/drawing/2014/main" id="{1F85AEBA-2350-D523-5BA9-B60C6ADF62A9}"/>
              </a:ext>
            </a:extLst>
          </p:cNvPr>
          <p:cNvSpPr txBox="1"/>
          <p:nvPr/>
        </p:nvSpPr>
        <p:spPr>
          <a:xfrm>
            <a:off x="1130300" y="29210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backend converts the raw SCADA tags into agent-wise physical and cyber feature vectors.</a:t>
            </a:r>
            <a:endParaRPr lang="en-US" sz="1400"/>
          </a:p>
        </p:txBody>
      </p:sp>
      <p:sp>
        <p:nvSpPr>
          <p:cNvPr id="16" name="TextBox 11">
            <a:extLst>
              <a:ext uri="{FF2B5EF4-FFF2-40B4-BE49-F238E27FC236}">
                <a16:creationId xmlns:a16="http://schemas.microsoft.com/office/drawing/2014/main" id="{D8B19A2D-19F9-AE2A-2A8E-7E074D743AB1}"/>
              </a:ext>
            </a:extLst>
          </p:cNvPr>
          <p:cNvSpPr txBox="1"/>
          <p:nvPr/>
        </p:nvSpPr>
        <p:spPr>
          <a:xfrm>
            <a:off x="1130300" y="3454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Each feature is compared against its expected normal baseline and threshold.</a:t>
            </a:r>
            <a:endParaRPr lang="en-US" sz="1400"/>
          </a:p>
        </p:txBody>
      </p:sp>
      <p:sp>
        <p:nvSpPr>
          <p:cNvPr id="17" name="TextBox 12">
            <a:extLst>
              <a:ext uri="{FF2B5EF4-FFF2-40B4-BE49-F238E27FC236}">
                <a16:creationId xmlns:a16="http://schemas.microsoft.com/office/drawing/2014/main" id="{ACB8266E-8200-6CD3-7ED2-E1EC29044574}"/>
              </a:ext>
            </a:extLst>
          </p:cNvPr>
          <p:cNvSpPr txBox="1"/>
          <p:nvPr/>
        </p:nvSpPr>
        <p:spPr>
          <a:xfrm>
            <a:off x="1130300" y="4000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Physical deviation and cyber deviation are computed.</a:t>
            </a:r>
            <a:endParaRPr lang="en-US" sz="1400"/>
          </a:p>
        </p:txBody>
      </p:sp>
      <p:sp>
        <p:nvSpPr>
          <p:cNvPr id="18" name="TextBox 13">
            <a:extLst>
              <a:ext uri="{FF2B5EF4-FFF2-40B4-BE49-F238E27FC236}">
                <a16:creationId xmlns:a16="http://schemas.microsoft.com/office/drawing/2014/main" id="{2F903779-FCDB-9863-6067-FBBCDD2990D6}"/>
              </a:ext>
            </a:extLst>
          </p:cNvPr>
          <p:cNvSpPr txBox="1"/>
          <p:nvPr/>
        </p:nvSpPr>
        <p:spPr>
          <a:xfrm>
            <a:off x="1130300" y="45466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 final anomaly score is calculated using the criticality-weighted deviation formula.</a:t>
            </a:r>
            <a:endParaRPr lang="en-US" sz="1400"/>
          </a:p>
        </p:txBody>
      </p:sp>
      <p:sp>
        <p:nvSpPr>
          <p:cNvPr id="19" name="TextBox 14">
            <a:extLst>
              <a:ext uri="{FF2B5EF4-FFF2-40B4-BE49-F238E27FC236}">
                <a16:creationId xmlns:a16="http://schemas.microsoft.com/office/drawing/2014/main" id="{6455EEC8-65DA-12C0-EE57-10D8FA8AB397}"/>
              </a:ext>
            </a:extLst>
          </p:cNvPr>
          <p:cNvSpPr txBox="1"/>
          <p:nvPr/>
        </p:nvSpPr>
        <p:spPr>
          <a:xfrm>
            <a:off x="1130300" y="50800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score is compared against the audit threshold.</a:t>
            </a:r>
            <a:endParaRPr lang="en-US" sz="1400"/>
          </a:p>
        </p:txBody>
      </p:sp>
      <p:sp>
        <p:nvSpPr>
          <p:cNvPr id="20" name="TextBox 15">
            <a:extLst>
              <a:ext uri="{FF2B5EF4-FFF2-40B4-BE49-F238E27FC236}">
                <a16:creationId xmlns:a16="http://schemas.microsoft.com/office/drawing/2014/main" id="{71076035-C9B7-B5C2-7A6D-A47209C4FBD6}"/>
              </a:ext>
            </a:extLst>
          </p:cNvPr>
          <p:cNvSpPr txBox="1"/>
          <p:nvPr/>
        </p:nvSpPr>
        <p:spPr>
          <a:xfrm>
            <a:off x="1130300" y="5410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assigns an audit action such as MAINTAIN_AUDIT or INCREASE_AUDIT.</a:t>
            </a:r>
            <a:endParaRPr lang="en-US" sz="1400"/>
          </a:p>
        </p:txBody>
      </p:sp>
      <p:sp>
        <p:nvSpPr>
          <p:cNvPr id="21" name="TextBox 16">
            <a:extLst>
              <a:ext uri="{FF2B5EF4-FFF2-40B4-BE49-F238E27FC236}">
                <a16:creationId xmlns:a16="http://schemas.microsoft.com/office/drawing/2014/main" id="{60A54878-57D8-C7AD-21B0-8E4BFAE835C8}"/>
              </a:ext>
            </a:extLst>
          </p:cNvPr>
          <p:cNvSpPr txBox="1"/>
          <p:nvPr/>
        </p:nvSpPr>
        <p:spPr>
          <a:xfrm>
            <a:off x="1130300" y="5956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Feature contribution values are computed for explainability.</a:t>
            </a:r>
            <a:endParaRPr lang="en-US" sz="1400"/>
          </a:p>
        </p:txBody>
      </p:sp>
      <p:sp>
        <p:nvSpPr>
          <p:cNvPr id="22" name="TextBox 17">
            <a:extLst>
              <a:ext uri="{FF2B5EF4-FFF2-40B4-BE49-F238E27FC236}">
                <a16:creationId xmlns:a16="http://schemas.microsoft.com/office/drawing/2014/main" id="{67D8411A-9401-F3FC-E200-F954172868E4}"/>
              </a:ext>
            </a:extLst>
          </p:cNvPr>
          <p:cNvSpPr txBox="1"/>
          <p:nvPr/>
        </p:nvSpPr>
        <p:spPr>
          <a:xfrm>
            <a:off x="1130300" y="64897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dashboard displays live anomaly score, risk score, audit state, and explanation.</a:t>
            </a:r>
            <a:endParaRPr lang="en-US" sz="1400"/>
          </a:p>
        </p:txBody>
      </p:sp>
      <p:sp>
        <p:nvSpPr>
          <p:cNvPr id="23" name="TextBox 18">
            <a:extLst>
              <a:ext uri="{FF2B5EF4-FFF2-40B4-BE49-F238E27FC236}">
                <a16:creationId xmlns:a16="http://schemas.microsoft.com/office/drawing/2014/main" id="{F5AE8F34-4C1A-132F-0746-5181EBFD5318}"/>
              </a:ext>
            </a:extLst>
          </p:cNvPr>
          <p:cNvSpPr txBox="1"/>
          <p:nvPr/>
        </p:nvSpPr>
        <p:spPr>
          <a:xfrm>
            <a:off x="8686800" y="18288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creates simulated smart-grid agents for the chosen configuration such as N=100, N=200, or N=500.</a:t>
            </a:r>
            <a:endParaRPr lang="en-US" sz="1400"/>
          </a:p>
        </p:txBody>
      </p:sp>
      <p:sp>
        <p:nvSpPr>
          <p:cNvPr id="24" name="TextBox 19">
            <a:extLst>
              <a:ext uri="{FF2B5EF4-FFF2-40B4-BE49-F238E27FC236}">
                <a16:creationId xmlns:a16="http://schemas.microsoft.com/office/drawing/2014/main" id="{C3C94097-5D57-B3A8-55A2-078698045F73}"/>
              </a:ext>
            </a:extLst>
          </p:cNvPr>
          <p:cNvSpPr txBox="1"/>
          <p:nvPr/>
        </p:nvSpPr>
        <p:spPr>
          <a:xfrm>
            <a:off x="8686800" y="2590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Synthetic cyber attacks, faults, and scenario variations are injected into the simulation.</a:t>
            </a:r>
            <a:endParaRPr lang="en-US" sz="1400"/>
          </a:p>
        </p:txBody>
      </p:sp>
      <p:sp>
        <p:nvSpPr>
          <p:cNvPr id="25" name="TextBox 20">
            <a:extLst>
              <a:ext uri="{FF2B5EF4-FFF2-40B4-BE49-F238E27FC236}">
                <a16:creationId xmlns:a16="http://schemas.microsoft.com/office/drawing/2014/main" id="{78E63F26-CF70-2991-25B3-526814A31491}"/>
              </a:ext>
            </a:extLst>
          </p:cNvPr>
          <p:cNvSpPr txBox="1"/>
          <p:nvPr/>
        </p:nvSpPr>
        <p:spPr>
          <a:xfrm>
            <a:off x="8686800" y="3124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Agent-wise physical and cyber states are generated at each simulation step.</a:t>
            </a:r>
            <a:endParaRPr lang="en-US" sz="1400"/>
          </a:p>
        </p:txBody>
      </p:sp>
      <p:sp>
        <p:nvSpPr>
          <p:cNvPr id="26" name="TextBox 21">
            <a:extLst>
              <a:ext uri="{FF2B5EF4-FFF2-40B4-BE49-F238E27FC236}">
                <a16:creationId xmlns:a16="http://schemas.microsoft.com/office/drawing/2014/main" id="{7DF25E22-674A-4204-87D5-1BA0F62EF094}"/>
              </a:ext>
            </a:extLst>
          </p:cNvPr>
          <p:cNvSpPr txBox="1"/>
          <p:nvPr/>
        </p:nvSpPr>
        <p:spPr>
          <a:xfrm>
            <a:off x="8686800" y="3670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anomaly detection layer evaluates deviations or anomaly probabilities from the simulated inputs.</a:t>
            </a:r>
            <a:endParaRPr lang="en-US" sz="1400"/>
          </a:p>
        </p:txBody>
      </p:sp>
      <p:sp>
        <p:nvSpPr>
          <p:cNvPr id="27" name="TextBox 22">
            <a:extLst>
              <a:ext uri="{FF2B5EF4-FFF2-40B4-BE49-F238E27FC236}">
                <a16:creationId xmlns:a16="http://schemas.microsoft.com/office/drawing/2014/main" id="{C7ED3BB0-9A53-5D08-2D92-1F6E29897DC3}"/>
              </a:ext>
            </a:extLst>
          </p:cNvPr>
          <p:cNvSpPr txBox="1"/>
          <p:nvPr/>
        </p:nvSpPr>
        <p:spPr>
          <a:xfrm>
            <a:off x="8686800" y="4216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hybrid audit scheduler combines anomaly evidence, cost constraints, and policy logic.</a:t>
            </a:r>
            <a:endParaRPr lang="en-US" sz="1400"/>
          </a:p>
        </p:txBody>
      </p:sp>
      <p:sp>
        <p:nvSpPr>
          <p:cNvPr id="28" name="TextBox 23">
            <a:extLst>
              <a:ext uri="{FF2B5EF4-FFF2-40B4-BE49-F238E27FC236}">
                <a16:creationId xmlns:a16="http://schemas.microsoft.com/office/drawing/2014/main" id="{E7D0247D-B062-EF5B-73C6-87DCE4BB0769}"/>
              </a:ext>
            </a:extLst>
          </p:cNvPr>
          <p:cNvSpPr txBox="1"/>
          <p:nvPr/>
        </p:nvSpPr>
        <p:spPr>
          <a:xfrm>
            <a:off x="8686800" y="4749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Audit actions are allocated dynamically across agents.</a:t>
            </a:r>
            <a:endParaRPr lang="en-US" sz="1400"/>
          </a:p>
        </p:txBody>
      </p:sp>
      <p:sp>
        <p:nvSpPr>
          <p:cNvPr id="29" name="TextBox 24">
            <a:extLst>
              <a:ext uri="{FF2B5EF4-FFF2-40B4-BE49-F238E27FC236}">
                <a16:creationId xmlns:a16="http://schemas.microsoft.com/office/drawing/2014/main" id="{D38B9D27-126E-2122-430E-14EB19815405}"/>
              </a:ext>
            </a:extLst>
          </p:cNvPr>
          <p:cNvSpPr txBox="1"/>
          <p:nvPr/>
        </p:nvSpPr>
        <p:spPr>
          <a:xfrm>
            <a:off x="8686800" y="5295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framework compares the dynamic strategy with the fixed baseline audit strategy.</a:t>
            </a:r>
            <a:endParaRPr lang="en-US" sz="1400"/>
          </a:p>
        </p:txBody>
      </p:sp>
      <p:sp>
        <p:nvSpPr>
          <p:cNvPr id="30" name="TextBox 25">
            <a:extLst>
              <a:ext uri="{FF2B5EF4-FFF2-40B4-BE49-F238E27FC236}">
                <a16:creationId xmlns:a16="http://schemas.microsoft.com/office/drawing/2014/main" id="{BA4187FB-322B-1670-4FD8-8F79739BB1AB}"/>
              </a:ext>
            </a:extLst>
          </p:cNvPr>
          <p:cNvSpPr txBox="1"/>
          <p:nvPr/>
        </p:nvSpPr>
        <p:spPr>
          <a:xfrm>
            <a:off x="8686800" y="58420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Performance metrics are computed, including attack-rate reduction, cost efficiency, risk mitigation, precision, recall, F1, and accuracy.</a:t>
            </a:r>
            <a:endParaRPr lang="en-US" sz="1400"/>
          </a:p>
        </p:txBody>
      </p:sp>
      <p:sp>
        <p:nvSpPr>
          <p:cNvPr id="31" name="TextBox 26">
            <a:extLst>
              <a:ext uri="{FF2B5EF4-FFF2-40B4-BE49-F238E27FC236}">
                <a16:creationId xmlns:a16="http://schemas.microsoft.com/office/drawing/2014/main" id="{4EA672F4-AEA0-7F1D-CC51-C01D7F86E62B}"/>
              </a:ext>
            </a:extLst>
          </p:cNvPr>
          <p:cNvSpPr txBox="1"/>
          <p:nvPr/>
        </p:nvSpPr>
        <p:spPr>
          <a:xfrm>
            <a:off x="8686800" y="65913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Results are written to logs and summary files.</a:t>
            </a:r>
            <a:endParaRPr lang="en-US" sz="1400"/>
          </a:p>
        </p:txBody>
      </p:sp>
      <p:sp>
        <p:nvSpPr>
          <p:cNvPr id="32" name="TextBox 27">
            <a:extLst>
              <a:ext uri="{FF2B5EF4-FFF2-40B4-BE49-F238E27FC236}">
                <a16:creationId xmlns:a16="http://schemas.microsoft.com/office/drawing/2014/main" id="{C24B2A2A-0D5D-AC6C-1EFC-875158753598}"/>
              </a:ext>
            </a:extLst>
          </p:cNvPr>
          <p:cNvSpPr txBox="1"/>
          <p:nvPr/>
        </p:nvSpPr>
        <p:spPr>
          <a:xfrm>
            <a:off x="8686800" y="6921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experiment dashboard displays latest-run analytics, comparisons, and methodology outputs.</a:t>
            </a:r>
            <a:endParaRPr lang="en-US" sz="1400"/>
          </a:p>
        </p:txBody>
      </p:sp>
      <p:sp>
        <p:nvSpPr>
          <p:cNvPr id="33" name="TextBox 28">
            <a:extLst>
              <a:ext uri="{FF2B5EF4-FFF2-40B4-BE49-F238E27FC236}">
                <a16:creationId xmlns:a16="http://schemas.microsoft.com/office/drawing/2014/main" id="{77AFADB8-F007-836D-F61F-9AB7212CE531}"/>
              </a:ext>
            </a:extLst>
          </p:cNvPr>
          <p:cNvSpPr txBox="1"/>
          <p:nvPr/>
        </p:nvSpPr>
        <p:spPr>
          <a:xfrm>
            <a:off x="876300" y="8102600"/>
            <a:ext cx="144907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Live SCADA module is a real-time operational pipeline that reads live Rapid SCADA telemetry and turns it into anomaly scores and audit decisions, while the Experiment module is an evaluation pipeline that simulates grid behavior and compares different audit strategies under controlled test scenarios.</a:t>
            </a:r>
            <a:endParaRPr lang="en-US" sz="1400"/>
          </a:p>
        </p:txBody>
      </p:sp>
      <p:sp>
        <p:nvSpPr>
          <p:cNvPr id="34" name="TextBox 29">
            <a:extLst>
              <a:ext uri="{FF2B5EF4-FFF2-40B4-BE49-F238E27FC236}">
                <a16:creationId xmlns:a16="http://schemas.microsoft.com/office/drawing/2014/main" id="{EDB67A1D-3396-1B60-6217-AE7AEF49C2C1}"/>
              </a:ext>
            </a:extLst>
          </p:cNvPr>
          <p:cNvSpPr txBox="1"/>
          <p:nvPr/>
        </p:nvSpPr>
        <p:spPr>
          <a:xfrm>
            <a:off x="7493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5" name="TextBox 30">
            <a:extLst>
              <a:ext uri="{FF2B5EF4-FFF2-40B4-BE49-F238E27FC236}">
                <a16:creationId xmlns:a16="http://schemas.microsoft.com/office/drawing/2014/main" id="{0717C646-A9C0-9D6B-1102-60CD8BBB8C2E}"/>
              </a:ext>
            </a:extLst>
          </p:cNvPr>
          <p:cNvSpPr txBox="1"/>
          <p:nvPr/>
        </p:nvSpPr>
        <p:spPr>
          <a:xfrm>
            <a:off x="749300" y="2413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6" name="TextBox 31">
            <a:extLst>
              <a:ext uri="{FF2B5EF4-FFF2-40B4-BE49-F238E27FC236}">
                <a16:creationId xmlns:a16="http://schemas.microsoft.com/office/drawing/2014/main" id="{C1D693F7-2884-7734-5824-A7ECF5132B01}"/>
              </a:ext>
            </a:extLst>
          </p:cNvPr>
          <p:cNvSpPr txBox="1"/>
          <p:nvPr/>
        </p:nvSpPr>
        <p:spPr>
          <a:xfrm>
            <a:off x="749300" y="2946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7" name="TextBox 32">
            <a:extLst>
              <a:ext uri="{FF2B5EF4-FFF2-40B4-BE49-F238E27FC236}">
                <a16:creationId xmlns:a16="http://schemas.microsoft.com/office/drawing/2014/main" id="{25C45FDE-06A6-23F6-51F8-503A8C563E59}"/>
              </a:ext>
            </a:extLst>
          </p:cNvPr>
          <p:cNvSpPr txBox="1"/>
          <p:nvPr/>
        </p:nvSpPr>
        <p:spPr>
          <a:xfrm>
            <a:off x="749300" y="34925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8" name="TextBox 33">
            <a:extLst>
              <a:ext uri="{FF2B5EF4-FFF2-40B4-BE49-F238E27FC236}">
                <a16:creationId xmlns:a16="http://schemas.microsoft.com/office/drawing/2014/main" id="{BC509C3F-FBBF-FDC9-E36D-2B210275334F}"/>
              </a:ext>
            </a:extLst>
          </p:cNvPr>
          <p:cNvSpPr txBox="1"/>
          <p:nvPr/>
        </p:nvSpPr>
        <p:spPr>
          <a:xfrm>
            <a:off x="749300" y="4038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9" name="TextBox 34">
            <a:extLst>
              <a:ext uri="{FF2B5EF4-FFF2-40B4-BE49-F238E27FC236}">
                <a16:creationId xmlns:a16="http://schemas.microsoft.com/office/drawing/2014/main" id="{D5DEBFB1-24F6-E27D-C126-B48256486F3A}"/>
              </a:ext>
            </a:extLst>
          </p:cNvPr>
          <p:cNvSpPr txBox="1"/>
          <p:nvPr/>
        </p:nvSpPr>
        <p:spPr>
          <a:xfrm>
            <a:off x="749300" y="4572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0" name="TextBox 35">
            <a:extLst>
              <a:ext uri="{FF2B5EF4-FFF2-40B4-BE49-F238E27FC236}">
                <a16:creationId xmlns:a16="http://schemas.microsoft.com/office/drawing/2014/main" id="{D47E8BE8-DEEE-F245-AAE9-31F1994DFDAF}"/>
              </a:ext>
            </a:extLst>
          </p:cNvPr>
          <p:cNvSpPr txBox="1"/>
          <p:nvPr/>
        </p:nvSpPr>
        <p:spPr>
          <a:xfrm>
            <a:off x="749300" y="51181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1" name="TextBox 36">
            <a:extLst>
              <a:ext uri="{FF2B5EF4-FFF2-40B4-BE49-F238E27FC236}">
                <a16:creationId xmlns:a16="http://schemas.microsoft.com/office/drawing/2014/main" id="{D8EBA615-052D-2B13-38B7-B60EBB94BDDE}"/>
              </a:ext>
            </a:extLst>
          </p:cNvPr>
          <p:cNvSpPr txBox="1"/>
          <p:nvPr/>
        </p:nvSpPr>
        <p:spPr>
          <a:xfrm>
            <a:off x="749300" y="5448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2" name="TextBox 37">
            <a:extLst>
              <a:ext uri="{FF2B5EF4-FFF2-40B4-BE49-F238E27FC236}">
                <a16:creationId xmlns:a16="http://schemas.microsoft.com/office/drawing/2014/main" id="{78BFA119-D433-6A89-9B96-8FC5EDB75139}"/>
              </a:ext>
            </a:extLst>
          </p:cNvPr>
          <p:cNvSpPr txBox="1"/>
          <p:nvPr/>
        </p:nvSpPr>
        <p:spPr>
          <a:xfrm>
            <a:off x="749300" y="59817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3" name="TextBox 38">
            <a:extLst>
              <a:ext uri="{FF2B5EF4-FFF2-40B4-BE49-F238E27FC236}">
                <a16:creationId xmlns:a16="http://schemas.microsoft.com/office/drawing/2014/main" id="{792FE1FC-64EE-2BF8-EE1C-08AEA86D3924}"/>
              </a:ext>
            </a:extLst>
          </p:cNvPr>
          <p:cNvSpPr txBox="1"/>
          <p:nvPr/>
        </p:nvSpPr>
        <p:spPr>
          <a:xfrm>
            <a:off x="749300" y="6527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4" name="TextBox 39">
            <a:extLst>
              <a:ext uri="{FF2B5EF4-FFF2-40B4-BE49-F238E27FC236}">
                <a16:creationId xmlns:a16="http://schemas.microsoft.com/office/drawing/2014/main" id="{18325ACC-4A7B-278A-D769-14DB3E60D85E}"/>
              </a:ext>
            </a:extLst>
          </p:cNvPr>
          <p:cNvSpPr txBox="1"/>
          <p:nvPr/>
        </p:nvSpPr>
        <p:spPr>
          <a:xfrm>
            <a:off x="83058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5" name="TextBox 40">
            <a:extLst>
              <a:ext uri="{FF2B5EF4-FFF2-40B4-BE49-F238E27FC236}">
                <a16:creationId xmlns:a16="http://schemas.microsoft.com/office/drawing/2014/main" id="{7F0A35C8-47B0-CFE2-2195-55DD36C76E7D}"/>
              </a:ext>
            </a:extLst>
          </p:cNvPr>
          <p:cNvSpPr txBox="1"/>
          <p:nvPr/>
        </p:nvSpPr>
        <p:spPr>
          <a:xfrm>
            <a:off x="8305800" y="2628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6" name="TextBox 41">
            <a:extLst>
              <a:ext uri="{FF2B5EF4-FFF2-40B4-BE49-F238E27FC236}">
                <a16:creationId xmlns:a16="http://schemas.microsoft.com/office/drawing/2014/main" id="{D9DDE5E1-6FAE-BFF9-CD6E-F84381F64213}"/>
              </a:ext>
            </a:extLst>
          </p:cNvPr>
          <p:cNvSpPr txBox="1"/>
          <p:nvPr/>
        </p:nvSpPr>
        <p:spPr>
          <a:xfrm>
            <a:off x="8305800" y="3162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7" name="TextBox 42">
            <a:extLst>
              <a:ext uri="{FF2B5EF4-FFF2-40B4-BE49-F238E27FC236}">
                <a16:creationId xmlns:a16="http://schemas.microsoft.com/office/drawing/2014/main" id="{E33E77C4-BAA6-C50C-A41D-B334043C8427}"/>
              </a:ext>
            </a:extLst>
          </p:cNvPr>
          <p:cNvSpPr txBox="1"/>
          <p:nvPr/>
        </p:nvSpPr>
        <p:spPr>
          <a:xfrm>
            <a:off x="8305800" y="3708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8" name="TextBox 43">
            <a:extLst>
              <a:ext uri="{FF2B5EF4-FFF2-40B4-BE49-F238E27FC236}">
                <a16:creationId xmlns:a16="http://schemas.microsoft.com/office/drawing/2014/main" id="{DA69D798-C340-111E-3245-409F9772D05C}"/>
              </a:ext>
            </a:extLst>
          </p:cNvPr>
          <p:cNvSpPr txBox="1"/>
          <p:nvPr/>
        </p:nvSpPr>
        <p:spPr>
          <a:xfrm>
            <a:off x="8305800" y="4241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9" name="TextBox 44">
            <a:extLst>
              <a:ext uri="{FF2B5EF4-FFF2-40B4-BE49-F238E27FC236}">
                <a16:creationId xmlns:a16="http://schemas.microsoft.com/office/drawing/2014/main" id="{B556AE76-3A63-D7FE-E3D6-03F7EDC3F16E}"/>
              </a:ext>
            </a:extLst>
          </p:cNvPr>
          <p:cNvSpPr txBox="1"/>
          <p:nvPr/>
        </p:nvSpPr>
        <p:spPr>
          <a:xfrm>
            <a:off x="8305800" y="4787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0" name="TextBox 45">
            <a:extLst>
              <a:ext uri="{FF2B5EF4-FFF2-40B4-BE49-F238E27FC236}">
                <a16:creationId xmlns:a16="http://schemas.microsoft.com/office/drawing/2014/main" id="{C1BCD942-601B-9706-FF00-383629202596}"/>
              </a:ext>
            </a:extLst>
          </p:cNvPr>
          <p:cNvSpPr txBox="1"/>
          <p:nvPr/>
        </p:nvSpPr>
        <p:spPr>
          <a:xfrm>
            <a:off x="8305800" y="5334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1" name="TextBox 46">
            <a:extLst>
              <a:ext uri="{FF2B5EF4-FFF2-40B4-BE49-F238E27FC236}">
                <a16:creationId xmlns:a16="http://schemas.microsoft.com/office/drawing/2014/main" id="{E392055C-AFE9-3F19-425F-81B6B96DDD06}"/>
              </a:ext>
            </a:extLst>
          </p:cNvPr>
          <p:cNvSpPr txBox="1"/>
          <p:nvPr/>
        </p:nvSpPr>
        <p:spPr>
          <a:xfrm>
            <a:off x="8305800" y="5867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2" name="TextBox 47">
            <a:extLst>
              <a:ext uri="{FF2B5EF4-FFF2-40B4-BE49-F238E27FC236}">
                <a16:creationId xmlns:a16="http://schemas.microsoft.com/office/drawing/2014/main" id="{AD1B92D5-7594-70E2-2F05-43094E19A28F}"/>
              </a:ext>
            </a:extLst>
          </p:cNvPr>
          <p:cNvSpPr txBox="1"/>
          <p:nvPr/>
        </p:nvSpPr>
        <p:spPr>
          <a:xfrm>
            <a:off x="8305800" y="6629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3" name="TextBox 48">
            <a:extLst>
              <a:ext uri="{FF2B5EF4-FFF2-40B4-BE49-F238E27FC236}">
                <a16:creationId xmlns:a16="http://schemas.microsoft.com/office/drawing/2014/main" id="{3D1EC38C-A00C-524E-E4D0-063823461602}"/>
              </a:ext>
            </a:extLst>
          </p:cNvPr>
          <p:cNvSpPr txBox="1"/>
          <p:nvPr/>
        </p:nvSpPr>
        <p:spPr>
          <a:xfrm>
            <a:off x="8305800" y="6959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Tree>
    <p:extLst>
      <p:ext uri="{BB962C8B-B14F-4D97-AF65-F5344CB8AC3E}">
        <p14:creationId xmlns:p14="http://schemas.microsoft.com/office/powerpoint/2010/main" val="192764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63700"/>
            <a:ext cx="14490700" cy="6934200"/>
          </a:xfrm>
          <a:prstGeom prst="rect">
            <a:avLst/>
          </a:prstGeom>
          <a:solidFill>
            <a:srgbClr val="000000">
              <a:alpha val="0"/>
            </a:srgbClr>
          </a:solidFill>
        </p:spPr>
      </p:sp>
      <p:sp>
        <p:nvSpPr>
          <p:cNvPr id="5" name="AutoShape 5"/>
          <p:cNvSpPr/>
          <p:nvPr/>
        </p:nvSpPr>
        <p:spPr>
          <a:xfrm>
            <a:off x="5334000" y="7734300"/>
            <a:ext cx="469900" cy="469900"/>
          </a:xfrm>
          <a:prstGeom prst="roundRect">
            <a:avLst>
              <a:gd name="adj" fmla="val 48648"/>
            </a:avLst>
          </a:prstGeom>
          <a:solidFill>
            <a:srgbClr val="000000">
              <a:alpha val="0"/>
            </a:srgbClr>
          </a:solidFill>
        </p:spPr>
      </p:sp>
      <p:sp>
        <p:nvSpPr>
          <p:cNvPr id="6" name="AutoShape 6"/>
          <p:cNvSpPr/>
          <p:nvPr/>
        </p:nvSpPr>
        <p:spPr>
          <a:xfrm>
            <a:off x="6299200" y="6705600"/>
            <a:ext cx="469900" cy="469900"/>
          </a:xfrm>
          <a:prstGeom prst="roundRect">
            <a:avLst>
              <a:gd name="adj" fmla="val 48648"/>
            </a:avLst>
          </a:prstGeom>
          <a:solidFill>
            <a:srgbClr val="000000">
              <a:alpha val="0"/>
            </a:srgbClr>
          </a:solidFill>
        </p:spPr>
      </p:sp>
      <p:sp>
        <p:nvSpPr>
          <p:cNvPr id="7" name="AutoShape 7"/>
          <p:cNvSpPr/>
          <p:nvPr/>
        </p:nvSpPr>
        <p:spPr>
          <a:xfrm>
            <a:off x="7886700" y="6311900"/>
            <a:ext cx="469900" cy="469900"/>
          </a:xfrm>
          <a:prstGeom prst="roundRect">
            <a:avLst>
              <a:gd name="adj" fmla="val 48648"/>
            </a:avLst>
          </a:prstGeom>
          <a:solidFill>
            <a:srgbClr val="000000">
              <a:alpha val="0"/>
            </a:srgbClr>
          </a:solidFill>
        </p:spPr>
      </p:sp>
      <p:sp>
        <p:nvSpPr>
          <p:cNvPr id="8" name="AutoShape 8"/>
          <p:cNvSpPr/>
          <p:nvPr/>
        </p:nvSpPr>
        <p:spPr>
          <a:xfrm>
            <a:off x="9461500" y="6705600"/>
            <a:ext cx="469900" cy="469900"/>
          </a:xfrm>
          <a:prstGeom prst="roundRect">
            <a:avLst>
              <a:gd name="adj" fmla="val 48648"/>
            </a:avLst>
          </a:prstGeom>
          <a:solidFill>
            <a:srgbClr val="000000">
              <a:alpha val="0"/>
            </a:srgbClr>
          </a:solidFill>
        </p:spPr>
      </p:sp>
      <p:sp>
        <p:nvSpPr>
          <p:cNvPr id="9" name="AutoShape 9"/>
          <p:cNvSpPr/>
          <p:nvPr/>
        </p:nvSpPr>
        <p:spPr>
          <a:xfrm>
            <a:off x="10426700" y="7734300"/>
            <a:ext cx="469900" cy="469900"/>
          </a:xfrm>
          <a:prstGeom prst="roundRect">
            <a:avLst>
              <a:gd name="adj" fmla="val 48648"/>
            </a:avLst>
          </a:prstGeom>
          <a:solidFill>
            <a:srgbClr val="000000">
              <a:alpha val="0"/>
            </a:srgbClr>
          </a:solidFill>
        </p:spPr>
      </p:sp>
      <p:pic>
        <p:nvPicPr>
          <p:cNvPr id="10" name="Picture 10"/>
          <p:cNvPicPr>
            <a:picLocks noChangeAspect="1"/>
          </p:cNvPicPr>
          <p:nvPr/>
        </p:nvPicPr>
        <p:blipFill>
          <a:blip r:embed="rId3"/>
          <a:stretch>
            <a:fillRect/>
          </a:stretch>
        </p:blipFill>
        <p:spPr>
          <a:xfrm>
            <a:off x="5346700" y="5829300"/>
            <a:ext cx="5537200" cy="2768600"/>
          </a:xfrm>
          <a:prstGeom prst="rect">
            <a:avLst/>
          </a:prstGeom>
        </p:spPr>
      </p:pic>
      <p:sp>
        <p:nvSpPr>
          <p:cNvPr id="11" name="TextBox 11"/>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Feature Categories and Baseline Mapping: Cyber-Physical Representation</a:t>
            </a:r>
            <a:endParaRPr lang="en-US" sz="1100"/>
          </a:p>
        </p:txBody>
      </p:sp>
      <p:sp>
        <p:nvSpPr>
          <p:cNvPr id="12" name="TextBox 12"/>
          <p:cNvSpPr txBox="1"/>
          <p:nvPr/>
        </p:nvSpPr>
        <p:spPr>
          <a:xfrm>
            <a:off x="876300" y="31115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Physical features</a:t>
            </a:r>
            <a:endParaRPr lang="en-US" sz="1100"/>
          </a:p>
        </p:txBody>
      </p:sp>
      <p:sp>
        <p:nvSpPr>
          <p:cNvPr id="13" name="TextBox 13"/>
          <p:cNvSpPr txBox="1"/>
          <p:nvPr/>
        </p:nvSpPr>
        <p:spPr>
          <a:xfrm>
            <a:off x="54737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14" name="TextBox 14"/>
          <p:cNvSpPr txBox="1"/>
          <p:nvPr/>
        </p:nvSpPr>
        <p:spPr>
          <a:xfrm>
            <a:off x="3848100" y="29972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Cyber features</a:t>
            </a:r>
            <a:endParaRPr lang="en-US" sz="1100"/>
          </a:p>
        </p:txBody>
      </p:sp>
      <p:sp>
        <p:nvSpPr>
          <p:cNvPr id="15" name="TextBox 15"/>
          <p:cNvSpPr txBox="1"/>
          <p:nvPr/>
        </p:nvSpPr>
        <p:spPr>
          <a:xfrm>
            <a:off x="64516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16" name="TextBox 16"/>
          <p:cNvSpPr txBox="1"/>
          <p:nvPr/>
        </p:nvSpPr>
        <p:spPr>
          <a:xfrm>
            <a:off x="6819900" y="16637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Type-specific baseline values</a:t>
            </a:r>
            <a:endParaRPr lang="en-US" sz="1100"/>
          </a:p>
        </p:txBody>
      </p:sp>
      <p:sp>
        <p:nvSpPr>
          <p:cNvPr id="17" name="TextBox 17"/>
          <p:cNvSpPr txBox="1"/>
          <p:nvPr/>
        </p:nvSpPr>
        <p:spPr>
          <a:xfrm>
            <a:off x="8026400" y="6413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18" name="TextBox 18"/>
          <p:cNvSpPr txBox="1"/>
          <p:nvPr/>
        </p:nvSpPr>
        <p:spPr>
          <a:xfrm>
            <a:off x="9791700" y="27051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Criticality weights</a:t>
            </a:r>
            <a:endParaRPr lang="en-US" sz="1100"/>
          </a:p>
        </p:txBody>
      </p:sp>
      <p:sp>
        <p:nvSpPr>
          <p:cNvPr id="19" name="TextBox 19"/>
          <p:cNvSpPr txBox="1"/>
          <p:nvPr/>
        </p:nvSpPr>
        <p:spPr>
          <a:xfrm>
            <a:off x="96139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20" name="TextBox 20"/>
          <p:cNvSpPr txBox="1"/>
          <p:nvPr/>
        </p:nvSpPr>
        <p:spPr>
          <a:xfrm>
            <a:off x="12776200" y="30480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Normalized deviation scores</a:t>
            </a:r>
            <a:endParaRPr lang="en-US" sz="1100"/>
          </a:p>
        </p:txBody>
      </p:sp>
      <p:sp>
        <p:nvSpPr>
          <p:cNvPr id="21" name="TextBox 21"/>
          <p:cNvSpPr txBox="1"/>
          <p:nvPr/>
        </p:nvSpPr>
        <p:spPr>
          <a:xfrm>
            <a:off x="105791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22" name="TextBox 22"/>
          <p:cNvSpPr txBox="1"/>
          <p:nvPr/>
        </p:nvSpPr>
        <p:spPr>
          <a:xfrm>
            <a:off x="876300" y="3937000"/>
            <a:ext cx="2590800" cy="28829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Voltage, current, frequency, load, power and response time metrics that characterize physical asset behavior under normal and stressed conditions.</a:t>
            </a:r>
            <a:endParaRPr lang="en-US" sz="1100"/>
          </a:p>
        </p:txBody>
      </p:sp>
      <p:sp>
        <p:nvSpPr>
          <p:cNvPr id="23" name="TextBox 23"/>
          <p:cNvSpPr txBox="1"/>
          <p:nvPr/>
        </p:nvSpPr>
        <p:spPr>
          <a:xfrm>
            <a:off x="3848100" y="3822700"/>
            <a:ext cx="2590800" cy="23114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Network-related indicators such as latency, packet loss, communication frequency and integrity signals used to assess cyber-layer health.</a:t>
            </a:r>
            <a:endParaRPr lang="en-US" sz="1100"/>
          </a:p>
        </p:txBody>
      </p:sp>
      <p:sp>
        <p:nvSpPr>
          <p:cNvPr id="24" name="TextBox 24"/>
          <p:cNvSpPr txBox="1"/>
          <p:nvPr/>
        </p:nvSpPr>
        <p:spPr>
          <a:xfrm>
            <a:off x="6819900" y="28448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Expected normal operating conditions defined per asset class to serve as reference baselines for anomaly detection and degradation tracking.</a:t>
            </a:r>
            <a:endParaRPr lang="en-US" sz="1100"/>
          </a:p>
        </p:txBody>
      </p:sp>
      <p:sp>
        <p:nvSpPr>
          <p:cNvPr id="25" name="TextBox 25"/>
          <p:cNvSpPr txBox="1"/>
          <p:nvPr/>
        </p:nvSpPr>
        <p:spPr>
          <a:xfrm>
            <a:off x="9791700" y="35433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Priority weighting for assets including generator, substation, PMU and breaker to reflect their impact on system stability and response prioritization.</a:t>
            </a:r>
            <a:endParaRPr lang="en-US" sz="1100"/>
          </a:p>
        </p:txBody>
      </p:sp>
      <p:sp>
        <p:nvSpPr>
          <p:cNvPr id="26" name="TextBox 26"/>
          <p:cNvSpPr txBox="1"/>
          <p:nvPr/>
        </p:nvSpPr>
        <p:spPr>
          <a:xfrm>
            <a:off x="12776200" y="42291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Cross-asset normalized deviation metrics that enable comparison and ranking of anomalies across heterogeneous equipment types.</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952500"/>
            <a:ext cx="14490700" cy="7607300"/>
          </a:xfrm>
          <a:prstGeom prst="rect">
            <a:avLst/>
          </a:prstGeom>
          <a:solidFill>
            <a:srgbClr val="000000">
              <a:alpha val="0"/>
            </a:srgbClr>
          </a:solidFill>
          <a:ln w="12700">
            <a:solidFill>
              <a:srgbClr val="A1A1A1"/>
            </a:solidFill>
          </a:ln>
        </p:spPr>
      </p:sp>
      <p:sp>
        <p:nvSpPr>
          <p:cNvPr id="5" name="AutoShape 5"/>
          <p:cNvSpPr/>
          <p:nvPr/>
        </p:nvSpPr>
        <p:spPr>
          <a:xfrm>
            <a:off x="889000" y="952500"/>
            <a:ext cx="5537200" cy="228600"/>
          </a:xfrm>
          <a:prstGeom prst="rect">
            <a:avLst/>
          </a:prstGeom>
          <a:solidFill>
            <a:srgbClr val="D1D1D1">
              <a:alpha val="71765"/>
            </a:srgbClr>
          </a:solidFill>
          <a:ln w="12700">
            <a:solidFill>
              <a:srgbClr val="A1A1A1"/>
            </a:solidFill>
          </a:ln>
        </p:spPr>
      </p:sp>
      <p:sp>
        <p:nvSpPr>
          <p:cNvPr id="6" name="AutoShape 6"/>
          <p:cNvSpPr/>
          <p:nvPr/>
        </p:nvSpPr>
        <p:spPr>
          <a:xfrm>
            <a:off x="6426200" y="952500"/>
            <a:ext cx="3390900" cy="228600"/>
          </a:xfrm>
          <a:prstGeom prst="rect">
            <a:avLst/>
          </a:prstGeom>
          <a:solidFill>
            <a:srgbClr val="D1D1D1">
              <a:alpha val="71765"/>
            </a:srgbClr>
          </a:solidFill>
          <a:ln w="12700">
            <a:solidFill>
              <a:srgbClr val="A1A1A1"/>
            </a:solidFill>
          </a:ln>
        </p:spPr>
      </p:sp>
      <p:sp>
        <p:nvSpPr>
          <p:cNvPr id="7" name="AutoShape 7"/>
          <p:cNvSpPr/>
          <p:nvPr/>
        </p:nvSpPr>
        <p:spPr>
          <a:xfrm>
            <a:off x="9829800" y="952500"/>
            <a:ext cx="2184400" cy="228600"/>
          </a:xfrm>
          <a:prstGeom prst="rect">
            <a:avLst/>
          </a:prstGeom>
          <a:solidFill>
            <a:srgbClr val="D1D1D1">
              <a:alpha val="71765"/>
            </a:srgbClr>
          </a:solidFill>
          <a:ln w="12700">
            <a:solidFill>
              <a:srgbClr val="A1A1A1"/>
            </a:solidFill>
          </a:ln>
        </p:spPr>
      </p:sp>
      <p:sp>
        <p:nvSpPr>
          <p:cNvPr id="8" name="AutoShape 8"/>
          <p:cNvSpPr/>
          <p:nvPr/>
        </p:nvSpPr>
        <p:spPr>
          <a:xfrm>
            <a:off x="12014200" y="952500"/>
            <a:ext cx="3327400" cy="228600"/>
          </a:xfrm>
          <a:prstGeom prst="rect">
            <a:avLst/>
          </a:prstGeom>
          <a:solidFill>
            <a:srgbClr val="D1D1D1">
              <a:alpha val="71765"/>
            </a:srgbClr>
          </a:solidFill>
          <a:ln w="12700">
            <a:solidFill>
              <a:srgbClr val="A1A1A1"/>
            </a:solidFill>
          </a:ln>
        </p:spPr>
      </p:sp>
      <p:sp>
        <p:nvSpPr>
          <p:cNvPr id="9" name="AutoShape 9"/>
          <p:cNvSpPr/>
          <p:nvPr/>
        </p:nvSpPr>
        <p:spPr>
          <a:xfrm>
            <a:off x="889000" y="1193800"/>
            <a:ext cx="5537200" cy="711200"/>
          </a:xfrm>
          <a:prstGeom prst="rect">
            <a:avLst/>
          </a:prstGeom>
          <a:solidFill>
            <a:srgbClr val="000000">
              <a:alpha val="0"/>
            </a:srgbClr>
          </a:solidFill>
          <a:ln w="12700">
            <a:solidFill>
              <a:srgbClr val="A1A1A1"/>
            </a:solidFill>
          </a:ln>
        </p:spPr>
      </p:sp>
      <p:sp>
        <p:nvSpPr>
          <p:cNvPr id="10" name="AutoShape 10"/>
          <p:cNvSpPr/>
          <p:nvPr/>
        </p:nvSpPr>
        <p:spPr>
          <a:xfrm>
            <a:off x="6426200" y="1193800"/>
            <a:ext cx="3390900" cy="711200"/>
          </a:xfrm>
          <a:prstGeom prst="rect">
            <a:avLst/>
          </a:prstGeom>
          <a:solidFill>
            <a:srgbClr val="000000">
              <a:alpha val="0"/>
            </a:srgbClr>
          </a:solidFill>
          <a:ln w="12700">
            <a:solidFill>
              <a:srgbClr val="A1A1A1"/>
            </a:solidFill>
          </a:ln>
        </p:spPr>
      </p:sp>
      <p:sp>
        <p:nvSpPr>
          <p:cNvPr id="11" name="AutoShape 11"/>
          <p:cNvSpPr/>
          <p:nvPr/>
        </p:nvSpPr>
        <p:spPr>
          <a:xfrm>
            <a:off x="9829800" y="1193800"/>
            <a:ext cx="2184400" cy="711200"/>
          </a:xfrm>
          <a:prstGeom prst="rect">
            <a:avLst/>
          </a:prstGeom>
          <a:solidFill>
            <a:srgbClr val="000000">
              <a:alpha val="0"/>
            </a:srgbClr>
          </a:solidFill>
          <a:ln w="12700">
            <a:solidFill>
              <a:srgbClr val="A1A1A1"/>
            </a:solidFill>
          </a:ln>
        </p:spPr>
      </p:sp>
      <p:sp>
        <p:nvSpPr>
          <p:cNvPr id="12" name="AutoShape 12"/>
          <p:cNvSpPr/>
          <p:nvPr/>
        </p:nvSpPr>
        <p:spPr>
          <a:xfrm>
            <a:off x="12014200" y="1193800"/>
            <a:ext cx="3327400" cy="711200"/>
          </a:xfrm>
          <a:prstGeom prst="rect">
            <a:avLst/>
          </a:prstGeom>
          <a:solidFill>
            <a:srgbClr val="000000">
              <a:alpha val="0"/>
            </a:srgbClr>
          </a:solidFill>
          <a:ln w="12700">
            <a:solidFill>
              <a:srgbClr val="A1A1A1"/>
            </a:solidFill>
          </a:ln>
        </p:spPr>
      </p:sp>
      <p:sp>
        <p:nvSpPr>
          <p:cNvPr id="13" name="AutoShape 13"/>
          <p:cNvSpPr/>
          <p:nvPr/>
        </p:nvSpPr>
        <p:spPr>
          <a:xfrm>
            <a:off x="889000" y="1917700"/>
            <a:ext cx="5537200" cy="711200"/>
          </a:xfrm>
          <a:prstGeom prst="rect">
            <a:avLst/>
          </a:prstGeom>
          <a:solidFill>
            <a:srgbClr val="000000">
              <a:alpha val="0"/>
            </a:srgbClr>
          </a:solidFill>
          <a:ln w="12700">
            <a:solidFill>
              <a:srgbClr val="A1A1A1"/>
            </a:solidFill>
          </a:ln>
        </p:spPr>
      </p:sp>
      <p:sp>
        <p:nvSpPr>
          <p:cNvPr id="14" name="AutoShape 14"/>
          <p:cNvSpPr/>
          <p:nvPr/>
        </p:nvSpPr>
        <p:spPr>
          <a:xfrm>
            <a:off x="6426200" y="1917700"/>
            <a:ext cx="3390900" cy="711200"/>
          </a:xfrm>
          <a:prstGeom prst="rect">
            <a:avLst/>
          </a:prstGeom>
          <a:solidFill>
            <a:srgbClr val="000000">
              <a:alpha val="0"/>
            </a:srgbClr>
          </a:solidFill>
          <a:ln w="12700">
            <a:solidFill>
              <a:srgbClr val="A1A1A1"/>
            </a:solidFill>
          </a:ln>
        </p:spPr>
      </p:sp>
      <p:sp>
        <p:nvSpPr>
          <p:cNvPr id="15" name="AutoShape 15"/>
          <p:cNvSpPr/>
          <p:nvPr/>
        </p:nvSpPr>
        <p:spPr>
          <a:xfrm>
            <a:off x="9829800" y="1917700"/>
            <a:ext cx="2184400" cy="711200"/>
          </a:xfrm>
          <a:prstGeom prst="rect">
            <a:avLst/>
          </a:prstGeom>
          <a:solidFill>
            <a:srgbClr val="000000">
              <a:alpha val="0"/>
            </a:srgbClr>
          </a:solidFill>
          <a:ln w="12700">
            <a:solidFill>
              <a:srgbClr val="A1A1A1"/>
            </a:solidFill>
          </a:ln>
        </p:spPr>
      </p:sp>
      <p:sp>
        <p:nvSpPr>
          <p:cNvPr id="16" name="AutoShape 16"/>
          <p:cNvSpPr/>
          <p:nvPr/>
        </p:nvSpPr>
        <p:spPr>
          <a:xfrm>
            <a:off x="12014200" y="1917700"/>
            <a:ext cx="3327400" cy="711200"/>
          </a:xfrm>
          <a:prstGeom prst="rect">
            <a:avLst/>
          </a:prstGeom>
          <a:solidFill>
            <a:srgbClr val="000000">
              <a:alpha val="0"/>
            </a:srgbClr>
          </a:solidFill>
          <a:ln w="12700">
            <a:solidFill>
              <a:srgbClr val="A1A1A1"/>
            </a:solidFill>
          </a:ln>
        </p:spPr>
      </p:sp>
      <p:sp>
        <p:nvSpPr>
          <p:cNvPr id="17" name="AutoShape 17"/>
          <p:cNvSpPr/>
          <p:nvPr/>
        </p:nvSpPr>
        <p:spPr>
          <a:xfrm>
            <a:off x="889000" y="2628900"/>
            <a:ext cx="5537200" cy="711200"/>
          </a:xfrm>
          <a:prstGeom prst="rect">
            <a:avLst/>
          </a:prstGeom>
          <a:solidFill>
            <a:srgbClr val="000000">
              <a:alpha val="0"/>
            </a:srgbClr>
          </a:solidFill>
          <a:ln w="12700">
            <a:solidFill>
              <a:srgbClr val="A1A1A1"/>
            </a:solidFill>
          </a:ln>
        </p:spPr>
      </p:sp>
      <p:sp>
        <p:nvSpPr>
          <p:cNvPr id="18" name="AutoShape 18"/>
          <p:cNvSpPr/>
          <p:nvPr/>
        </p:nvSpPr>
        <p:spPr>
          <a:xfrm>
            <a:off x="6426200" y="2628900"/>
            <a:ext cx="3390900" cy="711200"/>
          </a:xfrm>
          <a:prstGeom prst="rect">
            <a:avLst/>
          </a:prstGeom>
          <a:solidFill>
            <a:srgbClr val="000000">
              <a:alpha val="0"/>
            </a:srgbClr>
          </a:solidFill>
          <a:ln w="12700">
            <a:solidFill>
              <a:srgbClr val="A1A1A1"/>
            </a:solidFill>
          </a:ln>
        </p:spPr>
      </p:sp>
      <p:sp>
        <p:nvSpPr>
          <p:cNvPr id="19" name="AutoShape 19"/>
          <p:cNvSpPr/>
          <p:nvPr/>
        </p:nvSpPr>
        <p:spPr>
          <a:xfrm>
            <a:off x="9829800" y="2628900"/>
            <a:ext cx="2184400" cy="711200"/>
          </a:xfrm>
          <a:prstGeom prst="rect">
            <a:avLst/>
          </a:prstGeom>
          <a:solidFill>
            <a:srgbClr val="000000">
              <a:alpha val="0"/>
            </a:srgbClr>
          </a:solidFill>
          <a:ln w="12700">
            <a:solidFill>
              <a:srgbClr val="A1A1A1"/>
            </a:solidFill>
          </a:ln>
        </p:spPr>
      </p:sp>
      <p:sp>
        <p:nvSpPr>
          <p:cNvPr id="20" name="AutoShape 20"/>
          <p:cNvSpPr/>
          <p:nvPr/>
        </p:nvSpPr>
        <p:spPr>
          <a:xfrm>
            <a:off x="12014200" y="2628900"/>
            <a:ext cx="3327400" cy="711200"/>
          </a:xfrm>
          <a:prstGeom prst="rect">
            <a:avLst/>
          </a:prstGeom>
          <a:solidFill>
            <a:srgbClr val="000000">
              <a:alpha val="0"/>
            </a:srgbClr>
          </a:solidFill>
          <a:ln w="12700">
            <a:solidFill>
              <a:srgbClr val="A1A1A1"/>
            </a:solidFill>
          </a:ln>
        </p:spPr>
      </p:sp>
      <p:sp>
        <p:nvSpPr>
          <p:cNvPr id="21" name="AutoShape 21"/>
          <p:cNvSpPr/>
          <p:nvPr/>
        </p:nvSpPr>
        <p:spPr>
          <a:xfrm>
            <a:off x="889000" y="3352800"/>
            <a:ext cx="5537200" cy="558800"/>
          </a:xfrm>
          <a:prstGeom prst="rect">
            <a:avLst/>
          </a:prstGeom>
          <a:solidFill>
            <a:srgbClr val="000000">
              <a:alpha val="0"/>
            </a:srgbClr>
          </a:solidFill>
          <a:ln w="12700">
            <a:solidFill>
              <a:srgbClr val="A1A1A1"/>
            </a:solidFill>
          </a:ln>
        </p:spPr>
      </p:sp>
      <p:sp>
        <p:nvSpPr>
          <p:cNvPr id="22" name="AutoShape 22"/>
          <p:cNvSpPr/>
          <p:nvPr/>
        </p:nvSpPr>
        <p:spPr>
          <a:xfrm>
            <a:off x="6426200" y="3352800"/>
            <a:ext cx="3390900" cy="558800"/>
          </a:xfrm>
          <a:prstGeom prst="rect">
            <a:avLst/>
          </a:prstGeom>
          <a:solidFill>
            <a:srgbClr val="000000">
              <a:alpha val="0"/>
            </a:srgbClr>
          </a:solidFill>
          <a:ln w="12700">
            <a:solidFill>
              <a:srgbClr val="A1A1A1"/>
            </a:solidFill>
          </a:ln>
        </p:spPr>
      </p:sp>
      <p:sp>
        <p:nvSpPr>
          <p:cNvPr id="23" name="AutoShape 23"/>
          <p:cNvSpPr/>
          <p:nvPr/>
        </p:nvSpPr>
        <p:spPr>
          <a:xfrm>
            <a:off x="9829800" y="3352800"/>
            <a:ext cx="2184400" cy="558800"/>
          </a:xfrm>
          <a:prstGeom prst="rect">
            <a:avLst/>
          </a:prstGeom>
          <a:solidFill>
            <a:srgbClr val="000000">
              <a:alpha val="0"/>
            </a:srgbClr>
          </a:solidFill>
          <a:ln w="12700">
            <a:solidFill>
              <a:srgbClr val="A1A1A1"/>
            </a:solidFill>
          </a:ln>
        </p:spPr>
      </p:sp>
      <p:sp>
        <p:nvSpPr>
          <p:cNvPr id="24" name="AutoShape 24"/>
          <p:cNvSpPr/>
          <p:nvPr/>
        </p:nvSpPr>
        <p:spPr>
          <a:xfrm>
            <a:off x="12014200" y="3352800"/>
            <a:ext cx="3327400" cy="558800"/>
          </a:xfrm>
          <a:prstGeom prst="rect">
            <a:avLst/>
          </a:prstGeom>
          <a:solidFill>
            <a:srgbClr val="000000">
              <a:alpha val="0"/>
            </a:srgbClr>
          </a:solidFill>
          <a:ln w="12700">
            <a:solidFill>
              <a:srgbClr val="A1A1A1"/>
            </a:solidFill>
          </a:ln>
        </p:spPr>
      </p:sp>
      <p:sp>
        <p:nvSpPr>
          <p:cNvPr id="25" name="AutoShape 25"/>
          <p:cNvSpPr/>
          <p:nvPr/>
        </p:nvSpPr>
        <p:spPr>
          <a:xfrm>
            <a:off x="889000" y="3911600"/>
            <a:ext cx="5537200" cy="558800"/>
          </a:xfrm>
          <a:prstGeom prst="rect">
            <a:avLst/>
          </a:prstGeom>
          <a:solidFill>
            <a:srgbClr val="000000">
              <a:alpha val="0"/>
            </a:srgbClr>
          </a:solidFill>
          <a:ln w="12700">
            <a:solidFill>
              <a:srgbClr val="A1A1A1"/>
            </a:solidFill>
          </a:ln>
        </p:spPr>
      </p:sp>
      <p:sp>
        <p:nvSpPr>
          <p:cNvPr id="26" name="AutoShape 26"/>
          <p:cNvSpPr/>
          <p:nvPr/>
        </p:nvSpPr>
        <p:spPr>
          <a:xfrm>
            <a:off x="6426200" y="3911600"/>
            <a:ext cx="3390900" cy="558800"/>
          </a:xfrm>
          <a:prstGeom prst="rect">
            <a:avLst/>
          </a:prstGeom>
          <a:solidFill>
            <a:srgbClr val="000000">
              <a:alpha val="0"/>
            </a:srgbClr>
          </a:solidFill>
          <a:ln w="12700">
            <a:solidFill>
              <a:srgbClr val="A1A1A1"/>
            </a:solidFill>
          </a:ln>
        </p:spPr>
      </p:sp>
      <p:sp>
        <p:nvSpPr>
          <p:cNvPr id="27" name="AutoShape 27"/>
          <p:cNvSpPr/>
          <p:nvPr/>
        </p:nvSpPr>
        <p:spPr>
          <a:xfrm>
            <a:off x="9829800" y="3911600"/>
            <a:ext cx="2184400" cy="558800"/>
          </a:xfrm>
          <a:prstGeom prst="rect">
            <a:avLst/>
          </a:prstGeom>
          <a:solidFill>
            <a:srgbClr val="000000">
              <a:alpha val="0"/>
            </a:srgbClr>
          </a:solidFill>
          <a:ln w="12700">
            <a:solidFill>
              <a:srgbClr val="A1A1A1"/>
            </a:solidFill>
          </a:ln>
        </p:spPr>
      </p:sp>
      <p:sp>
        <p:nvSpPr>
          <p:cNvPr id="28" name="AutoShape 28"/>
          <p:cNvSpPr/>
          <p:nvPr/>
        </p:nvSpPr>
        <p:spPr>
          <a:xfrm>
            <a:off x="12014200" y="3911600"/>
            <a:ext cx="3327400" cy="558800"/>
          </a:xfrm>
          <a:prstGeom prst="rect">
            <a:avLst/>
          </a:prstGeom>
          <a:solidFill>
            <a:srgbClr val="000000">
              <a:alpha val="0"/>
            </a:srgbClr>
          </a:solidFill>
          <a:ln w="12700">
            <a:solidFill>
              <a:srgbClr val="A1A1A1"/>
            </a:solidFill>
          </a:ln>
        </p:spPr>
      </p:sp>
      <p:sp>
        <p:nvSpPr>
          <p:cNvPr id="29" name="AutoShape 29"/>
          <p:cNvSpPr/>
          <p:nvPr/>
        </p:nvSpPr>
        <p:spPr>
          <a:xfrm>
            <a:off x="889000" y="4470400"/>
            <a:ext cx="5537200" cy="711200"/>
          </a:xfrm>
          <a:prstGeom prst="rect">
            <a:avLst/>
          </a:prstGeom>
          <a:solidFill>
            <a:srgbClr val="000000">
              <a:alpha val="0"/>
            </a:srgbClr>
          </a:solidFill>
          <a:ln w="12700">
            <a:solidFill>
              <a:srgbClr val="A1A1A1"/>
            </a:solidFill>
          </a:ln>
        </p:spPr>
      </p:sp>
      <p:sp>
        <p:nvSpPr>
          <p:cNvPr id="30" name="AutoShape 30"/>
          <p:cNvSpPr/>
          <p:nvPr/>
        </p:nvSpPr>
        <p:spPr>
          <a:xfrm>
            <a:off x="6426200" y="4470400"/>
            <a:ext cx="3390900" cy="711200"/>
          </a:xfrm>
          <a:prstGeom prst="rect">
            <a:avLst/>
          </a:prstGeom>
          <a:solidFill>
            <a:srgbClr val="000000">
              <a:alpha val="0"/>
            </a:srgbClr>
          </a:solidFill>
          <a:ln w="12700">
            <a:solidFill>
              <a:srgbClr val="A1A1A1"/>
            </a:solidFill>
          </a:ln>
        </p:spPr>
      </p:sp>
      <p:sp>
        <p:nvSpPr>
          <p:cNvPr id="31" name="AutoShape 31"/>
          <p:cNvSpPr/>
          <p:nvPr/>
        </p:nvSpPr>
        <p:spPr>
          <a:xfrm>
            <a:off x="9829800" y="4470400"/>
            <a:ext cx="2184400" cy="711200"/>
          </a:xfrm>
          <a:prstGeom prst="rect">
            <a:avLst/>
          </a:prstGeom>
          <a:solidFill>
            <a:srgbClr val="000000">
              <a:alpha val="0"/>
            </a:srgbClr>
          </a:solidFill>
          <a:ln w="12700">
            <a:solidFill>
              <a:srgbClr val="A1A1A1"/>
            </a:solidFill>
          </a:ln>
        </p:spPr>
      </p:sp>
      <p:sp>
        <p:nvSpPr>
          <p:cNvPr id="32" name="AutoShape 32"/>
          <p:cNvSpPr/>
          <p:nvPr/>
        </p:nvSpPr>
        <p:spPr>
          <a:xfrm>
            <a:off x="12014200" y="4470400"/>
            <a:ext cx="3327400" cy="711200"/>
          </a:xfrm>
          <a:prstGeom prst="rect">
            <a:avLst/>
          </a:prstGeom>
          <a:solidFill>
            <a:srgbClr val="000000">
              <a:alpha val="0"/>
            </a:srgbClr>
          </a:solidFill>
          <a:ln w="12700">
            <a:solidFill>
              <a:srgbClr val="A1A1A1"/>
            </a:solidFill>
          </a:ln>
        </p:spPr>
      </p:sp>
      <p:sp>
        <p:nvSpPr>
          <p:cNvPr id="33" name="AutoShape 33"/>
          <p:cNvSpPr/>
          <p:nvPr/>
        </p:nvSpPr>
        <p:spPr>
          <a:xfrm>
            <a:off x="889000" y="5194300"/>
            <a:ext cx="5537200" cy="558800"/>
          </a:xfrm>
          <a:prstGeom prst="rect">
            <a:avLst/>
          </a:prstGeom>
          <a:solidFill>
            <a:srgbClr val="000000">
              <a:alpha val="0"/>
            </a:srgbClr>
          </a:solidFill>
          <a:ln w="12700">
            <a:solidFill>
              <a:srgbClr val="A1A1A1"/>
            </a:solidFill>
          </a:ln>
        </p:spPr>
      </p:sp>
      <p:sp>
        <p:nvSpPr>
          <p:cNvPr id="34" name="AutoShape 34"/>
          <p:cNvSpPr/>
          <p:nvPr/>
        </p:nvSpPr>
        <p:spPr>
          <a:xfrm>
            <a:off x="6426200" y="5194300"/>
            <a:ext cx="3390900" cy="558800"/>
          </a:xfrm>
          <a:prstGeom prst="rect">
            <a:avLst/>
          </a:prstGeom>
          <a:solidFill>
            <a:srgbClr val="000000">
              <a:alpha val="0"/>
            </a:srgbClr>
          </a:solidFill>
          <a:ln w="12700">
            <a:solidFill>
              <a:srgbClr val="A1A1A1"/>
            </a:solidFill>
          </a:ln>
        </p:spPr>
      </p:sp>
      <p:sp>
        <p:nvSpPr>
          <p:cNvPr id="35" name="AutoShape 35"/>
          <p:cNvSpPr/>
          <p:nvPr/>
        </p:nvSpPr>
        <p:spPr>
          <a:xfrm>
            <a:off x="9829800" y="5194300"/>
            <a:ext cx="2184400" cy="558800"/>
          </a:xfrm>
          <a:prstGeom prst="rect">
            <a:avLst/>
          </a:prstGeom>
          <a:solidFill>
            <a:srgbClr val="000000">
              <a:alpha val="0"/>
            </a:srgbClr>
          </a:solidFill>
          <a:ln w="12700">
            <a:solidFill>
              <a:srgbClr val="A1A1A1"/>
            </a:solidFill>
          </a:ln>
        </p:spPr>
      </p:sp>
      <p:sp>
        <p:nvSpPr>
          <p:cNvPr id="36" name="AutoShape 36"/>
          <p:cNvSpPr/>
          <p:nvPr/>
        </p:nvSpPr>
        <p:spPr>
          <a:xfrm>
            <a:off x="12014200" y="5194300"/>
            <a:ext cx="3327400" cy="558800"/>
          </a:xfrm>
          <a:prstGeom prst="rect">
            <a:avLst/>
          </a:prstGeom>
          <a:solidFill>
            <a:srgbClr val="000000">
              <a:alpha val="0"/>
            </a:srgbClr>
          </a:solidFill>
          <a:ln w="12700">
            <a:solidFill>
              <a:srgbClr val="A1A1A1"/>
            </a:solidFill>
          </a:ln>
        </p:spPr>
      </p:sp>
      <p:sp>
        <p:nvSpPr>
          <p:cNvPr id="37" name="AutoShape 37"/>
          <p:cNvSpPr/>
          <p:nvPr/>
        </p:nvSpPr>
        <p:spPr>
          <a:xfrm>
            <a:off x="889000" y="5753100"/>
            <a:ext cx="5537200" cy="558800"/>
          </a:xfrm>
          <a:prstGeom prst="rect">
            <a:avLst/>
          </a:prstGeom>
          <a:solidFill>
            <a:srgbClr val="000000">
              <a:alpha val="0"/>
            </a:srgbClr>
          </a:solidFill>
          <a:ln w="12700">
            <a:solidFill>
              <a:srgbClr val="A1A1A1"/>
            </a:solidFill>
          </a:ln>
        </p:spPr>
      </p:sp>
      <p:sp>
        <p:nvSpPr>
          <p:cNvPr id="38" name="AutoShape 38"/>
          <p:cNvSpPr/>
          <p:nvPr/>
        </p:nvSpPr>
        <p:spPr>
          <a:xfrm>
            <a:off x="6426200" y="5753100"/>
            <a:ext cx="3390900" cy="558800"/>
          </a:xfrm>
          <a:prstGeom prst="rect">
            <a:avLst/>
          </a:prstGeom>
          <a:solidFill>
            <a:srgbClr val="000000">
              <a:alpha val="0"/>
            </a:srgbClr>
          </a:solidFill>
          <a:ln w="12700">
            <a:solidFill>
              <a:srgbClr val="A1A1A1"/>
            </a:solidFill>
          </a:ln>
        </p:spPr>
      </p:sp>
      <p:sp>
        <p:nvSpPr>
          <p:cNvPr id="39" name="AutoShape 39"/>
          <p:cNvSpPr/>
          <p:nvPr/>
        </p:nvSpPr>
        <p:spPr>
          <a:xfrm>
            <a:off x="9829800" y="5753100"/>
            <a:ext cx="2184400" cy="558800"/>
          </a:xfrm>
          <a:prstGeom prst="rect">
            <a:avLst/>
          </a:prstGeom>
          <a:solidFill>
            <a:srgbClr val="000000">
              <a:alpha val="0"/>
            </a:srgbClr>
          </a:solidFill>
          <a:ln w="12700">
            <a:solidFill>
              <a:srgbClr val="A1A1A1"/>
            </a:solidFill>
          </a:ln>
        </p:spPr>
      </p:sp>
      <p:sp>
        <p:nvSpPr>
          <p:cNvPr id="40" name="AutoShape 40"/>
          <p:cNvSpPr/>
          <p:nvPr/>
        </p:nvSpPr>
        <p:spPr>
          <a:xfrm>
            <a:off x="12014200" y="5753100"/>
            <a:ext cx="3327400" cy="558800"/>
          </a:xfrm>
          <a:prstGeom prst="rect">
            <a:avLst/>
          </a:prstGeom>
          <a:solidFill>
            <a:srgbClr val="000000">
              <a:alpha val="0"/>
            </a:srgbClr>
          </a:solidFill>
          <a:ln w="12700">
            <a:solidFill>
              <a:srgbClr val="A1A1A1"/>
            </a:solidFill>
          </a:ln>
        </p:spPr>
      </p:sp>
      <p:sp>
        <p:nvSpPr>
          <p:cNvPr id="41" name="AutoShape 41"/>
          <p:cNvSpPr/>
          <p:nvPr/>
        </p:nvSpPr>
        <p:spPr>
          <a:xfrm>
            <a:off x="889000" y="6311900"/>
            <a:ext cx="5537200" cy="558800"/>
          </a:xfrm>
          <a:prstGeom prst="rect">
            <a:avLst/>
          </a:prstGeom>
          <a:solidFill>
            <a:srgbClr val="000000">
              <a:alpha val="0"/>
            </a:srgbClr>
          </a:solidFill>
          <a:ln w="12700">
            <a:solidFill>
              <a:srgbClr val="A1A1A1"/>
            </a:solidFill>
          </a:ln>
        </p:spPr>
      </p:sp>
      <p:sp>
        <p:nvSpPr>
          <p:cNvPr id="42" name="AutoShape 42"/>
          <p:cNvSpPr/>
          <p:nvPr/>
        </p:nvSpPr>
        <p:spPr>
          <a:xfrm>
            <a:off x="6426200" y="6311900"/>
            <a:ext cx="3390900" cy="558800"/>
          </a:xfrm>
          <a:prstGeom prst="rect">
            <a:avLst/>
          </a:prstGeom>
          <a:solidFill>
            <a:srgbClr val="000000">
              <a:alpha val="0"/>
            </a:srgbClr>
          </a:solidFill>
          <a:ln w="12700">
            <a:solidFill>
              <a:srgbClr val="A1A1A1"/>
            </a:solidFill>
          </a:ln>
        </p:spPr>
      </p:sp>
      <p:sp>
        <p:nvSpPr>
          <p:cNvPr id="43" name="AutoShape 43"/>
          <p:cNvSpPr/>
          <p:nvPr/>
        </p:nvSpPr>
        <p:spPr>
          <a:xfrm>
            <a:off x="9829800" y="6311900"/>
            <a:ext cx="2184400" cy="558800"/>
          </a:xfrm>
          <a:prstGeom prst="rect">
            <a:avLst/>
          </a:prstGeom>
          <a:solidFill>
            <a:srgbClr val="000000">
              <a:alpha val="0"/>
            </a:srgbClr>
          </a:solidFill>
          <a:ln w="12700">
            <a:solidFill>
              <a:srgbClr val="A1A1A1"/>
            </a:solidFill>
          </a:ln>
        </p:spPr>
      </p:sp>
      <p:sp>
        <p:nvSpPr>
          <p:cNvPr id="44" name="AutoShape 44"/>
          <p:cNvSpPr/>
          <p:nvPr/>
        </p:nvSpPr>
        <p:spPr>
          <a:xfrm>
            <a:off x="12014200" y="6311900"/>
            <a:ext cx="3327400" cy="558800"/>
          </a:xfrm>
          <a:prstGeom prst="rect">
            <a:avLst/>
          </a:prstGeom>
          <a:solidFill>
            <a:srgbClr val="000000">
              <a:alpha val="0"/>
            </a:srgbClr>
          </a:solidFill>
          <a:ln w="12700">
            <a:solidFill>
              <a:srgbClr val="A1A1A1"/>
            </a:solidFill>
          </a:ln>
        </p:spPr>
      </p:sp>
      <p:sp>
        <p:nvSpPr>
          <p:cNvPr id="45" name="AutoShape 45"/>
          <p:cNvSpPr/>
          <p:nvPr/>
        </p:nvSpPr>
        <p:spPr>
          <a:xfrm>
            <a:off x="889000" y="6870700"/>
            <a:ext cx="5537200" cy="558800"/>
          </a:xfrm>
          <a:prstGeom prst="rect">
            <a:avLst/>
          </a:prstGeom>
          <a:solidFill>
            <a:srgbClr val="000000">
              <a:alpha val="0"/>
            </a:srgbClr>
          </a:solidFill>
          <a:ln w="12700">
            <a:solidFill>
              <a:srgbClr val="A1A1A1"/>
            </a:solidFill>
          </a:ln>
        </p:spPr>
      </p:sp>
      <p:sp>
        <p:nvSpPr>
          <p:cNvPr id="46" name="AutoShape 46"/>
          <p:cNvSpPr/>
          <p:nvPr/>
        </p:nvSpPr>
        <p:spPr>
          <a:xfrm>
            <a:off x="6426200" y="6870700"/>
            <a:ext cx="3390900" cy="558800"/>
          </a:xfrm>
          <a:prstGeom prst="rect">
            <a:avLst/>
          </a:prstGeom>
          <a:solidFill>
            <a:srgbClr val="000000">
              <a:alpha val="0"/>
            </a:srgbClr>
          </a:solidFill>
          <a:ln w="12700">
            <a:solidFill>
              <a:srgbClr val="A1A1A1"/>
            </a:solidFill>
          </a:ln>
        </p:spPr>
      </p:sp>
      <p:sp>
        <p:nvSpPr>
          <p:cNvPr id="47" name="AutoShape 47"/>
          <p:cNvSpPr/>
          <p:nvPr/>
        </p:nvSpPr>
        <p:spPr>
          <a:xfrm>
            <a:off x="9829800" y="6870700"/>
            <a:ext cx="2184400" cy="558800"/>
          </a:xfrm>
          <a:prstGeom prst="rect">
            <a:avLst/>
          </a:prstGeom>
          <a:solidFill>
            <a:srgbClr val="000000">
              <a:alpha val="0"/>
            </a:srgbClr>
          </a:solidFill>
          <a:ln w="12700">
            <a:solidFill>
              <a:srgbClr val="A1A1A1"/>
            </a:solidFill>
          </a:ln>
        </p:spPr>
      </p:sp>
      <p:sp>
        <p:nvSpPr>
          <p:cNvPr id="48" name="AutoShape 48"/>
          <p:cNvSpPr/>
          <p:nvPr/>
        </p:nvSpPr>
        <p:spPr>
          <a:xfrm>
            <a:off x="12014200" y="6870700"/>
            <a:ext cx="3327400" cy="558800"/>
          </a:xfrm>
          <a:prstGeom prst="rect">
            <a:avLst/>
          </a:prstGeom>
          <a:solidFill>
            <a:srgbClr val="000000">
              <a:alpha val="0"/>
            </a:srgbClr>
          </a:solidFill>
          <a:ln w="12700">
            <a:solidFill>
              <a:srgbClr val="A1A1A1"/>
            </a:solidFill>
          </a:ln>
        </p:spPr>
      </p:sp>
      <p:sp>
        <p:nvSpPr>
          <p:cNvPr id="49" name="AutoShape 49"/>
          <p:cNvSpPr/>
          <p:nvPr/>
        </p:nvSpPr>
        <p:spPr>
          <a:xfrm>
            <a:off x="889000" y="7429500"/>
            <a:ext cx="5537200" cy="558800"/>
          </a:xfrm>
          <a:prstGeom prst="rect">
            <a:avLst/>
          </a:prstGeom>
          <a:solidFill>
            <a:srgbClr val="000000">
              <a:alpha val="0"/>
            </a:srgbClr>
          </a:solidFill>
          <a:ln w="12700">
            <a:solidFill>
              <a:srgbClr val="A1A1A1"/>
            </a:solidFill>
          </a:ln>
        </p:spPr>
      </p:sp>
      <p:sp>
        <p:nvSpPr>
          <p:cNvPr id="50" name="AutoShape 50"/>
          <p:cNvSpPr/>
          <p:nvPr/>
        </p:nvSpPr>
        <p:spPr>
          <a:xfrm>
            <a:off x="6426200" y="7429500"/>
            <a:ext cx="3390900" cy="558800"/>
          </a:xfrm>
          <a:prstGeom prst="rect">
            <a:avLst/>
          </a:prstGeom>
          <a:solidFill>
            <a:srgbClr val="000000">
              <a:alpha val="0"/>
            </a:srgbClr>
          </a:solidFill>
          <a:ln w="12700">
            <a:solidFill>
              <a:srgbClr val="A1A1A1"/>
            </a:solidFill>
          </a:ln>
        </p:spPr>
      </p:sp>
      <p:sp>
        <p:nvSpPr>
          <p:cNvPr id="51" name="AutoShape 51"/>
          <p:cNvSpPr/>
          <p:nvPr/>
        </p:nvSpPr>
        <p:spPr>
          <a:xfrm>
            <a:off x="9829800" y="7429500"/>
            <a:ext cx="2184400" cy="558800"/>
          </a:xfrm>
          <a:prstGeom prst="rect">
            <a:avLst/>
          </a:prstGeom>
          <a:solidFill>
            <a:srgbClr val="000000">
              <a:alpha val="0"/>
            </a:srgbClr>
          </a:solidFill>
          <a:ln w="12700">
            <a:solidFill>
              <a:srgbClr val="A1A1A1"/>
            </a:solidFill>
          </a:ln>
        </p:spPr>
      </p:sp>
      <p:sp>
        <p:nvSpPr>
          <p:cNvPr id="52" name="AutoShape 52"/>
          <p:cNvSpPr/>
          <p:nvPr/>
        </p:nvSpPr>
        <p:spPr>
          <a:xfrm>
            <a:off x="12014200" y="7429500"/>
            <a:ext cx="3327400" cy="558800"/>
          </a:xfrm>
          <a:prstGeom prst="rect">
            <a:avLst/>
          </a:prstGeom>
          <a:solidFill>
            <a:srgbClr val="000000">
              <a:alpha val="0"/>
            </a:srgbClr>
          </a:solidFill>
          <a:ln w="12700">
            <a:solidFill>
              <a:srgbClr val="A1A1A1"/>
            </a:solidFill>
          </a:ln>
        </p:spPr>
      </p:sp>
      <p:sp>
        <p:nvSpPr>
          <p:cNvPr id="53" name="AutoShape 53"/>
          <p:cNvSpPr/>
          <p:nvPr/>
        </p:nvSpPr>
        <p:spPr>
          <a:xfrm>
            <a:off x="889000" y="7988300"/>
            <a:ext cx="5537200" cy="558800"/>
          </a:xfrm>
          <a:prstGeom prst="rect">
            <a:avLst/>
          </a:prstGeom>
          <a:solidFill>
            <a:srgbClr val="000000">
              <a:alpha val="0"/>
            </a:srgbClr>
          </a:solidFill>
          <a:ln w="12700">
            <a:solidFill>
              <a:srgbClr val="A1A1A1"/>
            </a:solidFill>
          </a:ln>
        </p:spPr>
      </p:sp>
      <p:sp>
        <p:nvSpPr>
          <p:cNvPr id="54" name="AutoShape 54"/>
          <p:cNvSpPr/>
          <p:nvPr/>
        </p:nvSpPr>
        <p:spPr>
          <a:xfrm>
            <a:off x="6426200" y="7988300"/>
            <a:ext cx="3390900" cy="558800"/>
          </a:xfrm>
          <a:prstGeom prst="rect">
            <a:avLst/>
          </a:prstGeom>
          <a:solidFill>
            <a:srgbClr val="000000">
              <a:alpha val="0"/>
            </a:srgbClr>
          </a:solidFill>
          <a:ln w="12700">
            <a:solidFill>
              <a:srgbClr val="A1A1A1"/>
            </a:solidFill>
          </a:ln>
        </p:spPr>
      </p:sp>
      <p:sp>
        <p:nvSpPr>
          <p:cNvPr id="55" name="AutoShape 55"/>
          <p:cNvSpPr/>
          <p:nvPr/>
        </p:nvSpPr>
        <p:spPr>
          <a:xfrm>
            <a:off x="9829800" y="7988300"/>
            <a:ext cx="2184400" cy="558800"/>
          </a:xfrm>
          <a:prstGeom prst="rect">
            <a:avLst/>
          </a:prstGeom>
          <a:solidFill>
            <a:srgbClr val="000000">
              <a:alpha val="0"/>
            </a:srgbClr>
          </a:solidFill>
          <a:ln w="12700">
            <a:solidFill>
              <a:srgbClr val="A1A1A1"/>
            </a:solidFill>
          </a:ln>
        </p:spPr>
      </p:sp>
      <p:sp>
        <p:nvSpPr>
          <p:cNvPr id="56" name="AutoShape 56"/>
          <p:cNvSpPr/>
          <p:nvPr/>
        </p:nvSpPr>
        <p:spPr>
          <a:xfrm>
            <a:off x="12014200" y="7988300"/>
            <a:ext cx="3327400" cy="558800"/>
          </a:xfrm>
          <a:prstGeom prst="rect">
            <a:avLst/>
          </a:prstGeom>
          <a:solidFill>
            <a:srgbClr val="000000">
              <a:alpha val="0"/>
            </a:srgbClr>
          </a:solidFill>
          <a:ln w="12700">
            <a:solidFill>
              <a:srgbClr val="A1A1A1"/>
            </a:solidFill>
          </a:ln>
        </p:spPr>
      </p:sp>
      <p:sp>
        <p:nvSpPr>
          <p:cNvPr id="57" name="TextBox 57"/>
          <p:cNvSpPr txBox="1"/>
          <p:nvPr/>
        </p:nvSpPr>
        <p:spPr>
          <a:xfrm>
            <a:off x="876300" y="292100"/>
            <a:ext cx="14490700" cy="254000"/>
          </a:xfrm>
          <a:prstGeom prst="rect">
            <a:avLst/>
          </a:prstGeom>
          <a:solidFill>
            <a:srgbClr val="000000">
              <a:alpha val="0"/>
            </a:srgbClr>
          </a:solidFill>
        </p:spPr>
        <p:txBody>
          <a:bodyPr lIns="0" tIns="0" rIns="0" bIns="0" rtlCol="0" anchor="ctr"/>
          <a:lstStyle/>
          <a:p>
            <a:pPr indent="0" algn="l">
              <a:lnSpc>
                <a:spcPct val="120000"/>
              </a:lnSpc>
              <a:defRPr/>
            </a:pPr>
            <a:r>
              <a:rPr lang="en-US" sz="3200" b="1">
                <a:solidFill>
                  <a:srgbClr val="000000"/>
                </a:solidFill>
                <a:latin typeface="Ubuntu"/>
              </a:rPr>
              <a:t>Mathematical Formulations and Methodology</a:t>
            </a:r>
            <a:endParaRPr lang="en-US" sz="2000"/>
          </a:p>
        </p:txBody>
      </p:sp>
      <p:sp>
        <p:nvSpPr>
          <p:cNvPr id="58" name="TextBox 58"/>
          <p:cNvSpPr txBox="1"/>
          <p:nvPr/>
        </p:nvSpPr>
        <p:spPr>
          <a:xfrm>
            <a:off x="977900" y="990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Formula Type</a:t>
            </a:r>
            <a:endParaRPr lang="en-US" sz="2000"/>
          </a:p>
        </p:txBody>
      </p:sp>
      <p:sp>
        <p:nvSpPr>
          <p:cNvPr id="59" name="TextBox 59"/>
          <p:cNvSpPr txBox="1"/>
          <p:nvPr/>
        </p:nvSpPr>
        <p:spPr>
          <a:xfrm>
            <a:off x="6515100" y="990600"/>
            <a:ext cx="32131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Simple Meaning</a:t>
            </a:r>
            <a:endParaRPr lang="en-US" sz="2000"/>
          </a:p>
        </p:txBody>
      </p:sp>
      <p:sp>
        <p:nvSpPr>
          <p:cNvPr id="60" name="TextBox 60"/>
          <p:cNvSpPr txBox="1"/>
          <p:nvPr/>
        </p:nvSpPr>
        <p:spPr>
          <a:xfrm>
            <a:off x="9918700" y="9906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Used In</a:t>
            </a:r>
            <a:endParaRPr lang="en-US" sz="2000"/>
          </a:p>
        </p:txBody>
      </p:sp>
      <p:sp>
        <p:nvSpPr>
          <p:cNvPr id="61" name="TextBox 61"/>
          <p:cNvSpPr txBox="1"/>
          <p:nvPr/>
        </p:nvSpPr>
        <p:spPr>
          <a:xfrm>
            <a:off x="12103100" y="990600"/>
            <a:ext cx="31496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Purpose</a:t>
            </a:r>
            <a:endParaRPr lang="en-US" sz="2000"/>
          </a:p>
        </p:txBody>
      </p:sp>
      <p:sp>
        <p:nvSpPr>
          <p:cNvPr id="62" name="TextBox 62"/>
          <p:cNvSpPr txBox="1"/>
          <p:nvPr/>
        </p:nvSpPr>
        <p:spPr>
          <a:xfrm>
            <a:off x="977900" y="1231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dirty="0">
                <a:solidFill>
                  <a:srgbClr val="000000"/>
                </a:solidFill>
                <a:latin typeface="Poppins"/>
              </a:rPr>
              <a:t>Physical Deviation (dx)</a:t>
            </a:r>
            <a:endParaRPr lang="en-US" sz="2000" dirty="0"/>
          </a:p>
        </p:txBody>
      </p:sp>
      <p:sp>
        <p:nvSpPr>
          <p:cNvPr id="63" name="TextBox 63"/>
          <p:cNvSpPr txBox="1"/>
          <p:nvPr/>
        </p:nvSpPr>
        <p:spPr>
          <a:xfrm>
            <a:off x="6515100" y="1231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Normalized distance from expected physical baseline</a:t>
            </a:r>
            <a:endParaRPr lang="en-US" sz="2000"/>
          </a:p>
        </p:txBody>
      </p:sp>
      <p:sp>
        <p:nvSpPr>
          <p:cNvPr id="64" name="TextBox 64"/>
          <p:cNvSpPr txBox="1"/>
          <p:nvPr/>
        </p:nvSpPr>
        <p:spPr>
          <a:xfrm>
            <a:off x="9918700" y="12319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Both modules</a:t>
            </a:r>
            <a:endParaRPr lang="en-US" sz="2000"/>
          </a:p>
        </p:txBody>
      </p:sp>
      <p:sp>
        <p:nvSpPr>
          <p:cNvPr id="65" name="TextBox 65"/>
          <p:cNvSpPr txBox="1"/>
          <p:nvPr/>
        </p:nvSpPr>
        <p:spPr>
          <a:xfrm>
            <a:off x="12103100" y="12319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Quantifies how far voltage, current, frequency deviate from normal</a:t>
            </a:r>
            <a:endParaRPr lang="en-US" sz="2000"/>
          </a:p>
        </p:txBody>
      </p:sp>
      <p:sp>
        <p:nvSpPr>
          <p:cNvPr id="66" name="TextBox 66"/>
          <p:cNvSpPr txBox="1"/>
          <p:nvPr/>
        </p:nvSpPr>
        <p:spPr>
          <a:xfrm>
            <a:off x="977900" y="19558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Cyber Deviation (dy)</a:t>
            </a:r>
            <a:endParaRPr lang="en-US" sz="2000"/>
          </a:p>
        </p:txBody>
      </p:sp>
      <p:sp>
        <p:nvSpPr>
          <p:cNvPr id="67" name="TextBox 67"/>
          <p:cNvSpPr txBox="1"/>
          <p:nvPr/>
        </p:nvSpPr>
        <p:spPr>
          <a:xfrm>
            <a:off x="6515100" y="1955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Normalized distance from expected cyber baseline</a:t>
            </a:r>
            <a:endParaRPr lang="en-US" sz="2000"/>
          </a:p>
        </p:txBody>
      </p:sp>
      <p:sp>
        <p:nvSpPr>
          <p:cNvPr id="68" name="TextBox 68"/>
          <p:cNvSpPr txBox="1"/>
          <p:nvPr/>
        </p:nvSpPr>
        <p:spPr>
          <a:xfrm>
            <a:off x="9918700" y="19558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Both modules</a:t>
            </a:r>
            <a:endParaRPr lang="en-US" sz="2000"/>
          </a:p>
        </p:txBody>
      </p:sp>
      <p:sp>
        <p:nvSpPr>
          <p:cNvPr id="69" name="TextBox 69"/>
          <p:cNvSpPr txBox="1"/>
          <p:nvPr/>
        </p:nvSpPr>
        <p:spPr>
          <a:xfrm>
            <a:off x="12103100" y="19558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Quantifies latency, packet loss, communication anomalies</a:t>
            </a:r>
            <a:endParaRPr lang="en-US" sz="2000"/>
          </a:p>
        </p:txBody>
      </p:sp>
      <p:sp>
        <p:nvSpPr>
          <p:cNvPr id="70" name="TextBox 70"/>
          <p:cNvSpPr txBox="1"/>
          <p:nvPr/>
        </p:nvSpPr>
        <p:spPr>
          <a:xfrm>
            <a:off x="977900" y="2667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Anomaly Score Si(t) = wi(dx + dy)</a:t>
            </a:r>
            <a:endParaRPr lang="en-US" sz="2000"/>
          </a:p>
        </p:txBody>
      </p:sp>
      <p:sp>
        <p:nvSpPr>
          <p:cNvPr id="71" name="TextBox 71"/>
          <p:cNvSpPr txBox="1"/>
          <p:nvPr/>
        </p:nvSpPr>
        <p:spPr>
          <a:xfrm>
            <a:off x="6515100" y="2667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Weighted sum of physical and cyber deviations</a:t>
            </a:r>
            <a:endParaRPr lang="en-US" sz="2000"/>
          </a:p>
        </p:txBody>
      </p:sp>
      <p:sp>
        <p:nvSpPr>
          <p:cNvPr id="72" name="TextBox 72"/>
          <p:cNvSpPr txBox="1"/>
          <p:nvPr/>
        </p:nvSpPr>
        <p:spPr>
          <a:xfrm>
            <a:off x="9918700" y="2667000"/>
            <a:ext cx="2006600" cy="6350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Rapid SCADA Live, Experiment Running</a:t>
            </a:r>
            <a:endParaRPr lang="en-US" sz="2000"/>
          </a:p>
        </p:txBody>
      </p:sp>
      <p:sp>
        <p:nvSpPr>
          <p:cNvPr id="73" name="TextBox 73"/>
          <p:cNvSpPr txBox="1"/>
          <p:nvPr/>
        </p:nvSpPr>
        <p:spPr>
          <a:xfrm>
            <a:off x="12103100" y="26670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Combines both domains into single interpretable risk metric</a:t>
            </a:r>
            <a:endParaRPr lang="en-US" sz="2000"/>
          </a:p>
        </p:txBody>
      </p:sp>
      <p:sp>
        <p:nvSpPr>
          <p:cNvPr id="74" name="TextBox 74"/>
          <p:cNvSpPr txBox="1"/>
          <p:nvPr/>
        </p:nvSpPr>
        <p:spPr>
          <a:xfrm>
            <a:off x="977900" y="3390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Threshold Rule</a:t>
            </a:r>
            <a:endParaRPr lang="en-US" sz="2000"/>
          </a:p>
        </p:txBody>
      </p:sp>
      <p:sp>
        <p:nvSpPr>
          <p:cNvPr id="75" name="TextBox 75"/>
          <p:cNvSpPr txBox="1"/>
          <p:nvPr/>
        </p:nvSpPr>
        <p:spPr>
          <a:xfrm>
            <a:off x="6515100" y="3390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If Si(t) &gt; threshold then INCREASE AUDIT else MAINTAIN AUDIT</a:t>
            </a:r>
            <a:endParaRPr lang="en-US" sz="2000"/>
          </a:p>
        </p:txBody>
      </p:sp>
      <p:sp>
        <p:nvSpPr>
          <p:cNvPr id="76" name="TextBox 76"/>
          <p:cNvSpPr txBox="1"/>
          <p:nvPr/>
        </p:nvSpPr>
        <p:spPr>
          <a:xfrm>
            <a:off x="9918700" y="33909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Rapid SCADA Live</a:t>
            </a:r>
            <a:endParaRPr lang="en-US" sz="2000"/>
          </a:p>
        </p:txBody>
      </p:sp>
      <p:sp>
        <p:nvSpPr>
          <p:cNvPr id="77" name="TextBox 77"/>
          <p:cNvSpPr txBox="1"/>
          <p:nvPr/>
        </p:nvSpPr>
        <p:spPr>
          <a:xfrm>
            <a:off x="12103100" y="33909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dirty="0">
                <a:solidFill>
                  <a:srgbClr val="000000"/>
                </a:solidFill>
                <a:latin typeface="Poppins"/>
              </a:rPr>
              <a:t>Determines audit escalation requirement based on score</a:t>
            </a:r>
            <a:endParaRPr lang="en-US" sz="2000" dirty="0"/>
          </a:p>
        </p:txBody>
      </p:sp>
      <p:sp>
        <p:nvSpPr>
          <p:cNvPr id="78" name="TextBox 78"/>
          <p:cNvSpPr txBox="1"/>
          <p:nvPr/>
        </p:nvSpPr>
        <p:spPr>
          <a:xfrm>
            <a:off x="977900" y="39497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Risk Mitigation</a:t>
            </a:r>
            <a:endParaRPr lang="en-US" sz="2000"/>
          </a:p>
        </p:txBody>
      </p:sp>
      <p:sp>
        <p:nvSpPr>
          <p:cNvPr id="79" name="TextBox 79"/>
          <p:cNvSpPr txBox="1"/>
          <p:nvPr/>
        </p:nvSpPr>
        <p:spPr>
          <a:xfrm>
            <a:off x="6515100" y="39497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Percentage of high-risk events prevented or mitigated</a:t>
            </a:r>
            <a:endParaRPr lang="en-US" sz="2000"/>
          </a:p>
        </p:txBody>
      </p:sp>
      <p:sp>
        <p:nvSpPr>
          <p:cNvPr id="80" name="TextBox 80"/>
          <p:cNvSpPr txBox="1"/>
          <p:nvPr/>
        </p:nvSpPr>
        <p:spPr>
          <a:xfrm>
            <a:off x="9918700" y="39497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81" name="TextBox 81"/>
          <p:cNvSpPr txBox="1"/>
          <p:nvPr/>
        </p:nvSpPr>
        <p:spPr>
          <a:xfrm>
            <a:off x="12103100" y="39497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Measures effectiveness in reducing operational risk exposure</a:t>
            </a:r>
            <a:endParaRPr lang="en-US" sz="2000"/>
          </a:p>
        </p:txBody>
      </p:sp>
      <p:sp>
        <p:nvSpPr>
          <p:cNvPr id="82" name="TextBox 82"/>
          <p:cNvSpPr txBox="1"/>
          <p:nvPr/>
        </p:nvSpPr>
        <p:spPr>
          <a:xfrm>
            <a:off x="977900" y="45085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Cost Efficiency</a:t>
            </a:r>
            <a:endParaRPr lang="en-US" sz="2000"/>
          </a:p>
        </p:txBody>
      </p:sp>
      <p:sp>
        <p:nvSpPr>
          <p:cNvPr id="83" name="TextBox 83"/>
          <p:cNvSpPr txBox="1"/>
          <p:nvPr/>
        </p:nvSpPr>
        <p:spPr>
          <a:xfrm>
            <a:off x="6515100" y="45085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Ratio of audit resources saved to baseline audit cost</a:t>
            </a:r>
            <a:endParaRPr lang="en-US" sz="2000"/>
          </a:p>
        </p:txBody>
      </p:sp>
      <p:sp>
        <p:nvSpPr>
          <p:cNvPr id="84" name="TextBox 84"/>
          <p:cNvSpPr txBox="1"/>
          <p:nvPr/>
        </p:nvSpPr>
        <p:spPr>
          <a:xfrm>
            <a:off x="9918700" y="45085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85" name="TextBox 85"/>
          <p:cNvSpPr txBox="1"/>
          <p:nvPr/>
        </p:nvSpPr>
        <p:spPr>
          <a:xfrm>
            <a:off x="12103100" y="45085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Quantifies operational cost savings from intelligent audit allocation</a:t>
            </a:r>
            <a:endParaRPr lang="en-US" sz="2000"/>
          </a:p>
        </p:txBody>
      </p:sp>
      <p:sp>
        <p:nvSpPr>
          <p:cNvPr id="86" name="TextBox 86"/>
          <p:cNvSpPr txBox="1"/>
          <p:nvPr/>
        </p:nvSpPr>
        <p:spPr>
          <a:xfrm>
            <a:off x="977900" y="5232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Attack Rate Reduction</a:t>
            </a:r>
            <a:endParaRPr lang="en-US" sz="2000"/>
          </a:p>
        </p:txBody>
      </p:sp>
      <p:sp>
        <p:nvSpPr>
          <p:cNvPr id="87" name="TextBox 87"/>
          <p:cNvSpPr txBox="1"/>
          <p:nvPr/>
        </p:nvSpPr>
        <p:spPr>
          <a:xfrm>
            <a:off x="6515100" y="52324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Percentage decrease in successful attack events vs baseline</a:t>
            </a:r>
            <a:endParaRPr lang="en-US" sz="2000"/>
          </a:p>
        </p:txBody>
      </p:sp>
      <p:sp>
        <p:nvSpPr>
          <p:cNvPr id="88" name="TextBox 88"/>
          <p:cNvSpPr txBox="1"/>
          <p:nvPr/>
        </p:nvSpPr>
        <p:spPr>
          <a:xfrm>
            <a:off x="9918700" y="52324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89" name="TextBox 89"/>
          <p:cNvSpPr txBox="1"/>
          <p:nvPr/>
        </p:nvSpPr>
        <p:spPr>
          <a:xfrm>
            <a:off x="12103100" y="5232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Measures security improvement from framework deployment</a:t>
            </a:r>
            <a:endParaRPr lang="en-US" sz="2000"/>
          </a:p>
        </p:txBody>
      </p:sp>
      <p:sp>
        <p:nvSpPr>
          <p:cNvPr id="90" name="TextBox 90"/>
          <p:cNvSpPr txBox="1"/>
          <p:nvPr/>
        </p:nvSpPr>
        <p:spPr>
          <a:xfrm>
            <a:off x="977900" y="57912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Accuracy = (TP+TN)/(TP+TN+FP+FN)</a:t>
            </a:r>
            <a:endParaRPr lang="en-US" sz="2000"/>
          </a:p>
        </p:txBody>
      </p:sp>
      <p:sp>
        <p:nvSpPr>
          <p:cNvPr id="91" name="TextBox 91"/>
          <p:cNvSpPr txBox="1"/>
          <p:nvPr/>
        </p:nvSpPr>
        <p:spPr>
          <a:xfrm>
            <a:off x="6515100" y="57912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Overall correctness across all classes</a:t>
            </a:r>
            <a:endParaRPr lang="en-US" sz="2000"/>
          </a:p>
        </p:txBody>
      </p:sp>
      <p:sp>
        <p:nvSpPr>
          <p:cNvPr id="92" name="TextBox 92"/>
          <p:cNvSpPr txBox="1"/>
          <p:nvPr/>
        </p:nvSpPr>
        <p:spPr>
          <a:xfrm>
            <a:off x="9918700" y="57912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93" name="TextBox 93"/>
          <p:cNvSpPr txBox="1"/>
          <p:nvPr/>
        </p:nvSpPr>
        <p:spPr>
          <a:xfrm>
            <a:off x="12103100" y="57912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Standard classification accuracy for anomaly detection</a:t>
            </a:r>
            <a:endParaRPr lang="en-US" sz="2000"/>
          </a:p>
        </p:txBody>
      </p:sp>
      <p:sp>
        <p:nvSpPr>
          <p:cNvPr id="94" name="TextBox 94"/>
          <p:cNvSpPr txBox="1"/>
          <p:nvPr/>
        </p:nvSpPr>
        <p:spPr>
          <a:xfrm>
            <a:off x="977900" y="6350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Recall = TP/(TP+FN)</a:t>
            </a:r>
            <a:endParaRPr lang="en-US" sz="2000"/>
          </a:p>
        </p:txBody>
      </p:sp>
      <p:sp>
        <p:nvSpPr>
          <p:cNvPr id="95" name="TextBox 95"/>
          <p:cNvSpPr txBox="1"/>
          <p:nvPr/>
        </p:nvSpPr>
        <p:spPr>
          <a:xfrm>
            <a:off x="6515100" y="6350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Proportion of actual anomalies correctly identified</a:t>
            </a:r>
            <a:endParaRPr lang="en-US" sz="2000"/>
          </a:p>
        </p:txBody>
      </p:sp>
      <p:sp>
        <p:nvSpPr>
          <p:cNvPr id="96" name="TextBox 96"/>
          <p:cNvSpPr txBox="1"/>
          <p:nvPr/>
        </p:nvSpPr>
        <p:spPr>
          <a:xfrm>
            <a:off x="9918700" y="63500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97" name="TextBox 97"/>
          <p:cNvSpPr txBox="1"/>
          <p:nvPr/>
        </p:nvSpPr>
        <p:spPr>
          <a:xfrm>
            <a:off x="12103100" y="6350000"/>
            <a:ext cx="31496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Measures sensitivity to true anomaly events</a:t>
            </a:r>
            <a:endParaRPr lang="en-US" sz="2000"/>
          </a:p>
        </p:txBody>
      </p:sp>
      <p:sp>
        <p:nvSpPr>
          <p:cNvPr id="98" name="TextBox 98"/>
          <p:cNvSpPr txBox="1"/>
          <p:nvPr/>
        </p:nvSpPr>
        <p:spPr>
          <a:xfrm>
            <a:off x="977900" y="6908800"/>
            <a:ext cx="53594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F1 Score = 2×(Precision×Recall)/(Precision+Recall)</a:t>
            </a:r>
            <a:endParaRPr lang="en-US" sz="2000"/>
          </a:p>
        </p:txBody>
      </p:sp>
      <p:sp>
        <p:nvSpPr>
          <p:cNvPr id="99" name="TextBox 99"/>
          <p:cNvSpPr txBox="1"/>
          <p:nvPr/>
        </p:nvSpPr>
        <p:spPr>
          <a:xfrm>
            <a:off x="6515100" y="6908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Harmonic mean balancing precision and recall</a:t>
            </a:r>
            <a:endParaRPr lang="en-US" sz="2000"/>
          </a:p>
        </p:txBody>
      </p:sp>
      <p:sp>
        <p:nvSpPr>
          <p:cNvPr id="100" name="TextBox 100"/>
          <p:cNvSpPr txBox="1"/>
          <p:nvPr/>
        </p:nvSpPr>
        <p:spPr>
          <a:xfrm>
            <a:off x="9918700" y="69088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Experiment Running evaluation</a:t>
            </a:r>
            <a:endParaRPr lang="en-US" sz="2000"/>
          </a:p>
        </p:txBody>
      </p:sp>
      <p:sp>
        <p:nvSpPr>
          <p:cNvPr id="101" name="TextBox 101"/>
          <p:cNvSpPr txBox="1"/>
          <p:nvPr/>
        </p:nvSpPr>
        <p:spPr>
          <a:xfrm>
            <a:off x="12103100" y="69088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Balances false positives and false negatives under class imbalance</a:t>
            </a:r>
            <a:endParaRPr lang="en-US" sz="2000"/>
          </a:p>
        </p:txBody>
      </p:sp>
      <p:sp>
        <p:nvSpPr>
          <p:cNvPr id="102" name="TextBox 102"/>
          <p:cNvSpPr txBox="1"/>
          <p:nvPr/>
        </p:nvSpPr>
        <p:spPr>
          <a:xfrm>
            <a:off x="977900" y="7467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SCADA Calculated Channel</a:t>
            </a:r>
            <a:endParaRPr lang="en-US" sz="2000"/>
          </a:p>
        </p:txBody>
      </p:sp>
      <p:sp>
        <p:nvSpPr>
          <p:cNvPr id="103" name="TextBox 103"/>
          <p:cNvSpPr txBox="1"/>
          <p:nvPr/>
        </p:nvSpPr>
        <p:spPr>
          <a:xfrm>
            <a:off x="6515100" y="74676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value = f(input_channels, time, drift_factor)</a:t>
            </a:r>
            <a:endParaRPr lang="en-US" sz="2000"/>
          </a:p>
        </p:txBody>
      </p:sp>
      <p:sp>
        <p:nvSpPr>
          <p:cNvPr id="104" name="TextBox 104"/>
          <p:cNvSpPr txBox="1"/>
          <p:nvPr/>
        </p:nvSpPr>
        <p:spPr>
          <a:xfrm>
            <a:off x="9918700" y="74676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Rapid SCADA Live</a:t>
            </a:r>
            <a:endParaRPr lang="en-US" sz="2000"/>
          </a:p>
        </p:txBody>
      </p:sp>
      <p:sp>
        <p:nvSpPr>
          <p:cNvPr id="105" name="TextBox 105"/>
          <p:cNvSpPr txBox="1"/>
          <p:nvPr/>
        </p:nvSpPr>
        <p:spPr>
          <a:xfrm>
            <a:off x="12103100" y="74676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Generates simulated telemetry with trend and drift for live testing</a:t>
            </a:r>
            <a:endParaRPr lang="en-US" sz="2000"/>
          </a:p>
        </p:txBody>
      </p:sp>
      <p:sp>
        <p:nvSpPr>
          <p:cNvPr id="106" name="TextBox 106"/>
          <p:cNvSpPr txBox="1"/>
          <p:nvPr/>
        </p:nvSpPr>
        <p:spPr>
          <a:xfrm>
            <a:off x="977900" y="8026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Feature Contribution</a:t>
            </a:r>
            <a:endParaRPr lang="en-US" sz="2000"/>
          </a:p>
        </p:txBody>
      </p:sp>
      <p:sp>
        <p:nvSpPr>
          <p:cNvPr id="107" name="TextBox 107"/>
          <p:cNvSpPr txBox="1"/>
          <p:nvPr/>
        </p:nvSpPr>
        <p:spPr>
          <a:xfrm>
            <a:off x="6515100" y="80264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Proportional deviation weight for explainability</a:t>
            </a:r>
            <a:endParaRPr lang="en-US" sz="2000"/>
          </a:p>
        </p:txBody>
      </p:sp>
      <p:sp>
        <p:nvSpPr>
          <p:cNvPr id="108" name="TextBox 108"/>
          <p:cNvSpPr txBox="1"/>
          <p:nvPr/>
        </p:nvSpPr>
        <p:spPr>
          <a:xfrm>
            <a:off x="9918700" y="80264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Rapid SCADA Live</a:t>
            </a:r>
            <a:endParaRPr lang="en-US" sz="2000"/>
          </a:p>
        </p:txBody>
      </p:sp>
      <p:sp>
        <p:nvSpPr>
          <p:cNvPr id="109" name="TextBox 109"/>
          <p:cNvSpPr txBox="1"/>
          <p:nvPr/>
        </p:nvSpPr>
        <p:spPr>
          <a:xfrm>
            <a:off x="12103100" y="8026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1200" b="1">
                <a:solidFill>
                  <a:srgbClr val="000000"/>
                </a:solidFill>
                <a:latin typeface="Poppins"/>
              </a:rPr>
              <a:t>Identifies which features drove each anomaly score for operators</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51000"/>
            <a:ext cx="14490700" cy="6400800"/>
          </a:xfrm>
          <a:prstGeom prst="rect">
            <a:avLst/>
          </a:prstGeom>
          <a:solidFill>
            <a:srgbClr val="000000">
              <a:alpha val="0"/>
            </a:srgbClr>
          </a:solidFill>
          <a:ln w="12700">
            <a:solidFill>
              <a:srgbClr val="A1A1A1"/>
            </a:solidFill>
          </a:ln>
        </p:spPr>
      </p:sp>
      <p:sp>
        <p:nvSpPr>
          <p:cNvPr id="5" name="AutoShape 5"/>
          <p:cNvSpPr/>
          <p:nvPr/>
        </p:nvSpPr>
        <p:spPr>
          <a:xfrm>
            <a:off x="889000" y="1663700"/>
            <a:ext cx="5613400" cy="419100"/>
          </a:xfrm>
          <a:prstGeom prst="rect">
            <a:avLst/>
          </a:prstGeom>
          <a:solidFill>
            <a:srgbClr val="D1D1D1">
              <a:alpha val="71765"/>
            </a:srgbClr>
          </a:solidFill>
          <a:ln w="12700">
            <a:solidFill>
              <a:srgbClr val="A1A1A1"/>
            </a:solidFill>
          </a:ln>
        </p:spPr>
      </p:sp>
      <p:sp>
        <p:nvSpPr>
          <p:cNvPr id="6" name="AutoShape 6"/>
          <p:cNvSpPr/>
          <p:nvPr/>
        </p:nvSpPr>
        <p:spPr>
          <a:xfrm>
            <a:off x="6515100" y="1663700"/>
            <a:ext cx="3124200" cy="419100"/>
          </a:xfrm>
          <a:prstGeom prst="rect">
            <a:avLst/>
          </a:prstGeom>
          <a:solidFill>
            <a:srgbClr val="D1D1D1">
              <a:alpha val="71765"/>
            </a:srgbClr>
          </a:solidFill>
          <a:ln w="12700">
            <a:solidFill>
              <a:srgbClr val="A1A1A1"/>
            </a:solidFill>
          </a:ln>
        </p:spPr>
      </p:sp>
      <p:sp>
        <p:nvSpPr>
          <p:cNvPr id="7" name="AutoShape 7"/>
          <p:cNvSpPr/>
          <p:nvPr/>
        </p:nvSpPr>
        <p:spPr>
          <a:xfrm>
            <a:off x="9639300" y="1663700"/>
            <a:ext cx="2184400" cy="419100"/>
          </a:xfrm>
          <a:prstGeom prst="rect">
            <a:avLst/>
          </a:prstGeom>
          <a:solidFill>
            <a:srgbClr val="D1D1D1">
              <a:alpha val="71765"/>
            </a:srgbClr>
          </a:solidFill>
          <a:ln w="12700">
            <a:solidFill>
              <a:srgbClr val="A1A1A1"/>
            </a:solidFill>
          </a:ln>
        </p:spPr>
      </p:sp>
      <p:sp>
        <p:nvSpPr>
          <p:cNvPr id="8" name="AutoShape 8"/>
          <p:cNvSpPr/>
          <p:nvPr/>
        </p:nvSpPr>
        <p:spPr>
          <a:xfrm>
            <a:off x="11836400" y="1663700"/>
            <a:ext cx="3517900" cy="419100"/>
          </a:xfrm>
          <a:prstGeom prst="rect">
            <a:avLst/>
          </a:prstGeom>
          <a:solidFill>
            <a:srgbClr val="D1D1D1">
              <a:alpha val="71765"/>
            </a:srgbClr>
          </a:solidFill>
          <a:ln w="12700">
            <a:solidFill>
              <a:srgbClr val="A1A1A1"/>
            </a:solidFill>
          </a:ln>
        </p:spPr>
      </p:sp>
      <p:sp>
        <p:nvSpPr>
          <p:cNvPr id="9" name="AutoShape 9"/>
          <p:cNvSpPr/>
          <p:nvPr/>
        </p:nvSpPr>
        <p:spPr>
          <a:xfrm>
            <a:off x="889000" y="2082800"/>
            <a:ext cx="5613400" cy="990600"/>
          </a:xfrm>
          <a:prstGeom prst="rect">
            <a:avLst/>
          </a:prstGeom>
          <a:solidFill>
            <a:srgbClr val="000000">
              <a:alpha val="0"/>
            </a:srgbClr>
          </a:solidFill>
          <a:ln w="12700">
            <a:solidFill>
              <a:srgbClr val="A1A1A1"/>
            </a:solidFill>
          </a:ln>
        </p:spPr>
      </p:sp>
      <p:sp>
        <p:nvSpPr>
          <p:cNvPr id="10" name="AutoShape 10"/>
          <p:cNvSpPr/>
          <p:nvPr/>
        </p:nvSpPr>
        <p:spPr>
          <a:xfrm>
            <a:off x="6515100" y="2082800"/>
            <a:ext cx="3124200" cy="990600"/>
          </a:xfrm>
          <a:prstGeom prst="rect">
            <a:avLst/>
          </a:prstGeom>
          <a:solidFill>
            <a:srgbClr val="000000">
              <a:alpha val="0"/>
            </a:srgbClr>
          </a:solidFill>
          <a:ln w="12700">
            <a:solidFill>
              <a:srgbClr val="A1A1A1"/>
            </a:solidFill>
          </a:ln>
        </p:spPr>
      </p:sp>
      <p:sp>
        <p:nvSpPr>
          <p:cNvPr id="11" name="AutoShape 11"/>
          <p:cNvSpPr/>
          <p:nvPr/>
        </p:nvSpPr>
        <p:spPr>
          <a:xfrm>
            <a:off x="9639300" y="2082800"/>
            <a:ext cx="2184400" cy="990600"/>
          </a:xfrm>
          <a:prstGeom prst="rect">
            <a:avLst/>
          </a:prstGeom>
          <a:solidFill>
            <a:srgbClr val="000000">
              <a:alpha val="0"/>
            </a:srgbClr>
          </a:solidFill>
          <a:ln w="12700">
            <a:solidFill>
              <a:srgbClr val="A1A1A1"/>
            </a:solidFill>
          </a:ln>
        </p:spPr>
      </p:sp>
      <p:sp>
        <p:nvSpPr>
          <p:cNvPr id="12" name="AutoShape 12"/>
          <p:cNvSpPr/>
          <p:nvPr/>
        </p:nvSpPr>
        <p:spPr>
          <a:xfrm>
            <a:off x="11836400" y="2082800"/>
            <a:ext cx="3517900" cy="990600"/>
          </a:xfrm>
          <a:prstGeom prst="rect">
            <a:avLst/>
          </a:prstGeom>
          <a:solidFill>
            <a:srgbClr val="000000">
              <a:alpha val="0"/>
            </a:srgbClr>
          </a:solidFill>
          <a:ln w="12700">
            <a:solidFill>
              <a:srgbClr val="A1A1A1"/>
            </a:solidFill>
          </a:ln>
        </p:spPr>
      </p:sp>
      <p:sp>
        <p:nvSpPr>
          <p:cNvPr id="13" name="AutoShape 13"/>
          <p:cNvSpPr/>
          <p:nvPr/>
        </p:nvSpPr>
        <p:spPr>
          <a:xfrm>
            <a:off x="889000" y="3073400"/>
            <a:ext cx="5613400" cy="990600"/>
          </a:xfrm>
          <a:prstGeom prst="rect">
            <a:avLst/>
          </a:prstGeom>
          <a:solidFill>
            <a:srgbClr val="000000">
              <a:alpha val="0"/>
            </a:srgbClr>
          </a:solidFill>
          <a:ln w="12700">
            <a:solidFill>
              <a:srgbClr val="A1A1A1"/>
            </a:solidFill>
          </a:ln>
        </p:spPr>
      </p:sp>
      <p:sp>
        <p:nvSpPr>
          <p:cNvPr id="14" name="AutoShape 14"/>
          <p:cNvSpPr/>
          <p:nvPr/>
        </p:nvSpPr>
        <p:spPr>
          <a:xfrm>
            <a:off x="6515100" y="3073400"/>
            <a:ext cx="3124200" cy="990600"/>
          </a:xfrm>
          <a:prstGeom prst="rect">
            <a:avLst/>
          </a:prstGeom>
          <a:solidFill>
            <a:srgbClr val="000000">
              <a:alpha val="0"/>
            </a:srgbClr>
          </a:solidFill>
          <a:ln w="12700">
            <a:solidFill>
              <a:srgbClr val="A1A1A1"/>
            </a:solidFill>
          </a:ln>
        </p:spPr>
      </p:sp>
      <p:sp>
        <p:nvSpPr>
          <p:cNvPr id="15" name="AutoShape 15"/>
          <p:cNvSpPr/>
          <p:nvPr/>
        </p:nvSpPr>
        <p:spPr>
          <a:xfrm>
            <a:off x="9639300" y="3073400"/>
            <a:ext cx="2184400" cy="990600"/>
          </a:xfrm>
          <a:prstGeom prst="rect">
            <a:avLst/>
          </a:prstGeom>
          <a:solidFill>
            <a:srgbClr val="000000">
              <a:alpha val="0"/>
            </a:srgbClr>
          </a:solidFill>
          <a:ln w="12700">
            <a:solidFill>
              <a:srgbClr val="A1A1A1"/>
            </a:solidFill>
          </a:ln>
        </p:spPr>
      </p:sp>
      <p:sp>
        <p:nvSpPr>
          <p:cNvPr id="16" name="AutoShape 16"/>
          <p:cNvSpPr/>
          <p:nvPr/>
        </p:nvSpPr>
        <p:spPr>
          <a:xfrm>
            <a:off x="11836400" y="3073400"/>
            <a:ext cx="3517900" cy="990600"/>
          </a:xfrm>
          <a:prstGeom prst="rect">
            <a:avLst/>
          </a:prstGeom>
          <a:solidFill>
            <a:srgbClr val="000000">
              <a:alpha val="0"/>
            </a:srgbClr>
          </a:solidFill>
          <a:ln w="12700">
            <a:solidFill>
              <a:srgbClr val="A1A1A1"/>
            </a:solidFill>
          </a:ln>
        </p:spPr>
      </p:sp>
      <p:sp>
        <p:nvSpPr>
          <p:cNvPr id="17" name="AutoShape 17"/>
          <p:cNvSpPr/>
          <p:nvPr/>
        </p:nvSpPr>
        <p:spPr>
          <a:xfrm>
            <a:off x="889000" y="4064000"/>
            <a:ext cx="5613400" cy="990600"/>
          </a:xfrm>
          <a:prstGeom prst="rect">
            <a:avLst/>
          </a:prstGeom>
          <a:solidFill>
            <a:srgbClr val="000000">
              <a:alpha val="0"/>
            </a:srgbClr>
          </a:solidFill>
          <a:ln w="12700">
            <a:solidFill>
              <a:srgbClr val="A1A1A1"/>
            </a:solidFill>
          </a:ln>
        </p:spPr>
      </p:sp>
      <p:sp>
        <p:nvSpPr>
          <p:cNvPr id="18" name="AutoShape 18"/>
          <p:cNvSpPr/>
          <p:nvPr/>
        </p:nvSpPr>
        <p:spPr>
          <a:xfrm>
            <a:off x="6515100" y="4064000"/>
            <a:ext cx="3124200" cy="990600"/>
          </a:xfrm>
          <a:prstGeom prst="rect">
            <a:avLst/>
          </a:prstGeom>
          <a:solidFill>
            <a:srgbClr val="000000">
              <a:alpha val="0"/>
            </a:srgbClr>
          </a:solidFill>
          <a:ln w="12700">
            <a:solidFill>
              <a:srgbClr val="A1A1A1"/>
            </a:solidFill>
          </a:ln>
        </p:spPr>
      </p:sp>
      <p:sp>
        <p:nvSpPr>
          <p:cNvPr id="19" name="AutoShape 19"/>
          <p:cNvSpPr/>
          <p:nvPr/>
        </p:nvSpPr>
        <p:spPr>
          <a:xfrm>
            <a:off x="9639300" y="4064000"/>
            <a:ext cx="2184400" cy="990600"/>
          </a:xfrm>
          <a:prstGeom prst="rect">
            <a:avLst/>
          </a:prstGeom>
          <a:solidFill>
            <a:srgbClr val="000000">
              <a:alpha val="0"/>
            </a:srgbClr>
          </a:solidFill>
          <a:ln w="12700">
            <a:solidFill>
              <a:srgbClr val="A1A1A1"/>
            </a:solidFill>
          </a:ln>
        </p:spPr>
      </p:sp>
      <p:sp>
        <p:nvSpPr>
          <p:cNvPr id="20" name="AutoShape 20"/>
          <p:cNvSpPr/>
          <p:nvPr/>
        </p:nvSpPr>
        <p:spPr>
          <a:xfrm>
            <a:off x="11836400" y="4064000"/>
            <a:ext cx="3517900" cy="990600"/>
          </a:xfrm>
          <a:prstGeom prst="rect">
            <a:avLst/>
          </a:prstGeom>
          <a:solidFill>
            <a:srgbClr val="000000">
              <a:alpha val="0"/>
            </a:srgbClr>
          </a:solidFill>
          <a:ln w="12700">
            <a:solidFill>
              <a:srgbClr val="A1A1A1"/>
            </a:solidFill>
          </a:ln>
        </p:spPr>
      </p:sp>
      <p:sp>
        <p:nvSpPr>
          <p:cNvPr id="21" name="AutoShape 21"/>
          <p:cNvSpPr/>
          <p:nvPr/>
        </p:nvSpPr>
        <p:spPr>
          <a:xfrm>
            <a:off x="889000" y="5067300"/>
            <a:ext cx="5613400" cy="990600"/>
          </a:xfrm>
          <a:prstGeom prst="rect">
            <a:avLst/>
          </a:prstGeom>
          <a:solidFill>
            <a:srgbClr val="000000">
              <a:alpha val="0"/>
            </a:srgbClr>
          </a:solidFill>
          <a:ln w="12700">
            <a:solidFill>
              <a:srgbClr val="A1A1A1"/>
            </a:solidFill>
          </a:ln>
        </p:spPr>
      </p:sp>
      <p:sp>
        <p:nvSpPr>
          <p:cNvPr id="22" name="AutoShape 22"/>
          <p:cNvSpPr/>
          <p:nvPr/>
        </p:nvSpPr>
        <p:spPr>
          <a:xfrm>
            <a:off x="6515100" y="5067300"/>
            <a:ext cx="3124200" cy="990600"/>
          </a:xfrm>
          <a:prstGeom prst="rect">
            <a:avLst/>
          </a:prstGeom>
          <a:solidFill>
            <a:srgbClr val="000000">
              <a:alpha val="0"/>
            </a:srgbClr>
          </a:solidFill>
          <a:ln w="12700">
            <a:solidFill>
              <a:srgbClr val="A1A1A1"/>
            </a:solidFill>
          </a:ln>
        </p:spPr>
      </p:sp>
      <p:sp>
        <p:nvSpPr>
          <p:cNvPr id="23" name="AutoShape 23"/>
          <p:cNvSpPr/>
          <p:nvPr/>
        </p:nvSpPr>
        <p:spPr>
          <a:xfrm>
            <a:off x="9639300" y="5067300"/>
            <a:ext cx="2184400" cy="990600"/>
          </a:xfrm>
          <a:prstGeom prst="rect">
            <a:avLst/>
          </a:prstGeom>
          <a:solidFill>
            <a:srgbClr val="000000">
              <a:alpha val="0"/>
            </a:srgbClr>
          </a:solidFill>
          <a:ln w="12700">
            <a:solidFill>
              <a:srgbClr val="A1A1A1"/>
            </a:solidFill>
          </a:ln>
        </p:spPr>
      </p:sp>
      <p:sp>
        <p:nvSpPr>
          <p:cNvPr id="24" name="AutoShape 24"/>
          <p:cNvSpPr/>
          <p:nvPr/>
        </p:nvSpPr>
        <p:spPr>
          <a:xfrm>
            <a:off x="11836400" y="5067300"/>
            <a:ext cx="3517900" cy="990600"/>
          </a:xfrm>
          <a:prstGeom prst="rect">
            <a:avLst/>
          </a:prstGeom>
          <a:solidFill>
            <a:srgbClr val="000000">
              <a:alpha val="0"/>
            </a:srgbClr>
          </a:solidFill>
          <a:ln w="12700">
            <a:solidFill>
              <a:srgbClr val="A1A1A1"/>
            </a:solidFill>
          </a:ln>
        </p:spPr>
      </p:sp>
      <p:sp>
        <p:nvSpPr>
          <p:cNvPr id="25" name="AutoShape 25"/>
          <p:cNvSpPr/>
          <p:nvPr/>
        </p:nvSpPr>
        <p:spPr>
          <a:xfrm>
            <a:off x="889000" y="6057900"/>
            <a:ext cx="5613400" cy="990600"/>
          </a:xfrm>
          <a:prstGeom prst="rect">
            <a:avLst/>
          </a:prstGeom>
          <a:solidFill>
            <a:srgbClr val="000000">
              <a:alpha val="0"/>
            </a:srgbClr>
          </a:solidFill>
          <a:ln w="12700">
            <a:solidFill>
              <a:srgbClr val="A1A1A1"/>
            </a:solidFill>
          </a:ln>
        </p:spPr>
      </p:sp>
      <p:sp>
        <p:nvSpPr>
          <p:cNvPr id="26" name="AutoShape 26"/>
          <p:cNvSpPr/>
          <p:nvPr/>
        </p:nvSpPr>
        <p:spPr>
          <a:xfrm>
            <a:off x="6515100" y="6057900"/>
            <a:ext cx="3124200" cy="990600"/>
          </a:xfrm>
          <a:prstGeom prst="rect">
            <a:avLst/>
          </a:prstGeom>
          <a:solidFill>
            <a:srgbClr val="000000">
              <a:alpha val="0"/>
            </a:srgbClr>
          </a:solidFill>
          <a:ln w="12700">
            <a:solidFill>
              <a:srgbClr val="A1A1A1"/>
            </a:solidFill>
          </a:ln>
        </p:spPr>
      </p:sp>
      <p:sp>
        <p:nvSpPr>
          <p:cNvPr id="27" name="AutoShape 27"/>
          <p:cNvSpPr/>
          <p:nvPr/>
        </p:nvSpPr>
        <p:spPr>
          <a:xfrm>
            <a:off x="9639300" y="6057900"/>
            <a:ext cx="2184400" cy="990600"/>
          </a:xfrm>
          <a:prstGeom prst="rect">
            <a:avLst/>
          </a:prstGeom>
          <a:solidFill>
            <a:srgbClr val="000000">
              <a:alpha val="0"/>
            </a:srgbClr>
          </a:solidFill>
          <a:ln w="12700">
            <a:solidFill>
              <a:srgbClr val="A1A1A1"/>
            </a:solidFill>
          </a:ln>
        </p:spPr>
      </p:sp>
      <p:sp>
        <p:nvSpPr>
          <p:cNvPr id="28" name="AutoShape 28"/>
          <p:cNvSpPr/>
          <p:nvPr/>
        </p:nvSpPr>
        <p:spPr>
          <a:xfrm>
            <a:off x="11836400" y="6057900"/>
            <a:ext cx="3517900" cy="990600"/>
          </a:xfrm>
          <a:prstGeom prst="rect">
            <a:avLst/>
          </a:prstGeom>
          <a:solidFill>
            <a:srgbClr val="000000">
              <a:alpha val="0"/>
            </a:srgbClr>
          </a:solidFill>
          <a:ln w="12700">
            <a:solidFill>
              <a:srgbClr val="A1A1A1"/>
            </a:solidFill>
          </a:ln>
        </p:spPr>
      </p:sp>
      <p:sp>
        <p:nvSpPr>
          <p:cNvPr id="29" name="AutoShape 29"/>
          <p:cNvSpPr/>
          <p:nvPr/>
        </p:nvSpPr>
        <p:spPr>
          <a:xfrm>
            <a:off x="889000" y="7048500"/>
            <a:ext cx="5613400" cy="990600"/>
          </a:xfrm>
          <a:prstGeom prst="rect">
            <a:avLst/>
          </a:prstGeom>
          <a:solidFill>
            <a:srgbClr val="000000">
              <a:alpha val="0"/>
            </a:srgbClr>
          </a:solidFill>
          <a:ln w="12700">
            <a:solidFill>
              <a:srgbClr val="A1A1A1"/>
            </a:solidFill>
          </a:ln>
        </p:spPr>
      </p:sp>
      <p:sp>
        <p:nvSpPr>
          <p:cNvPr id="30" name="AutoShape 30"/>
          <p:cNvSpPr/>
          <p:nvPr/>
        </p:nvSpPr>
        <p:spPr>
          <a:xfrm>
            <a:off x="6515100" y="7048500"/>
            <a:ext cx="3124200" cy="990600"/>
          </a:xfrm>
          <a:prstGeom prst="rect">
            <a:avLst/>
          </a:prstGeom>
          <a:solidFill>
            <a:srgbClr val="000000">
              <a:alpha val="0"/>
            </a:srgbClr>
          </a:solidFill>
          <a:ln w="12700">
            <a:solidFill>
              <a:srgbClr val="A1A1A1"/>
            </a:solidFill>
          </a:ln>
        </p:spPr>
      </p:sp>
      <p:sp>
        <p:nvSpPr>
          <p:cNvPr id="31" name="AutoShape 31"/>
          <p:cNvSpPr/>
          <p:nvPr/>
        </p:nvSpPr>
        <p:spPr>
          <a:xfrm>
            <a:off x="9639300" y="7048500"/>
            <a:ext cx="2184400" cy="990600"/>
          </a:xfrm>
          <a:prstGeom prst="rect">
            <a:avLst/>
          </a:prstGeom>
          <a:solidFill>
            <a:srgbClr val="000000">
              <a:alpha val="0"/>
            </a:srgbClr>
          </a:solidFill>
          <a:ln w="12700">
            <a:solidFill>
              <a:srgbClr val="A1A1A1"/>
            </a:solidFill>
          </a:ln>
        </p:spPr>
      </p:sp>
      <p:sp>
        <p:nvSpPr>
          <p:cNvPr id="32" name="AutoShape 32"/>
          <p:cNvSpPr/>
          <p:nvPr/>
        </p:nvSpPr>
        <p:spPr>
          <a:xfrm>
            <a:off x="11836400" y="7048500"/>
            <a:ext cx="3517900" cy="990600"/>
          </a:xfrm>
          <a:prstGeom prst="rect">
            <a:avLst/>
          </a:prstGeom>
          <a:solidFill>
            <a:srgbClr val="000000">
              <a:alpha val="0"/>
            </a:srgbClr>
          </a:solidFill>
          <a:ln w="12700">
            <a:solidFill>
              <a:srgbClr val="A1A1A1"/>
            </a:solidFill>
          </a:ln>
        </p:spPr>
      </p:sp>
      <p:sp>
        <p:nvSpPr>
          <p:cNvPr id="33" name="TextBox 33"/>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Mathematical Formulations and Methodology (Part 2: Evaluation Metrics)</a:t>
            </a:r>
            <a:endParaRPr lang="en-US" sz="1100"/>
          </a:p>
        </p:txBody>
      </p:sp>
      <p:sp>
        <p:nvSpPr>
          <p:cNvPr id="34" name="TextBox 34"/>
          <p:cNvSpPr txBox="1"/>
          <p:nvPr/>
        </p:nvSpPr>
        <p:spPr>
          <a:xfrm>
            <a:off x="977900" y="1727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Formula Type</a:t>
            </a:r>
            <a:endParaRPr lang="en-US" sz="1100"/>
          </a:p>
        </p:txBody>
      </p:sp>
      <p:sp>
        <p:nvSpPr>
          <p:cNvPr id="35" name="TextBox 35"/>
          <p:cNvSpPr txBox="1"/>
          <p:nvPr/>
        </p:nvSpPr>
        <p:spPr>
          <a:xfrm>
            <a:off x="6604000" y="1727200"/>
            <a:ext cx="2946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Simple Meaning</a:t>
            </a:r>
            <a:endParaRPr lang="en-US" sz="1100"/>
          </a:p>
        </p:txBody>
      </p:sp>
      <p:sp>
        <p:nvSpPr>
          <p:cNvPr id="36" name="TextBox 36"/>
          <p:cNvSpPr txBox="1"/>
          <p:nvPr/>
        </p:nvSpPr>
        <p:spPr>
          <a:xfrm>
            <a:off x="9728200" y="1727200"/>
            <a:ext cx="2006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Used In</a:t>
            </a:r>
            <a:endParaRPr lang="en-US" sz="1100"/>
          </a:p>
        </p:txBody>
      </p:sp>
      <p:sp>
        <p:nvSpPr>
          <p:cNvPr id="37" name="TextBox 37"/>
          <p:cNvSpPr txBox="1"/>
          <p:nvPr/>
        </p:nvSpPr>
        <p:spPr>
          <a:xfrm>
            <a:off x="11925300" y="1727200"/>
            <a:ext cx="3327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Purpose</a:t>
            </a:r>
            <a:endParaRPr lang="en-US" sz="1100"/>
          </a:p>
        </p:txBody>
      </p:sp>
      <p:sp>
        <p:nvSpPr>
          <p:cNvPr id="38" name="TextBox 38"/>
          <p:cNvSpPr txBox="1"/>
          <p:nvPr/>
        </p:nvSpPr>
        <p:spPr>
          <a:xfrm>
            <a:off x="977900" y="21463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Risk Mitigation</a:t>
            </a:r>
            <a:endParaRPr lang="en-US" sz="1100"/>
          </a:p>
        </p:txBody>
      </p:sp>
      <p:sp>
        <p:nvSpPr>
          <p:cNvPr id="39" name="TextBox 39"/>
          <p:cNvSpPr txBox="1"/>
          <p:nvPr/>
        </p:nvSpPr>
        <p:spPr>
          <a:xfrm>
            <a:off x="6604000" y="21463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of high-risk events prevented or mitigated</a:t>
            </a:r>
            <a:endParaRPr lang="en-US" sz="1100"/>
          </a:p>
        </p:txBody>
      </p:sp>
      <p:sp>
        <p:nvSpPr>
          <p:cNvPr id="40" name="TextBox 40"/>
          <p:cNvSpPr txBox="1"/>
          <p:nvPr/>
        </p:nvSpPr>
        <p:spPr>
          <a:xfrm>
            <a:off x="9728200" y="21463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1" name="TextBox 41"/>
          <p:cNvSpPr txBox="1"/>
          <p:nvPr/>
        </p:nvSpPr>
        <p:spPr>
          <a:xfrm>
            <a:off x="11925300" y="21463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effectiveness in reducing operational risk exposure</a:t>
            </a:r>
            <a:endParaRPr lang="en-US" sz="1100"/>
          </a:p>
        </p:txBody>
      </p:sp>
      <p:sp>
        <p:nvSpPr>
          <p:cNvPr id="42" name="TextBox 42"/>
          <p:cNvSpPr txBox="1"/>
          <p:nvPr/>
        </p:nvSpPr>
        <p:spPr>
          <a:xfrm>
            <a:off x="977900" y="31369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Cost Efficiency</a:t>
            </a:r>
            <a:endParaRPr lang="en-US" sz="1100"/>
          </a:p>
        </p:txBody>
      </p:sp>
      <p:sp>
        <p:nvSpPr>
          <p:cNvPr id="43" name="TextBox 43"/>
          <p:cNvSpPr txBox="1"/>
          <p:nvPr/>
        </p:nvSpPr>
        <p:spPr>
          <a:xfrm>
            <a:off x="6604000" y="31369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Ratio of audit resources saved to baseline audit cost</a:t>
            </a:r>
            <a:endParaRPr lang="en-US" sz="1100"/>
          </a:p>
        </p:txBody>
      </p:sp>
      <p:sp>
        <p:nvSpPr>
          <p:cNvPr id="44" name="TextBox 44"/>
          <p:cNvSpPr txBox="1"/>
          <p:nvPr/>
        </p:nvSpPr>
        <p:spPr>
          <a:xfrm>
            <a:off x="9728200" y="31369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5" name="TextBox 45"/>
          <p:cNvSpPr txBox="1"/>
          <p:nvPr/>
        </p:nvSpPr>
        <p:spPr>
          <a:xfrm>
            <a:off x="11925300" y="31369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Quantifies operational cost savings from intelligent audit allocation</a:t>
            </a:r>
            <a:endParaRPr lang="en-US" sz="1100"/>
          </a:p>
        </p:txBody>
      </p:sp>
      <p:sp>
        <p:nvSpPr>
          <p:cNvPr id="46" name="TextBox 46"/>
          <p:cNvSpPr txBox="1"/>
          <p:nvPr/>
        </p:nvSpPr>
        <p:spPr>
          <a:xfrm>
            <a:off x="977900" y="4140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Attack Rate Reduction</a:t>
            </a:r>
            <a:endParaRPr lang="en-US" sz="1100"/>
          </a:p>
        </p:txBody>
      </p:sp>
      <p:sp>
        <p:nvSpPr>
          <p:cNvPr id="47" name="TextBox 47"/>
          <p:cNvSpPr txBox="1"/>
          <p:nvPr/>
        </p:nvSpPr>
        <p:spPr>
          <a:xfrm>
            <a:off x="6604000" y="41402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decrease in successful attack events vs baseline</a:t>
            </a:r>
            <a:endParaRPr lang="en-US" sz="1100"/>
          </a:p>
        </p:txBody>
      </p:sp>
      <p:sp>
        <p:nvSpPr>
          <p:cNvPr id="48" name="TextBox 48"/>
          <p:cNvSpPr txBox="1"/>
          <p:nvPr/>
        </p:nvSpPr>
        <p:spPr>
          <a:xfrm>
            <a:off x="9728200" y="41402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9" name="TextBox 49"/>
          <p:cNvSpPr txBox="1"/>
          <p:nvPr/>
        </p:nvSpPr>
        <p:spPr>
          <a:xfrm>
            <a:off x="11925300" y="41402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security improvement from framework deployment</a:t>
            </a:r>
            <a:endParaRPr lang="en-US" sz="1100"/>
          </a:p>
        </p:txBody>
      </p:sp>
      <p:sp>
        <p:nvSpPr>
          <p:cNvPr id="50" name="TextBox 50"/>
          <p:cNvSpPr txBox="1"/>
          <p:nvPr/>
        </p:nvSpPr>
        <p:spPr>
          <a:xfrm>
            <a:off x="977900" y="51308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Accuracy = (TP+TN)/(TP+TN+FP+FN)</a:t>
            </a:r>
            <a:endParaRPr lang="en-US" sz="1100"/>
          </a:p>
        </p:txBody>
      </p:sp>
      <p:sp>
        <p:nvSpPr>
          <p:cNvPr id="51" name="TextBox 51"/>
          <p:cNvSpPr txBox="1"/>
          <p:nvPr/>
        </p:nvSpPr>
        <p:spPr>
          <a:xfrm>
            <a:off x="6604000" y="5130800"/>
            <a:ext cx="2946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Overall correctness across all classes</a:t>
            </a:r>
            <a:endParaRPr lang="en-US" sz="1100"/>
          </a:p>
        </p:txBody>
      </p:sp>
      <p:sp>
        <p:nvSpPr>
          <p:cNvPr id="52" name="TextBox 52"/>
          <p:cNvSpPr txBox="1"/>
          <p:nvPr/>
        </p:nvSpPr>
        <p:spPr>
          <a:xfrm>
            <a:off x="9728200" y="51308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3" name="TextBox 53"/>
          <p:cNvSpPr txBox="1"/>
          <p:nvPr/>
        </p:nvSpPr>
        <p:spPr>
          <a:xfrm>
            <a:off x="11925300" y="51308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Standard classification accuracy for anomaly detection</a:t>
            </a:r>
            <a:endParaRPr lang="en-US" sz="1100"/>
          </a:p>
        </p:txBody>
      </p:sp>
      <p:sp>
        <p:nvSpPr>
          <p:cNvPr id="54" name="TextBox 54"/>
          <p:cNvSpPr txBox="1"/>
          <p:nvPr/>
        </p:nvSpPr>
        <p:spPr>
          <a:xfrm>
            <a:off x="977900" y="61214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Recall = TP/(TP+FN)</a:t>
            </a:r>
            <a:endParaRPr lang="en-US" sz="1100"/>
          </a:p>
        </p:txBody>
      </p:sp>
      <p:sp>
        <p:nvSpPr>
          <p:cNvPr id="55" name="TextBox 55"/>
          <p:cNvSpPr txBox="1"/>
          <p:nvPr/>
        </p:nvSpPr>
        <p:spPr>
          <a:xfrm>
            <a:off x="6604000" y="61214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Proportion of actual anomalies correctly identified</a:t>
            </a:r>
            <a:endParaRPr lang="en-US" sz="1100"/>
          </a:p>
        </p:txBody>
      </p:sp>
      <p:sp>
        <p:nvSpPr>
          <p:cNvPr id="56" name="TextBox 56"/>
          <p:cNvSpPr txBox="1"/>
          <p:nvPr/>
        </p:nvSpPr>
        <p:spPr>
          <a:xfrm>
            <a:off x="9728200" y="61214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7" name="TextBox 57"/>
          <p:cNvSpPr txBox="1"/>
          <p:nvPr/>
        </p:nvSpPr>
        <p:spPr>
          <a:xfrm>
            <a:off x="11925300" y="6121400"/>
            <a:ext cx="3327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sensitivity to true anomaly events</a:t>
            </a:r>
            <a:endParaRPr lang="en-US" sz="1100"/>
          </a:p>
        </p:txBody>
      </p:sp>
      <p:sp>
        <p:nvSpPr>
          <p:cNvPr id="58" name="TextBox 58"/>
          <p:cNvSpPr txBox="1"/>
          <p:nvPr/>
        </p:nvSpPr>
        <p:spPr>
          <a:xfrm>
            <a:off x="977900" y="7112000"/>
            <a:ext cx="54356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F1 Score = 2×(Precision×Recall)/(Precision+Recall)</a:t>
            </a:r>
            <a:endParaRPr lang="en-US" sz="1100"/>
          </a:p>
        </p:txBody>
      </p:sp>
      <p:sp>
        <p:nvSpPr>
          <p:cNvPr id="59" name="TextBox 59"/>
          <p:cNvSpPr txBox="1"/>
          <p:nvPr/>
        </p:nvSpPr>
        <p:spPr>
          <a:xfrm>
            <a:off x="6604000" y="71120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Harmonic mean balancing precision and recall</a:t>
            </a:r>
            <a:endParaRPr lang="en-US" sz="1100"/>
          </a:p>
        </p:txBody>
      </p:sp>
      <p:sp>
        <p:nvSpPr>
          <p:cNvPr id="60" name="TextBox 60"/>
          <p:cNvSpPr txBox="1"/>
          <p:nvPr/>
        </p:nvSpPr>
        <p:spPr>
          <a:xfrm>
            <a:off x="9728200" y="71120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61" name="TextBox 61"/>
          <p:cNvSpPr txBox="1"/>
          <p:nvPr/>
        </p:nvSpPr>
        <p:spPr>
          <a:xfrm>
            <a:off x="11925300" y="71120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Balances false positives and false negatives under class imbalance</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193800"/>
            <a:ext cx="14490700" cy="7416800"/>
          </a:xfrm>
          <a:prstGeom prst="rect">
            <a:avLst/>
          </a:prstGeom>
          <a:solidFill>
            <a:srgbClr val="000000">
              <a:alpha val="0"/>
            </a:srgbClr>
          </a:solidFill>
        </p:spPr>
      </p:sp>
      <p:sp>
        <p:nvSpPr>
          <p:cNvPr id="5" name="AutoShape 5"/>
          <p:cNvSpPr/>
          <p:nvPr/>
        </p:nvSpPr>
        <p:spPr>
          <a:xfrm>
            <a:off x="876300" y="1193800"/>
            <a:ext cx="14490700" cy="1422400"/>
          </a:xfrm>
          <a:prstGeom prst="rect">
            <a:avLst/>
          </a:prstGeom>
          <a:solidFill>
            <a:srgbClr val="000000">
              <a:alpha val="0"/>
            </a:srgbClr>
          </a:solidFill>
        </p:spPr>
      </p:sp>
      <p:sp>
        <p:nvSpPr>
          <p:cNvPr id="6" name="AutoShape 6"/>
          <p:cNvSpPr/>
          <p:nvPr/>
        </p:nvSpPr>
        <p:spPr>
          <a:xfrm>
            <a:off x="1003300" y="2616200"/>
            <a:ext cx="11912600" cy="12700"/>
          </a:xfrm>
          <a:prstGeom prst="rect">
            <a:avLst/>
          </a:prstGeom>
          <a:solidFill>
            <a:srgbClr val="A6A6A6"/>
          </a:solidFill>
        </p:spPr>
      </p:sp>
      <p:sp>
        <p:nvSpPr>
          <p:cNvPr id="7" name="AutoShape 7"/>
          <p:cNvSpPr/>
          <p:nvPr/>
        </p:nvSpPr>
        <p:spPr>
          <a:xfrm>
            <a:off x="876300" y="2616200"/>
            <a:ext cx="14490700" cy="1422400"/>
          </a:xfrm>
          <a:prstGeom prst="rect">
            <a:avLst/>
          </a:prstGeom>
          <a:solidFill>
            <a:srgbClr val="000000">
              <a:alpha val="0"/>
            </a:srgbClr>
          </a:solidFill>
        </p:spPr>
      </p:sp>
      <p:sp>
        <p:nvSpPr>
          <p:cNvPr id="8" name="AutoShape 8"/>
          <p:cNvSpPr/>
          <p:nvPr/>
        </p:nvSpPr>
        <p:spPr>
          <a:xfrm>
            <a:off x="1003300" y="4038600"/>
            <a:ext cx="11049000" cy="12700"/>
          </a:xfrm>
          <a:prstGeom prst="rect">
            <a:avLst/>
          </a:prstGeom>
          <a:solidFill>
            <a:srgbClr val="A6A6A6"/>
          </a:solidFill>
        </p:spPr>
      </p:sp>
      <p:sp>
        <p:nvSpPr>
          <p:cNvPr id="9" name="AutoShape 9"/>
          <p:cNvSpPr/>
          <p:nvPr/>
        </p:nvSpPr>
        <p:spPr>
          <a:xfrm>
            <a:off x="876300" y="4038600"/>
            <a:ext cx="14490700" cy="1422400"/>
          </a:xfrm>
          <a:prstGeom prst="rect">
            <a:avLst/>
          </a:prstGeom>
          <a:solidFill>
            <a:srgbClr val="000000">
              <a:alpha val="0"/>
            </a:srgbClr>
          </a:solidFill>
        </p:spPr>
      </p:sp>
      <p:sp>
        <p:nvSpPr>
          <p:cNvPr id="10" name="AutoShape 10"/>
          <p:cNvSpPr/>
          <p:nvPr/>
        </p:nvSpPr>
        <p:spPr>
          <a:xfrm>
            <a:off x="1003300" y="5473700"/>
            <a:ext cx="10172700" cy="12700"/>
          </a:xfrm>
          <a:prstGeom prst="rect">
            <a:avLst/>
          </a:prstGeom>
          <a:solidFill>
            <a:srgbClr val="A6A6A6"/>
          </a:solidFill>
        </p:spPr>
      </p:sp>
      <p:sp>
        <p:nvSpPr>
          <p:cNvPr id="11" name="AutoShape 11"/>
          <p:cNvSpPr/>
          <p:nvPr/>
        </p:nvSpPr>
        <p:spPr>
          <a:xfrm>
            <a:off x="876300" y="5473700"/>
            <a:ext cx="14490700" cy="1422400"/>
          </a:xfrm>
          <a:prstGeom prst="rect">
            <a:avLst/>
          </a:prstGeom>
          <a:solidFill>
            <a:srgbClr val="000000">
              <a:alpha val="0"/>
            </a:srgbClr>
          </a:solidFill>
        </p:spPr>
      </p:sp>
      <p:sp>
        <p:nvSpPr>
          <p:cNvPr id="12" name="AutoShape 12"/>
          <p:cNvSpPr/>
          <p:nvPr/>
        </p:nvSpPr>
        <p:spPr>
          <a:xfrm>
            <a:off x="1003300" y="6896100"/>
            <a:ext cx="9309100" cy="12700"/>
          </a:xfrm>
          <a:prstGeom prst="rect">
            <a:avLst/>
          </a:prstGeom>
          <a:solidFill>
            <a:srgbClr val="A6A6A6"/>
          </a:solidFill>
        </p:spPr>
      </p:sp>
      <p:sp>
        <p:nvSpPr>
          <p:cNvPr id="13" name="AutoShape 13"/>
          <p:cNvSpPr/>
          <p:nvPr/>
        </p:nvSpPr>
        <p:spPr>
          <a:xfrm>
            <a:off x="876300" y="6896100"/>
            <a:ext cx="14490700" cy="1701800"/>
          </a:xfrm>
          <a:prstGeom prst="rect">
            <a:avLst/>
          </a:prstGeom>
          <a:solidFill>
            <a:srgbClr val="000000">
              <a:alpha val="0"/>
            </a:srgbClr>
          </a:solidFill>
        </p:spPr>
      </p:sp>
      <p:sp>
        <p:nvSpPr>
          <p:cNvPr id="14" name="AutoShape 14"/>
          <p:cNvSpPr/>
          <p:nvPr/>
        </p:nvSpPr>
        <p:spPr>
          <a:xfrm>
            <a:off x="1003300" y="8610600"/>
            <a:ext cx="8432800" cy="12700"/>
          </a:xfrm>
          <a:prstGeom prst="rect">
            <a:avLst/>
          </a:prstGeom>
          <a:solidFill>
            <a:srgbClr val="A6A6A6"/>
          </a:solidFill>
        </p:spPr>
      </p:sp>
      <p:pic>
        <p:nvPicPr>
          <p:cNvPr id="15" name="Picture 15"/>
          <p:cNvPicPr>
            <a:picLocks noChangeAspect="1"/>
          </p:cNvPicPr>
          <p:nvPr/>
        </p:nvPicPr>
        <p:blipFill>
          <a:blip r:embed="rId3"/>
          <a:stretch>
            <a:fillRect/>
          </a:stretch>
        </p:blipFill>
        <p:spPr>
          <a:xfrm>
            <a:off x="13322300" y="1193800"/>
            <a:ext cx="1739900" cy="1854200"/>
          </a:xfrm>
          <a:prstGeom prst="rect">
            <a:avLst/>
          </a:prstGeom>
        </p:spPr>
      </p:pic>
      <p:pic>
        <p:nvPicPr>
          <p:cNvPr id="16" name="Picture 16"/>
          <p:cNvPicPr>
            <a:picLocks noChangeAspect="1"/>
          </p:cNvPicPr>
          <p:nvPr/>
        </p:nvPicPr>
        <p:blipFill>
          <a:blip r:embed="rId4"/>
          <a:stretch>
            <a:fillRect/>
          </a:stretch>
        </p:blipFill>
        <p:spPr>
          <a:xfrm>
            <a:off x="13322300" y="1193800"/>
            <a:ext cx="1739900" cy="1854200"/>
          </a:xfrm>
          <a:prstGeom prst="rect">
            <a:avLst/>
          </a:prstGeom>
        </p:spPr>
      </p:pic>
      <p:pic>
        <p:nvPicPr>
          <p:cNvPr id="17" name="Picture 17"/>
          <p:cNvPicPr>
            <a:picLocks noChangeAspect="1"/>
          </p:cNvPicPr>
          <p:nvPr/>
        </p:nvPicPr>
        <p:blipFill>
          <a:blip r:embed="rId5"/>
          <a:stretch>
            <a:fillRect/>
          </a:stretch>
        </p:blipFill>
        <p:spPr>
          <a:xfrm>
            <a:off x="13322300" y="1193800"/>
            <a:ext cx="1739900" cy="1854200"/>
          </a:xfrm>
          <a:prstGeom prst="rect">
            <a:avLst/>
          </a:prstGeom>
        </p:spPr>
      </p:pic>
      <p:pic>
        <p:nvPicPr>
          <p:cNvPr id="18" name="Picture 18"/>
          <p:cNvPicPr>
            <a:picLocks noChangeAspect="1"/>
          </p:cNvPicPr>
          <p:nvPr/>
        </p:nvPicPr>
        <p:blipFill>
          <a:blip r:embed="rId6"/>
          <a:stretch>
            <a:fillRect/>
          </a:stretch>
        </p:blipFill>
        <p:spPr>
          <a:xfrm>
            <a:off x="13322300" y="1193800"/>
            <a:ext cx="1739900" cy="1854200"/>
          </a:xfrm>
          <a:prstGeom prst="rect">
            <a:avLst/>
          </a:prstGeom>
        </p:spPr>
      </p:pic>
      <p:pic>
        <p:nvPicPr>
          <p:cNvPr id="19" name="Picture 19"/>
          <p:cNvPicPr>
            <a:picLocks noChangeAspect="1"/>
          </p:cNvPicPr>
          <p:nvPr/>
        </p:nvPicPr>
        <p:blipFill>
          <a:blip r:embed="rId7"/>
          <a:stretch>
            <a:fillRect/>
          </a:stretch>
        </p:blipFill>
        <p:spPr>
          <a:xfrm>
            <a:off x="12560300" y="2616200"/>
            <a:ext cx="2400300" cy="1854200"/>
          </a:xfrm>
          <a:prstGeom prst="rect">
            <a:avLst/>
          </a:prstGeom>
        </p:spPr>
      </p:pic>
      <p:pic>
        <p:nvPicPr>
          <p:cNvPr id="20" name="Picture 20"/>
          <p:cNvPicPr>
            <a:picLocks noChangeAspect="1"/>
          </p:cNvPicPr>
          <p:nvPr/>
        </p:nvPicPr>
        <p:blipFill>
          <a:blip r:embed="rId8"/>
          <a:stretch>
            <a:fillRect/>
          </a:stretch>
        </p:blipFill>
        <p:spPr>
          <a:xfrm>
            <a:off x="12560300" y="2616200"/>
            <a:ext cx="2400300" cy="1854200"/>
          </a:xfrm>
          <a:prstGeom prst="rect">
            <a:avLst/>
          </a:prstGeom>
        </p:spPr>
      </p:pic>
      <p:pic>
        <p:nvPicPr>
          <p:cNvPr id="21" name="Picture 21"/>
          <p:cNvPicPr>
            <a:picLocks noChangeAspect="1"/>
          </p:cNvPicPr>
          <p:nvPr/>
        </p:nvPicPr>
        <p:blipFill>
          <a:blip r:embed="rId9"/>
          <a:stretch>
            <a:fillRect/>
          </a:stretch>
        </p:blipFill>
        <p:spPr>
          <a:xfrm>
            <a:off x="12560300" y="2616200"/>
            <a:ext cx="2400300" cy="1854200"/>
          </a:xfrm>
          <a:prstGeom prst="rect">
            <a:avLst/>
          </a:prstGeom>
        </p:spPr>
      </p:pic>
      <p:pic>
        <p:nvPicPr>
          <p:cNvPr id="22" name="Picture 22"/>
          <p:cNvPicPr>
            <a:picLocks noChangeAspect="1"/>
          </p:cNvPicPr>
          <p:nvPr/>
        </p:nvPicPr>
        <p:blipFill>
          <a:blip r:embed="rId10"/>
          <a:stretch>
            <a:fillRect/>
          </a:stretch>
        </p:blipFill>
        <p:spPr>
          <a:xfrm>
            <a:off x="11798300" y="4038600"/>
            <a:ext cx="3060700" cy="1854200"/>
          </a:xfrm>
          <a:prstGeom prst="rect">
            <a:avLst/>
          </a:prstGeom>
        </p:spPr>
      </p:pic>
      <p:pic>
        <p:nvPicPr>
          <p:cNvPr id="23" name="Picture 23"/>
          <p:cNvPicPr>
            <a:picLocks noChangeAspect="1"/>
          </p:cNvPicPr>
          <p:nvPr/>
        </p:nvPicPr>
        <p:blipFill>
          <a:blip r:embed="rId11"/>
          <a:stretch>
            <a:fillRect/>
          </a:stretch>
        </p:blipFill>
        <p:spPr>
          <a:xfrm>
            <a:off x="11798300" y="4038600"/>
            <a:ext cx="3060700" cy="1854200"/>
          </a:xfrm>
          <a:prstGeom prst="rect">
            <a:avLst/>
          </a:prstGeom>
        </p:spPr>
      </p:pic>
      <p:pic>
        <p:nvPicPr>
          <p:cNvPr id="24" name="Picture 24"/>
          <p:cNvPicPr>
            <a:picLocks noChangeAspect="1"/>
          </p:cNvPicPr>
          <p:nvPr/>
        </p:nvPicPr>
        <p:blipFill>
          <a:blip r:embed="rId12"/>
          <a:stretch>
            <a:fillRect/>
          </a:stretch>
        </p:blipFill>
        <p:spPr>
          <a:xfrm>
            <a:off x="11798300" y="4038600"/>
            <a:ext cx="3060700" cy="1854200"/>
          </a:xfrm>
          <a:prstGeom prst="rect">
            <a:avLst/>
          </a:prstGeom>
        </p:spPr>
      </p:pic>
      <p:pic>
        <p:nvPicPr>
          <p:cNvPr id="25" name="Picture 25"/>
          <p:cNvPicPr>
            <a:picLocks noChangeAspect="1"/>
          </p:cNvPicPr>
          <p:nvPr/>
        </p:nvPicPr>
        <p:blipFill>
          <a:blip r:embed="rId13"/>
          <a:stretch>
            <a:fillRect/>
          </a:stretch>
        </p:blipFill>
        <p:spPr>
          <a:xfrm>
            <a:off x="11023600" y="5473700"/>
            <a:ext cx="3721100" cy="1854200"/>
          </a:xfrm>
          <a:prstGeom prst="rect">
            <a:avLst/>
          </a:prstGeom>
        </p:spPr>
      </p:pic>
      <p:pic>
        <p:nvPicPr>
          <p:cNvPr id="26" name="Picture 26"/>
          <p:cNvPicPr>
            <a:picLocks noChangeAspect="1"/>
          </p:cNvPicPr>
          <p:nvPr/>
        </p:nvPicPr>
        <p:blipFill>
          <a:blip r:embed="rId14"/>
          <a:stretch>
            <a:fillRect/>
          </a:stretch>
        </p:blipFill>
        <p:spPr>
          <a:xfrm>
            <a:off x="11023600" y="5473700"/>
            <a:ext cx="3721100" cy="1854200"/>
          </a:xfrm>
          <a:prstGeom prst="rect">
            <a:avLst/>
          </a:prstGeom>
        </p:spPr>
      </p:pic>
      <p:pic>
        <p:nvPicPr>
          <p:cNvPr id="27" name="Picture 27"/>
          <p:cNvPicPr>
            <a:picLocks noChangeAspect="1"/>
          </p:cNvPicPr>
          <p:nvPr/>
        </p:nvPicPr>
        <p:blipFill>
          <a:blip r:embed="rId15"/>
          <a:stretch>
            <a:fillRect/>
          </a:stretch>
        </p:blipFill>
        <p:spPr>
          <a:xfrm>
            <a:off x="11023600" y="5473700"/>
            <a:ext cx="3721100" cy="1854200"/>
          </a:xfrm>
          <a:prstGeom prst="rect">
            <a:avLst/>
          </a:prstGeom>
        </p:spPr>
      </p:pic>
      <p:pic>
        <p:nvPicPr>
          <p:cNvPr id="28" name="Picture 28"/>
          <p:cNvPicPr>
            <a:picLocks noChangeAspect="1"/>
          </p:cNvPicPr>
          <p:nvPr/>
        </p:nvPicPr>
        <p:blipFill>
          <a:blip r:embed="rId16"/>
          <a:stretch>
            <a:fillRect/>
          </a:stretch>
        </p:blipFill>
        <p:spPr>
          <a:xfrm>
            <a:off x="10261600" y="6896100"/>
            <a:ext cx="4394200" cy="2146300"/>
          </a:xfrm>
          <a:prstGeom prst="rect">
            <a:avLst/>
          </a:prstGeom>
        </p:spPr>
      </p:pic>
      <p:pic>
        <p:nvPicPr>
          <p:cNvPr id="29" name="Picture 29"/>
          <p:cNvPicPr>
            <a:picLocks noChangeAspect="1"/>
          </p:cNvPicPr>
          <p:nvPr/>
        </p:nvPicPr>
        <p:blipFill>
          <a:blip r:embed="rId17"/>
          <a:stretch>
            <a:fillRect/>
          </a:stretch>
        </p:blipFill>
        <p:spPr>
          <a:xfrm>
            <a:off x="10261600" y="6896100"/>
            <a:ext cx="4394200" cy="2146300"/>
          </a:xfrm>
          <a:prstGeom prst="rect">
            <a:avLst/>
          </a:prstGeom>
        </p:spPr>
      </p:pic>
      <p:pic>
        <p:nvPicPr>
          <p:cNvPr id="30" name="Picture 30"/>
          <p:cNvPicPr>
            <a:picLocks noChangeAspect="1"/>
          </p:cNvPicPr>
          <p:nvPr/>
        </p:nvPicPr>
        <p:blipFill>
          <a:blip r:embed="rId18"/>
          <a:stretch>
            <a:fillRect/>
          </a:stretch>
        </p:blipFill>
        <p:spPr>
          <a:xfrm>
            <a:off x="10261600" y="6896100"/>
            <a:ext cx="4394200" cy="2146300"/>
          </a:xfrm>
          <a:prstGeom prst="rect">
            <a:avLst/>
          </a:prstGeom>
        </p:spPr>
      </p:pic>
      <p:sp>
        <p:nvSpPr>
          <p:cNvPr id="31" name="TextBox 31"/>
          <p:cNvSpPr txBox="1"/>
          <p:nvPr/>
        </p:nvSpPr>
        <p:spPr>
          <a:xfrm>
            <a:off x="876300" y="520700"/>
            <a:ext cx="14490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Audit Decision Logic: Risk-Aware Resource Allocation</a:t>
            </a:r>
            <a:endParaRPr lang="en-US" sz="1100"/>
          </a:p>
        </p:txBody>
      </p:sp>
      <p:sp>
        <p:nvSpPr>
          <p:cNvPr id="32" name="TextBox 32"/>
          <p:cNvSpPr txBox="1"/>
          <p:nvPr/>
        </p:nvSpPr>
        <p:spPr>
          <a:xfrm>
            <a:off x="13830300" y="24130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33" name="TextBox 33"/>
          <p:cNvSpPr txBox="1"/>
          <p:nvPr/>
        </p:nvSpPr>
        <p:spPr>
          <a:xfrm>
            <a:off x="1130300" y="1384300"/>
            <a:ext cx="116586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1: Risk Scoring</a:t>
            </a:r>
            <a:endParaRPr lang="en-US" sz="1100"/>
          </a:p>
        </p:txBody>
      </p:sp>
      <p:sp>
        <p:nvSpPr>
          <p:cNvPr id="34" name="TextBox 34"/>
          <p:cNvSpPr txBox="1"/>
          <p:nvPr/>
        </p:nvSpPr>
        <p:spPr>
          <a:xfrm>
            <a:off x="12954000" y="3848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35" name="TextBox 35"/>
          <p:cNvSpPr txBox="1"/>
          <p:nvPr/>
        </p:nvSpPr>
        <p:spPr>
          <a:xfrm>
            <a:off x="1130300" y="2806700"/>
            <a:ext cx="107950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2: Threshold Evaluation</a:t>
            </a:r>
            <a:endParaRPr lang="en-US" sz="1100"/>
          </a:p>
        </p:txBody>
      </p:sp>
      <p:sp>
        <p:nvSpPr>
          <p:cNvPr id="36" name="TextBox 36"/>
          <p:cNvSpPr txBox="1"/>
          <p:nvPr/>
        </p:nvSpPr>
        <p:spPr>
          <a:xfrm>
            <a:off x="12090400" y="5270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37" name="TextBox 37"/>
          <p:cNvSpPr txBox="1"/>
          <p:nvPr/>
        </p:nvSpPr>
        <p:spPr>
          <a:xfrm>
            <a:off x="1130300" y="4229100"/>
            <a:ext cx="99187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3: Primary Live Actions</a:t>
            </a:r>
            <a:endParaRPr lang="en-US" sz="1100"/>
          </a:p>
        </p:txBody>
      </p:sp>
      <p:sp>
        <p:nvSpPr>
          <p:cNvPr id="38" name="TextBox 38"/>
          <p:cNvSpPr txBox="1"/>
          <p:nvPr/>
        </p:nvSpPr>
        <p:spPr>
          <a:xfrm>
            <a:off x="11226800" y="67056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39" name="TextBox 39"/>
          <p:cNvSpPr txBox="1"/>
          <p:nvPr/>
        </p:nvSpPr>
        <p:spPr>
          <a:xfrm>
            <a:off x="1130300" y="5664200"/>
            <a:ext cx="90551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4: Prioritization Under Constraints</a:t>
            </a:r>
            <a:endParaRPr lang="en-US" sz="1100"/>
          </a:p>
        </p:txBody>
      </p:sp>
      <p:sp>
        <p:nvSpPr>
          <p:cNvPr id="40" name="TextBox 40"/>
          <p:cNvSpPr txBox="1"/>
          <p:nvPr/>
        </p:nvSpPr>
        <p:spPr>
          <a:xfrm>
            <a:off x="10350500" y="8420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41" name="TextBox 41"/>
          <p:cNvSpPr txBox="1"/>
          <p:nvPr/>
        </p:nvSpPr>
        <p:spPr>
          <a:xfrm>
            <a:off x="1130300" y="7086600"/>
            <a:ext cx="81788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5: Operational Conversion</a:t>
            </a:r>
            <a:endParaRPr lang="en-US" sz="1100"/>
          </a:p>
        </p:txBody>
      </p:sp>
      <p:sp>
        <p:nvSpPr>
          <p:cNvPr id="42" name="TextBox 42"/>
          <p:cNvSpPr txBox="1"/>
          <p:nvPr/>
        </p:nvSpPr>
        <p:spPr>
          <a:xfrm>
            <a:off x="1130300" y="1854200"/>
            <a:ext cx="116586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Compute a composite risk score from anomaly magnitude combined with asset criticality to quantify potential impact and urgency.</a:t>
            </a:r>
            <a:endParaRPr lang="en-US" sz="1100"/>
          </a:p>
        </p:txBody>
      </p:sp>
      <p:sp>
        <p:nvSpPr>
          <p:cNvPr id="43" name="TextBox 43"/>
          <p:cNvSpPr txBox="1"/>
          <p:nvPr/>
        </p:nvSpPr>
        <p:spPr>
          <a:xfrm>
            <a:off x="1130300" y="3289300"/>
            <a:ext cx="107950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Evaluate the computed risk against predefined thresholds to determine whether audit escalation is required for further action.</a:t>
            </a:r>
            <a:endParaRPr lang="en-US" sz="1100"/>
          </a:p>
        </p:txBody>
      </p:sp>
      <p:sp>
        <p:nvSpPr>
          <p:cNvPr id="44" name="TextBox 44"/>
          <p:cNvSpPr txBox="1"/>
          <p:nvPr/>
        </p:nvSpPr>
        <p:spPr>
          <a:xfrm>
            <a:off x="1130300" y="4711700"/>
            <a:ext cx="99187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Decide on immediate operational actions, selecting either MAINTAIN AUDIT for baseline monitoring or INCREASE AUDIT for intensified scrutiny.</a:t>
            </a:r>
            <a:endParaRPr lang="en-US" sz="1100"/>
          </a:p>
        </p:txBody>
      </p:sp>
      <p:sp>
        <p:nvSpPr>
          <p:cNvPr id="45" name="TextBox 45"/>
          <p:cNvSpPr txBox="1"/>
          <p:nvPr/>
        </p:nvSpPr>
        <p:spPr>
          <a:xfrm>
            <a:off x="1130300" y="6134100"/>
            <a:ext cx="90551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Prioritize auditing of high-risk assets when resources are constrained, ensuring the most critical risks receive attention first.</a:t>
            </a:r>
            <a:endParaRPr lang="en-US" sz="1100"/>
          </a:p>
        </p:txBody>
      </p:sp>
      <p:sp>
        <p:nvSpPr>
          <p:cNvPr id="46" name="TextBox 46"/>
          <p:cNvSpPr txBox="1"/>
          <p:nvPr/>
        </p:nvSpPr>
        <p:spPr>
          <a:xfrm>
            <a:off x="1130300" y="7569200"/>
            <a:ext cx="8178800" cy="8509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Translate anomaly detection outputs into actionable operational directives that are clear, interpretable, and executable by teams.</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Explainability: Feature-Level Transparency for Operator Trust</a:t>
            </a:r>
            <a:endParaRPr lang="en-US" sz="1100"/>
          </a:p>
        </p:txBody>
      </p:sp>
      <p:sp>
        <p:nvSpPr>
          <p:cNvPr id="16" name="TextBox 16"/>
          <p:cNvSpPr txBox="1"/>
          <p:nvPr/>
        </p:nvSpPr>
        <p:spPr>
          <a:xfrm>
            <a:off x="1130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Top contributing features</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Feature importance ranking</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logic</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 dashboard view</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Maintains transparency</a:t>
            </a:r>
            <a:endParaRPr lang="en-US" sz="1100"/>
          </a:p>
        </p:txBody>
      </p:sp>
      <p:sp>
        <p:nvSpPr>
          <p:cNvPr id="21" name="TextBox 21"/>
          <p:cNvSpPr txBox="1"/>
          <p:nvPr/>
        </p:nvSpPr>
        <p:spPr>
          <a:xfrm>
            <a:off x="1130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Top contributing features are identified for each anomaly score, enabling operators to see which inputs drove the detection.</a:t>
            </a:r>
            <a:endParaRPr lang="en-US" sz="1100"/>
          </a:p>
        </p:txBody>
      </p:sp>
      <p:sp>
        <p:nvSpPr>
          <p:cNvPr id="22" name="TextBox 22"/>
          <p:cNvSpPr txBox="1"/>
          <p:nvPr/>
        </p:nvSpPr>
        <p:spPr>
          <a:xfrm>
            <a:off x="4813300" y="38862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Feature importance ranking supports operator interpretation by ordering signals by their contribution to the anomaly.</a:t>
            </a:r>
            <a:endParaRPr lang="en-US" sz="1100"/>
          </a:p>
        </p:txBody>
      </p:sp>
      <p:sp>
        <p:nvSpPr>
          <p:cNvPr id="23" name="TextBox 23"/>
          <p:cNvSpPr txBox="1"/>
          <p:nvPr/>
        </p:nvSpPr>
        <p:spPr>
          <a:xfrm>
            <a:off x="8496300" y="35306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Deviation-based logic preserves traceability and reasoning clarity, linking anomalies to measurable shifts in feature behavior.</a:t>
            </a:r>
            <a:endParaRPr lang="en-US" sz="1100"/>
          </a:p>
        </p:txBody>
      </p:sp>
      <p:sp>
        <p:nvSpPr>
          <p:cNvPr id="24" name="TextBox 24"/>
          <p:cNvSpPr txBox="1"/>
          <p:nvPr/>
        </p:nvSpPr>
        <p:spPr>
          <a:xfrm>
            <a:off x="12179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Operator dashboard displays anomaly score, audit decision, and a concise explanation summarizing top contributing features for a selected agent.</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Maintains transparency rather than black-box alerting, ensuring operators can trust and verify automated flags.</a:t>
            </a:r>
            <a:endParaRPr lang="en-US" sz="1100"/>
          </a:p>
        </p:txBody>
      </p:sp>
      <p:pic>
        <p:nvPicPr>
          <p:cNvPr id="26" name="Picture 26"/>
          <p:cNvPicPr>
            <a:picLocks noChangeAspect="1"/>
          </p:cNvPicPr>
          <p:nvPr/>
        </p:nvPicPr>
        <p:blipFill>
          <a:blip r:embed="rId3"/>
          <a:stretch>
            <a:fillRect/>
          </a:stretch>
        </p:blipFill>
        <p:spPr>
          <a:xfrm>
            <a:off x="1409700" y="2095500"/>
            <a:ext cx="177800" cy="1778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397000" y="6731000"/>
            <a:ext cx="190500" cy="190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59000"/>
            <a:ext cx="14490700" cy="6273800"/>
          </a:xfrm>
          <a:prstGeom prst="rect">
            <a:avLst/>
          </a:prstGeom>
          <a:solidFill>
            <a:srgbClr val="000000">
              <a:alpha val="0"/>
            </a:srgbClr>
          </a:solidFill>
        </p:spPr>
      </p:sp>
      <p:sp>
        <p:nvSpPr>
          <p:cNvPr id="5" name="AutoShape 5"/>
          <p:cNvSpPr/>
          <p:nvPr/>
        </p:nvSpPr>
        <p:spPr>
          <a:xfrm>
            <a:off x="876300" y="2540000"/>
            <a:ext cx="3429000" cy="3390900"/>
          </a:xfrm>
          <a:prstGeom prst="roundRect">
            <a:avLst>
              <a:gd name="adj" fmla="val 2621"/>
            </a:avLst>
          </a:prstGeom>
          <a:solidFill>
            <a:srgbClr val="000000">
              <a:alpha val="0"/>
            </a:srgbClr>
          </a:solidFill>
        </p:spPr>
      </p:sp>
      <p:sp>
        <p:nvSpPr>
          <p:cNvPr id="6" name="AutoShape 6"/>
          <p:cNvSpPr/>
          <p:nvPr/>
        </p:nvSpPr>
        <p:spPr>
          <a:xfrm>
            <a:off x="863600" y="2514600"/>
            <a:ext cx="3403600" cy="88900"/>
          </a:xfrm>
          <a:prstGeom prst="roundRect">
            <a:avLst>
              <a:gd name="adj" fmla="val 50000"/>
            </a:avLst>
          </a:prstGeom>
          <a:solidFill>
            <a:srgbClr val="000000"/>
          </a:solidFill>
        </p:spPr>
      </p:sp>
      <p:sp>
        <p:nvSpPr>
          <p:cNvPr id="7" name="AutoShape 7"/>
          <p:cNvSpPr/>
          <p:nvPr/>
        </p:nvSpPr>
        <p:spPr>
          <a:xfrm>
            <a:off x="2222500" y="2159000"/>
            <a:ext cx="749300" cy="749300"/>
          </a:xfrm>
          <a:prstGeom prst="roundRect">
            <a:avLst>
              <a:gd name="adj" fmla="val 49152"/>
            </a:avLst>
          </a:prstGeom>
          <a:solidFill>
            <a:srgbClr val="000000"/>
          </a:solidFill>
        </p:spPr>
      </p:sp>
      <p:sp>
        <p:nvSpPr>
          <p:cNvPr id="8" name="AutoShape 8"/>
          <p:cNvSpPr/>
          <p:nvPr/>
        </p:nvSpPr>
        <p:spPr>
          <a:xfrm>
            <a:off x="4559300" y="2540000"/>
            <a:ext cx="3429000" cy="3390900"/>
          </a:xfrm>
          <a:prstGeom prst="roundRect">
            <a:avLst>
              <a:gd name="adj" fmla="val 2621"/>
            </a:avLst>
          </a:prstGeom>
          <a:solidFill>
            <a:srgbClr val="000000">
              <a:alpha val="0"/>
            </a:srgbClr>
          </a:solidFill>
        </p:spPr>
      </p:sp>
      <p:sp>
        <p:nvSpPr>
          <p:cNvPr id="9" name="AutoShape 9"/>
          <p:cNvSpPr/>
          <p:nvPr/>
        </p:nvSpPr>
        <p:spPr>
          <a:xfrm>
            <a:off x="4546600" y="2514600"/>
            <a:ext cx="3403600" cy="88900"/>
          </a:xfrm>
          <a:prstGeom prst="roundRect">
            <a:avLst>
              <a:gd name="adj" fmla="val 50000"/>
            </a:avLst>
          </a:prstGeom>
          <a:solidFill>
            <a:srgbClr val="000000"/>
          </a:solidFill>
        </p:spPr>
      </p:sp>
      <p:sp>
        <p:nvSpPr>
          <p:cNvPr id="10" name="AutoShape 10"/>
          <p:cNvSpPr/>
          <p:nvPr/>
        </p:nvSpPr>
        <p:spPr>
          <a:xfrm>
            <a:off x="5905500" y="2159000"/>
            <a:ext cx="749300" cy="749300"/>
          </a:xfrm>
          <a:prstGeom prst="roundRect">
            <a:avLst>
              <a:gd name="adj" fmla="val 49152"/>
            </a:avLst>
          </a:prstGeom>
          <a:solidFill>
            <a:srgbClr val="000000"/>
          </a:solidFill>
        </p:spPr>
      </p:sp>
      <p:sp>
        <p:nvSpPr>
          <p:cNvPr id="11" name="AutoShape 11"/>
          <p:cNvSpPr/>
          <p:nvPr/>
        </p:nvSpPr>
        <p:spPr>
          <a:xfrm>
            <a:off x="8242300" y="2540000"/>
            <a:ext cx="3429000" cy="3390900"/>
          </a:xfrm>
          <a:prstGeom prst="roundRect">
            <a:avLst>
              <a:gd name="adj" fmla="val 2621"/>
            </a:avLst>
          </a:prstGeom>
          <a:solidFill>
            <a:srgbClr val="000000">
              <a:alpha val="0"/>
            </a:srgbClr>
          </a:solidFill>
        </p:spPr>
      </p:sp>
      <p:sp>
        <p:nvSpPr>
          <p:cNvPr id="12" name="AutoShape 12"/>
          <p:cNvSpPr/>
          <p:nvPr/>
        </p:nvSpPr>
        <p:spPr>
          <a:xfrm>
            <a:off x="8242300" y="2514600"/>
            <a:ext cx="3403600" cy="88900"/>
          </a:xfrm>
          <a:prstGeom prst="roundRect">
            <a:avLst>
              <a:gd name="adj" fmla="val 50000"/>
            </a:avLst>
          </a:prstGeom>
          <a:solidFill>
            <a:srgbClr val="000000"/>
          </a:solidFill>
        </p:spPr>
      </p:sp>
      <p:sp>
        <p:nvSpPr>
          <p:cNvPr id="13" name="AutoShape 13"/>
          <p:cNvSpPr/>
          <p:nvPr/>
        </p:nvSpPr>
        <p:spPr>
          <a:xfrm>
            <a:off x="9588500" y="2159000"/>
            <a:ext cx="749300" cy="749300"/>
          </a:xfrm>
          <a:prstGeom prst="roundRect">
            <a:avLst>
              <a:gd name="adj" fmla="val 49152"/>
            </a:avLst>
          </a:prstGeom>
          <a:solidFill>
            <a:srgbClr val="000000"/>
          </a:solidFill>
        </p:spPr>
      </p:sp>
      <p:sp>
        <p:nvSpPr>
          <p:cNvPr id="14" name="AutoShape 14"/>
          <p:cNvSpPr/>
          <p:nvPr/>
        </p:nvSpPr>
        <p:spPr>
          <a:xfrm>
            <a:off x="11938000" y="2540000"/>
            <a:ext cx="3429000" cy="3390900"/>
          </a:xfrm>
          <a:prstGeom prst="roundRect">
            <a:avLst>
              <a:gd name="adj" fmla="val 2621"/>
            </a:avLst>
          </a:prstGeom>
          <a:solidFill>
            <a:srgbClr val="000000">
              <a:alpha val="0"/>
            </a:srgbClr>
          </a:solidFill>
        </p:spPr>
      </p:sp>
      <p:sp>
        <p:nvSpPr>
          <p:cNvPr id="15" name="AutoShape 15"/>
          <p:cNvSpPr/>
          <p:nvPr/>
        </p:nvSpPr>
        <p:spPr>
          <a:xfrm>
            <a:off x="11925300" y="2514600"/>
            <a:ext cx="3403600" cy="88900"/>
          </a:xfrm>
          <a:prstGeom prst="roundRect">
            <a:avLst>
              <a:gd name="adj" fmla="val 50000"/>
            </a:avLst>
          </a:prstGeom>
          <a:solidFill>
            <a:srgbClr val="000000"/>
          </a:solidFill>
        </p:spPr>
      </p:sp>
      <p:sp>
        <p:nvSpPr>
          <p:cNvPr id="16" name="AutoShape 16"/>
          <p:cNvSpPr/>
          <p:nvPr/>
        </p:nvSpPr>
        <p:spPr>
          <a:xfrm>
            <a:off x="13271500" y="2159000"/>
            <a:ext cx="749300" cy="749300"/>
          </a:xfrm>
          <a:prstGeom prst="roundRect">
            <a:avLst>
              <a:gd name="adj" fmla="val 49152"/>
            </a:avLst>
          </a:prstGeom>
          <a:solidFill>
            <a:srgbClr val="000000"/>
          </a:solidFill>
        </p:spPr>
      </p:sp>
      <p:sp>
        <p:nvSpPr>
          <p:cNvPr id="17" name="AutoShape 17"/>
          <p:cNvSpPr/>
          <p:nvPr/>
        </p:nvSpPr>
        <p:spPr>
          <a:xfrm>
            <a:off x="876300" y="6553200"/>
            <a:ext cx="14490700" cy="1879600"/>
          </a:xfrm>
          <a:prstGeom prst="roundRect">
            <a:avLst>
              <a:gd name="adj" fmla="val 4729"/>
            </a:avLst>
          </a:prstGeom>
          <a:solidFill>
            <a:srgbClr val="000000">
              <a:alpha val="0"/>
            </a:srgbClr>
          </a:solidFill>
        </p:spPr>
      </p:sp>
      <p:sp>
        <p:nvSpPr>
          <p:cNvPr id="18" name="AutoShape 18"/>
          <p:cNvSpPr/>
          <p:nvPr/>
        </p:nvSpPr>
        <p:spPr>
          <a:xfrm>
            <a:off x="863600" y="6527800"/>
            <a:ext cx="14452600" cy="88900"/>
          </a:xfrm>
          <a:prstGeom prst="roundRect">
            <a:avLst>
              <a:gd name="adj" fmla="val 50000"/>
            </a:avLst>
          </a:prstGeom>
          <a:solidFill>
            <a:srgbClr val="000000"/>
          </a:solidFill>
        </p:spPr>
      </p:sp>
      <p:sp>
        <p:nvSpPr>
          <p:cNvPr id="19" name="AutoShape 19"/>
          <p:cNvSpPr/>
          <p:nvPr/>
        </p:nvSpPr>
        <p:spPr>
          <a:xfrm>
            <a:off x="7747000" y="6184900"/>
            <a:ext cx="749300" cy="749300"/>
          </a:xfrm>
          <a:prstGeom prst="roundRect">
            <a:avLst>
              <a:gd name="adj" fmla="val 49152"/>
            </a:avLst>
          </a:prstGeom>
          <a:solidFill>
            <a:srgbClr val="000000"/>
          </a:solidFill>
        </p:spPr>
      </p:sp>
      <p:sp>
        <p:nvSpPr>
          <p:cNvPr id="20" name="TextBox 20"/>
          <p:cNvSpPr txBox="1"/>
          <p:nvPr/>
        </p:nvSpPr>
        <p:spPr>
          <a:xfrm>
            <a:off x="876300" y="685800"/>
            <a:ext cx="14490700" cy="11938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Implementation Stack: Modular Deployment-Oriented Platform</a:t>
            </a:r>
            <a:endParaRPr lang="en-US" sz="1100"/>
          </a:p>
        </p:txBody>
      </p:sp>
      <p:sp>
        <p:nvSpPr>
          <p:cNvPr id="21" name="TextBox 21"/>
          <p:cNvSpPr txBox="1"/>
          <p:nvPr/>
        </p:nvSpPr>
        <p:spPr>
          <a:xfrm>
            <a:off x="2501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1</a:t>
            </a:r>
            <a:endParaRPr lang="en-US" sz="1100"/>
          </a:p>
        </p:txBody>
      </p:sp>
      <p:sp>
        <p:nvSpPr>
          <p:cNvPr id="22" name="TextBox 22"/>
          <p:cNvSpPr txBox="1"/>
          <p:nvPr/>
        </p:nvSpPr>
        <p:spPr>
          <a:xfrm>
            <a:off x="1143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Backend</a:t>
            </a:r>
            <a:endParaRPr lang="en-US" sz="1100"/>
          </a:p>
        </p:txBody>
      </p:sp>
      <p:sp>
        <p:nvSpPr>
          <p:cNvPr id="23" name="TextBox 23"/>
          <p:cNvSpPr txBox="1"/>
          <p:nvPr/>
        </p:nvSpPr>
        <p:spPr>
          <a:xfrm>
            <a:off x="6184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2</a:t>
            </a:r>
            <a:endParaRPr lang="en-US" sz="1100"/>
          </a:p>
        </p:txBody>
      </p:sp>
      <p:sp>
        <p:nvSpPr>
          <p:cNvPr id="24" name="TextBox 24"/>
          <p:cNvSpPr txBox="1"/>
          <p:nvPr/>
        </p:nvSpPr>
        <p:spPr>
          <a:xfrm>
            <a:off x="4826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Frontend</a:t>
            </a:r>
            <a:endParaRPr lang="en-US" sz="1100"/>
          </a:p>
        </p:txBody>
      </p:sp>
      <p:sp>
        <p:nvSpPr>
          <p:cNvPr id="25" name="TextBox 25"/>
          <p:cNvSpPr txBox="1"/>
          <p:nvPr/>
        </p:nvSpPr>
        <p:spPr>
          <a:xfrm>
            <a:off x="9880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3</a:t>
            </a:r>
            <a:endParaRPr lang="en-US" sz="1100"/>
          </a:p>
        </p:txBody>
      </p:sp>
      <p:sp>
        <p:nvSpPr>
          <p:cNvPr id="26" name="TextBox 26"/>
          <p:cNvSpPr txBox="1"/>
          <p:nvPr/>
        </p:nvSpPr>
        <p:spPr>
          <a:xfrm>
            <a:off x="8509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a:t>
            </a:r>
            <a:endParaRPr lang="en-US" sz="1100"/>
          </a:p>
        </p:txBody>
      </p:sp>
      <p:sp>
        <p:nvSpPr>
          <p:cNvPr id="27" name="TextBox 27"/>
          <p:cNvSpPr txBox="1"/>
          <p:nvPr/>
        </p:nvSpPr>
        <p:spPr>
          <a:xfrm>
            <a:off x="13563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4</a:t>
            </a:r>
            <a:endParaRPr lang="en-US" sz="1100"/>
          </a:p>
        </p:txBody>
      </p:sp>
      <p:sp>
        <p:nvSpPr>
          <p:cNvPr id="28" name="TextBox 28"/>
          <p:cNvSpPr txBox="1"/>
          <p:nvPr/>
        </p:nvSpPr>
        <p:spPr>
          <a:xfrm>
            <a:off x="122047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Bridge</a:t>
            </a:r>
            <a:endParaRPr lang="en-US" sz="1100"/>
          </a:p>
        </p:txBody>
      </p:sp>
      <p:sp>
        <p:nvSpPr>
          <p:cNvPr id="29" name="TextBox 29"/>
          <p:cNvSpPr txBox="1"/>
          <p:nvPr/>
        </p:nvSpPr>
        <p:spPr>
          <a:xfrm>
            <a:off x="8026400" y="6375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5</a:t>
            </a:r>
            <a:endParaRPr lang="en-US" sz="1100"/>
          </a:p>
        </p:txBody>
      </p:sp>
      <p:sp>
        <p:nvSpPr>
          <p:cNvPr id="30" name="TextBox 30"/>
          <p:cNvSpPr txBox="1"/>
          <p:nvPr/>
        </p:nvSpPr>
        <p:spPr>
          <a:xfrm>
            <a:off x="1143000" y="71882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Execution environment</a:t>
            </a:r>
            <a:endParaRPr lang="en-US" sz="1100"/>
          </a:p>
        </p:txBody>
      </p:sp>
      <p:sp>
        <p:nvSpPr>
          <p:cNvPr id="31" name="TextBox 31"/>
          <p:cNvSpPr txBox="1"/>
          <p:nvPr/>
        </p:nvSpPr>
        <p:spPr>
          <a:xfrm>
            <a:off x="1143000" y="3797300"/>
            <a:ext cx="2895600" cy="1866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FastAPI for SCADA ingest, anomaly scoring, audit logic, and explanation generation</a:t>
            </a:r>
            <a:endParaRPr lang="en-US" sz="1100"/>
          </a:p>
        </p:txBody>
      </p:sp>
      <p:sp>
        <p:nvSpPr>
          <p:cNvPr id="32" name="TextBox 32"/>
          <p:cNvSpPr txBox="1"/>
          <p:nvPr/>
        </p:nvSpPr>
        <p:spPr>
          <a:xfrm>
            <a:off x="4826000" y="3797300"/>
            <a:ext cx="2895600" cy="1117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Next.js dashboard with separated Experiment and Live workspaces</a:t>
            </a:r>
            <a:endParaRPr lang="en-US" sz="1100"/>
          </a:p>
        </p:txBody>
      </p:sp>
      <p:sp>
        <p:nvSpPr>
          <p:cNvPr id="33" name="TextBox 33"/>
          <p:cNvSpPr txBox="1"/>
          <p:nvPr/>
        </p:nvSpPr>
        <p:spPr>
          <a:xfrm>
            <a:off x="85090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Webstation with a 300-channel calculated model</a:t>
            </a:r>
            <a:endParaRPr lang="en-US" sz="1100"/>
          </a:p>
        </p:txBody>
      </p:sp>
      <p:sp>
        <p:nvSpPr>
          <p:cNvPr id="34" name="TextBox 34"/>
          <p:cNvSpPr txBox="1"/>
          <p:nvPr/>
        </p:nvSpPr>
        <p:spPr>
          <a:xfrm>
            <a:off x="122047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PowerShell-based authenticated API retrieval with batched ingestion</a:t>
            </a:r>
            <a:endParaRPr lang="en-US" sz="1100"/>
          </a:p>
        </p:txBody>
      </p:sp>
      <p:sp>
        <p:nvSpPr>
          <p:cNvPr id="35" name="TextBox 35"/>
          <p:cNvSpPr txBox="1"/>
          <p:nvPr/>
        </p:nvSpPr>
        <p:spPr>
          <a:xfrm>
            <a:off x="1143000" y="78105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Standard workstation prioritizing API responsiveness</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149600"/>
            <a:ext cx="14490700" cy="4318000"/>
          </a:xfrm>
          <a:prstGeom prst="rect">
            <a:avLst/>
          </a:prstGeom>
          <a:solidFill>
            <a:srgbClr val="000000">
              <a:alpha val="0"/>
            </a:srgbClr>
          </a:solidFill>
        </p:spPr>
      </p:sp>
      <p:sp>
        <p:nvSpPr>
          <p:cNvPr id="5" name="AutoShape 5"/>
          <p:cNvSpPr/>
          <p:nvPr/>
        </p:nvSpPr>
        <p:spPr>
          <a:xfrm>
            <a:off x="876300" y="3149600"/>
            <a:ext cx="3378200" cy="2603500"/>
          </a:xfrm>
          <a:prstGeom prst="rect">
            <a:avLst/>
          </a:prstGeom>
          <a:solidFill>
            <a:srgbClr val="000000">
              <a:alpha val="0"/>
            </a:srgbClr>
          </a:solidFill>
        </p:spPr>
      </p:sp>
      <p:sp>
        <p:nvSpPr>
          <p:cNvPr id="6" name="AutoShape 6"/>
          <p:cNvSpPr/>
          <p:nvPr/>
        </p:nvSpPr>
        <p:spPr>
          <a:xfrm>
            <a:off x="876300" y="3149600"/>
            <a:ext cx="558800" cy="558800"/>
          </a:xfrm>
          <a:prstGeom prst="roundRect">
            <a:avLst>
              <a:gd name="adj" fmla="val 15909"/>
            </a:avLst>
          </a:prstGeom>
          <a:solidFill>
            <a:srgbClr val="D1D1D1"/>
          </a:solidFill>
        </p:spPr>
      </p:sp>
      <p:sp>
        <p:nvSpPr>
          <p:cNvPr id="7" name="AutoShape 7"/>
          <p:cNvSpPr/>
          <p:nvPr/>
        </p:nvSpPr>
        <p:spPr>
          <a:xfrm>
            <a:off x="4572000" y="3149600"/>
            <a:ext cx="3378200" cy="2603500"/>
          </a:xfrm>
          <a:prstGeom prst="rect">
            <a:avLst/>
          </a:prstGeom>
          <a:solidFill>
            <a:srgbClr val="000000">
              <a:alpha val="0"/>
            </a:srgbClr>
          </a:solidFill>
        </p:spPr>
      </p:sp>
      <p:sp>
        <p:nvSpPr>
          <p:cNvPr id="8" name="AutoShape 8"/>
          <p:cNvSpPr/>
          <p:nvPr/>
        </p:nvSpPr>
        <p:spPr>
          <a:xfrm>
            <a:off x="4572000" y="3149600"/>
            <a:ext cx="558800" cy="558800"/>
          </a:xfrm>
          <a:prstGeom prst="roundRect">
            <a:avLst>
              <a:gd name="adj" fmla="val 15909"/>
            </a:avLst>
          </a:prstGeom>
          <a:solidFill>
            <a:srgbClr val="D1D1D1"/>
          </a:solidFill>
        </p:spPr>
      </p:sp>
      <p:sp>
        <p:nvSpPr>
          <p:cNvPr id="9" name="AutoShape 9"/>
          <p:cNvSpPr/>
          <p:nvPr/>
        </p:nvSpPr>
        <p:spPr>
          <a:xfrm>
            <a:off x="8280400" y="3149600"/>
            <a:ext cx="3378200" cy="2603500"/>
          </a:xfrm>
          <a:prstGeom prst="rect">
            <a:avLst/>
          </a:prstGeom>
          <a:solidFill>
            <a:srgbClr val="000000">
              <a:alpha val="0"/>
            </a:srgbClr>
          </a:solidFill>
        </p:spPr>
      </p:sp>
      <p:sp>
        <p:nvSpPr>
          <p:cNvPr id="10" name="AutoShape 10"/>
          <p:cNvSpPr/>
          <p:nvPr/>
        </p:nvSpPr>
        <p:spPr>
          <a:xfrm>
            <a:off x="8280400" y="3149600"/>
            <a:ext cx="558800" cy="558800"/>
          </a:xfrm>
          <a:prstGeom prst="roundRect">
            <a:avLst>
              <a:gd name="adj" fmla="val 15909"/>
            </a:avLst>
          </a:prstGeom>
          <a:solidFill>
            <a:srgbClr val="D1D1D1"/>
          </a:solidFill>
        </p:spPr>
      </p:sp>
      <p:sp>
        <p:nvSpPr>
          <p:cNvPr id="11" name="AutoShape 11"/>
          <p:cNvSpPr/>
          <p:nvPr/>
        </p:nvSpPr>
        <p:spPr>
          <a:xfrm>
            <a:off x="11976100" y="3149600"/>
            <a:ext cx="3378200" cy="2603500"/>
          </a:xfrm>
          <a:prstGeom prst="rect">
            <a:avLst/>
          </a:prstGeom>
          <a:solidFill>
            <a:srgbClr val="000000">
              <a:alpha val="0"/>
            </a:srgbClr>
          </a:solidFill>
        </p:spPr>
      </p:sp>
      <p:sp>
        <p:nvSpPr>
          <p:cNvPr id="12" name="AutoShape 12"/>
          <p:cNvSpPr/>
          <p:nvPr/>
        </p:nvSpPr>
        <p:spPr>
          <a:xfrm>
            <a:off x="11976100" y="3149600"/>
            <a:ext cx="558800" cy="558800"/>
          </a:xfrm>
          <a:prstGeom prst="roundRect">
            <a:avLst>
              <a:gd name="adj" fmla="val 15909"/>
            </a:avLst>
          </a:prstGeom>
          <a:solidFill>
            <a:srgbClr val="D1D1D1"/>
          </a:solidFill>
        </p:spPr>
      </p:sp>
      <p:sp>
        <p:nvSpPr>
          <p:cNvPr id="13" name="AutoShape 13"/>
          <p:cNvSpPr/>
          <p:nvPr/>
        </p:nvSpPr>
        <p:spPr>
          <a:xfrm>
            <a:off x="876300" y="6388100"/>
            <a:ext cx="14490700" cy="1092200"/>
          </a:xfrm>
          <a:prstGeom prst="rect">
            <a:avLst/>
          </a:prstGeom>
          <a:solidFill>
            <a:srgbClr val="000000">
              <a:alpha val="0"/>
            </a:srgbClr>
          </a:solidFill>
        </p:spPr>
      </p:sp>
      <p:sp>
        <p:nvSpPr>
          <p:cNvPr id="14" name="AutoShape 14"/>
          <p:cNvSpPr/>
          <p:nvPr/>
        </p:nvSpPr>
        <p:spPr>
          <a:xfrm>
            <a:off x="876300" y="6388100"/>
            <a:ext cx="558800" cy="558800"/>
          </a:xfrm>
          <a:prstGeom prst="roundRect">
            <a:avLst>
              <a:gd name="adj" fmla="val 15909"/>
            </a:avLst>
          </a:prstGeom>
          <a:solidFill>
            <a:srgbClr val="D1D1D1"/>
          </a:solidFill>
        </p:spPr>
      </p:sp>
      <p:sp>
        <p:nvSpPr>
          <p:cNvPr id="15" name="TextBox 15"/>
          <p:cNvSpPr txBox="1"/>
          <p:nvPr/>
        </p:nvSpPr>
        <p:spPr>
          <a:xfrm>
            <a:off x="876300" y="16510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Testing and Validation: Structured Implementation Test Cases</a:t>
            </a:r>
            <a:endParaRPr lang="en-US" sz="1100"/>
          </a:p>
        </p:txBody>
      </p:sp>
      <p:sp>
        <p:nvSpPr>
          <p:cNvPr id="16" name="TextBox 16"/>
          <p:cNvSpPr txBox="1"/>
          <p:nvPr/>
        </p:nvSpPr>
        <p:spPr>
          <a:xfrm>
            <a:off x="10668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TC-01</a:t>
            </a:r>
            <a:endParaRPr lang="en-US" sz="1100"/>
          </a:p>
        </p:txBody>
      </p:sp>
      <p:sp>
        <p:nvSpPr>
          <p:cNvPr id="18" name="TextBox 18"/>
          <p:cNvSpPr txBox="1"/>
          <p:nvPr/>
        </p:nvSpPr>
        <p:spPr>
          <a:xfrm>
            <a:off x="47752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TC-02</a:t>
            </a:r>
            <a:endParaRPr lang="en-US" sz="1100"/>
          </a:p>
        </p:txBody>
      </p:sp>
      <p:sp>
        <p:nvSpPr>
          <p:cNvPr id="20" name="TextBox 20"/>
          <p:cNvSpPr txBox="1"/>
          <p:nvPr/>
        </p:nvSpPr>
        <p:spPr>
          <a:xfrm>
            <a:off x="84709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TC-03</a:t>
            </a:r>
            <a:endParaRPr lang="en-US" sz="1100"/>
          </a:p>
        </p:txBody>
      </p:sp>
      <p:sp>
        <p:nvSpPr>
          <p:cNvPr id="22" name="TextBox 22"/>
          <p:cNvSpPr txBox="1"/>
          <p:nvPr/>
        </p:nvSpPr>
        <p:spPr>
          <a:xfrm>
            <a:off x="121793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TC-04</a:t>
            </a:r>
            <a:endParaRPr lang="en-US" sz="1100"/>
          </a:p>
        </p:txBody>
      </p:sp>
      <p:sp>
        <p:nvSpPr>
          <p:cNvPr id="24" name="TextBox 24"/>
          <p:cNvSpPr txBox="1"/>
          <p:nvPr/>
        </p:nvSpPr>
        <p:spPr>
          <a:xfrm>
            <a:off x="1066800" y="6477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4643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TC-05 to TC-08</a:t>
            </a:r>
            <a:endParaRPr lang="en-US" sz="1100"/>
          </a:p>
        </p:txBody>
      </p:sp>
      <p:sp>
        <p:nvSpPr>
          <p:cNvPr id="26" name="TextBox 26"/>
          <p:cNvSpPr txBox="1"/>
          <p:nvPr/>
        </p:nvSpPr>
        <p:spPr>
          <a:xfrm>
            <a:off x="16891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behavior validation under normal operating profile</a:t>
            </a:r>
            <a:endParaRPr lang="en-US" sz="1100"/>
          </a:p>
        </p:txBody>
      </p:sp>
      <p:sp>
        <p:nvSpPr>
          <p:cNvPr id="27" name="TextBox 27"/>
          <p:cNvSpPr txBox="1"/>
          <p:nvPr/>
        </p:nvSpPr>
        <p:spPr>
          <a:xfrm>
            <a:off x="5397500" y="38608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Anomaly scoring validation with injected deviations</a:t>
            </a:r>
            <a:endParaRPr lang="en-US" sz="1100"/>
          </a:p>
        </p:txBody>
      </p:sp>
      <p:sp>
        <p:nvSpPr>
          <p:cNvPr id="28" name="TextBox 28"/>
          <p:cNvSpPr txBox="1"/>
          <p:nvPr/>
        </p:nvSpPr>
        <p:spPr>
          <a:xfrm>
            <a:off x="90932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escalation logic when risk score exceeds threshold</a:t>
            </a:r>
            <a:endParaRPr lang="en-US" sz="1100"/>
          </a:p>
        </p:txBody>
      </p:sp>
      <p:sp>
        <p:nvSpPr>
          <p:cNvPr id="29" name="TextBox 29"/>
          <p:cNvSpPr txBox="1"/>
          <p:nvPr/>
        </p:nvSpPr>
        <p:spPr>
          <a:xfrm>
            <a:off x="12801600" y="38608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integration via Web API and authenticated bridge</a:t>
            </a:r>
            <a:endParaRPr lang="en-US" sz="1100"/>
          </a:p>
        </p:txBody>
      </p:sp>
      <p:sp>
        <p:nvSpPr>
          <p:cNvPr id="30" name="TextBox 30"/>
          <p:cNvSpPr txBox="1"/>
          <p:nvPr/>
        </p:nvSpPr>
        <p:spPr>
          <a:xfrm>
            <a:off x="1689100" y="70993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Batched ingest, dashboard correctness, explainability, runtime stability - All test cases passed</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44700"/>
            <a:ext cx="14490700" cy="6438900"/>
          </a:xfrm>
          <a:prstGeom prst="rect">
            <a:avLst/>
          </a:prstGeom>
          <a:solidFill>
            <a:srgbClr val="000000">
              <a:alpha val="0"/>
            </a:srgbClr>
          </a:solidFill>
        </p:spPr>
      </p:sp>
      <p:sp>
        <p:nvSpPr>
          <p:cNvPr id="5" name="AutoShape 5"/>
          <p:cNvSpPr/>
          <p:nvPr/>
        </p:nvSpPr>
        <p:spPr>
          <a:xfrm>
            <a:off x="876300" y="2044700"/>
            <a:ext cx="3429000" cy="3848100"/>
          </a:xfrm>
          <a:prstGeom prst="roundRect">
            <a:avLst>
              <a:gd name="adj" fmla="val 2222"/>
            </a:avLst>
          </a:prstGeom>
          <a:solidFill>
            <a:srgbClr val="D1D1D1">
              <a:alpha val="71765"/>
            </a:srgbClr>
          </a:solidFill>
        </p:spPr>
      </p:sp>
      <p:sp>
        <p:nvSpPr>
          <p:cNvPr id="6" name="AutoShape 6"/>
          <p:cNvSpPr/>
          <p:nvPr/>
        </p:nvSpPr>
        <p:spPr>
          <a:xfrm>
            <a:off x="1155700" y="2273300"/>
            <a:ext cx="698500" cy="698500"/>
          </a:xfrm>
          <a:prstGeom prst="roundRect">
            <a:avLst>
              <a:gd name="adj" fmla="val 49090"/>
            </a:avLst>
          </a:prstGeom>
          <a:solidFill>
            <a:srgbClr val="000000"/>
          </a:solidFill>
        </p:spPr>
      </p:sp>
      <p:sp>
        <p:nvSpPr>
          <p:cNvPr id="7" name="AutoShape 7"/>
          <p:cNvSpPr/>
          <p:nvPr/>
        </p:nvSpPr>
        <p:spPr>
          <a:xfrm>
            <a:off x="4559300" y="2044700"/>
            <a:ext cx="3429000" cy="3848100"/>
          </a:xfrm>
          <a:prstGeom prst="roundRect">
            <a:avLst>
              <a:gd name="adj" fmla="val 2222"/>
            </a:avLst>
          </a:prstGeom>
          <a:solidFill>
            <a:srgbClr val="D1D1D1">
              <a:alpha val="71765"/>
            </a:srgbClr>
          </a:solidFill>
        </p:spPr>
      </p:sp>
      <p:sp>
        <p:nvSpPr>
          <p:cNvPr id="8" name="AutoShape 8"/>
          <p:cNvSpPr/>
          <p:nvPr/>
        </p:nvSpPr>
        <p:spPr>
          <a:xfrm>
            <a:off x="4838700" y="2273300"/>
            <a:ext cx="698500" cy="698500"/>
          </a:xfrm>
          <a:prstGeom prst="roundRect">
            <a:avLst>
              <a:gd name="adj" fmla="val 49090"/>
            </a:avLst>
          </a:prstGeom>
          <a:solidFill>
            <a:srgbClr val="000000"/>
          </a:solidFill>
        </p:spPr>
      </p:sp>
      <p:sp>
        <p:nvSpPr>
          <p:cNvPr id="9" name="AutoShape 9"/>
          <p:cNvSpPr/>
          <p:nvPr/>
        </p:nvSpPr>
        <p:spPr>
          <a:xfrm>
            <a:off x="8242300" y="2044700"/>
            <a:ext cx="3429000" cy="3848100"/>
          </a:xfrm>
          <a:prstGeom prst="roundRect">
            <a:avLst>
              <a:gd name="adj" fmla="val 2222"/>
            </a:avLst>
          </a:prstGeom>
          <a:solidFill>
            <a:srgbClr val="D1D1D1">
              <a:alpha val="71765"/>
            </a:srgbClr>
          </a:solidFill>
        </p:spPr>
      </p:sp>
      <p:sp>
        <p:nvSpPr>
          <p:cNvPr id="10" name="AutoShape 10"/>
          <p:cNvSpPr/>
          <p:nvPr/>
        </p:nvSpPr>
        <p:spPr>
          <a:xfrm>
            <a:off x="8521700" y="2273300"/>
            <a:ext cx="698500" cy="698500"/>
          </a:xfrm>
          <a:prstGeom prst="roundRect">
            <a:avLst>
              <a:gd name="adj" fmla="val 49090"/>
            </a:avLst>
          </a:prstGeom>
          <a:solidFill>
            <a:srgbClr val="000000"/>
          </a:solidFill>
        </p:spPr>
      </p:sp>
      <p:sp>
        <p:nvSpPr>
          <p:cNvPr id="11" name="AutoShape 11"/>
          <p:cNvSpPr/>
          <p:nvPr/>
        </p:nvSpPr>
        <p:spPr>
          <a:xfrm>
            <a:off x="11938000" y="2044700"/>
            <a:ext cx="3429000" cy="3848100"/>
          </a:xfrm>
          <a:prstGeom prst="roundRect">
            <a:avLst>
              <a:gd name="adj" fmla="val 2222"/>
            </a:avLst>
          </a:prstGeom>
          <a:solidFill>
            <a:srgbClr val="D1D1D1">
              <a:alpha val="71765"/>
            </a:srgbClr>
          </a:solidFill>
        </p:spPr>
      </p:sp>
      <p:sp>
        <p:nvSpPr>
          <p:cNvPr id="12" name="AutoShape 12"/>
          <p:cNvSpPr/>
          <p:nvPr/>
        </p:nvSpPr>
        <p:spPr>
          <a:xfrm>
            <a:off x="12204700" y="2273300"/>
            <a:ext cx="698500" cy="698500"/>
          </a:xfrm>
          <a:prstGeom prst="roundRect">
            <a:avLst>
              <a:gd name="adj" fmla="val 49090"/>
            </a:avLst>
          </a:prstGeom>
          <a:solidFill>
            <a:srgbClr val="000000"/>
          </a:solidFill>
        </p:spPr>
      </p:sp>
      <p:sp>
        <p:nvSpPr>
          <p:cNvPr id="13" name="AutoShape 13"/>
          <p:cNvSpPr/>
          <p:nvPr/>
        </p:nvSpPr>
        <p:spPr>
          <a:xfrm>
            <a:off x="876300" y="6121400"/>
            <a:ext cx="14490700" cy="2349500"/>
          </a:xfrm>
          <a:prstGeom prst="roundRect">
            <a:avLst>
              <a:gd name="adj" fmla="val 3243"/>
            </a:avLst>
          </a:prstGeom>
          <a:solidFill>
            <a:srgbClr val="D1D1D1">
              <a:alpha val="71765"/>
            </a:srgbClr>
          </a:solidFill>
        </p:spPr>
      </p:sp>
      <p:sp>
        <p:nvSpPr>
          <p:cNvPr id="14" name="AutoShape 14"/>
          <p:cNvSpPr/>
          <p:nvPr/>
        </p:nvSpPr>
        <p:spPr>
          <a:xfrm>
            <a:off x="1155700" y="6362700"/>
            <a:ext cx="698500" cy="698500"/>
          </a:xfrm>
          <a:prstGeom prst="roundRect">
            <a:avLst>
              <a:gd name="adj" fmla="val 49090"/>
            </a:avLst>
          </a:prstGeom>
          <a:solidFill>
            <a:srgbClr val="000000"/>
          </a:solidFill>
        </p:spPr>
      </p:sp>
      <p:sp>
        <p:nvSpPr>
          <p:cNvPr id="15" name="TextBox 15"/>
          <p:cNvSpPr txBox="1"/>
          <p:nvPr/>
        </p:nvSpPr>
        <p:spPr>
          <a:xfrm>
            <a:off x="876300" y="647700"/>
            <a:ext cx="14490700" cy="11303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Live SCADA Validation: 100-Agent Operational Confirmation</a:t>
            </a:r>
            <a:endParaRPr lang="en-US" sz="1100"/>
          </a:p>
        </p:txBody>
      </p:sp>
      <p:sp>
        <p:nvSpPr>
          <p:cNvPr id="16" name="TextBox 16"/>
          <p:cNvSpPr txBox="1"/>
          <p:nvPr/>
        </p:nvSpPr>
        <p:spPr>
          <a:xfrm>
            <a:off x="1130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Verification</a:t>
            </a:r>
            <a:endParaRPr lang="en-US" sz="1100"/>
          </a:p>
        </p:txBody>
      </p:sp>
      <p:sp>
        <p:nvSpPr>
          <p:cNvPr id="17" name="TextBox 17"/>
          <p:cNvSpPr txBox="1"/>
          <p:nvPr/>
        </p:nvSpPr>
        <p:spPr>
          <a:xfrm>
            <a:off x="4813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Pipeline Validation</a:t>
            </a:r>
            <a:endParaRPr lang="en-US" sz="1100"/>
          </a:p>
        </p:txBody>
      </p:sp>
      <p:sp>
        <p:nvSpPr>
          <p:cNvPr id="18" name="TextBox 18"/>
          <p:cNvSpPr txBox="1"/>
          <p:nvPr/>
        </p:nvSpPr>
        <p:spPr>
          <a:xfrm>
            <a:off x="8496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Telemetry Retrieval</a:t>
            </a:r>
            <a:endParaRPr lang="en-US" sz="1100"/>
          </a:p>
        </p:txBody>
      </p:sp>
      <p:sp>
        <p:nvSpPr>
          <p:cNvPr id="19" name="TextBox 19"/>
          <p:cNvSpPr txBox="1"/>
          <p:nvPr/>
        </p:nvSpPr>
        <p:spPr>
          <a:xfrm>
            <a:off x="12179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Integration</a:t>
            </a:r>
            <a:endParaRPr lang="en-US" sz="1100"/>
          </a:p>
        </p:txBody>
      </p:sp>
      <p:sp>
        <p:nvSpPr>
          <p:cNvPr id="20" name="TextBox 20"/>
          <p:cNvSpPr txBox="1"/>
          <p:nvPr/>
        </p:nvSpPr>
        <p:spPr>
          <a:xfrm>
            <a:off x="1130300" y="7302500"/>
            <a:ext cx="139827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Operational Note</a:t>
            </a:r>
            <a:endParaRPr lang="en-US" sz="1100"/>
          </a:p>
        </p:txBody>
      </p:sp>
      <p:sp>
        <p:nvSpPr>
          <p:cNvPr id="21" name="TextBox 21"/>
          <p:cNvSpPr txBox="1"/>
          <p:nvPr/>
        </p:nvSpPr>
        <p:spPr>
          <a:xfrm>
            <a:off x="1130300" y="38100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100 live agents, 0 non-live agents confirmed operational</a:t>
            </a:r>
            <a:endParaRPr lang="en-US" sz="1100"/>
          </a:p>
        </p:txBody>
      </p:sp>
      <p:sp>
        <p:nvSpPr>
          <p:cNvPr id="22" name="TextBox 22"/>
          <p:cNvSpPr txBox="1"/>
          <p:nvPr/>
        </p:nvSpPr>
        <p:spPr>
          <a:xfrm>
            <a:off x="4813300" y="42418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Full SCADA-to-backend-to-dashboard pipeline validated</a:t>
            </a:r>
            <a:endParaRPr lang="en-US" sz="1100"/>
          </a:p>
        </p:txBody>
      </p:sp>
      <p:sp>
        <p:nvSpPr>
          <p:cNvPr id="23" name="TextBox 23"/>
          <p:cNvSpPr txBox="1"/>
          <p:nvPr/>
        </p:nvSpPr>
        <p:spPr>
          <a:xfrm>
            <a:off x="8496300" y="42418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Continuous real-time telemetry retrieval through Web API</a:t>
            </a:r>
            <a:endParaRPr lang="en-US" sz="1100"/>
          </a:p>
        </p:txBody>
      </p:sp>
      <p:sp>
        <p:nvSpPr>
          <p:cNvPr id="24" name="TextBox 24"/>
          <p:cNvSpPr txBox="1"/>
          <p:nvPr/>
        </p:nvSpPr>
        <p:spPr>
          <a:xfrm>
            <a:off x="12179300" y="38100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Successful integration with anomaly scoring and audit decision layers</a:t>
            </a:r>
            <a:endParaRPr lang="en-US" sz="1100"/>
          </a:p>
        </p:txBody>
      </p:sp>
      <p:sp>
        <p:nvSpPr>
          <p:cNvPr id="25" name="TextBox 25"/>
          <p:cNvSpPr txBox="1"/>
          <p:nvPr/>
        </p:nvSpPr>
        <p:spPr>
          <a:xfrm>
            <a:off x="1130300" y="7899400"/>
            <a:ext cx="13982700" cy="3429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SCADA pipeline operational; telemetry generated via calculated channels (not physical devices)</a:t>
            </a:r>
            <a:endParaRPr lang="en-US" sz="1100"/>
          </a:p>
        </p:txBody>
      </p:sp>
      <p:pic>
        <p:nvPicPr>
          <p:cNvPr id="26" name="Picture 26"/>
          <p:cNvPicPr>
            <a:picLocks noChangeAspect="1"/>
          </p:cNvPicPr>
          <p:nvPr/>
        </p:nvPicPr>
        <p:blipFill>
          <a:blip r:embed="rId3"/>
          <a:stretch>
            <a:fillRect/>
          </a:stretch>
        </p:blipFill>
        <p:spPr>
          <a:xfrm>
            <a:off x="1397000" y="2514600"/>
            <a:ext cx="215900" cy="215900"/>
          </a:xfrm>
          <a:prstGeom prst="rect">
            <a:avLst/>
          </a:prstGeom>
        </p:spPr>
      </p:pic>
      <p:pic>
        <p:nvPicPr>
          <p:cNvPr id="27" name="Picture 27"/>
          <p:cNvPicPr>
            <a:picLocks noChangeAspect="1"/>
          </p:cNvPicPr>
          <p:nvPr/>
        </p:nvPicPr>
        <p:blipFill>
          <a:blip r:embed="rId3"/>
          <a:stretch>
            <a:fillRect/>
          </a:stretch>
        </p:blipFill>
        <p:spPr>
          <a:xfrm>
            <a:off x="5080000" y="2514600"/>
            <a:ext cx="215900" cy="215900"/>
          </a:xfrm>
          <a:prstGeom prst="rect">
            <a:avLst/>
          </a:prstGeom>
        </p:spPr>
      </p:pic>
      <p:pic>
        <p:nvPicPr>
          <p:cNvPr id="28" name="Picture 28"/>
          <p:cNvPicPr>
            <a:picLocks noChangeAspect="1"/>
          </p:cNvPicPr>
          <p:nvPr/>
        </p:nvPicPr>
        <p:blipFill>
          <a:blip r:embed="rId3"/>
          <a:stretch>
            <a:fillRect/>
          </a:stretch>
        </p:blipFill>
        <p:spPr>
          <a:xfrm>
            <a:off x="8763000" y="2514600"/>
            <a:ext cx="215900" cy="215900"/>
          </a:xfrm>
          <a:prstGeom prst="rect">
            <a:avLst/>
          </a:prstGeom>
        </p:spPr>
      </p:pic>
      <p:pic>
        <p:nvPicPr>
          <p:cNvPr id="29" name="Picture 29"/>
          <p:cNvPicPr>
            <a:picLocks noChangeAspect="1"/>
          </p:cNvPicPr>
          <p:nvPr/>
        </p:nvPicPr>
        <p:blipFill>
          <a:blip r:embed="rId3"/>
          <a:stretch>
            <a:fillRect/>
          </a:stretch>
        </p:blipFill>
        <p:spPr>
          <a:xfrm>
            <a:off x="12458700" y="2514600"/>
            <a:ext cx="215900" cy="215900"/>
          </a:xfrm>
          <a:prstGeom prst="rect">
            <a:avLst/>
          </a:prstGeom>
        </p:spPr>
      </p:pic>
      <p:pic>
        <p:nvPicPr>
          <p:cNvPr id="30" name="Picture 30"/>
          <p:cNvPicPr>
            <a:picLocks noChangeAspect="1"/>
          </p:cNvPicPr>
          <p:nvPr/>
        </p:nvPicPr>
        <p:blipFill>
          <a:blip r:embed="rId3"/>
          <a:stretch>
            <a:fillRect/>
          </a:stretch>
        </p:blipFill>
        <p:spPr>
          <a:xfrm>
            <a:off x="1397000" y="6604000"/>
            <a:ext cx="215900" cy="2159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260600"/>
            <a:ext cx="14490700" cy="3035300"/>
          </a:xfrm>
          <a:prstGeom prst="roundRect">
            <a:avLst>
              <a:gd name="adj" fmla="val 2510"/>
            </a:avLst>
          </a:prstGeom>
          <a:solidFill>
            <a:srgbClr val="000000">
              <a:alpha val="0"/>
            </a:srgbClr>
          </a:solidFill>
        </p:spPr>
      </p:sp>
      <p:sp>
        <p:nvSpPr>
          <p:cNvPr id="5" name="AutoShape 5"/>
          <p:cNvSpPr/>
          <p:nvPr/>
        </p:nvSpPr>
        <p:spPr>
          <a:xfrm>
            <a:off x="876300" y="2260600"/>
            <a:ext cx="3378200" cy="3035300"/>
          </a:xfrm>
          <a:prstGeom prst="roundRect">
            <a:avLst>
              <a:gd name="adj" fmla="val 2510"/>
            </a:avLst>
          </a:prstGeom>
          <a:solidFill>
            <a:srgbClr val="000000">
              <a:alpha val="0"/>
            </a:srgbClr>
          </a:solidFill>
        </p:spPr>
      </p:sp>
      <p:sp>
        <p:nvSpPr>
          <p:cNvPr id="6" name="AutoShape 6"/>
          <p:cNvSpPr/>
          <p:nvPr/>
        </p:nvSpPr>
        <p:spPr>
          <a:xfrm>
            <a:off x="4572000" y="2260600"/>
            <a:ext cx="3378200" cy="3035300"/>
          </a:xfrm>
          <a:prstGeom prst="roundRect">
            <a:avLst>
              <a:gd name="adj" fmla="val 2510"/>
            </a:avLst>
          </a:prstGeom>
          <a:solidFill>
            <a:srgbClr val="000000">
              <a:alpha val="0"/>
            </a:srgbClr>
          </a:solidFill>
        </p:spPr>
      </p:sp>
      <p:sp>
        <p:nvSpPr>
          <p:cNvPr id="7" name="AutoShape 7"/>
          <p:cNvSpPr/>
          <p:nvPr/>
        </p:nvSpPr>
        <p:spPr>
          <a:xfrm>
            <a:off x="8280400" y="2260600"/>
            <a:ext cx="3378200" cy="3035300"/>
          </a:xfrm>
          <a:prstGeom prst="roundRect">
            <a:avLst>
              <a:gd name="adj" fmla="val 2510"/>
            </a:avLst>
          </a:prstGeom>
          <a:solidFill>
            <a:srgbClr val="000000">
              <a:alpha val="0"/>
            </a:srgbClr>
          </a:solidFill>
        </p:spPr>
      </p:sp>
      <p:sp>
        <p:nvSpPr>
          <p:cNvPr id="8" name="AutoShape 8"/>
          <p:cNvSpPr/>
          <p:nvPr/>
        </p:nvSpPr>
        <p:spPr>
          <a:xfrm>
            <a:off x="11976100" y="2260600"/>
            <a:ext cx="3378200" cy="3035300"/>
          </a:xfrm>
          <a:prstGeom prst="roundRect">
            <a:avLst>
              <a:gd name="adj" fmla="val 2510"/>
            </a:avLst>
          </a:prstGeom>
          <a:solidFill>
            <a:srgbClr val="000000">
              <a:alpha val="0"/>
            </a:srgbClr>
          </a:solidFill>
        </p:spPr>
      </p:sp>
      <p:sp>
        <p:nvSpPr>
          <p:cNvPr id="9" name="AutoShape 9"/>
          <p:cNvSpPr/>
          <p:nvPr/>
        </p:nvSpPr>
        <p:spPr>
          <a:xfrm>
            <a:off x="876300" y="5486400"/>
            <a:ext cx="14490700" cy="2209800"/>
          </a:xfrm>
          <a:prstGeom prst="roundRect">
            <a:avLst>
              <a:gd name="adj" fmla="val 3448"/>
            </a:avLst>
          </a:prstGeom>
          <a:solidFill>
            <a:srgbClr val="000000">
              <a:alpha val="0"/>
            </a:srgbClr>
          </a:solidFill>
        </p:spPr>
      </p:sp>
      <p:sp>
        <p:nvSpPr>
          <p:cNvPr id="10" name="AutoShape 10"/>
          <p:cNvSpPr/>
          <p:nvPr/>
        </p:nvSpPr>
        <p:spPr>
          <a:xfrm>
            <a:off x="876300" y="5486400"/>
            <a:ext cx="4610100" cy="2209800"/>
          </a:xfrm>
          <a:prstGeom prst="roundRect">
            <a:avLst>
              <a:gd name="adj" fmla="val 3448"/>
            </a:avLst>
          </a:prstGeom>
          <a:solidFill>
            <a:srgbClr val="000000">
              <a:alpha val="0"/>
            </a:srgbClr>
          </a:solidFill>
        </p:spPr>
      </p:sp>
      <p:sp>
        <p:nvSpPr>
          <p:cNvPr id="11" name="AutoShape 11"/>
          <p:cNvSpPr/>
          <p:nvPr/>
        </p:nvSpPr>
        <p:spPr>
          <a:xfrm>
            <a:off x="5816600" y="5486400"/>
            <a:ext cx="4610100" cy="2209800"/>
          </a:xfrm>
          <a:prstGeom prst="roundRect">
            <a:avLst>
              <a:gd name="adj" fmla="val 3448"/>
            </a:avLst>
          </a:prstGeom>
          <a:solidFill>
            <a:srgbClr val="000000">
              <a:alpha val="0"/>
            </a:srgbClr>
          </a:solidFill>
        </p:spPr>
      </p:sp>
      <p:sp>
        <p:nvSpPr>
          <p:cNvPr id="12" name="AutoShape 12"/>
          <p:cNvSpPr/>
          <p:nvPr/>
        </p:nvSpPr>
        <p:spPr>
          <a:xfrm>
            <a:off x="10744200" y="5486400"/>
            <a:ext cx="4610100" cy="2209800"/>
          </a:xfrm>
          <a:prstGeom prst="roundRect">
            <a:avLst>
              <a:gd name="adj" fmla="val 3448"/>
            </a:avLst>
          </a:prstGeom>
          <a:solidFill>
            <a:srgbClr val="000000">
              <a:alpha val="0"/>
            </a:srgbClr>
          </a:solidFill>
        </p:spPr>
      </p:sp>
      <p:sp>
        <p:nvSpPr>
          <p:cNvPr id="13" name="TextBox 13"/>
          <p:cNvSpPr txBox="1"/>
          <p:nvPr/>
        </p:nvSpPr>
        <p:spPr>
          <a:xfrm>
            <a:off x="876300" y="77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Primary Thesis Result (N=100): Validated Operational Profile</a:t>
            </a:r>
            <a:endParaRPr lang="en-US" sz="1100"/>
          </a:p>
        </p:txBody>
      </p:sp>
      <p:sp>
        <p:nvSpPr>
          <p:cNvPr id="14" name="TextBox 14"/>
          <p:cNvSpPr txBox="1"/>
          <p:nvPr/>
        </p:nvSpPr>
        <p:spPr>
          <a:xfrm>
            <a:off x="876300" y="3086100"/>
            <a:ext cx="3378200" cy="9017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Attack Rate Reduction</a:t>
            </a:r>
            <a:endParaRPr lang="en-US" sz="1100"/>
          </a:p>
        </p:txBody>
      </p:sp>
      <p:sp>
        <p:nvSpPr>
          <p:cNvPr id="15" name="TextBox 15"/>
          <p:cNvSpPr txBox="1"/>
          <p:nvPr/>
        </p:nvSpPr>
        <p:spPr>
          <a:xfrm>
            <a:off x="45720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Cost Efficiency</a:t>
            </a:r>
            <a:endParaRPr lang="en-US" sz="1100"/>
          </a:p>
        </p:txBody>
      </p:sp>
      <p:sp>
        <p:nvSpPr>
          <p:cNvPr id="16" name="TextBox 16"/>
          <p:cNvSpPr txBox="1"/>
          <p:nvPr/>
        </p:nvSpPr>
        <p:spPr>
          <a:xfrm>
            <a:off x="82804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Risk Mitigation</a:t>
            </a:r>
            <a:endParaRPr lang="en-US" sz="1100"/>
          </a:p>
        </p:txBody>
      </p:sp>
      <p:sp>
        <p:nvSpPr>
          <p:cNvPr id="17" name="TextBox 17"/>
          <p:cNvSpPr txBox="1"/>
          <p:nvPr/>
        </p:nvSpPr>
        <p:spPr>
          <a:xfrm>
            <a:off x="119761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Accuracy</a:t>
            </a:r>
            <a:endParaRPr lang="en-US" sz="1100"/>
          </a:p>
        </p:txBody>
      </p:sp>
      <p:sp>
        <p:nvSpPr>
          <p:cNvPr id="18" name="TextBox 18"/>
          <p:cNvSpPr txBox="1"/>
          <p:nvPr/>
        </p:nvSpPr>
        <p:spPr>
          <a:xfrm>
            <a:off x="8763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Recall</a:t>
            </a:r>
            <a:endParaRPr lang="en-US" sz="1100"/>
          </a:p>
        </p:txBody>
      </p:sp>
      <p:sp>
        <p:nvSpPr>
          <p:cNvPr id="19" name="TextBox 19"/>
          <p:cNvSpPr txBox="1"/>
          <p:nvPr/>
        </p:nvSpPr>
        <p:spPr>
          <a:xfrm>
            <a:off x="58166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F1 Score</a:t>
            </a:r>
            <a:endParaRPr lang="en-US" sz="1100"/>
          </a:p>
        </p:txBody>
      </p:sp>
      <p:sp>
        <p:nvSpPr>
          <p:cNvPr id="20" name="TextBox 20"/>
          <p:cNvSpPr txBox="1"/>
          <p:nvPr/>
        </p:nvSpPr>
        <p:spPr>
          <a:xfrm>
            <a:off x="107442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Audit Coverage</a:t>
            </a:r>
            <a:endParaRPr lang="en-US" sz="1100"/>
          </a:p>
        </p:txBody>
      </p:sp>
      <p:sp>
        <p:nvSpPr>
          <p:cNvPr id="21" name="TextBox 21"/>
          <p:cNvSpPr txBox="1"/>
          <p:nvPr/>
        </p:nvSpPr>
        <p:spPr>
          <a:xfrm>
            <a:off x="8763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77.47%</a:t>
            </a:r>
            <a:endParaRPr lang="en-US" sz="1100"/>
          </a:p>
        </p:txBody>
      </p:sp>
      <p:sp>
        <p:nvSpPr>
          <p:cNvPr id="22" name="TextBox 22"/>
          <p:cNvSpPr txBox="1"/>
          <p:nvPr/>
        </p:nvSpPr>
        <p:spPr>
          <a:xfrm>
            <a:off x="876300" y="41783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Measured reduction in successful attacks compared to baseline</a:t>
            </a:r>
            <a:endParaRPr lang="en-US" sz="1100"/>
          </a:p>
        </p:txBody>
      </p:sp>
      <p:sp>
        <p:nvSpPr>
          <p:cNvPr id="23" name="TextBox 23"/>
          <p:cNvSpPr txBox="1"/>
          <p:nvPr/>
        </p:nvSpPr>
        <p:spPr>
          <a:xfrm>
            <a:off x="45720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54.83%</a:t>
            </a:r>
            <a:endParaRPr lang="en-US" sz="1100"/>
          </a:p>
        </p:txBody>
      </p:sp>
      <p:sp>
        <p:nvSpPr>
          <p:cNvPr id="24" name="TextBox 24"/>
          <p:cNvSpPr txBox="1"/>
          <p:nvPr/>
        </p:nvSpPr>
        <p:spPr>
          <a:xfrm>
            <a:off x="4572000" y="37211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Operational cost savings relative to prior implementation</a:t>
            </a:r>
            <a:endParaRPr lang="en-US" sz="1100"/>
          </a:p>
        </p:txBody>
      </p:sp>
      <p:sp>
        <p:nvSpPr>
          <p:cNvPr id="25" name="TextBox 25"/>
          <p:cNvSpPr txBox="1"/>
          <p:nvPr/>
        </p:nvSpPr>
        <p:spPr>
          <a:xfrm>
            <a:off x="82804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95.93%</a:t>
            </a:r>
            <a:endParaRPr lang="en-US" sz="1100"/>
          </a:p>
        </p:txBody>
      </p:sp>
      <p:sp>
        <p:nvSpPr>
          <p:cNvPr id="26" name="TextBox 26"/>
          <p:cNvSpPr txBox="1"/>
          <p:nvPr/>
        </p:nvSpPr>
        <p:spPr>
          <a:xfrm>
            <a:off x="82804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Effectiveness in mitigating identified operational risks</a:t>
            </a:r>
            <a:endParaRPr lang="en-US" sz="1100"/>
          </a:p>
        </p:txBody>
      </p:sp>
      <p:sp>
        <p:nvSpPr>
          <p:cNvPr id="27" name="TextBox 27"/>
          <p:cNvSpPr txBox="1"/>
          <p:nvPr/>
        </p:nvSpPr>
        <p:spPr>
          <a:xfrm>
            <a:off x="119761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99.14%</a:t>
            </a:r>
            <a:endParaRPr lang="en-US" sz="1100"/>
          </a:p>
        </p:txBody>
      </p:sp>
      <p:sp>
        <p:nvSpPr>
          <p:cNvPr id="28" name="TextBox 28"/>
          <p:cNvSpPr txBox="1"/>
          <p:nvPr/>
        </p:nvSpPr>
        <p:spPr>
          <a:xfrm>
            <a:off x="119761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Overall accuracy of the operational model</a:t>
            </a:r>
            <a:endParaRPr lang="en-US" sz="1100"/>
          </a:p>
        </p:txBody>
      </p:sp>
      <p:sp>
        <p:nvSpPr>
          <p:cNvPr id="29" name="TextBox 29"/>
          <p:cNvSpPr txBox="1"/>
          <p:nvPr/>
        </p:nvSpPr>
        <p:spPr>
          <a:xfrm>
            <a:off x="8763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0" name="TextBox 30"/>
          <p:cNvSpPr txBox="1"/>
          <p:nvPr/>
        </p:nvSpPr>
        <p:spPr>
          <a:xfrm>
            <a:off x="876300" y="6946900"/>
            <a:ext cx="46101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Sensitivity of detection mechanisms</a:t>
            </a:r>
            <a:endParaRPr lang="en-US" sz="1100"/>
          </a:p>
        </p:txBody>
      </p:sp>
      <p:sp>
        <p:nvSpPr>
          <p:cNvPr id="31" name="TextBox 31"/>
          <p:cNvSpPr txBox="1"/>
          <p:nvPr/>
        </p:nvSpPr>
        <p:spPr>
          <a:xfrm>
            <a:off x="58166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25.67%</a:t>
            </a:r>
            <a:endParaRPr lang="en-US" sz="1100"/>
          </a:p>
        </p:txBody>
      </p:sp>
      <p:sp>
        <p:nvSpPr>
          <p:cNvPr id="32" name="TextBox 32"/>
          <p:cNvSpPr txBox="1"/>
          <p:nvPr/>
        </p:nvSpPr>
        <p:spPr>
          <a:xfrm>
            <a:off x="58166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Harmonic mean of precision and recall</a:t>
            </a:r>
            <a:endParaRPr lang="en-US" sz="1100"/>
          </a:p>
        </p:txBody>
      </p:sp>
      <p:sp>
        <p:nvSpPr>
          <p:cNvPr id="33" name="TextBox 33"/>
          <p:cNvSpPr txBox="1"/>
          <p:nvPr/>
        </p:nvSpPr>
        <p:spPr>
          <a:xfrm>
            <a:off x="107442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4" name="TextBox 34"/>
          <p:cNvSpPr txBox="1"/>
          <p:nvPr/>
        </p:nvSpPr>
        <p:spPr>
          <a:xfrm>
            <a:off x="107442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Proportion of operations covered by audit procedures</a:t>
            </a:r>
            <a:endParaRPr lang="en-US" sz="1100"/>
          </a:p>
        </p:txBody>
      </p:sp>
      <p:sp>
        <p:nvSpPr>
          <p:cNvPr id="35" name="TextBox 35"/>
          <p:cNvSpPr txBox="1"/>
          <p:nvPr/>
        </p:nvSpPr>
        <p:spPr>
          <a:xfrm>
            <a:off x="876300" y="7988300"/>
            <a:ext cx="14490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Note: Exceeds base paper on all primary operational metrics</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127500"/>
            <a:ext cx="14490700" cy="2806700"/>
          </a:xfrm>
          <a:prstGeom prst="rect">
            <a:avLst/>
          </a:prstGeom>
          <a:solidFill>
            <a:srgbClr val="000000">
              <a:alpha val="0"/>
            </a:srgbClr>
          </a:solidFill>
          <a:ln w="12700">
            <a:solidFill>
              <a:srgbClr val="A1A1A1"/>
            </a:solidFill>
          </a:ln>
        </p:spPr>
      </p:sp>
      <p:sp>
        <p:nvSpPr>
          <p:cNvPr id="5" name="AutoShape 5"/>
          <p:cNvSpPr/>
          <p:nvPr/>
        </p:nvSpPr>
        <p:spPr>
          <a:xfrm>
            <a:off x="889000" y="4140200"/>
            <a:ext cx="3365500" cy="546100"/>
          </a:xfrm>
          <a:prstGeom prst="rect">
            <a:avLst/>
          </a:prstGeom>
          <a:solidFill>
            <a:srgbClr val="D1D1D1">
              <a:alpha val="71765"/>
            </a:srgbClr>
          </a:solidFill>
          <a:ln w="12700">
            <a:solidFill>
              <a:srgbClr val="A1A1A1"/>
            </a:solidFill>
          </a:ln>
        </p:spPr>
      </p:sp>
      <p:sp>
        <p:nvSpPr>
          <p:cNvPr id="6" name="AutoShape 6"/>
          <p:cNvSpPr/>
          <p:nvPr/>
        </p:nvSpPr>
        <p:spPr>
          <a:xfrm>
            <a:off x="4267200" y="4140200"/>
            <a:ext cx="2527300" cy="546100"/>
          </a:xfrm>
          <a:prstGeom prst="rect">
            <a:avLst/>
          </a:prstGeom>
          <a:solidFill>
            <a:srgbClr val="D1D1D1">
              <a:alpha val="71765"/>
            </a:srgbClr>
          </a:solidFill>
          <a:ln w="12700">
            <a:solidFill>
              <a:srgbClr val="A1A1A1"/>
            </a:solidFill>
          </a:ln>
        </p:spPr>
      </p:sp>
      <p:sp>
        <p:nvSpPr>
          <p:cNvPr id="7" name="AutoShape 7"/>
          <p:cNvSpPr/>
          <p:nvPr/>
        </p:nvSpPr>
        <p:spPr>
          <a:xfrm>
            <a:off x="6807200" y="4140200"/>
            <a:ext cx="5473700" cy="546100"/>
          </a:xfrm>
          <a:prstGeom prst="rect">
            <a:avLst/>
          </a:prstGeom>
          <a:solidFill>
            <a:srgbClr val="D1D1D1">
              <a:alpha val="71765"/>
            </a:srgbClr>
          </a:solidFill>
          <a:ln w="12700">
            <a:solidFill>
              <a:srgbClr val="A1A1A1"/>
            </a:solidFill>
          </a:ln>
        </p:spPr>
      </p:sp>
      <p:sp>
        <p:nvSpPr>
          <p:cNvPr id="8" name="AutoShape 8"/>
          <p:cNvSpPr/>
          <p:nvPr/>
        </p:nvSpPr>
        <p:spPr>
          <a:xfrm>
            <a:off x="12280900" y="4140200"/>
            <a:ext cx="3060700" cy="546100"/>
          </a:xfrm>
          <a:prstGeom prst="rect">
            <a:avLst/>
          </a:prstGeom>
          <a:solidFill>
            <a:srgbClr val="D1D1D1">
              <a:alpha val="71765"/>
            </a:srgbClr>
          </a:solidFill>
          <a:ln w="12700">
            <a:solidFill>
              <a:srgbClr val="A1A1A1"/>
            </a:solidFill>
          </a:ln>
        </p:spPr>
      </p:sp>
      <p:sp>
        <p:nvSpPr>
          <p:cNvPr id="9" name="AutoShape 9"/>
          <p:cNvSpPr/>
          <p:nvPr/>
        </p:nvSpPr>
        <p:spPr>
          <a:xfrm>
            <a:off x="889000" y="4699000"/>
            <a:ext cx="3365500" cy="546100"/>
          </a:xfrm>
          <a:prstGeom prst="rect">
            <a:avLst/>
          </a:prstGeom>
          <a:solidFill>
            <a:srgbClr val="000000">
              <a:alpha val="0"/>
            </a:srgbClr>
          </a:solidFill>
          <a:ln w="12700">
            <a:solidFill>
              <a:srgbClr val="A1A1A1"/>
            </a:solidFill>
          </a:ln>
        </p:spPr>
      </p:sp>
      <p:sp>
        <p:nvSpPr>
          <p:cNvPr id="10" name="AutoShape 10"/>
          <p:cNvSpPr/>
          <p:nvPr/>
        </p:nvSpPr>
        <p:spPr>
          <a:xfrm>
            <a:off x="4267200" y="4699000"/>
            <a:ext cx="2527300" cy="546100"/>
          </a:xfrm>
          <a:prstGeom prst="rect">
            <a:avLst/>
          </a:prstGeom>
          <a:solidFill>
            <a:srgbClr val="000000">
              <a:alpha val="0"/>
            </a:srgbClr>
          </a:solidFill>
          <a:ln w="12700">
            <a:solidFill>
              <a:srgbClr val="A1A1A1"/>
            </a:solidFill>
          </a:ln>
        </p:spPr>
      </p:sp>
      <p:sp>
        <p:nvSpPr>
          <p:cNvPr id="11" name="AutoShape 11"/>
          <p:cNvSpPr/>
          <p:nvPr/>
        </p:nvSpPr>
        <p:spPr>
          <a:xfrm>
            <a:off x="6807200" y="4699000"/>
            <a:ext cx="5473700" cy="546100"/>
          </a:xfrm>
          <a:prstGeom prst="rect">
            <a:avLst/>
          </a:prstGeom>
          <a:solidFill>
            <a:srgbClr val="000000">
              <a:alpha val="0"/>
            </a:srgbClr>
          </a:solidFill>
          <a:ln w="12700">
            <a:solidFill>
              <a:srgbClr val="A1A1A1"/>
            </a:solidFill>
          </a:ln>
        </p:spPr>
      </p:sp>
      <p:sp>
        <p:nvSpPr>
          <p:cNvPr id="12" name="AutoShape 12"/>
          <p:cNvSpPr/>
          <p:nvPr/>
        </p:nvSpPr>
        <p:spPr>
          <a:xfrm>
            <a:off x="12280900" y="4699000"/>
            <a:ext cx="3060700" cy="546100"/>
          </a:xfrm>
          <a:prstGeom prst="rect">
            <a:avLst/>
          </a:prstGeom>
          <a:solidFill>
            <a:srgbClr val="000000">
              <a:alpha val="0"/>
            </a:srgbClr>
          </a:solidFill>
          <a:ln w="12700">
            <a:solidFill>
              <a:srgbClr val="A1A1A1"/>
            </a:solidFill>
          </a:ln>
        </p:spPr>
      </p:sp>
      <p:sp>
        <p:nvSpPr>
          <p:cNvPr id="13" name="AutoShape 13"/>
          <p:cNvSpPr/>
          <p:nvPr/>
        </p:nvSpPr>
        <p:spPr>
          <a:xfrm>
            <a:off x="889000" y="5245100"/>
            <a:ext cx="3365500" cy="546100"/>
          </a:xfrm>
          <a:prstGeom prst="rect">
            <a:avLst/>
          </a:prstGeom>
          <a:solidFill>
            <a:srgbClr val="000000">
              <a:alpha val="0"/>
            </a:srgbClr>
          </a:solidFill>
          <a:ln w="12700">
            <a:solidFill>
              <a:srgbClr val="A1A1A1"/>
            </a:solidFill>
          </a:ln>
        </p:spPr>
      </p:sp>
      <p:sp>
        <p:nvSpPr>
          <p:cNvPr id="14" name="AutoShape 14"/>
          <p:cNvSpPr/>
          <p:nvPr/>
        </p:nvSpPr>
        <p:spPr>
          <a:xfrm>
            <a:off x="4267200" y="5245100"/>
            <a:ext cx="2527300" cy="546100"/>
          </a:xfrm>
          <a:prstGeom prst="rect">
            <a:avLst/>
          </a:prstGeom>
          <a:solidFill>
            <a:srgbClr val="000000">
              <a:alpha val="0"/>
            </a:srgbClr>
          </a:solidFill>
          <a:ln w="12700">
            <a:solidFill>
              <a:srgbClr val="A1A1A1"/>
            </a:solidFill>
          </a:ln>
        </p:spPr>
      </p:sp>
      <p:sp>
        <p:nvSpPr>
          <p:cNvPr id="15" name="AutoShape 15"/>
          <p:cNvSpPr/>
          <p:nvPr/>
        </p:nvSpPr>
        <p:spPr>
          <a:xfrm>
            <a:off x="6807200" y="5245100"/>
            <a:ext cx="5473700" cy="546100"/>
          </a:xfrm>
          <a:prstGeom prst="rect">
            <a:avLst/>
          </a:prstGeom>
          <a:solidFill>
            <a:srgbClr val="000000">
              <a:alpha val="0"/>
            </a:srgbClr>
          </a:solidFill>
          <a:ln w="12700">
            <a:solidFill>
              <a:srgbClr val="A1A1A1"/>
            </a:solidFill>
          </a:ln>
        </p:spPr>
      </p:sp>
      <p:sp>
        <p:nvSpPr>
          <p:cNvPr id="16" name="AutoShape 16"/>
          <p:cNvSpPr/>
          <p:nvPr/>
        </p:nvSpPr>
        <p:spPr>
          <a:xfrm>
            <a:off x="12280900" y="5245100"/>
            <a:ext cx="3060700" cy="546100"/>
          </a:xfrm>
          <a:prstGeom prst="rect">
            <a:avLst/>
          </a:prstGeom>
          <a:solidFill>
            <a:srgbClr val="000000">
              <a:alpha val="0"/>
            </a:srgbClr>
          </a:solidFill>
          <a:ln w="12700">
            <a:solidFill>
              <a:srgbClr val="A1A1A1"/>
            </a:solidFill>
          </a:ln>
        </p:spPr>
      </p:sp>
      <p:sp>
        <p:nvSpPr>
          <p:cNvPr id="17" name="AutoShape 17"/>
          <p:cNvSpPr/>
          <p:nvPr/>
        </p:nvSpPr>
        <p:spPr>
          <a:xfrm>
            <a:off x="889000" y="5803900"/>
            <a:ext cx="3365500" cy="546100"/>
          </a:xfrm>
          <a:prstGeom prst="rect">
            <a:avLst/>
          </a:prstGeom>
          <a:solidFill>
            <a:srgbClr val="000000">
              <a:alpha val="0"/>
            </a:srgbClr>
          </a:solidFill>
          <a:ln w="12700">
            <a:solidFill>
              <a:srgbClr val="A1A1A1"/>
            </a:solidFill>
          </a:ln>
        </p:spPr>
      </p:sp>
      <p:sp>
        <p:nvSpPr>
          <p:cNvPr id="18" name="AutoShape 18"/>
          <p:cNvSpPr/>
          <p:nvPr/>
        </p:nvSpPr>
        <p:spPr>
          <a:xfrm>
            <a:off x="4267200" y="5803900"/>
            <a:ext cx="2527300" cy="546100"/>
          </a:xfrm>
          <a:prstGeom prst="rect">
            <a:avLst/>
          </a:prstGeom>
          <a:solidFill>
            <a:srgbClr val="000000">
              <a:alpha val="0"/>
            </a:srgbClr>
          </a:solidFill>
          <a:ln w="12700">
            <a:solidFill>
              <a:srgbClr val="A1A1A1"/>
            </a:solidFill>
          </a:ln>
        </p:spPr>
      </p:sp>
      <p:sp>
        <p:nvSpPr>
          <p:cNvPr id="19" name="AutoShape 19"/>
          <p:cNvSpPr/>
          <p:nvPr/>
        </p:nvSpPr>
        <p:spPr>
          <a:xfrm>
            <a:off x="6807200" y="5803900"/>
            <a:ext cx="5473700" cy="546100"/>
          </a:xfrm>
          <a:prstGeom prst="rect">
            <a:avLst/>
          </a:prstGeom>
          <a:solidFill>
            <a:srgbClr val="000000">
              <a:alpha val="0"/>
            </a:srgbClr>
          </a:solidFill>
          <a:ln w="12700">
            <a:solidFill>
              <a:srgbClr val="A1A1A1"/>
            </a:solidFill>
          </a:ln>
        </p:spPr>
      </p:sp>
      <p:sp>
        <p:nvSpPr>
          <p:cNvPr id="20" name="AutoShape 20"/>
          <p:cNvSpPr/>
          <p:nvPr/>
        </p:nvSpPr>
        <p:spPr>
          <a:xfrm>
            <a:off x="12280900" y="5803900"/>
            <a:ext cx="3060700" cy="546100"/>
          </a:xfrm>
          <a:prstGeom prst="rect">
            <a:avLst/>
          </a:prstGeom>
          <a:solidFill>
            <a:srgbClr val="000000">
              <a:alpha val="0"/>
            </a:srgbClr>
          </a:solidFill>
          <a:ln w="12700">
            <a:solidFill>
              <a:srgbClr val="A1A1A1"/>
            </a:solidFill>
          </a:ln>
        </p:spPr>
      </p:sp>
      <p:sp>
        <p:nvSpPr>
          <p:cNvPr id="21" name="AutoShape 21"/>
          <p:cNvSpPr/>
          <p:nvPr/>
        </p:nvSpPr>
        <p:spPr>
          <a:xfrm>
            <a:off x="889000" y="6362700"/>
            <a:ext cx="3365500" cy="546100"/>
          </a:xfrm>
          <a:prstGeom prst="rect">
            <a:avLst/>
          </a:prstGeom>
          <a:solidFill>
            <a:srgbClr val="000000">
              <a:alpha val="0"/>
            </a:srgbClr>
          </a:solidFill>
          <a:ln w="12700">
            <a:solidFill>
              <a:srgbClr val="A1A1A1"/>
            </a:solidFill>
          </a:ln>
        </p:spPr>
      </p:sp>
      <p:sp>
        <p:nvSpPr>
          <p:cNvPr id="22" name="AutoShape 22"/>
          <p:cNvSpPr/>
          <p:nvPr/>
        </p:nvSpPr>
        <p:spPr>
          <a:xfrm>
            <a:off x="4267200" y="6362700"/>
            <a:ext cx="2527300" cy="546100"/>
          </a:xfrm>
          <a:prstGeom prst="rect">
            <a:avLst/>
          </a:prstGeom>
          <a:solidFill>
            <a:srgbClr val="000000">
              <a:alpha val="0"/>
            </a:srgbClr>
          </a:solidFill>
          <a:ln w="12700">
            <a:solidFill>
              <a:srgbClr val="A1A1A1"/>
            </a:solidFill>
          </a:ln>
        </p:spPr>
      </p:sp>
      <p:sp>
        <p:nvSpPr>
          <p:cNvPr id="23" name="AutoShape 23"/>
          <p:cNvSpPr/>
          <p:nvPr/>
        </p:nvSpPr>
        <p:spPr>
          <a:xfrm>
            <a:off x="6807200" y="6362700"/>
            <a:ext cx="5473700" cy="546100"/>
          </a:xfrm>
          <a:prstGeom prst="rect">
            <a:avLst/>
          </a:prstGeom>
          <a:solidFill>
            <a:srgbClr val="000000">
              <a:alpha val="0"/>
            </a:srgbClr>
          </a:solidFill>
          <a:ln w="12700">
            <a:solidFill>
              <a:srgbClr val="A1A1A1"/>
            </a:solidFill>
          </a:ln>
        </p:spPr>
      </p:sp>
      <p:sp>
        <p:nvSpPr>
          <p:cNvPr id="24" name="AutoShape 24"/>
          <p:cNvSpPr/>
          <p:nvPr/>
        </p:nvSpPr>
        <p:spPr>
          <a:xfrm>
            <a:off x="12280900" y="6362700"/>
            <a:ext cx="3060700" cy="546100"/>
          </a:xfrm>
          <a:prstGeom prst="rect">
            <a:avLst/>
          </a:prstGeom>
          <a:solidFill>
            <a:srgbClr val="000000">
              <a:alpha val="0"/>
            </a:srgbClr>
          </a:solidFill>
          <a:ln w="12700">
            <a:solidFill>
              <a:srgbClr val="A1A1A1"/>
            </a:solidFill>
          </a:ln>
        </p:spPr>
      </p:sp>
      <p:sp>
        <p:nvSpPr>
          <p:cNvPr id="25" name="TextBox 25"/>
          <p:cNvSpPr txBox="1"/>
          <p:nvPr/>
        </p:nvSpPr>
        <p:spPr>
          <a:xfrm>
            <a:off x="876300" y="21971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Base Paper vs Proposed System Comparison</a:t>
            </a:r>
            <a:endParaRPr lang="en-US" sz="1100"/>
          </a:p>
        </p:txBody>
      </p:sp>
      <p:sp>
        <p:nvSpPr>
          <p:cNvPr id="26" name="TextBox 26"/>
          <p:cNvSpPr txBox="1"/>
          <p:nvPr/>
        </p:nvSpPr>
        <p:spPr>
          <a:xfrm>
            <a:off x="876300" y="30861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Validated N=100 configuration demonstrates substantial improvements across all primary operational metrics, confirming the effectiveness of SCADA-integrated explainable audit framework.</a:t>
            </a:r>
            <a:endParaRPr lang="en-US" sz="1100"/>
          </a:p>
        </p:txBody>
      </p:sp>
      <p:sp>
        <p:nvSpPr>
          <p:cNvPr id="27" name="TextBox 27"/>
          <p:cNvSpPr txBox="1"/>
          <p:nvPr/>
        </p:nvSpPr>
        <p:spPr>
          <a:xfrm>
            <a:off x="977900" y="42291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Metric</a:t>
            </a:r>
            <a:endParaRPr lang="en-US" sz="1100"/>
          </a:p>
        </p:txBody>
      </p:sp>
      <p:sp>
        <p:nvSpPr>
          <p:cNvPr id="28" name="TextBox 28"/>
          <p:cNvSpPr txBox="1"/>
          <p:nvPr/>
        </p:nvSpPr>
        <p:spPr>
          <a:xfrm>
            <a:off x="4356100" y="42291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 Paper</a:t>
            </a:r>
            <a:endParaRPr lang="en-US" sz="1100"/>
          </a:p>
        </p:txBody>
      </p:sp>
      <p:sp>
        <p:nvSpPr>
          <p:cNvPr id="29" name="TextBox 29"/>
          <p:cNvSpPr txBox="1"/>
          <p:nvPr/>
        </p:nvSpPr>
        <p:spPr>
          <a:xfrm>
            <a:off x="6896100" y="42291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Proposed System (N=100)</a:t>
            </a:r>
            <a:endParaRPr lang="en-US" sz="1100"/>
          </a:p>
        </p:txBody>
      </p:sp>
      <p:sp>
        <p:nvSpPr>
          <p:cNvPr id="30" name="TextBox 30"/>
          <p:cNvSpPr txBox="1"/>
          <p:nvPr/>
        </p:nvSpPr>
        <p:spPr>
          <a:xfrm>
            <a:off x="12369800" y="42291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Improvement</a:t>
            </a:r>
            <a:endParaRPr lang="en-US" sz="1100"/>
          </a:p>
        </p:txBody>
      </p:sp>
      <p:sp>
        <p:nvSpPr>
          <p:cNvPr id="31" name="TextBox 31"/>
          <p:cNvSpPr txBox="1"/>
          <p:nvPr/>
        </p:nvSpPr>
        <p:spPr>
          <a:xfrm>
            <a:off x="977900" y="47879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2" name="TextBox 32"/>
          <p:cNvSpPr txBox="1"/>
          <p:nvPr/>
        </p:nvSpPr>
        <p:spPr>
          <a:xfrm>
            <a:off x="4356100" y="47879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42.5%</a:t>
            </a:r>
            <a:endParaRPr lang="en-US" sz="1100"/>
          </a:p>
        </p:txBody>
      </p:sp>
      <p:sp>
        <p:nvSpPr>
          <p:cNvPr id="33" name="TextBox 33"/>
          <p:cNvSpPr txBox="1"/>
          <p:nvPr/>
        </p:nvSpPr>
        <p:spPr>
          <a:xfrm>
            <a:off x="6896100" y="47879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34" name="TextBox 34"/>
          <p:cNvSpPr txBox="1"/>
          <p:nvPr/>
        </p:nvSpPr>
        <p:spPr>
          <a:xfrm>
            <a:off x="12369800" y="47879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+12.33%</a:t>
            </a:r>
            <a:endParaRPr lang="en-US" sz="1100"/>
          </a:p>
        </p:txBody>
      </p:sp>
      <p:sp>
        <p:nvSpPr>
          <p:cNvPr id="35" name="TextBox 35"/>
          <p:cNvSpPr txBox="1"/>
          <p:nvPr/>
        </p:nvSpPr>
        <p:spPr>
          <a:xfrm>
            <a:off x="977900" y="53467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Coverage</a:t>
            </a:r>
            <a:endParaRPr lang="en-US" sz="1100"/>
          </a:p>
        </p:txBody>
      </p:sp>
      <p:sp>
        <p:nvSpPr>
          <p:cNvPr id="36" name="TextBox 36"/>
          <p:cNvSpPr txBox="1"/>
          <p:nvPr/>
        </p:nvSpPr>
        <p:spPr>
          <a:xfrm>
            <a:off x="4356100" y="53467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93.8%</a:t>
            </a:r>
            <a:endParaRPr lang="en-US" sz="1100"/>
          </a:p>
        </p:txBody>
      </p:sp>
      <p:sp>
        <p:nvSpPr>
          <p:cNvPr id="37" name="TextBox 37"/>
          <p:cNvSpPr txBox="1"/>
          <p:nvPr/>
        </p:nvSpPr>
        <p:spPr>
          <a:xfrm>
            <a:off x="6896100" y="53467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100%</a:t>
            </a:r>
            <a:endParaRPr lang="en-US" sz="1100"/>
          </a:p>
        </p:txBody>
      </p:sp>
      <p:sp>
        <p:nvSpPr>
          <p:cNvPr id="38" name="TextBox 38"/>
          <p:cNvSpPr txBox="1"/>
          <p:nvPr/>
        </p:nvSpPr>
        <p:spPr>
          <a:xfrm>
            <a:off x="12369800" y="53467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+6.2%</a:t>
            </a:r>
            <a:endParaRPr lang="en-US" sz="1100"/>
          </a:p>
        </p:txBody>
      </p:sp>
      <p:sp>
        <p:nvSpPr>
          <p:cNvPr id="39" name="TextBox 39"/>
          <p:cNvSpPr txBox="1"/>
          <p:nvPr/>
        </p:nvSpPr>
        <p:spPr>
          <a:xfrm>
            <a:off x="977900" y="58928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40" name="TextBox 40"/>
          <p:cNvSpPr txBox="1"/>
          <p:nvPr/>
        </p:nvSpPr>
        <p:spPr>
          <a:xfrm>
            <a:off x="4356100" y="58928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98.4%</a:t>
            </a:r>
            <a:endParaRPr lang="en-US" sz="1100"/>
          </a:p>
        </p:txBody>
      </p:sp>
      <p:sp>
        <p:nvSpPr>
          <p:cNvPr id="41" name="TextBox 41"/>
          <p:cNvSpPr txBox="1"/>
          <p:nvPr/>
        </p:nvSpPr>
        <p:spPr>
          <a:xfrm>
            <a:off x="6896100" y="58928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369800" y="58928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+0.74%</a:t>
            </a:r>
            <a:endParaRPr lang="en-US" sz="1100"/>
          </a:p>
        </p:txBody>
      </p:sp>
      <p:sp>
        <p:nvSpPr>
          <p:cNvPr id="43" name="TextBox 43"/>
          <p:cNvSpPr txBox="1"/>
          <p:nvPr/>
        </p:nvSpPr>
        <p:spPr>
          <a:xfrm>
            <a:off x="977900" y="64516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44" name="TextBox 44"/>
          <p:cNvSpPr txBox="1"/>
          <p:nvPr/>
        </p:nvSpPr>
        <p:spPr>
          <a:xfrm>
            <a:off x="4356100" y="64516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87.9%</a:t>
            </a:r>
            <a:endParaRPr lang="en-US" sz="1100"/>
          </a:p>
        </p:txBody>
      </p:sp>
      <p:sp>
        <p:nvSpPr>
          <p:cNvPr id="45" name="TextBox 45"/>
          <p:cNvSpPr txBox="1"/>
          <p:nvPr/>
        </p:nvSpPr>
        <p:spPr>
          <a:xfrm>
            <a:off x="6896100" y="64516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6" name="TextBox 46"/>
          <p:cNvSpPr txBox="1"/>
          <p:nvPr/>
        </p:nvSpPr>
        <p:spPr>
          <a:xfrm>
            <a:off x="12369800" y="64516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+8.03%</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406900"/>
            <a:ext cx="14490700" cy="2247900"/>
          </a:xfrm>
          <a:prstGeom prst="rect">
            <a:avLst/>
          </a:prstGeom>
          <a:solidFill>
            <a:srgbClr val="000000">
              <a:alpha val="0"/>
            </a:srgbClr>
          </a:solidFill>
          <a:ln w="12700">
            <a:solidFill>
              <a:srgbClr val="A1A1A1"/>
            </a:solidFill>
          </a:ln>
        </p:spPr>
      </p:sp>
      <p:sp>
        <p:nvSpPr>
          <p:cNvPr id="5" name="AutoShape 5"/>
          <p:cNvSpPr/>
          <p:nvPr/>
        </p:nvSpPr>
        <p:spPr>
          <a:xfrm>
            <a:off x="889000" y="4419600"/>
            <a:ext cx="1638300" cy="546100"/>
          </a:xfrm>
          <a:prstGeom prst="rect">
            <a:avLst/>
          </a:prstGeom>
          <a:solidFill>
            <a:srgbClr val="D1D1D1">
              <a:alpha val="71765"/>
            </a:srgbClr>
          </a:solidFill>
          <a:ln w="12700">
            <a:solidFill>
              <a:srgbClr val="A1A1A1"/>
            </a:solidFill>
          </a:ln>
        </p:spPr>
      </p:sp>
      <p:sp>
        <p:nvSpPr>
          <p:cNvPr id="6" name="AutoShape 6"/>
          <p:cNvSpPr/>
          <p:nvPr/>
        </p:nvSpPr>
        <p:spPr>
          <a:xfrm>
            <a:off x="2527300" y="4419600"/>
            <a:ext cx="3086100" cy="546100"/>
          </a:xfrm>
          <a:prstGeom prst="rect">
            <a:avLst/>
          </a:prstGeom>
          <a:solidFill>
            <a:srgbClr val="D1D1D1">
              <a:alpha val="71765"/>
            </a:srgbClr>
          </a:solidFill>
          <a:ln w="12700">
            <a:solidFill>
              <a:srgbClr val="A1A1A1"/>
            </a:solidFill>
          </a:ln>
        </p:spPr>
      </p:sp>
      <p:sp>
        <p:nvSpPr>
          <p:cNvPr id="7" name="AutoShape 7"/>
          <p:cNvSpPr/>
          <p:nvPr/>
        </p:nvSpPr>
        <p:spPr>
          <a:xfrm>
            <a:off x="5626100" y="4419600"/>
            <a:ext cx="2654300" cy="546100"/>
          </a:xfrm>
          <a:prstGeom prst="rect">
            <a:avLst/>
          </a:prstGeom>
          <a:solidFill>
            <a:srgbClr val="D1D1D1">
              <a:alpha val="71765"/>
            </a:srgbClr>
          </a:solidFill>
          <a:ln w="12700">
            <a:solidFill>
              <a:srgbClr val="A1A1A1"/>
            </a:solidFill>
          </a:ln>
        </p:spPr>
      </p:sp>
      <p:sp>
        <p:nvSpPr>
          <p:cNvPr id="8" name="AutoShape 8"/>
          <p:cNvSpPr/>
          <p:nvPr/>
        </p:nvSpPr>
        <p:spPr>
          <a:xfrm>
            <a:off x="8293100" y="4419600"/>
            <a:ext cx="2679700" cy="546100"/>
          </a:xfrm>
          <a:prstGeom prst="rect">
            <a:avLst/>
          </a:prstGeom>
          <a:solidFill>
            <a:srgbClr val="D1D1D1">
              <a:alpha val="71765"/>
            </a:srgbClr>
          </a:solidFill>
          <a:ln w="12700">
            <a:solidFill>
              <a:srgbClr val="A1A1A1"/>
            </a:solidFill>
          </a:ln>
        </p:spPr>
      </p:sp>
      <p:sp>
        <p:nvSpPr>
          <p:cNvPr id="9" name="AutoShape 9"/>
          <p:cNvSpPr/>
          <p:nvPr/>
        </p:nvSpPr>
        <p:spPr>
          <a:xfrm>
            <a:off x="10972800" y="4419600"/>
            <a:ext cx="1816100" cy="546100"/>
          </a:xfrm>
          <a:prstGeom prst="rect">
            <a:avLst/>
          </a:prstGeom>
          <a:solidFill>
            <a:srgbClr val="D1D1D1">
              <a:alpha val="71765"/>
            </a:srgbClr>
          </a:solidFill>
          <a:ln w="12700">
            <a:solidFill>
              <a:srgbClr val="A1A1A1"/>
            </a:solidFill>
          </a:ln>
        </p:spPr>
      </p:sp>
      <p:sp>
        <p:nvSpPr>
          <p:cNvPr id="10" name="AutoShape 10"/>
          <p:cNvSpPr/>
          <p:nvPr/>
        </p:nvSpPr>
        <p:spPr>
          <a:xfrm>
            <a:off x="12788900" y="4419600"/>
            <a:ext cx="2552700" cy="546100"/>
          </a:xfrm>
          <a:prstGeom prst="rect">
            <a:avLst/>
          </a:prstGeom>
          <a:solidFill>
            <a:srgbClr val="D1D1D1">
              <a:alpha val="71765"/>
            </a:srgbClr>
          </a:solidFill>
          <a:ln w="12700">
            <a:solidFill>
              <a:srgbClr val="A1A1A1"/>
            </a:solidFill>
          </a:ln>
        </p:spPr>
      </p:sp>
      <p:sp>
        <p:nvSpPr>
          <p:cNvPr id="11" name="AutoShape 11"/>
          <p:cNvSpPr/>
          <p:nvPr/>
        </p:nvSpPr>
        <p:spPr>
          <a:xfrm>
            <a:off x="889000" y="4978400"/>
            <a:ext cx="1638300" cy="546100"/>
          </a:xfrm>
          <a:prstGeom prst="rect">
            <a:avLst/>
          </a:prstGeom>
          <a:solidFill>
            <a:srgbClr val="000000">
              <a:alpha val="0"/>
            </a:srgbClr>
          </a:solidFill>
          <a:ln w="12700">
            <a:solidFill>
              <a:srgbClr val="A1A1A1"/>
            </a:solidFill>
          </a:ln>
        </p:spPr>
      </p:sp>
      <p:sp>
        <p:nvSpPr>
          <p:cNvPr id="12" name="AutoShape 12"/>
          <p:cNvSpPr/>
          <p:nvPr/>
        </p:nvSpPr>
        <p:spPr>
          <a:xfrm>
            <a:off x="2527300" y="4978400"/>
            <a:ext cx="3086100" cy="546100"/>
          </a:xfrm>
          <a:prstGeom prst="rect">
            <a:avLst/>
          </a:prstGeom>
          <a:solidFill>
            <a:srgbClr val="000000">
              <a:alpha val="0"/>
            </a:srgbClr>
          </a:solidFill>
          <a:ln w="12700">
            <a:solidFill>
              <a:srgbClr val="A1A1A1"/>
            </a:solidFill>
          </a:ln>
        </p:spPr>
      </p:sp>
      <p:sp>
        <p:nvSpPr>
          <p:cNvPr id="13" name="AutoShape 13"/>
          <p:cNvSpPr/>
          <p:nvPr/>
        </p:nvSpPr>
        <p:spPr>
          <a:xfrm>
            <a:off x="5626100" y="4978400"/>
            <a:ext cx="2654300" cy="546100"/>
          </a:xfrm>
          <a:prstGeom prst="rect">
            <a:avLst/>
          </a:prstGeom>
          <a:solidFill>
            <a:srgbClr val="000000">
              <a:alpha val="0"/>
            </a:srgbClr>
          </a:solidFill>
          <a:ln w="12700">
            <a:solidFill>
              <a:srgbClr val="A1A1A1"/>
            </a:solidFill>
          </a:ln>
        </p:spPr>
      </p:sp>
      <p:sp>
        <p:nvSpPr>
          <p:cNvPr id="14" name="AutoShape 14"/>
          <p:cNvSpPr/>
          <p:nvPr/>
        </p:nvSpPr>
        <p:spPr>
          <a:xfrm>
            <a:off x="8293100" y="4978400"/>
            <a:ext cx="2679700" cy="546100"/>
          </a:xfrm>
          <a:prstGeom prst="rect">
            <a:avLst/>
          </a:prstGeom>
          <a:solidFill>
            <a:srgbClr val="000000">
              <a:alpha val="0"/>
            </a:srgbClr>
          </a:solidFill>
          <a:ln w="12700">
            <a:solidFill>
              <a:srgbClr val="A1A1A1"/>
            </a:solidFill>
          </a:ln>
        </p:spPr>
      </p:sp>
      <p:sp>
        <p:nvSpPr>
          <p:cNvPr id="15" name="AutoShape 15"/>
          <p:cNvSpPr/>
          <p:nvPr/>
        </p:nvSpPr>
        <p:spPr>
          <a:xfrm>
            <a:off x="10972800" y="4978400"/>
            <a:ext cx="1816100" cy="546100"/>
          </a:xfrm>
          <a:prstGeom prst="rect">
            <a:avLst/>
          </a:prstGeom>
          <a:solidFill>
            <a:srgbClr val="000000">
              <a:alpha val="0"/>
            </a:srgbClr>
          </a:solidFill>
          <a:ln w="12700">
            <a:solidFill>
              <a:srgbClr val="A1A1A1"/>
            </a:solidFill>
          </a:ln>
        </p:spPr>
      </p:sp>
      <p:sp>
        <p:nvSpPr>
          <p:cNvPr id="16" name="AutoShape 16"/>
          <p:cNvSpPr/>
          <p:nvPr/>
        </p:nvSpPr>
        <p:spPr>
          <a:xfrm>
            <a:off x="12788900" y="4978400"/>
            <a:ext cx="2552700" cy="546100"/>
          </a:xfrm>
          <a:prstGeom prst="rect">
            <a:avLst/>
          </a:prstGeom>
          <a:solidFill>
            <a:srgbClr val="000000">
              <a:alpha val="0"/>
            </a:srgbClr>
          </a:solidFill>
          <a:ln w="12700">
            <a:solidFill>
              <a:srgbClr val="A1A1A1"/>
            </a:solidFill>
          </a:ln>
        </p:spPr>
      </p:sp>
      <p:sp>
        <p:nvSpPr>
          <p:cNvPr id="17" name="AutoShape 17"/>
          <p:cNvSpPr/>
          <p:nvPr/>
        </p:nvSpPr>
        <p:spPr>
          <a:xfrm>
            <a:off x="889000" y="5524500"/>
            <a:ext cx="1638300" cy="546100"/>
          </a:xfrm>
          <a:prstGeom prst="rect">
            <a:avLst/>
          </a:prstGeom>
          <a:solidFill>
            <a:srgbClr val="000000">
              <a:alpha val="0"/>
            </a:srgbClr>
          </a:solidFill>
          <a:ln w="12700">
            <a:solidFill>
              <a:srgbClr val="A1A1A1"/>
            </a:solidFill>
          </a:ln>
        </p:spPr>
      </p:sp>
      <p:sp>
        <p:nvSpPr>
          <p:cNvPr id="18" name="AutoShape 18"/>
          <p:cNvSpPr/>
          <p:nvPr/>
        </p:nvSpPr>
        <p:spPr>
          <a:xfrm>
            <a:off x="2527300" y="5524500"/>
            <a:ext cx="3086100" cy="546100"/>
          </a:xfrm>
          <a:prstGeom prst="rect">
            <a:avLst/>
          </a:prstGeom>
          <a:solidFill>
            <a:srgbClr val="000000">
              <a:alpha val="0"/>
            </a:srgbClr>
          </a:solidFill>
          <a:ln w="12700">
            <a:solidFill>
              <a:srgbClr val="A1A1A1"/>
            </a:solidFill>
          </a:ln>
        </p:spPr>
      </p:sp>
      <p:sp>
        <p:nvSpPr>
          <p:cNvPr id="19" name="AutoShape 19"/>
          <p:cNvSpPr/>
          <p:nvPr/>
        </p:nvSpPr>
        <p:spPr>
          <a:xfrm>
            <a:off x="5626100" y="5524500"/>
            <a:ext cx="2654300" cy="546100"/>
          </a:xfrm>
          <a:prstGeom prst="rect">
            <a:avLst/>
          </a:prstGeom>
          <a:solidFill>
            <a:srgbClr val="000000">
              <a:alpha val="0"/>
            </a:srgbClr>
          </a:solidFill>
          <a:ln w="12700">
            <a:solidFill>
              <a:srgbClr val="A1A1A1"/>
            </a:solidFill>
          </a:ln>
        </p:spPr>
      </p:sp>
      <p:sp>
        <p:nvSpPr>
          <p:cNvPr id="20" name="AutoShape 20"/>
          <p:cNvSpPr/>
          <p:nvPr/>
        </p:nvSpPr>
        <p:spPr>
          <a:xfrm>
            <a:off x="8293100" y="5524500"/>
            <a:ext cx="2679700" cy="546100"/>
          </a:xfrm>
          <a:prstGeom prst="rect">
            <a:avLst/>
          </a:prstGeom>
          <a:solidFill>
            <a:srgbClr val="000000">
              <a:alpha val="0"/>
            </a:srgbClr>
          </a:solidFill>
          <a:ln w="12700">
            <a:solidFill>
              <a:srgbClr val="A1A1A1"/>
            </a:solidFill>
          </a:ln>
        </p:spPr>
      </p:sp>
      <p:sp>
        <p:nvSpPr>
          <p:cNvPr id="21" name="AutoShape 21"/>
          <p:cNvSpPr/>
          <p:nvPr/>
        </p:nvSpPr>
        <p:spPr>
          <a:xfrm>
            <a:off x="10972800" y="5524500"/>
            <a:ext cx="1816100" cy="546100"/>
          </a:xfrm>
          <a:prstGeom prst="rect">
            <a:avLst/>
          </a:prstGeom>
          <a:solidFill>
            <a:srgbClr val="000000">
              <a:alpha val="0"/>
            </a:srgbClr>
          </a:solidFill>
          <a:ln w="12700">
            <a:solidFill>
              <a:srgbClr val="A1A1A1"/>
            </a:solidFill>
          </a:ln>
        </p:spPr>
      </p:sp>
      <p:sp>
        <p:nvSpPr>
          <p:cNvPr id="22" name="AutoShape 22"/>
          <p:cNvSpPr/>
          <p:nvPr/>
        </p:nvSpPr>
        <p:spPr>
          <a:xfrm>
            <a:off x="12788900" y="5524500"/>
            <a:ext cx="2552700" cy="546100"/>
          </a:xfrm>
          <a:prstGeom prst="rect">
            <a:avLst/>
          </a:prstGeom>
          <a:solidFill>
            <a:srgbClr val="000000">
              <a:alpha val="0"/>
            </a:srgbClr>
          </a:solidFill>
          <a:ln w="12700">
            <a:solidFill>
              <a:srgbClr val="A1A1A1"/>
            </a:solidFill>
          </a:ln>
        </p:spPr>
      </p:sp>
      <p:sp>
        <p:nvSpPr>
          <p:cNvPr id="23" name="AutoShape 23"/>
          <p:cNvSpPr/>
          <p:nvPr/>
        </p:nvSpPr>
        <p:spPr>
          <a:xfrm>
            <a:off x="889000" y="6083300"/>
            <a:ext cx="1638300" cy="546100"/>
          </a:xfrm>
          <a:prstGeom prst="rect">
            <a:avLst/>
          </a:prstGeom>
          <a:solidFill>
            <a:srgbClr val="000000">
              <a:alpha val="0"/>
            </a:srgbClr>
          </a:solidFill>
          <a:ln w="12700">
            <a:solidFill>
              <a:srgbClr val="A1A1A1"/>
            </a:solidFill>
          </a:ln>
        </p:spPr>
      </p:sp>
      <p:sp>
        <p:nvSpPr>
          <p:cNvPr id="24" name="AutoShape 24"/>
          <p:cNvSpPr/>
          <p:nvPr/>
        </p:nvSpPr>
        <p:spPr>
          <a:xfrm>
            <a:off x="2527300" y="6083300"/>
            <a:ext cx="3086100" cy="546100"/>
          </a:xfrm>
          <a:prstGeom prst="rect">
            <a:avLst/>
          </a:prstGeom>
          <a:solidFill>
            <a:srgbClr val="000000">
              <a:alpha val="0"/>
            </a:srgbClr>
          </a:solidFill>
          <a:ln w="12700">
            <a:solidFill>
              <a:srgbClr val="A1A1A1"/>
            </a:solidFill>
          </a:ln>
        </p:spPr>
      </p:sp>
      <p:sp>
        <p:nvSpPr>
          <p:cNvPr id="25" name="AutoShape 25"/>
          <p:cNvSpPr/>
          <p:nvPr/>
        </p:nvSpPr>
        <p:spPr>
          <a:xfrm>
            <a:off x="5626100" y="6083300"/>
            <a:ext cx="2654300" cy="546100"/>
          </a:xfrm>
          <a:prstGeom prst="rect">
            <a:avLst/>
          </a:prstGeom>
          <a:solidFill>
            <a:srgbClr val="000000">
              <a:alpha val="0"/>
            </a:srgbClr>
          </a:solidFill>
          <a:ln w="12700">
            <a:solidFill>
              <a:srgbClr val="A1A1A1"/>
            </a:solidFill>
          </a:ln>
        </p:spPr>
      </p:sp>
      <p:sp>
        <p:nvSpPr>
          <p:cNvPr id="26" name="AutoShape 26"/>
          <p:cNvSpPr/>
          <p:nvPr/>
        </p:nvSpPr>
        <p:spPr>
          <a:xfrm>
            <a:off x="8293100" y="6083300"/>
            <a:ext cx="2679700" cy="546100"/>
          </a:xfrm>
          <a:prstGeom prst="rect">
            <a:avLst/>
          </a:prstGeom>
          <a:solidFill>
            <a:srgbClr val="000000">
              <a:alpha val="0"/>
            </a:srgbClr>
          </a:solidFill>
          <a:ln w="12700">
            <a:solidFill>
              <a:srgbClr val="A1A1A1"/>
            </a:solidFill>
          </a:ln>
        </p:spPr>
      </p:sp>
      <p:sp>
        <p:nvSpPr>
          <p:cNvPr id="27" name="AutoShape 27"/>
          <p:cNvSpPr/>
          <p:nvPr/>
        </p:nvSpPr>
        <p:spPr>
          <a:xfrm>
            <a:off x="10972800" y="6083300"/>
            <a:ext cx="1816100" cy="546100"/>
          </a:xfrm>
          <a:prstGeom prst="rect">
            <a:avLst/>
          </a:prstGeom>
          <a:solidFill>
            <a:srgbClr val="000000">
              <a:alpha val="0"/>
            </a:srgbClr>
          </a:solidFill>
          <a:ln w="12700">
            <a:solidFill>
              <a:srgbClr val="A1A1A1"/>
            </a:solidFill>
          </a:ln>
        </p:spPr>
      </p:sp>
      <p:sp>
        <p:nvSpPr>
          <p:cNvPr id="28" name="AutoShape 28"/>
          <p:cNvSpPr/>
          <p:nvPr/>
        </p:nvSpPr>
        <p:spPr>
          <a:xfrm>
            <a:off x="12788900" y="6083300"/>
            <a:ext cx="2552700" cy="546100"/>
          </a:xfrm>
          <a:prstGeom prst="rect">
            <a:avLst/>
          </a:prstGeom>
          <a:solidFill>
            <a:srgbClr val="000000">
              <a:alpha val="0"/>
            </a:srgbClr>
          </a:solidFill>
          <a:ln w="12700">
            <a:solidFill>
              <a:srgbClr val="A1A1A1"/>
            </a:solidFill>
          </a:ln>
        </p:spPr>
      </p:sp>
      <p:sp>
        <p:nvSpPr>
          <p:cNvPr id="29" name="TextBox 29"/>
          <p:cNvSpPr txBox="1"/>
          <p:nvPr/>
        </p:nvSpPr>
        <p:spPr>
          <a:xfrm>
            <a:off x="876300" y="24765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Scaled Results: Performance Across Grid Sizes</a:t>
            </a:r>
            <a:endParaRPr lang="en-US" sz="1100"/>
          </a:p>
        </p:txBody>
      </p:sp>
      <p:sp>
        <p:nvSpPr>
          <p:cNvPr id="30" name="TextBox 30"/>
          <p:cNvSpPr txBox="1"/>
          <p:nvPr/>
        </p:nvSpPr>
        <p:spPr>
          <a:xfrm>
            <a:off x="876300" y="33655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evaluated across N=100, N=200, and N=500 agents to analyze scalability characteristics, revealing tradeoffs between mitigation strength and operational efficiency.</a:t>
            </a:r>
            <a:endParaRPr lang="en-US" sz="1100"/>
          </a:p>
        </p:txBody>
      </p:sp>
      <p:sp>
        <p:nvSpPr>
          <p:cNvPr id="31" name="TextBox 31"/>
          <p:cNvSpPr txBox="1"/>
          <p:nvPr/>
        </p:nvSpPr>
        <p:spPr>
          <a:xfrm>
            <a:off x="977900" y="45085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Grid Size</a:t>
            </a:r>
            <a:endParaRPr lang="en-US" sz="1100"/>
          </a:p>
        </p:txBody>
      </p:sp>
      <p:sp>
        <p:nvSpPr>
          <p:cNvPr id="32" name="TextBox 32"/>
          <p:cNvSpPr txBox="1"/>
          <p:nvPr/>
        </p:nvSpPr>
        <p:spPr>
          <a:xfrm>
            <a:off x="2616200" y="45085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Attack Reduction</a:t>
            </a:r>
            <a:endParaRPr lang="en-US" sz="1100"/>
          </a:p>
        </p:txBody>
      </p:sp>
      <p:sp>
        <p:nvSpPr>
          <p:cNvPr id="33" name="TextBox 33"/>
          <p:cNvSpPr txBox="1"/>
          <p:nvPr/>
        </p:nvSpPr>
        <p:spPr>
          <a:xfrm>
            <a:off x="5715000" y="45085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4" name="TextBox 34"/>
          <p:cNvSpPr txBox="1"/>
          <p:nvPr/>
        </p:nvSpPr>
        <p:spPr>
          <a:xfrm>
            <a:off x="8382000" y="45085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35" name="TextBox 35"/>
          <p:cNvSpPr txBox="1"/>
          <p:nvPr/>
        </p:nvSpPr>
        <p:spPr>
          <a:xfrm>
            <a:off x="11061700" y="45085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36" name="TextBox 36"/>
          <p:cNvSpPr txBox="1"/>
          <p:nvPr/>
        </p:nvSpPr>
        <p:spPr>
          <a:xfrm>
            <a:off x="12877800" y="45085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Latency (avg)</a:t>
            </a:r>
            <a:endParaRPr lang="en-US" sz="1100"/>
          </a:p>
        </p:txBody>
      </p:sp>
      <p:sp>
        <p:nvSpPr>
          <p:cNvPr id="37" name="TextBox 37"/>
          <p:cNvSpPr txBox="1"/>
          <p:nvPr/>
        </p:nvSpPr>
        <p:spPr>
          <a:xfrm>
            <a:off x="977900" y="50673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N=100</a:t>
            </a:r>
            <a:endParaRPr lang="en-US" sz="1100"/>
          </a:p>
        </p:txBody>
      </p:sp>
      <p:sp>
        <p:nvSpPr>
          <p:cNvPr id="38" name="TextBox 38"/>
          <p:cNvSpPr txBox="1"/>
          <p:nvPr/>
        </p:nvSpPr>
        <p:spPr>
          <a:xfrm>
            <a:off x="2616200" y="50673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77.47%</a:t>
            </a:r>
            <a:endParaRPr lang="en-US" sz="1100"/>
          </a:p>
        </p:txBody>
      </p:sp>
      <p:sp>
        <p:nvSpPr>
          <p:cNvPr id="39" name="TextBox 39"/>
          <p:cNvSpPr txBox="1"/>
          <p:nvPr/>
        </p:nvSpPr>
        <p:spPr>
          <a:xfrm>
            <a:off x="5715000" y="50673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40" name="TextBox 40"/>
          <p:cNvSpPr txBox="1"/>
          <p:nvPr/>
        </p:nvSpPr>
        <p:spPr>
          <a:xfrm>
            <a:off x="8382000" y="50673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1" name="TextBox 41"/>
          <p:cNvSpPr txBox="1"/>
          <p:nvPr/>
        </p:nvSpPr>
        <p:spPr>
          <a:xfrm>
            <a:off x="11061700" y="50673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877800" y="50673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58.79 ms</a:t>
            </a:r>
            <a:endParaRPr lang="en-US" sz="1100"/>
          </a:p>
        </p:txBody>
      </p:sp>
      <p:sp>
        <p:nvSpPr>
          <p:cNvPr id="43" name="TextBox 43"/>
          <p:cNvSpPr txBox="1"/>
          <p:nvPr/>
        </p:nvSpPr>
        <p:spPr>
          <a:xfrm>
            <a:off x="977900" y="56134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N=200</a:t>
            </a:r>
            <a:endParaRPr lang="en-US" sz="1100"/>
          </a:p>
        </p:txBody>
      </p:sp>
      <p:sp>
        <p:nvSpPr>
          <p:cNvPr id="44" name="TextBox 44"/>
          <p:cNvSpPr txBox="1"/>
          <p:nvPr/>
        </p:nvSpPr>
        <p:spPr>
          <a:xfrm>
            <a:off x="2616200" y="56134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75.13%</a:t>
            </a:r>
            <a:endParaRPr lang="en-US" sz="1100"/>
          </a:p>
        </p:txBody>
      </p:sp>
      <p:sp>
        <p:nvSpPr>
          <p:cNvPr id="45" name="TextBox 45"/>
          <p:cNvSpPr txBox="1"/>
          <p:nvPr/>
        </p:nvSpPr>
        <p:spPr>
          <a:xfrm>
            <a:off x="5715000" y="56134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49.22%</a:t>
            </a:r>
            <a:endParaRPr lang="en-US" sz="1100"/>
          </a:p>
        </p:txBody>
      </p:sp>
      <p:sp>
        <p:nvSpPr>
          <p:cNvPr id="46" name="TextBox 46"/>
          <p:cNvSpPr txBox="1"/>
          <p:nvPr/>
        </p:nvSpPr>
        <p:spPr>
          <a:xfrm>
            <a:off x="8382000" y="56134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96.65%</a:t>
            </a:r>
            <a:endParaRPr lang="en-US" sz="1100"/>
          </a:p>
        </p:txBody>
      </p:sp>
      <p:sp>
        <p:nvSpPr>
          <p:cNvPr id="47" name="TextBox 47"/>
          <p:cNvSpPr txBox="1"/>
          <p:nvPr/>
        </p:nvSpPr>
        <p:spPr>
          <a:xfrm>
            <a:off x="11061700" y="56134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99.01%</a:t>
            </a:r>
            <a:endParaRPr lang="en-US" sz="1100"/>
          </a:p>
        </p:txBody>
      </p:sp>
      <p:sp>
        <p:nvSpPr>
          <p:cNvPr id="48" name="TextBox 48"/>
          <p:cNvSpPr txBox="1"/>
          <p:nvPr/>
        </p:nvSpPr>
        <p:spPr>
          <a:xfrm>
            <a:off x="12877800" y="56134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118.85 ms</a:t>
            </a:r>
            <a:endParaRPr lang="en-US" sz="1100"/>
          </a:p>
        </p:txBody>
      </p:sp>
      <p:sp>
        <p:nvSpPr>
          <p:cNvPr id="49" name="TextBox 49"/>
          <p:cNvSpPr txBox="1"/>
          <p:nvPr/>
        </p:nvSpPr>
        <p:spPr>
          <a:xfrm>
            <a:off x="977900" y="61722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N=500</a:t>
            </a:r>
            <a:endParaRPr lang="en-US" sz="1100"/>
          </a:p>
        </p:txBody>
      </p:sp>
      <p:sp>
        <p:nvSpPr>
          <p:cNvPr id="50" name="TextBox 50"/>
          <p:cNvSpPr txBox="1"/>
          <p:nvPr/>
        </p:nvSpPr>
        <p:spPr>
          <a:xfrm>
            <a:off x="2616200" y="61722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34.20%</a:t>
            </a:r>
            <a:endParaRPr lang="en-US" sz="1100"/>
          </a:p>
        </p:txBody>
      </p:sp>
      <p:sp>
        <p:nvSpPr>
          <p:cNvPr id="51" name="TextBox 51"/>
          <p:cNvSpPr txBox="1"/>
          <p:nvPr/>
        </p:nvSpPr>
        <p:spPr>
          <a:xfrm>
            <a:off x="5715000" y="61722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73.19%</a:t>
            </a:r>
            <a:endParaRPr lang="en-US" sz="1100"/>
          </a:p>
        </p:txBody>
      </p:sp>
      <p:sp>
        <p:nvSpPr>
          <p:cNvPr id="52" name="TextBox 52"/>
          <p:cNvSpPr txBox="1"/>
          <p:nvPr/>
        </p:nvSpPr>
        <p:spPr>
          <a:xfrm>
            <a:off x="8382000" y="61722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82.36%</a:t>
            </a:r>
            <a:endParaRPr lang="en-US" sz="1100"/>
          </a:p>
        </p:txBody>
      </p:sp>
      <p:sp>
        <p:nvSpPr>
          <p:cNvPr id="53" name="TextBox 53"/>
          <p:cNvSpPr txBox="1"/>
          <p:nvPr/>
        </p:nvSpPr>
        <p:spPr>
          <a:xfrm>
            <a:off x="11061700" y="61722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99.08%</a:t>
            </a:r>
            <a:endParaRPr lang="en-US" sz="1100"/>
          </a:p>
        </p:txBody>
      </p:sp>
      <p:sp>
        <p:nvSpPr>
          <p:cNvPr id="54" name="TextBox 54"/>
          <p:cNvSpPr txBox="1"/>
          <p:nvPr/>
        </p:nvSpPr>
        <p:spPr>
          <a:xfrm>
            <a:off x="12877800" y="61722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288.46 ms</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Discussion: Tradeoffs Between Efficiency, Mitigation, and Scale</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Medium-scale (N=200) preserves strongest mitigation performance at 96.65%, indicating an optimal balance between scale and detection effectiveness.</a:t>
            </a:r>
            <a:endParaRPr lang="en-US" sz="1100"/>
          </a:p>
        </p:txBody>
      </p:sp>
      <p:sp>
        <p:nvSpPr>
          <p:cNvPr id="17" name="TextBox 17"/>
          <p:cNvSpPr txBox="1"/>
          <p:nvPr/>
        </p:nvSpPr>
        <p:spPr>
          <a:xfrm>
            <a:off x="4826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Large-scale (N=500) achieves higher cost savings of 73.19% but experiences weaker mitigation performance at 82.36%, reflecting a tradeoff with scale.</a:t>
            </a:r>
            <a:endParaRPr lang="en-US" sz="1100"/>
          </a:p>
        </p:txBody>
      </p:sp>
      <p:sp>
        <p:nvSpPr>
          <p:cNvPr id="18" name="TextBox 18"/>
          <p:cNvSpPr txBox="1"/>
          <p:nvPr/>
        </p:nvSpPr>
        <p:spPr>
          <a:xfrm>
            <a:off x="8509000" y="2921000"/>
            <a:ext cx="2895600" cy="25146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Attack reduction declines significantly at N=500 to 34.20%, suggesting diminishing returns for mitigation as scale increases.</a:t>
            </a:r>
            <a:endParaRPr lang="en-US" sz="1100"/>
          </a:p>
        </p:txBody>
      </p:sp>
      <p:sp>
        <p:nvSpPr>
          <p:cNvPr id="19" name="TextBox 19"/>
          <p:cNvSpPr txBox="1"/>
          <p:nvPr/>
        </p:nvSpPr>
        <p:spPr>
          <a:xfrm>
            <a:off x="12204700" y="2921000"/>
            <a:ext cx="2895600" cy="21463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System latency scales linearly across tested sizes, and the system remains operationally usable across the evaluated range.</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There is an inherent tradeoff between operational efficiency and detection effectiveness in distributed environments that must be managed when choosing scale.</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048000"/>
            <a:ext cx="14490700" cy="3924300"/>
          </a:xfrm>
          <a:prstGeom prst="rect">
            <a:avLst/>
          </a:prstGeom>
          <a:solidFill>
            <a:srgbClr val="000000">
              <a:alpha val="0"/>
            </a:srgbClr>
          </a:solidFill>
        </p:spPr>
      </p:sp>
      <p:sp>
        <p:nvSpPr>
          <p:cNvPr id="5" name="AutoShape 5"/>
          <p:cNvSpPr/>
          <p:nvPr/>
        </p:nvSpPr>
        <p:spPr>
          <a:xfrm>
            <a:off x="876300" y="3048000"/>
            <a:ext cx="3378200" cy="2730500"/>
          </a:xfrm>
          <a:prstGeom prst="rect">
            <a:avLst/>
          </a:prstGeom>
          <a:solidFill>
            <a:srgbClr val="000000">
              <a:alpha val="0"/>
            </a:srgbClr>
          </a:solidFill>
        </p:spPr>
      </p:sp>
      <p:sp>
        <p:nvSpPr>
          <p:cNvPr id="6" name="AutoShape 6"/>
          <p:cNvSpPr/>
          <p:nvPr/>
        </p:nvSpPr>
        <p:spPr>
          <a:xfrm>
            <a:off x="876300" y="3048000"/>
            <a:ext cx="558800" cy="558800"/>
          </a:xfrm>
          <a:prstGeom prst="roundRect">
            <a:avLst>
              <a:gd name="adj" fmla="val 15909"/>
            </a:avLst>
          </a:prstGeom>
          <a:solidFill>
            <a:srgbClr val="D1D1D1"/>
          </a:solidFill>
        </p:spPr>
      </p:sp>
      <p:sp>
        <p:nvSpPr>
          <p:cNvPr id="7" name="AutoShape 7"/>
          <p:cNvSpPr/>
          <p:nvPr/>
        </p:nvSpPr>
        <p:spPr>
          <a:xfrm>
            <a:off x="4572000" y="3048000"/>
            <a:ext cx="3378200" cy="2730500"/>
          </a:xfrm>
          <a:prstGeom prst="rect">
            <a:avLst/>
          </a:prstGeom>
          <a:solidFill>
            <a:srgbClr val="000000">
              <a:alpha val="0"/>
            </a:srgbClr>
          </a:solidFill>
        </p:spPr>
      </p:sp>
      <p:sp>
        <p:nvSpPr>
          <p:cNvPr id="8" name="AutoShape 8"/>
          <p:cNvSpPr/>
          <p:nvPr/>
        </p:nvSpPr>
        <p:spPr>
          <a:xfrm>
            <a:off x="4572000" y="3048000"/>
            <a:ext cx="558800" cy="558800"/>
          </a:xfrm>
          <a:prstGeom prst="roundRect">
            <a:avLst>
              <a:gd name="adj" fmla="val 15909"/>
            </a:avLst>
          </a:prstGeom>
          <a:solidFill>
            <a:srgbClr val="D1D1D1"/>
          </a:solidFill>
        </p:spPr>
      </p:sp>
      <p:sp>
        <p:nvSpPr>
          <p:cNvPr id="9" name="AutoShape 9"/>
          <p:cNvSpPr/>
          <p:nvPr/>
        </p:nvSpPr>
        <p:spPr>
          <a:xfrm>
            <a:off x="8280400" y="3048000"/>
            <a:ext cx="3378200" cy="2730500"/>
          </a:xfrm>
          <a:prstGeom prst="rect">
            <a:avLst/>
          </a:prstGeom>
          <a:solidFill>
            <a:srgbClr val="000000">
              <a:alpha val="0"/>
            </a:srgbClr>
          </a:solidFill>
        </p:spPr>
      </p:sp>
      <p:sp>
        <p:nvSpPr>
          <p:cNvPr id="10" name="AutoShape 10"/>
          <p:cNvSpPr/>
          <p:nvPr/>
        </p:nvSpPr>
        <p:spPr>
          <a:xfrm>
            <a:off x="8280400" y="3048000"/>
            <a:ext cx="558800" cy="558800"/>
          </a:xfrm>
          <a:prstGeom prst="roundRect">
            <a:avLst>
              <a:gd name="adj" fmla="val 15909"/>
            </a:avLst>
          </a:prstGeom>
          <a:solidFill>
            <a:srgbClr val="D1D1D1"/>
          </a:solidFill>
        </p:spPr>
      </p:sp>
      <p:sp>
        <p:nvSpPr>
          <p:cNvPr id="11" name="AutoShape 11"/>
          <p:cNvSpPr/>
          <p:nvPr/>
        </p:nvSpPr>
        <p:spPr>
          <a:xfrm>
            <a:off x="11976100" y="3048000"/>
            <a:ext cx="3378200" cy="2730500"/>
          </a:xfrm>
          <a:prstGeom prst="rect">
            <a:avLst/>
          </a:prstGeom>
          <a:solidFill>
            <a:srgbClr val="000000">
              <a:alpha val="0"/>
            </a:srgbClr>
          </a:solidFill>
        </p:spPr>
      </p:sp>
      <p:sp>
        <p:nvSpPr>
          <p:cNvPr id="12" name="AutoShape 12"/>
          <p:cNvSpPr/>
          <p:nvPr/>
        </p:nvSpPr>
        <p:spPr>
          <a:xfrm>
            <a:off x="11976100" y="3048000"/>
            <a:ext cx="558800" cy="558800"/>
          </a:xfrm>
          <a:prstGeom prst="roundRect">
            <a:avLst>
              <a:gd name="adj" fmla="val 15909"/>
            </a:avLst>
          </a:prstGeom>
          <a:solidFill>
            <a:srgbClr val="D1D1D1"/>
          </a:solidFill>
        </p:spPr>
      </p:sp>
      <p:sp>
        <p:nvSpPr>
          <p:cNvPr id="13" name="AutoShape 13"/>
          <p:cNvSpPr/>
          <p:nvPr/>
        </p:nvSpPr>
        <p:spPr>
          <a:xfrm>
            <a:off x="876300" y="6413500"/>
            <a:ext cx="14490700" cy="558800"/>
          </a:xfrm>
          <a:prstGeom prst="rect">
            <a:avLst/>
          </a:prstGeom>
          <a:solidFill>
            <a:srgbClr val="000000">
              <a:alpha val="0"/>
            </a:srgbClr>
          </a:solidFill>
        </p:spPr>
      </p:sp>
      <p:sp>
        <p:nvSpPr>
          <p:cNvPr id="14" name="AutoShape 14"/>
          <p:cNvSpPr/>
          <p:nvPr/>
        </p:nvSpPr>
        <p:spPr>
          <a:xfrm>
            <a:off x="876300" y="6413500"/>
            <a:ext cx="558800" cy="558800"/>
          </a:xfrm>
          <a:prstGeom prst="roundRect">
            <a:avLst>
              <a:gd name="adj" fmla="val 15909"/>
            </a:avLst>
          </a:prstGeom>
          <a:solidFill>
            <a:srgbClr val="D1D1D1"/>
          </a:solidFill>
        </p:spPr>
      </p:sp>
      <p:sp>
        <p:nvSpPr>
          <p:cNvPr id="15" name="TextBox 15"/>
          <p:cNvSpPr txBox="1"/>
          <p:nvPr/>
        </p:nvSpPr>
        <p:spPr>
          <a:xfrm>
            <a:off x="876300" y="21590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Limitations: Scope and Deployment Constraints</a:t>
            </a:r>
            <a:endParaRPr lang="en-US" sz="1100"/>
          </a:p>
        </p:txBody>
      </p:sp>
      <p:sp>
        <p:nvSpPr>
          <p:cNvPr id="16" name="TextBox 16"/>
          <p:cNvSpPr txBox="1"/>
          <p:nvPr/>
        </p:nvSpPr>
        <p:spPr>
          <a:xfrm>
            <a:off x="10668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502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136900"/>
            <a:ext cx="25654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Telemetry generated via Rapid SCADA calculated channels, not physical field devices</a:t>
            </a:r>
            <a:endParaRPr lang="en-US" sz="1100"/>
          </a:p>
        </p:txBody>
      </p:sp>
      <p:sp>
        <p:nvSpPr>
          <p:cNvPr id="22" name="TextBox 22"/>
          <p:cNvSpPr txBox="1"/>
          <p:nvPr/>
        </p:nvSpPr>
        <p:spPr>
          <a:xfrm>
            <a:off x="53975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represents operational prototype, not full real-world utility deployment</a:t>
            </a:r>
            <a:endParaRPr lang="en-US" sz="1100"/>
          </a:p>
        </p:txBody>
      </p:sp>
      <p:sp>
        <p:nvSpPr>
          <p:cNvPr id="23" name="TextBox 23"/>
          <p:cNvSpPr txBox="1"/>
          <p:nvPr/>
        </p:nvSpPr>
        <p:spPr>
          <a:xfrm>
            <a:off x="90932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values currently hand-engineered rather than adaptively learned</a:t>
            </a:r>
            <a:endParaRPr lang="en-US" sz="1100"/>
          </a:p>
        </p:txBody>
      </p:sp>
      <p:sp>
        <p:nvSpPr>
          <p:cNvPr id="24" name="TextBox 24"/>
          <p:cNvSpPr txBox="1"/>
          <p:nvPr/>
        </p:nvSpPr>
        <p:spPr>
          <a:xfrm>
            <a:off x="128016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F1 Score reflects class imbalance; minority anomaly detection sensitivity lower</a:t>
            </a:r>
            <a:endParaRPr lang="en-US" sz="1100"/>
          </a:p>
        </p:txBody>
      </p:sp>
      <p:sp>
        <p:nvSpPr>
          <p:cNvPr id="25" name="TextBox 25"/>
          <p:cNvSpPr txBox="1"/>
          <p:nvPr/>
        </p:nvSpPr>
        <p:spPr>
          <a:xfrm>
            <a:off x="1689100" y="64897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Scalability beyond N=500 not yet evaluated; live workspace tested at N=100 only</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00200"/>
            <a:ext cx="14490700" cy="7010400"/>
          </a:xfrm>
          <a:prstGeom prst="rect">
            <a:avLst/>
          </a:prstGeom>
          <a:solidFill>
            <a:srgbClr val="000000">
              <a:alpha val="0"/>
            </a:srgbClr>
          </a:solidFill>
        </p:spPr>
      </p:sp>
      <p:sp>
        <p:nvSpPr>
          <p:cNvPr id="5" name="AutoShape 5"/>
          <p:cNvSpPr/>
          <p:nvPr/>
        </p:nvSpPr>
        <p:spPr>
          <a:xfrm>
            <a:off x="876300" y="1600200"/>
            <a:ext cx="3429000" cy="4699000"/>
          </a:xfrm>
          <a:prstGeom prst="roundRect">
            <a:avLst>
              <a:gd name="adj" fmla="val 1851"/>
            </a:avLst>
          </a:prstGeom>
          <a:solidFill>
            <a:srgbClr val="D1D1D1">
              <a:alpha val="71765"/>
            </a:srgbClr>
          </a:solidFill>
        </p:spPr>
      </p:sp>
      <p:sp>
        <p:nvSpPr>
          <p:cNvPr id="6" name="AutoShape 6"/>
          <p:cNvSpPr/>
          <p:nvPr/>
        </p:nvSpPr>
        <p:spPr>
          <a:xfrm>
            <a:off x="1231900" y="1790700"/>
            <a:ext cx="546100" cy="546100"/>
          </a:xfrm>
          <a:prstGeom prst="roundRect">
            <a:avLst>
              <a:gd name="adj" fmla="val 48837"/>
            </a:avLst>
          </a:prstGeom>
          <a:solidFill>
            <a:srgbClr val="000000"/>
          </a:solidFill>
        </p:spPr>
      </p:sp>
      <p:sp>
        <p:nvSpPr>
          <p:cNvPr id="7" name="AutoShape 7"/>
          <p:cNvSpPr/>
          <p:nvPr/>
        </p:nvSpPr>
        <p:spPr>
          <a:xfrm>
            <a:off x="4559300" y="1600200"/>
            <a:ext cx="3429000" cy="4699000"/>
          </a:xfrm>
          <a:prstGeom prst="roundRect">
            <a:avLst>
              <a:gd name="adj" fmla="val 1851"/>
            </a:avLst>
          </a:prstGeom>
          <a:solidFill>
            <a:srgbClr val="D1D1D1">
              <a:alpha val="71765"/>
            </a:srgbClr>
          </a:solidFill>
        </p:spPr>
      </p:sp>
      <p:sp>
        <p:nvSpPr>
          <p:cNvPr id="8" name="AutoShape 8"/>
          <p:cNvSpPr/>
          <p:nvPr/>
        </p:nvSpPr>
        <p:spPr>
          <a:xfrm>
            <a:off x="4914900" y="1790700"/>
            <a:ext cx="546100" cy="546100"/>
          </a:xfrm>
          <a:prstGeom prst="roundRect">
            <a:avLst>
              <a:gd name="adj" fmla="val 48837"/>
            </a:avLst>
          </a:prstGeom>
          <a:solidFill>
            <a:srgbClr val="000000"/>
          </a:solidFill>
        </p:spPr>
      </p:sp>
      <p:sp>
        <p:nvSpPr>
          <p:cNvPr id="9" name="AutoShape 9"/>
          <p:cNvSpPr/>
          <p:nvPr/>
        </p:nvSpPr>
        <p:spPr>
          <a:xfrm>
            <a:off x="8242300" y="1600200"/>
            <a:ext cx="3429000" cy="4699000"/>
          </a:xfrm>
          <a:prstGeom prst="roundRect">
            <a:avLst>
              <a:gd name="adj" fmla="val 1851"/>
            </a:avLst>
          </a:prstGeom>
          <a:solidFill>
            <a:srgbClr val="D1D1D1">
              <a:alpha val="71765"/>
            </a:srgbClr>
          </a:solidFill>
        </p:spPr>
      </p:sp>
      <p:sp>
        <p:nvSpPr>
          <p:cNvPr id="10" name="AutoShape 10"/>
          <p:cNvSpPr/>
          <p:nvPr/>
        </p:nvSpPr>
        <p:spPr>
          <a:xfrm>
            <a:off x="8597900" y="1790700"/>
            <a:ext cx="546100" cy="546100"/>
          </a:xfrm>
          <a:prstGeom prst="roundRect">
            <a:avLst>
              <a:gd name="adj" fmla="val 48837"/>
            </a:avLst>
          </a:prstGeom>
          <a:solidFill>
            <a:srgbClr val="000000"/>
          </a:solidFill>
        </p:spPr>
      </p:sp>
      <p:sp>
        <p:nvSpPr>
          <p:cNvPr id="11" name="AutoShape 11"/>
          <p:cNvSpPr/>
          <p:nvPr/>
        </p:nvSpPr>
        <p:spPr>
          <a:xfrm>
            <a:off x="11938000" y="1600200"/>
            <a:ext cx="3429000" cy="4699000"/>
          </a:xfrm>
          <a:prstGeom prst="roundRect">
            <a:avLst>
              <a:gd name="adj" fmla="val 1851"/>
            </a:avLst>
          </a:prstGeom>
          <a:solidFill>
            <a:srgbClr val="D1D1D1">
              <a:alpha val="71765"/>
            </a:srgbClr>
          </a:solidFill>
        </p:spPr>
      </p:sp>
      <p:sp>
        <p:nvSpPr>
          <p:cNvPr id="12" name="AutoShape 12"/>
          <p:cNvSpPr/>
          <p:nvPr/>
        </p:nvSpPr>
        <p:spPr>
          <a:xfrm>
            <a:off x="12280900" y="1790700"/>
            <a:ext cx="546100" cy="546100"/>
          </a:xfrm>
          <a:prstGeom prst="roundRect">
            <a:avLst>
              <a:gd name="adj" fmla="val 48837"/>
            </a:avLst>
          </a:prstGeom>
          <a:solidFill>
            <a:srgbClr val="000000"/>
          </a:solidFill>
        </p:spPr>
      </p:sp>
      <p:sp>
        <p:nvSpPr>
          <p:cNvPr id="13" name="AutoShape 13"/>
          <p:cNvSpPr/>
          <p:nvPr/>
        </p:nvSpPr>
        <p:spPr>
          <a:xfrm>
            <a:off x="876300" y="6489700"/>
            <a:ext cx="14490700" cy="2133600"/>
          </a:xfrm>
          <a:prstGeom prst="roundRect">
            <a:avLst>
              <a:gd name="adj" fmla="val 2976"/>
            </a:avLst>
          </a:prstGeom>
          <a:solidFill>
            <a:srgbClr val="D1D1D1">
              <a:alpha val="71765"/>
            </a:srgbClr>
          </a:solidFill>
        </p:spPr>
      </p:sp>
      <p:sp>
        <p:nvSpPr>
          <p:cNvPr id="14" name="AutoShape 14"/>
          <p:cNvSpPr/>
          <p:nvPr/>
        </p:nvSpPr>
        <p:spPr>
          <a:xfrm>
            <a:off x="1231900" y="6680200"/>
            <a:ext cx="546100" cy="546100"/>
          </a:xfrm>
          <a:prstGeom prst="roundRect">
            <a:avLst>
              <a:gd name="adj" fmla="val 48837"/>
            </a:avLst>
          </a:prstGeom>
          <a:solidFill>
            <a:srgbClr val="000000"/>
          </a:solidFill>
        </p:spPr>
      </p:sp>
      <p:sp>
        <p:nvSpPr>
          <p:cNvPr id="15" name="TextBox 15"/>
          <p:cNvSpPr txBox="1"/>
          <p:nvPr/>
        </p:nvSpPr>
        <p:spPr>
          <a:xfrm>
            <a:off x="876300" y="508000"/>
            <a:ext cx="14490700" cy="8890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Conclusion: Bridging Research and Operational Implementation</a:t>
            </a:r>
            <a:endParaRPr lang="en-US" sz="1100"/>
          </a:p>
        </p:txBody>
      </p:sp>
      <p:sp>
        <p:nvSpPr>
          <p:cNvPr id="16" name="TextBox 16"/>
          <p:cNvSpPr txBox="1"/>
          <p:nvPr/>
        </p:nvSpPr>
        <p:spPr>
          <a:xfrm>
            <a:off x="1130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Integrated Systems</a:t>
            </a:r>
            <a:endParaRPr lang="en-US" sz="1100"/>
          </a:p>
        </p:txBody>
      </p:sp>
      <p:sp>
        <p:nvSpPr>
          <p:cNvPr id="17" name="TextBox 17"/>
          <p:cNvSpPr txBox="1"/>
          <p:nvPr/>
        </p:nvSpPr>
        <p:spPr>
          <a:xfrm>
            <a:off x="4813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Workspace Separation</a:t>
            </a:r>
            <a:endParaRPr lang="en-US" sz="1100"/>
          </a:p>
        </p:txBody>
      </p:sp>
      <p:sp>
        <p:nvSpPr>
          <p:cNvPr id="18" name="TextBox 18"/>
          <p:cNvSpPr txBox="1"/>
          <p:nvPr/>
        </p:nvSpPr>
        <p:spPr>
          <a:xfrm>
            <a:off x="8496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Empirical Validation</a:t>
            </a:r>
            <a:endParaRPr lang="en-US" sz="1100"/>
          </a:p>
        </p:txBody>
      </p:sp>
      <p:sp>
        <p:nvSpPr>
          <p:cNvPr id="19" name="TextBox 19"/>
          <p:cNvSpPr txBox="1"/>
          <p:nvPr/>
        </p:nvSpPr>
        <p:spPr>
          <a:xfrm>
            <a:off x="12179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Explainable Framework</a:t>
            </a:r>
            <a:endParaRPr lang="en-US" sz="1100"/>
          </a:p>
        </p:txBody>
      </p:sp>
      <p:sp>
        <p:nvSpPr>
          <p:cNvPr id="20" name="TextBox 20"/>
          <p:cNvSpPr txBox="1"/>
          <p:nvPr/>
        </p:nvSpPr>
        <p:spPr>
          <a:xfrm>
            <a:off x="1130300" y="7416800"/>
            <a:ext cx="13982700" cy="3302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Operational Prototype</a:t>
            </a:r>
            <a:endParaRPr lang="en-US" sz="1100"/>
          </a:p>
        </p:txBody>
      </p:sp>
      <p:sp>
        <p:nvSpPr>
          <p:cNvPr id="21" name="TextBox 21"/>
          <p:cNvSpPr txBox="1"/>
          <p:nvPr/>
        </p:nvSpPr>
        <p:spPr>
          <a:xfrm>
            <a:off x="1130300" y="3327400"/>
            <a:ext cx="2921000" cy="27813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Successfully integrated anomaly detection, audit intelligence, and SCADA monitoring into a unified pipeline for end-to-end operational observability and response.</a:t>
            </a:r>
            <a:endParaRPr lang="en-US" sz="1100"/>
          </a:p>
        </p:txBody>
      </p:sp>
      <p:sp>
        <p:nvSpPr>
          <p:cNvPr id="22" name="TextBox 22"/>
          <p:cNvSpPr txBox="1"/>
          <p:nvPr/>
        </p:nvSpPr>
        <p:spPr>
          <a:xfrm>
            <a:off x="4813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Clear workspace separation was enforced to guarantee experimental isolation and operational correctness, minimizing cross-environment interference.</a:t>
            </a:r>
            <a:endParaRPr lang="en-US" sz="1100"/>
          </a:p>
        </p:txBody>
      </p:sp>
      <p:sp>
        <p:nvSpPr>
          <p:cNvPr id="23" name="TextBox 23"/>
          <p:cNvSpPr txBox="1"/>
          <p:nvPr/>
        </p:nvSpPr>
        <p:spPr>
          <a:xfrm>
            <a:off x="8496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Validated an N=100 configuration which surpasses the baseline paper on primary operational metrics, demonstrating measurable performance improvements.</a:t>
            </a:r>
            <a:endParaRPr lang="en-US" sz="1100"/>
          </a:p>
        </p:txBody>
      </p:sp>
      <p:sp>
        <p:nvSpPr>
          <p:cNvPr id="24" name="TextBox 24"/>
          <p:cNvSpPr txBox="1"/>
          <p:nvPr/>
        </p:nvSpPr>
        <p:spPr>
          <a:xfrm>
            <a:off x="12179300" y="3327400"/>
            <a:ext cx="2921000" cy="1943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Demonstrates a practical explainable cyber-physical audit framework that supports interpretable alerts and root-cause insights for operators.</a:t>
            </a:r>
            <a:endParaRPr lang="en-US" sz="1100"/>
          </a:p>
        </p:txBody>
      </p:sp>
      <p:sp>
        <p:nvSpPr>
          <p:cNvPr id="25" name="TextBox 25"/>
          <p:cNvSpPr txBox="1"/>
          <p:nvPr/>
        </p:nvSpPr>
        <p:spPr>
          <a:xfrm>
            <a:off x="1130300" y="7886700"/>
            <a:ext cx="13982700" cy="546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Delivered a strong operational prototype that maintains transparency about deployment scope, limitations, and intended operational contexts.</a:t>
            </a:r>
            <a:endParaRPr lang="en-US" sz="1100"/>
          </a:p>
        </p:txBody>
      </p:sp>
      <p:pic>
        <p:nvPicPr>
          <p:cNvPr id="26" name="Picture 26"/>
          <p:cNvPicPr>
            <a:picLocks noChangeAspect="1"/>
          </p:cNvPicPr>
          <p:nvPr/>
        </p:nvPicPr>
        <p:blipFill>
          <a:blip r:embed="rId3"/>
          <a:stretch>
            <a:fillRect/>
          </a:stretch>
        </p:blipFill>
        <p:spPr>
          <a:xfrm>
            <a:off x="1409700" y="1981200"/>
            <a:ext cx="177800" cy="177800"/>
          </a:xfrm>
          <a:prstGeom prst="rect">
            <a:avLst/>
          </a:prstGeom>
        </p:spPr>
      </p:pic>
      <p:pic>
        <p:nvPicPr>
          <p:cNvPr id="27" name="Picture 27"/>
          <p:cNvPicPr>
            <a:picLocks noChangeAspect="1"/>
          </p:cNvPicPr>
          <p:nvPr/>
        </p:nvPicPr>
        <p:blipFill>
          <a:blip r:embed="rId3"/>
          <a:stretch>
            <a:fillRect/>
          </a:stretch>
        </p:blipFill>
        <p:spPr>
          <a:xfrm>
            <a:off x="5092700" y="1981200"/>
            <a:ext cx="177800" cy="177800"/>
          </a:xfrm>
          <a:prstGeom prst="rect">
            <a:avLst/>
          </a:prstGeom>
        </p:spPr>
      </p:pic>
      <p:pic>
        <p:nvPicPr>
          <p:cNvPr id="28" name="Picture 28"/>
          <p:cNvPicPr>
            <a:picLocks noChangeAspect="1"/>
          </p:cNvPicPr>
          <p:nvPr/>
        </p:nvPicPr>
        <p:blipFill>
          <a:blip r:embed="rId4"/>
          <a:stretch>
            <a:fillRect/>
          </a:stretch>
        </p:blipFill>
        <p:spPr>
          <a:xfrm>
            <a:off x="8775700" y="1981200"/>
            <a:ext cx="177800" cy="177800"/>
          </a:xfrm>
          <a:prstGeom prst="rect">
            <a:avLst/>
          </a:prstGeom>
        </p:spPr>
      </p:pic>
      <p:pic>
        <p:nvPicPr>
          <p:cNvPr id="29" name="Picture 29"/>
          <p:cNvPicPr>
            <a:picLocks noChangeAspect="1"/>
          </p:cNvPicPr>
          <p:nvPr/>
        </p:nvPicPr>
        <p:blipFill>
          <a:blip r:embed="rId5"/>
          <a:stretch>
            <a:fillRect/>
          </a:stretch>
        </p:blipFill>
        <p:spPr>
          <a:xfrm>
            <a:off x="12471400" y="1981200"/>
            <a:ext cx="177800" cy="177800"/>
          </a:xfrm>
          <a:prstGeom prst="rect">
            <a:avLst/>
          </a:prstGeom>
        </p:spPr>
      </p:pic>
      <p:pic>
        <p:nvPicPr>
          <p:cNvPr id="30" name="Picture 30"/>
          <p:cNvPicPr>
            <a:picLocks noChangeAspect="1"/>
          </p:cNvPicPr>
          <p:nvPr/>
        </p:nvPicPr>
        <p:blipFill>
          <a:blip r:embed="rId3"/>
          <a:stretch>
            <a:fillRect/>
          </a:stretch>
        </p:blipFill>
        <p:spPr>
          <a:xfrm>
            <a:off x="1409700" y="6858000"/>
            <a:ext cx="177800" cy="177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12900"/>
            <a:ext cx="14490700" cy="6794500"/>
          </a:xfrm>
          <a:prstGeom prst="rect">
            <a:avLst/>
          </a:prstGeom>
          <a:solidFill>
            <a:srgbClr val="000000">
              <a:alpha val="0"/>
            </a:srgbClr>
          </a:solidFill>
        </p:spPr>
      </p:sp>
      <p:sp>
        <p:nvSpPr>
          <p:cNvPr id="5" name="AutoShape 5"/>
          <p:cNvSpPr/>
          <p:nvPr/>
        </p:nvSpPr>
        <p:spPr>
          <a:xfrm>
            <a:off x="876300" y="1612900"/>
            <a:ext cx="14490700" cy="1511300"/>
          </a:xfrm>
          <a:prstGeom prst="rect">
            <a:avLst/>
          </a:prstGeom>
          <a:solidFill>
            <a:srgbClr val="000000">
              <a:alpha val="0"/>
            </a:srgbClr>
          </a:solidFill>
        </p:spPr>
      </p:sp>
      <p:sp>
        <p:nvSpPr>
          <p:cNvPr id="6" name="AutoShape 6"/>
          <p:cNvSpPr/>
          <p:nvPr/>
        </p:nvSpPr>
        <p:spPr>
          <a:xfrm>
            <a:off x="876300" y="1612900"/>
            <a:ext cx="1803400" cy="1511300"/>
          </a:xfrm>
          <a:prstGeom prst="roundRect">
            <a:avLst>
              <a:gd name="adj" fmla="val 5882"/>
            </a:avLst>
          </a:prstGeom>
          <a:solidFill>
            <a:srgbClr val="D1D1D1"/>
          </a:solidFill>
        </p:spPr>
      </p:sp>
      <p:sp>
        <p:nvSpPr>
          <p:cNvPr id="7" name="AutoShape 7"/>
          <p:cNvSpPr/>
          <p:nvPr/>
        </p:nvSpPr>
        <p:spPr>
          <a:xfrm>
            <a:off x="2806700" y="3111500"/>
            <a:ext cx="12420600" cy="12700"/>
          </a:xfrm>
          <a:prstGeom prst="rect">
            <a:avLst/>
          </a:prstGeom>
          <a:solidFill>
            <a:srgbClr val="A6A6A6"/>
          </a:solidFill>
        </p:spPr>
      </p:sp>
      <p:sp>
        <p:nvSpPr>
          <p:cNvPr id="8" name="AutoShape 8"/>
          <p:cNvSpPr/>
          <p:nvPr/>
        </p:nvSpPr>
        <p:spPr>
          <a:xfrm>
            <a:off x="876300" y="3251200"/>
            <a:ext cx="14490700" cy="1511300"/>
          </a:xfrm>
          <a:prstGeom prst="rect">
            <a:avLst/>
          </a:prstGeom>
          <a:solidFill>
            <a:srgbClr val="000000">
              <a:alpha val="0"/>
            </a:srgbClr>
          </a:solidFill>
        </p:spPr>
      </p:sp>
      <p:sp>
        <p:nvSpPr>
          <p:cNvPr id="9" name="AutoShape 9"/>
          <p:cNvSpPr/>
          <p:nvPr/>
        </p:nvSpPr>
        <p:spPr>
          <a:xfrm>
            <a:off x="876300" y="3251200"/>
            <a:ext cx="3619500" cy="1511300"/>
          </a:xfrm>
          <a:prstGeom prst="roundRect">
            <a:avLst>
              <a:gd name="adj" fmla="val 5882"/>
            </a:avLst>
          </a:prstGeom>
          <a:solidFill>
            <a:srgbClr val="D1D1D1"/>
          </a:solidFill>
        </p:spPr>
      </p:sp>
      <p:sp>
        <p:nvSpPr>
          <p:cNvPr id="10" name="AutoShape 10"/>
          <p:cNvSpPr/>
          <p:nvPr/>
        </p:nvSpPr>
        <p:spPr>
          <a:xfrm>
            <a:off x="4622800" y="4749800"/>
            <a:ext cx="10604500" cy="12700"/>
          </a:xfrm>
          <a:prstGeom prst="rect">
            <a:avLst/>
          </a:prstGeom>
          <a:solidFill>
            <a:srgbClr val="A6A6A6"/>
          </a:solidFill>
        </p:spPr>
      </p:sp>
      <p:sp>
        <p:nvSpPr>
          <p:cNvPr id="11" name="AutoShape 11"/>
          <p:cNvSpPr/>
          <p:nvPr/>
        </p:nvSpPr>
        <p:spPr>
          <a:xfrm>
            <a:off x="876300" y="4889500"/>
            <a:ext cx="14490700" cy="1511300"/>
          </a:xfrm>
          <a:prstGeom prst="rect">
            <a:avLst/>
          </a:prstGeom>
          <a:solidFill>
            <a:srgbClr val="000000">
              <a:alpha val="0"/>
            </a:srgbClr>
          </a:solidFill>
        </p:spPr>
      </p:sp>
      <p:sp>
        <p:nvSpPr>
          <p:cNvPr id="12" name="AutoShape 12"/>
          <p:cNvSpPr/>
          <p:nvPr/>
        </p:nvSpPr>
        <p:spPr>
          <a:xfrm>
            <a:off x="876300" y="4889500"/>
            <a:ext cx="5422900" cy="1511300"/>
          </a:xfrm>
          <a:prstGeom prst="roundRect">
            <a:avLst>
              <a:gd name="adj" fmla="val 5882"/>
            </a:avLst>
          </a:prstGeom>
          <a:solidFill>
            <a:srgbClr val="D1D1D1"/>
          </a:solidFill>
        </p:spPr>
      </p:sp>
      <p:sp>
        <p:nvSpPr>
          <p:cNvPr id="13" name="AutoShape 13"/>
          <p:cNvSpPr/>
          <p:nvPr/>
        </p:nvSpPr>
        <p:spPr>
          <a:xfrm>
            <a:off x="6438900" y="6388100"/>
            <a:ext cx="8801100" cy="12700"/>
          </a:xfrm>
          <a:prstGeom prst="rect">
            <a:avLst/>
          </a:prstGeom>
          <a:solidFill>
            <a:srgbClr val="A6A6A6"/>
          </a:solidFill>
        </p:spPr>
      </p:sp>
      <p:sp>
        <p:nvSpPr>
          <p:cNvPr id="14" name="AutoShape 14"/>
          <p:cNvSpPr/>
          <p:nvPr/>
        </p:nvSpPr>
        <p:spPr>
          <a:xfrm>
            <a:off x="876300" y="6527800"/>
            <a:ext cx="14490700" cy="1879600"/>
          </a:xfrm>
          <a:prstGeom prst="rect">
            <a:avLst/>
          </a:prstGeom>
          <a:solidFill>
            <a:srgbClr val="000000">
              <a:alpha val="0"/>
            </a:srgbClr>
          </a:solidFill>
        </p:spPr>
      </p:sp>
      <p:sp>
        <p:nvSpPr>
          <p:cNvPr id="15" name="AutoShape 15"/>
          <p:cNvSpPr/>
          <p:nvPr/>
        </p:nvSpPr>
        <p:spPr>
          <a:xfrm>
            <a:off x="876300" y="6527800"/>
            <a:ext cx="7239000" cy="1879600"/>
          </a:xfrm>
          <a:prstGeom prst="roundRect">
            <a:avLst>
              <a:gd name="adj" fmla="val 4729"/>
            </a:avLst>
          </a:prstGeom>
          <a:solidFill>
            <a:srgbClr val="D1D1D1"/>
          </a:solidFill>
        </p:spPr>
      </p:sp>
      <p:sp>
        <p:nvSpPr>
          <p:cNvPr id="16" name="AutoShape 16"/>
          <p:cNvSpPr/>
          <p:nvPr/>
        </p:nvSpPr>
        <p:spPr>
          <a:xfrm>
            <a:off x="8242300" y="8407400"/>
            <a:ext cx="6985000" cy="12700"/>
          </a:xfrm>
          <a:prstGeom prst="rect">
            <a:avLst/>
          </a:prstGeom>
          <a:solidFill>
            <a:srgbClr val="A6A6A6"/>
          </a:solidFill>
        </p:spPr>
      </p:sp>
      <p:sp>
        <p:nvSpPr>
          <p:cNvPr id="17" name="TextBox 17"/>
          <p:cNvSpPr txBox="1"/>
          <p:nvPr/>
        </p:nvSpPr>
        <p:spPr>
          <a:xfrm>
            <a:off x="876300" y="7239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Future Work: Pathway to Real-World Deployment</a:t>
            </a:r>
            <a:endParaRPr lang="en-US" sz="1100"/>
          </a:p>
        </p:txBody>
      </p:sp>
      <p:sp>
        <p:nvSpPr>
          <p:cNvPr id="18" name="TextBox 18"/>
          <p:cNvSpPr txBox="1"/>
          <p:nvPr/>
        </p:nvSpPr>
        <p:spPr>
          <a:xfrm>
            <a:off x="1689100" y="2171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9" name="TextBox 19"/>
          <p:cNvSpPr txBox="1"/>
          <p:nvPr/>
        </p:nvSpPr>
        <p:spPr>
          <a:xfrm>
            <a:off x="2933700" y="1854200"/>
            <a:ext cx="8597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1: Device Integration</a:t>
            </a:r>
            <a:endParaRPr lang="en-US" sz="1100"/>
          </a:p>
        </p:txBody>
      </p:sp>
      <p:sp>
        <p:nvSpPr>
          <p:cNvPr id="20" name="TextBox 20"/>
          <p:cNvSpPr txBox="1"/>
          <p:nvPr/>
        </p:nvSpPr>
        <p:spPr>
          <a:xfrm>
            <a:off x="2603500" y="3810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92500"/>
            <a:ext cx="92075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2: Adaptive Baselines</a:t>
            </a:r>
            <a:endParaRPr lang="en-US" sz="1100"/>
          </a:p>
        </p:txBody>
      </p:sp>
      <p:sp>
        <p:nvSpPr>
          <p:cNvPr id="22" name="TextBox 22"/>
          <p:cNvSpPr txBox="1"/>
          <p:nvPr/>
        </p:nvSpPr>
        <p:spPr>
          <a:xfrm>
            <a:off x="3505200" y="54483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3" name="TextBox 23"/>
          <p:cNvSpPr txBox="1"/>
          <p:nvPr/>
        </p:nvSpPr>
        <p:spPr>
          <a:xfrm>
            <a:off x="6565900" y="5130800"/>
            <a:ext cx="63881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3: Scalability Testing</a:t>
            </a:r>
            <a:endParaRPr lang="en-US" sz="1100"/>
          </a:p>
        </p:txBody>
      </p:sp>
      <p:sp>
        <p:nvSpPr>
          <p:cNvPr id="24" name="TextBox 24"/>
          <p:cNvSpPr txBox="1"/>
          <p:nvPr/>
        </p:nvSpPr>
        <p:spPr>
          <a:xfrm>
            <a:off x="4406900" y="72771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5" name="TextBox 25"/>
          <p:cNvSpPr txBox="1"/>
          <p:nvPr/>
        </p:nvSpPr>
        <p:spPr>
          <a:xfrm>
            <a:off x="8369300" y="6769100"/>
            <a:ext cx="673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4: Multi-objective Optimization</a:t>
            </a:r>
            <a:endParaRPr lang="en-US" sz="1100"/>
          </a:p>
        </p:txBody>
      </p:sp>
      <p:sp>
        <p:nvSpPr>
          <p:cNvPr id="26" name="TextBox 26"/>
          <p:cNvSpPr txBox="1"/>
          <p:nvPr/>
        </p:nvSpPr>
        <p:spPr>
          <a:xfrm>
            <a:off x="2933700" y="2489200"/>
            <a:ext cx="8597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Integration with physical field devices for true operational telemetry</a:t>
            </a:r>
            <a:endParaRPr lang="en-US" sz="1100"/>
          </a:p>
        </p:txBody>
      </p:sp>
      <p:sp>
        <p:nvSpPr>
          <p:cNvPr id="27" name="TextBox 27"/>
          <p:cNvSpPr txBox="1"/>
          <p:nvPr/>
        </p:nvSpPr>
        <p:spPr>
          <a:xfrm>
            <a:off x="4749800" y="4127500"/>
            <a:ext cx="9207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Adaptive baseline learning replacing hand-engineered reference values</a:t>
            </a:r>
            <a:endParaRPr lang="en-US" sz="1100"/>
          </a:p>
        </p:txBody>
      </p:sp>
      <p:sp>
        <p:nvSpPr>
          <p:cNvPr id="28" name="TextBox 28"/>
          <p:cNvSpPr txBox="1"/>
          <p:nvPr/>
        </p:nvSpPr>
        <p:spPr>
          <a:xfrm>
            <a:off x="6565900" y="5765800"/>
            <a:ext cx="63881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Extended scalability testing beyond N=500 agents</a:t>
            </a:r>
            <a:endParaRPr lang="en-US" sz="1100"/>
          </a:p>
        </p:txBody>
      </p:sp>
      <p:sp>
        <p:nvSpPr>
          <p:cNvPr id="29" name="TextBox 29"/>
          <p:cNvSpPr txBox="1"/>
          <p:nvPr/>
        </p:nvSpPr>
        <p:spPr>
          <a:xfrm>
            <a:off x="8369300" y="7404100"/>
            <a:ext cx="67310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Multi-objective optimization balancing mitigation, cost, and latency</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34170" b="34170"/>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FFFFFF">
              <a:alpha val="60000"/>
            </a:srgbClr>
          </a:solidFill>
        </p:spPr>
      </p:sp>
      <p:sp>
        <p:nvSpPr>
          <p:cNvPr id="6" name="TextBox 6"/>
          <p:cNvSpPr txBox="1"/>
          <p:nvPr/>
        </p:nvSpPr>
        <p:spPr>
          <a:xfrm>
            <a:off x="876300" y="32893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Thank You</a:t>
            </a:r>
            <a:endParaRPr lang="en-US" sz="1100"/>
          </a:p>
        </p:txBody>
      </p:sp>
      <p:sp>
        <p:nvSpPr>
          <p:cNvPr id="7" name="TextBox 7"/>
          <p:cNvSpPr txBox="1"/>
          <p:nvPr/>
        </p:nvSpPr>
        <p:spPr>
          <a:xfrm>
            <a:off x="876300" y="4330700"/>
            <a:ext cx="14490700" cy="1511300"/>
          </a:xfrm>
          <a:prstGeom prst="rect">
            <a:avLst/>
          </a:prstGeom>
          <a:solidFill>
            <a:srgbClr val="000000">
              <a:alpha val="0"/>
            </a:srgbClr>
          </a:solidFill>
        </p:spPr>
        <p:txBody>
          <a:bodyPr lIns="0" tIns="0" rIns="0" bIns="0" rtlCol="0" anchor="ctr"/>
          <a:lstStyle/>
          <a:p>
            <a:pPr indent="0" algn="ctr">
              <a:lnSpc>
                <a:spcPct val="160000"/>
              </a:lnSpc>
              <a:defRPr/>
            </a:pPr>
            <a:r>
              <a:rPr lang="en-US" sz="1600" b="1">
                <a:solidFill>
                  <a:srgbClr val="000000"/>
                </a:solidFill>
                <a:latin typeface="Ubuntu"/>
              </a:rPr>
              <a:t>Questions and Discussion - SmartGrid AI Audit Framework | Aditya Sanjay Jadhav (242050010) | Guide: Shrinivas Khedkar | VJTI Mumbai</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5fbe7e7-7a4c-4671-9cc6-f149d6f302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AA79AAB30863340830662318BB0A3A8" ma:contentTypeVersion="16" ma:contentTypeDescription="Create a new document." ma:contentTypeScope="" ma:versionID="f32602a5765b0c2843e3f8a13c6f0e8d">
  <xsd:schema xmlns:xsd="http://www.w3.org/2001/XMLSchema" xmlns:xs="http://www.w3.org/2001/XMLSchema" xmlns:p="http://schemas.microsoft.com/office/2006/metadata/properties" xmlns:ns3="c39e93df-7b1f-41a2-b706-a5f82eac8047" xmlns:ns4="85fbe7e7-7a4c-4671-9cc6-f149d6f3026c" targetNamespace="http://schemas.microsoft.com/office/2006/metadata/properties" ma:root="true" ma:fieldsID="e487a092d11d6d4f1451b6b07a944f43" ns3:_="" ns4:_="">
    <xsd:import namespace="c39e93df-7b1f-41a2-b706-a5f82eac8047"/>
    <xsd:import namespace="85fbe7e7-7a4c-4671-9cc6-f149d6f3026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ObjectDetectorVersions" minOccurs="0"/>
                <xsd:element ref="ns4:_activity" minOccurs="0"/>
                <xsd:element ref="ns4:MediaServiceDateTaken" minOccurs="0"/>
                <xsd:element ref="ns4:MediaLengthInSecond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9e93df-7b1f-41a2-b706-a5f82eac80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fbe7e7-7a4c-4671-9cc6-f149d6f3026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39C3F3-D05E-4642-AF7C-4C9EFC41CC7F}">
  <ds:schemaRefs>
    <ds:schemaRef ds:uri="http://schemas.microsoft.com/sharepoint/v3/contenttype/forms"/>
  </ds:schemaRefs>
</ds:datastoreItem>
</file>

<file path=customXml/itemProps2.xml><?xml version="1.0" encoding="utf-8"?>
<ds:datastoreItem xmlns:ds="http://schemas.openxmlformats.org/officeDocument/2006/customXml" ds:itemID="{28EC0233-1940-4BC4-9F2C-27B243FF7419}">
  <ds:schemaRefs>
    <ds:schemaRef ds:uri="http://purl.org/dc/elements/1.1/"/>
    <ds:schemaRef ds:uri="http://purl.org/dc/terms/"/>
    <ds:schemaRef ds:uri="http://purl.org/dc/dcmitype/"/>
    <ds:schemaRef ds:uri="85fbe7e7-7a4c-4671-9cc6-f149d6f3026c"/>
    <ds:schemaRef ds:uri="c39e93df-7b1f-41a2-b706-a5f82eac8047"/>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86C371F-C3D5-45D7-9B09-C3AC0F0F8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9e93df-7b1f-41a2-b706-a5f82eac8047"/>
    <ds:schemaRef ds:uri="85fbe7e7-7a4c-4671-9cc6-f149d6f30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TotalTime>
  <Words>3345</Words>
  <Application>Microsoft Office PowerPoint</Application>
  <PresentationFormat>Custom</PresentationFormat>
  <Paragraphs>475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Poppins</vt:lpstr>
      <vt:lpstr>Ubuntu</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Jadhav</dc:creator>
  <cp:lastModifiedBy>JADHAV ADITYA SANJAY</cp:lastModifiedBy>
  <cp:revision>5</cp:revision>
  <dcterms:created xsi:type="dcterms:W3CDTF">2006-08-16T00:00:00Z</dcterms:created>
  <dcterms:modified xsi:type="dcterms:W3CDTF">2026-03-22T20:14:19Z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0x0101008AA79AAB30863340830662318BB0A3A8</vt:lpwstr>
  </property>
</Properties>
</file>